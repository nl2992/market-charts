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Freeform 2"/>
          <p:cNvSpPr/>
          <p:nvPr/>
        </p:nvSpPr>
        <p:spPr>
          <a:xfrm>
            <a:off x="0" y="0"/>
            <a:ext cx="6095847" cy="6858000"/>
          </a:xfrm>
          <a:custGeom>
            <a:avLst/>
            <a:gdLst/>
            <a:ahLst/>
            <a:cxnLst/>
            <a:rect l="l" t="t" r="r" b="b"/>
            <a:pathLst>
              <a:path w="6095847" h="6858000">
                <a:moveTo>
                  <a:pt x="0" y="0"/>
                </a:moveTo>
                <a:lnTo>
                  <a:pt x="0" y="6858000"/>
                </a:lnTo>
                <a:lnTo>
                  <a:pt x="6095847" y="342900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095847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6095848" y="0"/>
                </a:moveTo>
                <a:lnTo>
                  <a:pt x="6095848" y="6858000"/>
                </a:lnTo>
                <a:lnTo>
                  <a:pt x="0" y="342900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4" y="182880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Fixed 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994" y="265176"/>
            <a:ext cx="8887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9431" y="265176"/>
            <a:ext cx="64739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265176"/>
            <a:ext cx="113019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Fixed income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48064" y="512064"/>
            <a:ext cx="1130199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79968" y="265176"/>
            <a:ext cx="56692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Macro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4" y="640080"/>
            <a:ext cx="1144188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4904" y="786384"/>
            <a:ext cx="114418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Arial"/>
              </a:rPr>
              <a:t>Fixed income — credit risk pays nothing, so the call has to be the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1261872"/>
            <a:ext cx="114418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767576"/>
                </a:solidFill>
                <a:latin typeface="Arial"/>
              </a:rPr>
              <a:t>Both panels ask the same question: where does today sit in that instrument's own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68151" y="6537960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192024"/>
            <a:ext cx="5852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Credit to 6-Aug-26 · curves monthly to May-26 · free sources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1719072"/>
            <a:ext cx="424144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Credit spreads vs their own 3-year range, bp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4" y="1956815"/>
            <a:ext cx="384048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44364" y="1751075"/>
            <a:ext cx="1205179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67576"/>
                </a:solidFill>
                <a:latin typeface="Arial"/>
              </a:rPr>
              <a:t>ICE BofA OAS via FRED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" y="2084831"/>
            <a:ext cx="5574639" cy="26060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74904" y="2606039"/>
            <a:ext cx="5574639" cy="26060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1837944" y="2084831"/>
            <a:ext cx="0" cy="1042417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51343" y="2084831"/>
            <a:ext cx="0" cy="1042417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64743" y="2084831"/>
            <a:ext cx="0" cy="1042417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8143" y="2084831"/>
            <a:ext cx="0" cy="1042417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300733" y="2137410"/>
            <a:ext cx="870774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40337" y="2100834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311666" y="2073402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74904" y="2109977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Asia corporate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0823" y="2109977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82 bp · 6th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8271" y="2398014"/>
            <a:ext cx="870774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960501" y="2361438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658758" y="2334006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74904" y="2370582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EM corporate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0823" y="2370582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139 bp · 0th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2465" y="2658618"/>
            <a:ext cx="365359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382014" y="2622042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87308" y="2594610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74904" y="2631186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US investment grade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0823" y="2631186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78 bp · 13th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5081" y="2919222"/>
            <a:ext cx="1230045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752114" y="2882646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462549" y="2855214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74904" y="2891790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US high yield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0823" y="2891790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271 bp · 9th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837944" y="3127248"/>
            <a:ext cx="2922879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17904" y="3163824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31303" y="3163824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150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4703" y="3163824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300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8103" y="3163824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" y="3364991"/>
            <a:ext cx="51206" cy="128016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90118" y="3346703"/>
            <a:ext cx="167899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Today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33117" y="3364991"/>
            <a:ext cx="20116" cy="12801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2317241" y="3346703"/>
            <a:ext cx="171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3y mean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91330" y="3383279"/>
            <a:ext cx="201168" cy="91440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356506" y="3346703"/>
            <a:ext cx="152902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3y min–max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4" y="3584448"/>
            <a:ext cx="5574639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B0011"/>
                </a:solidFill>
                <a:latin typeface="Arial"/>
              </a:rPr>
              <a:t>Every spread is in the bottom decile of three years.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4" y="3858768"/>
            <a:ext cx="45066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Curve slopes vs their own 5-year range, bp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74904" y="4096511"/>
            <a:ext cx="384048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09540" y="3890772"/>
            <a:ext cx="940003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67576"/>
                </a:solidFill>
                <a:latin typeface="Arial"/>
              </a:rPr>
              <a:t>MoF · UST · OECD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4904" y="4142231"/>
            <a:ext cx="557463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Common 5-year window to May-26. Korea and Australia are 3m10y, not 2s10s.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4" y="4370831"/>
            <a:ext cx="5574639" cy="2148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74904" y="4800599"/>
            <a:ext cx="5574639" cy="2148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74904" y="5230367"/>
            <a:ext cx="5574639" cy="2148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74904" y="5660136"/>
            <a:ext cx="5574639" cy="2148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5" name="Connector 64"/>
          <p:cNvCxnSpPr/>
          <p:nvPr/>
        </p:nvCxnSpPr>
        <p:spPr>
          <a:xfrm>
            <a:off x="1987835" y="4370831"/>
            <a:ext cx="0" cy="1504188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737291" y="4370831"/>
            <a:ext cx="0" cy="1504188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486747" y="4370831"/>
            <a:ext cx="0" cy="1504188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236204" y="4370831"/>
            <a:ext cx="0" cy="1504188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2849710" y="4400549"/>
            <a:ext cx="831896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131939" y="4363973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656003" y="4336541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74904" y="4373117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2s10s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0823" y="4373117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+126 bp · 98th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42215" y="4615433"/>
            <a:ext cx="449673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989542" y="4578857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3266286" y="4551425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374904" y="4588001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5s10s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60823" y="4588001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+74 bp · 98th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4590" y="4830318"/>
            <a:ext cx="479652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3259347" y="4793742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378704" y="4766309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74904" y="4802886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10s20s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60823" y="4802886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+89 bp · 82nd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64481" y="5045202"/>
            <a:ext cx="689499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491678" y="5008626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3611035" y="4981194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374904" y="5017770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10s30s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60823" y="5017770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+120 bp · 75th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2867" y="5260086"/>
            <a:ext cx="1723749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02178" y="5223510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063932" y="5196078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74904" y="5232654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UST 2s10s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60823" y="5232654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+47 bp · 65th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302606" y="5474970"/>
            <a:ext cx="1671287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2989542" y="5438394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3656003" y="5410962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374904" y="5447538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Korea 3m10y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60823" y="5447538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+126 bp · 87th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62563" y="5689854"/>
            <a:ext cx="2323314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3184401" y="5653278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3123889" y="5625846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74904" y="5662422"/>
            <a:ext cx="1371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Australia 3m10y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60823" y="5662422"/>
            <a:ext cx="11521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+55 bp · 50th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837944" y="5875019"/>
            <a:ext cx="2922879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667795" y="5911595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−100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7251" y="5911595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66707" y="5911595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+100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16164" y="5911595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+200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4904" y="6112763"/>
            <a:ext cx="5574639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B0011"/>
                </a:solidFill>
                <a:latin typeface="Arial"/>
              </a:rPr>
              <a:t>Japan is at the top of its own range up front, and Korea is steep with it.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095847" y="1719072"/>
            <a:ext cx="0" cy="4626864"/>
          </a:xfrm>
          <a:prstGeom prst="line">
            <a:avLst/>
          </a:prstGeom>
          <a:ln w="15875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361023" y="1719072"/>
            <a:ext cx="545576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How to read this, and where the trade is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361023" y="1956815"/>
            <a:ext cx="384048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361023" y="2066543"/>
            <a:ext cx="54557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4000"/>
              </a:lnSpc>
              <a:spcAft>
                <a:spcPts val="600"/>
              </a:spcAft>
            </a:pPr>
            <a:r>
              <a:rPr sz="780">
                <a:solidFill>
                  <a:srgbClr val="DB0011"/>
                </a:solidFill>
                <a:latin typeface="Arial"/>
              </a:rPr>
              <a:t>◆  </a:t>
            </a:r>
            <a:r>
              <a:rPr sz="1000" b="1">
                <a:solidFill>
                  <a:srgbClr val="000000"/>
                </a:solidFill>
                <a:latin typeface="Arial"/>
              </a:rPr>
              <a:t>The band: </a:t>
            </a:r>
            <a:r>
              <a:rPr sz="1000" b="0">
                <a:solidFill>
                  <a:srgbClr val="000000"/>
                </a:solidFill>
                <a:latin typeface="Arial"/>
              </a:rPr>
              <a:t>the widest and tightest, or steepest and flattest, that instrument has been in the window.</a:t>
            </a:r>
          </a:p>
          <a:p>
            <a:pPr marL="201168" indent="-201168">
              <a:lnSpc>
                <a:spcPct val="114000"/>
              </a:lnSpc>
              <a:spcAft>
                <a:spcPts val="600"/>
              </a:spcAft>
            </a:pPr>
            <a:r>
              <a:rPr sz="780">
                <a:solidFill>
                  <a:srgbClr val="DB0011"/>
                </a:solidFill>
                <a:latin typeface="Arial"/>
              </a:rPr>
              <a:t>◆  </a:t>
            </a:r>
            <a:r>
              <a:rPr sz="1000" b="1">
                <a:solidFill>
                  <a:srgbClr val="000000"/>
                </a:solidFill>
                <a:latin typeface="Arial"/>
              </a:rPr>
              <a:t>The number: </a:t>
            </a:r>
            <a:r>
              <a:rPr sz="1000" b="0">
                <a:solidFill>
                  <a:srgbClr val="000000"/>
                </a:solidFill>
                <a:latin typeface="Arial"/>
              </a:rPr>
              <a:t>where today sits in that band — 0th tightest or flattest, 100th widest or steepest.</a:t>
            </a:r>
          </a:p>
          <a:p>
            <a:pPr marL="201168" indent="-201168">
              <a:lnSpc>
                <a:spcPct val="114000"/>
              </a:lnSpc>
              <a:spcAft>
                <a:spcPts val="600"/>
              </a:spcAft>
            </a:pPr>
            <a:r>
              <a:rPr sz="780">
                <a:solidFill>
                  <a:srgbClr val="DB0011"/>
                </a:solidFill>
                <a:latin typeface="Arial"/>
              </a:rPr>
              <a:t>◆  </a:t>
            </a:r>
            <a:r>
              <a:rPr sz="1000" b="1">
                <a:solidFill>
                  <a:srgbClr val="000000"/>
                </a:solidFill>
                <a:latin typeface="Arial"/>
              </a:rPr>
              <a:t>In credit: </a:t>
            </a:r>
            <a:r>
              <a:rPr sz="1000" b="0">
                <a:solidFill>
                  <a:srgbClr val="000000"/>
                </a:solidFill>
                <a:latin typeface="Arial"/>
              </a:rPr>
              <a:t>a low percentile is a warning. You are being paid less than at almost any point in three years to hold the same default risk.</a:t>
            </a:r>
          </a:p>
          <a:p>
            <a:pPr marL="201168" indent="-201168">
              <a:lnSpc>
                <a:spcPct val="114000"/>
              </a:lnSpc>
              <a:spcAft>
                <a:spcPts val="600"/>
              </a:spcAft>
            </a:pPr>
            <a:r>
              <a:rPr sz="780">
                <a:solidFill>
                  <a:srgbClr val="DB0011"/>
                </a:solidFill>
                <a:latin typeface="Arial"/>
              </a:rPr>
              <a:t>◆  </a:t>
            </a:r>
            <a:r>
              <a:rPr sz="1000" b="1">
                <a:solidFill>
                  <a:srgbClr val="000000"/>
                </a:solidFill>
                <a:latin typeface="Arial"/>
              </a:rPr>
              <a:t>In curves: </a:t>
            </a:r>
            <a:r>
              <a:rPr sz="1000" b="0">
                <a:solidFill>
                  <a:srgbClr val="000000"/>
                </a:solidFill>
                <a:latin typeface="Arial"/>
              </a:rPr>
              <a:t>a low percentile is the opportunity. Pay for steepening where it is cheap; where it is high you are being paid carry, not direction.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361023" y="4443984"/>
            <a:ext cx="5455767" cy="987552"/>
          </a:xfrm>
          <a:prstGeom prst="rect">
            <a:avLst/>
          </a:prstGeom>
          <a:solidFill>
            <a:srgbClr val="FA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6361023" y="4443984"/>
            <a:ext cx="41148" cy="9875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6562191" y="4553712"/>
            <a:ext cx="5071719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The objection, taken head on. </a:t>
            </a:r>
            <a:r>
              <a:rPr sz="950" b="0" i="0">
                <a:solidFill>
                  <a:srgbClr val="000000"/>
                </a:solidFill>
                <a:latin typeface="Arial"/>
              </a:rPr>
              <a:t>JGB 2s10s at the 98th percentile is not an entry — it is the reason to look further out the curve. 10s30s is at the 75th with a 5-year mean 18bp below it, and Korea at the 87th says the front-end story is North Asian rather than Japan-specific. Australia at the 50th is the control: this is not a global steepening.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74904" y="64190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Percentile is the rank of today within the same window, 0 tightest or flattest to 100 widest or steepest. Korea and Australia are 3m10y, not 2s10s, and are not like-for-like with the JGB and UST rows — no free source publishes their 2-year yields. Sources: ICE BofA OAS via FRED; Japan Ministry of Finance daily JGB yields; US Treasury daily par yields; OECD long rate and 3-month interbank via FRED.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