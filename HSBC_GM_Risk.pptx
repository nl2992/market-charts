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5"/>
  </p:normalViewPr>
  <p:slideViewPr>
    <p:cSldViewPr snapToGrid="0" snapToObjects="1">
      <p:cViewPr varScale="1">
        <p:scale>
          <a:sx n="118" d="100"/>
          <a:sy n="118" d="100"/>
        </p:scale>
        <p:origin x="552"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Where the risk sits</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Six risks, measured. And whether the two trades share them.</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2</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MoF and Yahoo Finance · refresh before use</a:t>
            </a:r>
          </a:p>
        </p:txBody>
      </p:sp>
      <p:sp>
        <p:nvSpPr>
          <p:cNvPr id="16" name="TextBox 15"/>
          <p:cNvSpPr txBox="1"/>
          <p:nvPr/>
        </p:nvSpPr>
        <p:spPr>
          <a:xfrm>
            <a:off x="374904" y="1737360"/>
            <a:ext cx="6035040" cy="237744"/>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Likelihood against impact, six months</a:t>
            </a:r>
          </a:p>
        </p:txBody>
      </p:sp>
      <p:sp>
        <p:nvSpPr>
          <p:cNvPr id="17" name="TextBox 16"/>
          <p:cNvSpPr txBox="1"/>
          <p:nvPr/>
        </p:nvSpPr>
        <p:spPr>
          <a:xfrm>
            <a:off x="374904" y="1993392"/>
            <a:ext cx="822960" cy="164592"/>
          </a:xfrm>
          <a:prstGeom prst="rect">
            <a:avLst/>
          </a:prstGeom>
          <a:noFill/>
        </p:spPr>
        <p:txBody>
          <a:bodyPr wrap="none" lIns="0" tIns="0" rIns="0" bIns="0" anchor="t">
            <a:spAutoFit/>
          </a:bodyPr>
          <a:lstStyle/>
          <a:p>
            <a:pPr algn="l">
              <a:lnSpc>
                <a:spcPct val="100000"/>
              </a:lnSpc>
              <a:spcAft>
                <a:spcPts val="0"/>
              </a:spcAft>
            </a:pPr>
            <a:r>
              <a:rPr sz="750" b="1" i="0">
                <a:solidFill>
                  <a:srgbClr val="767576"/>
                </a:solidFill>
                <a:latin typeface="Arial"/>
              </a:rPr>
              <a:t>IMPACT</a:t>
            </a:r>
          </a:p>
        </p:txBody>
      </p:sp>
      <p:sp>
        <p:nvSpPr>
          <p:cNvPr id="18" name="Rectangle 17"/>
          <p:cNvSpPr/>
          <p:nvPr/>
        </p:nvSpPr>
        <p:spPr>
          <a:xfrm>
            <a:off x="1202436" y="2208276"/>
            <a:ext cx="1014983" cy="521207"/>
          </a:xfrm>
          <a:prstGeom prst="rect">
            <a:avLst/>
          </a:prstGeom>
          <a:solidFill>
            <a:srgbClr val="F9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202436" y="2756916"/>
            <a:ext cx="1014983" cy="521207"/>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1202436" y="3305556"/>
            <a:ext cx="1014983" cy="521207"/>
          </a:xfrm>
          <a:prstGeom prst="rect">
            <a:avLst/>
          </a:prstGeom>
          <a:solidFill>
            <a:srgbClr val="FC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202436" y="3854195"/>
            <a:ext cx="1014983" cy="521207"/>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1202436" y="4402836"/>
            <a:ext cx="1014983" cy="5212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2244852" y="2208276"/>
            <a:ext cx="1014983" cy="521207"/>
          </a:xfrm>
          <a:prstGeom prst="rect">
            <a:avLst/>
          </a:prstGeom>
          <a:solidFill>
            <a:srgbClr val="F19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2244852" y="2756916"/>
            <a:ext cx="1014983" cy="521207"/>
          </a:xfrm>
          <a:prstGeom prst="rect">
            <a:avLst/>
          </a:prstGeom>
          <a:solidFill>
            <a:srgbClr val="F4B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2244852" y="3305556"/>
            <a:ext cx="1014983" cy="521207"/>
          </a:xfrm>
          <a:prstGeom prst="rect">
            <a:avLst/>
          </a:prstGeom>
          <a:solidFill>
            <a:srgbClr val="F7C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2244852" y="3854195"/>
            <a:ext cx="1014983" cy="521207"/>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2244852" y="4402836"/>
            <a:ext cx="1014983" cy="521207"/>
          </a:xfrm>
          <a:prstGeom prst="rect">
            <a:avLst/>
          </a:prstGeom>
          <a:solidFill>
            <a:srgbClr val="FD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3287268" y="2208276"/>
            <a:ext cx="1014983" cy="521207"/>
          </a:xfrm>
          <a:prstGeom prst="rect">
            <a:avLst/>
          </a:prstGeom>
          <a:solidFill>
            <a:srgbClr val="EA6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3287268" y="2756916"/>
            <a:ext cx="1014983" cy="521207"/>
          </a:xfrm>
          <a:prstGeom prst="rect">
            <a:avLst/>
          </a:prstGeom>
          <a:solidFill>
            <a:srgbClr val="EE8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3287268" y="3305556"/>
            <a:ext cx="1014983" cy="521207"/>
          </a:xfrm>
          <a:prstGeom prst="rect">
            <a:avLst/>
          </a:prstGeom>
          <a:solidFill>
            <a:srgbClr val="F3AA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3287268" y="3854195"/>
            <a:ext cx="1014983" cy="521207"/>
          </a:xfrm>
          <a:prstGeom prst="rect">
            <a:avLst/>
          </a:prstGeom>
          <a:solidFill>
            <a:srgbClr val="F7C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3287268" y="4402836"/>
            <a:ext cx="1014983" cy="521207"/>
          </a:xfrm>
          <a:prstGeom prst="rect">
            <a:avLst/>
          </a:prstGeom>
          <a:solidFill>
            <a:srgbClr val="FC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4329683" y="2208276"/>
            <a:ext cx="1014983" cy="521207"/>
          </a:xfrm>
          <a:prstGeom prst="rect">
            <a:avLst/>
          </a:prstGeom>
          <a:solidFill>
            <a:srgbClr val="E2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4329683" y="2756916"/>
            <a:ext cx="1014983" cy="521207"/>
          </a:xfrm>
          <a:prstGeom prst="rect">
            <a:avLst/>
          </a:prstGeom>
          <a:solidFill>
            <a:srgbClr val="E85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4329683" y="3305556"/>
            <a:ext cx="1014983" cy="521207"/>
          </a:xfrm>
          <a:prstGeom prst="rect">
            <a:avLst/>
          </a:prstGeom>
          <a:solidFill>
            <a:srgbClr val="EE8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4329683" y="3854195"/>
            <a:ext cx="1014983" cy="521207"/>
          </a:xfrm>
          <a:prstGeom prst="rect">
            <a:avLst/>
          </a:prstGeom>
          <a:solidFill>
            <a:srgbClr val="F4B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4329683" y="4402836"/>
            <a:ext cx="1014983" cy="521207"/>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5372099" y="2208276"/>
            <a:ext cx="1014983" cy="52120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5372099" y="2756916"/>
            <a:ext cx="1014983" cy="521207"/>
          </a:xfrm>
          <a:prstGeom prst="rect">
            <a:avLst/>
          </a:prstGeom>
          <a:solidFill>
            <a:srgbClr val="E2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5372099" y="3305556"/>
            <a:ext cx="1014983" cy="521207"/>
          </a:xfrm>
          <a:prstGeom prst="rect">
            <a:avLst/>
          </a:prstGeom>
          <a:solidFill>
            <a:srgbClr val="EA6A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5372099" y="3854195"/>
            <a:ext cx="1014983" cy="521207"/>
          </a:xfrm>
          <a:prstGeom prst="rect">
            <a:avLst/>
          </a:prstGeom>
          <a:solidFill>
            <a:srgbClr val="F19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5372099" y="4402836"/>
            <a:ext cx="1014983" cy="521207"/>
          </a:xfrm>
          <a:prstGeom prst="rect">
            <a:avLst/>
          </a:prstGeom>
          <a:solidFill>
            <a:srgbClr val="F9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5788152" y="3895343"/>
            <a:ext cx="182880" cy="18288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385816" y="4114799"/>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DB0011"/>
                </a:solidFill>
                <a:latin typeface="Arial"/>
              </a:rPr>
              <a:t>Session -5%</a:t>
            </a:r>
          </a:p>
        </p:txBody>
      </p:sp>
      <p:sp>
        <p:nvSpPr>
          <p:cNvPr id="45" name="TextBox 44"/>
          <p:cNvSpPr txBox="1"/>
          <p:nvPr/>
        </p:nvSpPr>
        <p:spPr>
          <a:xfrm>
            <a:off x="5385816" y="424281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99.7%</a:t>
            </a:r>
          </a:p>
        </p:txBody>
      </p:sp>
      <p:sp>
        <p:nvSpPr>
          <p:cNvPr id="46" name="Oval 45"/>
          <p:cNvSpPr/>
          <p:nvPr/>
        </p:nvSpPr>
        <p:spPr>
          <a:xfrm>
            <a:off x="3703320" y="2798064"/>
            <a:ext cx="182880" cy="18288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300984" y="3017520"/>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DB0011"/>
                </a:solidFill>
                <a:latin typeface="Arial"/>
              </a:rPr>
              <a:t>Drawdown &gt;25%</a:t>
            </a:r>
          </a:p>
        </p:txBody>
      </p:sp>
      <p:sp>
        <p:nvSpPr>
          <p:cNvPr id="48" name="TextBox 47"/>
          <p:cNvSpPr txBox="1"/>
          <p:nvPr/>
        </p:nvSpPr>
        <p:spPr>
          <a:xfrm>
            <a:off x="3300984" y="314553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observed</a:t>
            </a:r>
          </a:p>
        </p:txBody>
      </p:sp>
      <p:sp>
        <p:nvSpPr>
          <p:cNvPr id="49" name="Oval 48"/>
          <p:cNvSpPr/>
          <p:nvPr/>
        </p:nvSpPr>
        <p:spPr>
          <a:xfrm>
            <a:off x="2628900" y="2217420"/>
            <a:ext cx="246888" cy="246888"/>
          </a:xfrm>
          <a:prstGeom prst="ellipse">
            <a:avLst/>
          </a:prstGeom>
          <a:no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2660903" y="2249424"/>
            <a:ext cx="182880" cy="18288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2258568" y="2468879"/>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DB0011"/>
                </a:solidFill>
                <a:latin typeface="Arial"/>
              </a:rPr>
              <a:t>Entity List</a:t>
            </a:r>
          </a:p>
        </p:txBody>
      </p:sp>
      <p:sp>
        <p:nvSpPr>
          <p:cNvPr id="52" name="TextBox 51"/>
          <p:cNvSpPr txBox="1"/>
          <p:nvPr/>
        </p:nvSpPr>
        <p:spPr>
          <a:xfrm>
            <a:off x="2258568" y="259689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judgement</a:t>
            </a:r>
          </a:p>
        </p:txBody>
      </p:sp>
      <p:sp>
        <p:nvSpPr>
          <p:cNvPr id="53" name="Oval 52"/>
          <p:cNvSpPr/>
          <p:nvPr/>
        </p:nvSpPr>
        <p:spPr>
          <a:xfrm>
            <a:off x="4745736" y="3895343"/>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4343400" y="4114799"/>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44546A"/>
                </a:solidFill>
                <a:latin typeface="Arial"/>
              </a:rPr>
              <a:t>Week -8bp</a:t>
            </a:r>
          </a:p>
        </p:txBody>
      </p:sp>
      <p:sp>
        <p:nvSpPr>
          <p:cNvPr id="55" name="TextBox 54"/>
          <p:cNvSpPr txBox="1"/>
          <p:nvPr/>
        </p:nvSpPr>
        <p:spPr>
          <a:xfrm>
            <a:off x="4343400" y="424281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43.2%</a:t>
            </a:r>
          </a:p>
        </p:txBody>
      </p:sp>
      <p:sp>
        <p:nvSpPr>
          <p:cNvPr id="56" name="Oval 55"/>
          <p:cNvSpPr/>
          <p:nvPr/>
        </p:nvSpPr>
        <p:spPr>
          <a:xfrm>
            <a:off x="4745736" y="3346703"/>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4343400" y="3566159"/>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44546A"/>
                </a:solidFill>
                <a:latin typeface="Arial"/>
              </a:rPr>
              <a:t>Stop touched</a:t>
            </a:r>
          </a:p>
        </p:txBody>
      </p:sp>
      <p:sp>
        <p:nvSpPr>
          <p:cNvPr id="58" name="TextBox 57"/>
          <p:cNvSpPr txBox="1"/>
          <p:nvPr/>
        </p:nvSpPr>
        <p:spPr>
          <a:xfrm>
            <a:off x="4343400" y="369417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45.8%</a:t>
            </a:r>
          </a:p>
        </p:txBody>
      </p:sp>
      <p:sp>
        <p:nvSpPr>
          <p:cNvPr id="59" name="Oval 58"/>
          <p:cNvSpPr/>
          <p:nvPr/>
        </p:nvSpPr>
        <p:spPr>
          <a:xfrm>
            <a:off x="2628900" y="2766060"/>
            <a:ext cx="246888" cy="246888"/>
          </a:xfrm>
          <a:prstGeom prst="ellipse">
            <a:avLst/>
          </a:prstGeom>
          <a:no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2660903" y="2798064"/>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2258568" y="3017520"/>
            <a:ext cx="987551" cy="146304"/>
          </a:xfrm>
          <a:prstGeom prst="rect">
            <a:avLst/>
          </a:prstGeom>
          <a:noFill/>
        </p:spPr>
        <p:txBody>
          <a:bodyPr wrap="none" lIns="0" tIns="0" rIns="0" bIns="0" anchor="t">
            <a:spAutoFit/>
          </a:bodyPr>
          <a:lstStyle/>
          <a:p>
            <a:pPr algn="ctr">
              <a:lnSpc>
                <a:spcPct val="100000"/>
              </a:lnSpc>
              <a:spcAft>
                <a:spcPts val="0"/>
              </a:spcAft>
            </a:pPr>
            <a:r>
              <a:rPr sz="750" b="1" i="0">
                <a:solidFill>
                  <a:srgbClr val="44546A"/>
                </a:solidFill>
                <a:latin typeface="Arial"/>
              </a:rPr>
              <a:t>USD/JPY 165</a:t>
            </a:r>
          </a:p>
        </p:txBody>
      </p:sp>
      <p:sp>
        <p:nvSpPr>
          <p:cNvPr id="62" name="TextBox 61"/>
          <p:cNvSpPr txBox="1"/>
          <p:nvPr/>
        </p:nvSpPr>
        <p:spPr>
          <a:xfrm>
            <a:off x="2258568" y="3145536"/>
            <a:ext cx="987551" cy="128016"/>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judgement</a:t>
            </a:r>
          </a:p>
        </p:txBody>
      </p:sp>
      <p:sp>
        <p:nvSpPr>
          <p:cNvPr id="63" name="TextBox 62"/>
          <p:cNvSpPr txBox="1"/>
          <p:nvPr/>
        </p:nvSpPr>
        <p:spPr>
          <a:xfrm>
            <a:off x="374904" y="2395728"/>
            <a:ext cx="768096" cy="164592"/>
          </a:xfrm>
          <a:prstGeom prst="rect">
            <a:avLst/>
          </a:prstGeom>
          <a:noFill/>
        </p:spPr>
        <p:txBody>
          <a:bodyPr wrap="none" lIns="0" tIns="0" rIns="0" bIns="0" anchor="t">
            <a:spAutoFit/>
          </a:bodyPr>
          <a:lstStyle/>
          <a:p>
            <a:pPr algn="r">
              <a:lnSpc>
                <a:spcPct val="100000"/>
              </a:lnSpc>
              <a:spcAft>
                <a:spcPts val="0"/>
              </a:spcAft>
            </a:pPr>
            <a:r>
              <a:rPr sz="750" b="0" i="0">
                <a:solidFill>
                  <a:srgbClr val="767576"/>
                </a:solidFill>
                <a:latin typeface="Arial"/>
              </a:rPr>
              <a:t>Severe</a:t>
            </a:r>
          </a:p>
        </p:txBody>
      </p:sp>
      <p:sp>
        <p:nvSpPr>
          <p:cNvPr id="64" name="TextBox 63"/>
          <p:cNvSpPr txBox="1"/>
          <p:nvPr/>
        </p:nvSpPr>
        <p:spPr>
          <a:xfrm>
            <a:off x="374904" y="2944368"/>
            <a:ext cx="768096" cy="164592"/>
          </a:xfrm>
          <a:prstGeom prst="rect">
            <a:avLst/>
          </a:prstGeom>
          <a:noFill/>
        </p:spPr>
        <p:txBody>
          <a:bodyPr wrap="none" lIns="0" tIns="0" rIns="0" bIns="0" anchor="t">
            <a:spAutoFit/>
          </a:bodyPr>
          <a:lstStyle/>
          <a:p>
            <a:pPr algn="r">
              <a:lnSpc>
                <a:spcPct val="100000"/>
              </a:lnSpc>
              <a:spcAft>
                <a:spcPts val="0"/>
              </a:spcAft>
            </a:pPr>
            <a:r>
              <a:rPr sz="750" b="0" i="0">
                <a:solidFill>
                  <a:srgbClr val="767576"/>
                </a:solidFill>
                <a:latin typeface="Arial"/>
              </a:rPr>
              <a:t>Major</a:t>
            </a:r>
          </a:p>
        </p:txBody>
      </p:sp>
      <p:sp>
        <p:nvSpPr>
          <p:cNvPr id="65" name="TextBox 64"/>
          <p:cNvSpPr txBox="1"/>
          <p:nvPr/>
        </p:nvSpPr>
        <p:spPr>
          <a:xfrm>
            <a:off x="374904" y="3493008"/>
            <a:ext cx="768096" cy="164592"/>
          </a:xfrm>
          <a:prstGeom prst="rect">
            <a:avLst/>
          </a:prstGeom>
          <a:noFill/>
        </p:spPr>
        <p:txBody>
          <a:bodyPr wrap="none" lIns="0" tIns="0" rIns="0" bIns="0" anchor="t">
            <a:spAutoFit/>
          </a:bodyPr>
          <a:lstStyle/>
          <a:p>
            <a:pPr algn="r">
              <a:lnSpc>
                <a:spcPct val="100000"/>
              </a:lnSpc>
              <a:spcAft>
                <a:spcPts val="0"/>
              </a:spcAft>
            </a:pPr>
            <a:r>
              <a:rPr sz="750" b="0" i="0">
                <a:solidFill>
                  <a:srgbClr val="767576"/>
                </a:solidFill>
                <a:latin typeface="Arial"/>
              </a:rPr>
              <a:t>Moderate</a:t>
            </a:r>
          </a:p>
        </p:txBody>
      </p:sp>
      <p:sp>
        <p:nvSpPr>
          <p:cNvPr id="66" name="TextBox 65"/>
          <p:cNvSpPr txBox="1"/>
          <p:nvPr/>
        </p:nvSpPr>
        <p:spPr>
          <a:xfrm>
            <a:off x="374904" y="4041647"/>
            <a:ext cx="768096" cy="164592"/>
          </a:xfrm>
          <a:prstGeom prst="rect">
            <a:avLst/>
          </a:prstGeom>
          <a:noFill/>
        </p:spPr>
        <p:txBody>
          <a:bodyPr wrap="none" lIns="0" tIns="0" rIns="0" bIns="0" anchor="t">
            <a:spAutoFit/>
          </a:bodyPr>
          <a:lstStyle/>
          <a:p>
            <a:pPr algn="r">
              <a:lnSpc>
                <a:spcPct val="100000"/>
              </a:lnSpc>
              <a:spcAft>
                <a:spcPts val="0"/>
              </a:spcAft>
            </a:pPr>
            <a:r>
              <a:rPr sz="750" b="0" i="0">
                <a:solidFill>
                  <a:srgbClr val="767576"/>
                </a:solidFill>
                <a:latin typeface="Arial"/>
              </a:rPr>
              <a:t>Minor</a:t>
            </a:r>
          </a:p>
        </p:txBody>
      </p:sp>
      <p:sp>
        <p:nvSpPr>
          <p:cNvPr id="67" name="TextBox 66"/>
          <p:cNvSpPr txBox="1"/>
          <p:nvPr/>
        </p:nvSpPr>
        <p:spPr>
          <a:xfrm>
            <a:off x="374904" y="4590288"/>
            <a:ext cx="768096" cy="164592"/>
          </a:xfrm>
          <a:prstGeom prst="rect">
            <a:avLst/>
          </a:prstGeom>
          <a:noFill/>
        </p:spPr>
        <p:txBody>
          <a:bodyPr wrap="none" lIns="0" tIns="0" rIns="0" bIns="0" anchor="t">
            <a:spAutoFit/>
          </a:bodyPr>
          <a:lstStyle/>
          <a:p>
            <a:pPr algn="r">
              <a:lnSpc>
                <a:spcPct val="100000"/>
              </a:lnSpc>
              <a:spcAft>
                <a:spcPts val="0"/>
              </a:spcAft>
            </a:pPr>
            <a:r>
              <a:rPr sz="750" b="0" i="0">
                <a:solidFill>
                  <a:srgbClr val="767576"/>
                </a:solidFill>
                <a:latin typeface="Arial"/>
              </a:rPr>
              <a:t>Noise</a:t>
            </a:r>
          </a:p>
        </p:txBody>
      </p:sp>
      <p:sp>
        <p:nvSpPr>
          <p:cNvPr id="68" name="TextBox 67"/>
          <p:cNvSpPr txBox="1"/>
          <p:nvPr/>
        </p:nvSpPr>
        <p:spPr>
          <a:xfrm>
            <a:off x="1188720" y="4974336"/>
            <a:ext cx="1042415"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Rare</a:t>
            </a:r>
          </a:p>
        </p:txBody>
      </p:sp>
      <p:sp>
        <p:nvSpPr>
          <p:cNvPr id="69" name="TextBox 68"/>
          <p:cNvSpPr txBox="1"/>
          <p:nvPr/>
        </p:nvSpPr>
        <p:spPr>
          <a:xfrm>
            <a:off x="2231136" y="4974336"/>
            <a:ext cx="1042415"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Unlikely</a:t>
            </a:r>
          </a:p>
        </p:txBody>
      </p:sp>
      <p:sp>
        <p:nvSpPr>
          <p:cNvPr id="70" name="TextBox 69"/>
          <p:cNvSpPr txBox="1"/>
          <p:nvPr/>
        </p:nvSpPr>
        <p:spPr>
          <a:xfrm>
            <a:off x="3273552" y="4974336"/>
            <a:ext cx="1042415"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Possible</a:t>
            </a:r>
          </a:p>
        </p:txBody>
      </p:sp>
      <p:sp>
        <p:nvSpPr>
          <p:cNvPr id="71" name="TextBox 70"/>
          <p:cNvSpPr txBox="1"/>
          <p:nvPr/>
        </p:nvSpPr>
        <p:spPr>
          <a:xfrm>
            <a:off x="4315968" y="4974336"/>
            <a:ext cx="1042415"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Likely</a:t>
            </a:r>
          </a:p>
        </p:txBody>
      </p:sp>
      <p:sp>
        <p:nvSpPr>
          <p:cNvPr id="72" name="TextBox 71"/>
          <p:cNvSpPr txBox="1"/>
          <p:nvPr/>
        </p:nvSpPr>
        <p:spPr>
          <a:xfrm>
            <a:off x="5358383" y="4974336"/>
            <a:ext cx="1042415"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Near certain</a:t>
            </a:r>
          </a:p>
        </p:txBody>
      </p:sp>
      <p:sp>
        <p:nvSpPr>
          <p:cNvPr id="73" name="TextBox 72"/>
          <p:cNvSpPr txBox="1"/>
          <p:nvPr/>
        </p:nvSpPr>
        <p:spPr>
          <a:xfrm>
            <a:off x="1188720" y="5157216"/>
            <a:ext cx="5212080" cy="164592"/>
          </a:xfrm>
          <a:prstGeom prst="rect">
            <a:avLst/>
          </a:prstGeom>
          <a:noFill/>
        </p:spPr>
        <p:txBody>
          <a:bodyPr wrap="none" lIns="0" tIns="0" rIns="0" bIns="0" anchor="t">
            <a:spAutoFit/>
          </a:bodyPr>
          <a:lstStyle/>
          <a:p>
            <a:pPr algn="ctr">
              <a:lnSpc>
                <a:spcPct val="100000"/>
              </a:lnSpc>
              <a:spcAft>
                <a:spcPts val="0"/>
              </a:spcAft>
            </a:pPr>
            <a:r>
              <a:rPr sz="750" b="1" i="0">
                <a:solidFill>
                  <a:srgbClr val="767576"/>
                </a:solidFill>
                <a:latin typeface="Arial"/>
              </a:rPr>
              <a:t>LIKELIHOOD, six months</a:t>
            </a:r>
          </a:p>
        </p:txBody>
      </p:sp>
      <p:sp>
        <p:nvSpPr>
          <p:cNvPr id="74" name="TextBox 73"/>
          <p:cNvSpPr txBox="1"/>
          <p:nvPr/>
        </p:nvSpPr>
        <p:spPr>
          <a:xfrm>
            <a:off x="374904" y="5157216"/>
            <a:ext cx="768096" cy="164592"/>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ringed = judgement</a:t>
            </a:r>
          </a:p>
        </p:txBody>
      </p:sp>
      <p:sp>
        <p:nvSpPr>
          <p:cNvPr id="75" name="TextBox 74"/>
          <p:cNvSpPr txBox="1"/>
          <p:nvPr/>
        </p:nvSpPr>
        <p:spPr>
          <a:xfrm>
            <a:off x="6949440" y="1737360"/>
            <a:ext cx="4864608" cy="237744"/>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Do they lose together?</a:t>
            </a:r>
          </a:p>
        </p:txBody>
      </p:sp>
      <p:sp>
        <p:nvSpPr>
          <p:cNvPr id="76" name="Rectangle 75"/>
          <p:cNvSpPr/>
          <p:nvPr/>
        </p:nvSpPr>
        <p:spPr>
          <a:xfrm>
            <a:off x="7132320" y="2194560"/>
            <a:ext cx="4572000" cy="27432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Rectangle 76"/>
          <p:cNvSpPr/>
          <p:nvPr/>
        </p:nvSpPr>
        <p:spPr>
          <a:xfrm>
            <a:off x="7132320" y="3566160"/>
            <a:ext cx="2286000" cy="1371600"/>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8" name="Connector 77"/>
          <p:cNvCxnSpPr/>
          <p:nvPr/>
        </p:nvCxnSpPr>
        <p:spPr>
          <a:xfrm>
            <a:off x="7132320" y="3566160"/>
            <a:ext cx="4572000" cy="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418320" y="2194560"/>
            <a:ext cx="0" cy="274320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000907" y="37787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9711385" y="415594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9131198" y="32415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8710803" y="33558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8981351" y="372160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9303677" y="344728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9489071" y="47845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8518779" y="429310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9913810" y="35844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9747389" y="28300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8944889" y="27157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9587598" y="373303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9610344" y="35387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9684524" y="419023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9198635" y="33672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9930841" y="367588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9001010" y="32529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8882824" y="32872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9821227" y="34587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8539353" y="34129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10374782" y="38701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9080563" y="380161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9586341" y="31158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9059418" y="380161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9696869" y="30815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9050959" y="366445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9819170" y="28643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10134295" y="28986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9202635" y="403021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9121254" y="31843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9019984" y="30472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9787394" y="396163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8720861" y="31386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8584844" y="31501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9563938" y="31501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8954604" y="34129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8800185" y="30243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9623374" y="33672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9557994" y="34930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9487471" y="39273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8877681" y="390448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9022613" y="355015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8752979" y="397306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9258185" y="33215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8774353" y="420166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9485642" y="395020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9889578" y="36073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8491004" y="35387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9670008" y="36873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9410776" y="29215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9023527" y="32072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9081935" y="470458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10638586" y="299008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9675723" y="37787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8926601" y="358444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10944225" y="27957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9733673" y="41445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9612401" y="34815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9832428" y="35501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8842476"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9536163" y="36415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9841915" y="29329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9625774" y="36415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9441522" y="37673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9362770" y="32872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9276588" y="29557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9206293" y="34244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9124226" y="406450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8888425" y="33901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9407575" y="310438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9069705"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9236811" y="33444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9530334" y="35844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9987876" y="37787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9385401" y="400735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8625763" y="463600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8923858" y="33558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9631718" y="39844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9917125" y="34701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9549422" y="34015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9490329" y="42130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9239326" y="369874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9520961" y="33444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11676888"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10589666" y="36530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8923172" y="32872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9767506" y="35844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9794824" y="38587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8816873" y="375589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9903866"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9743160" y="33101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9109367" y="385876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9484956" y="396163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9620859" y="33901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9411462" y="33901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9204464" y="35044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9359912"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9198635" y="359587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8862936" y="30700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9643605" y="39844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9798024" y="34701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9230982" y="35272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9579711" y="367588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9753790" y="29215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9635718" y="30129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8914485" y="396163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9236811" y="23614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9445066" y="34587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9126054" y="364159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9426549" y="35272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8763266" y="479602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8456599" y="21671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9465183" y="44531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9942156" y="36301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9141828" y="33558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10190302" y="28300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9890379"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9722243" y="27500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8639365" y="422452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9339567" y="412165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9359569" y="381304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9019298" y="35044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9890264" y="32758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10046169" y="36644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9633432" y="31386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9378200" y="339013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9869576" y="36987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8564270" y="34930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9408718" y="36987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10113264" y="33558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9652977" y="34815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10123093" y="36644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10076573" y="34587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9387001" y="364159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10826381" y="35730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9754476" y="35272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10022166" y="372160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8806129" y="29672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8655138" y="403021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10240365" y="34701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9479470" y="34587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9583254" y="34815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9641090" y="31386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8382647" y="29557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9489300" y="36873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9867519" y="26357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9470212" y="368731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8859393" y="31501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9404032" y="379018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9169946" y="35272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9452038" y="301294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8855049" y="31729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9216923" y="33787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9489300" y="34815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9998506" y="400735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9273501" y="383590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9809568" y="29443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10676420" y="31729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9842487" y="31958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9478556" y="364159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8544039" y="344728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10232821" y="309295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10140581" y="32872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9408833" y="326440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9159887" y="30586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9417062" y="37101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9034957" y="21671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9050159" y="321868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9742360" y="4018787"/>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8810244" y="361873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9157373" y="389305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9294990" y="329869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9078734" y="4053078"/>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9360827" y="21671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8410308" y="4121657"/>
            <a:ext cx="54864" cy="5486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9753447" y="408736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10099090" y="348157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9751847" y="3424428"/>
            <a:ext cx="54864" cy="5486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TextBox 257"/>
          <p:cNvSpPr txBox="1"/>
          <p:nvPr/>
        </p:nvSpPr>
        <p:spPr>
          <a:xfrm>
            <a:off x="7132320" y="2011679"/>
            <a:ext cx="1828800" cy="164592"/>
          </a:xfrm>
          <a:prstGeom prst="rect">
            <a:avLst/>
          </a:prstGeom>
          <a:noFill/>
        </p:spPr>
        <p:txBody>
          <a:bodyPr wrap="none" lIns="0" tIns="0" rIns="0" bIns="0" anchor="t">
            <a:spAutoFit/>
          </a:bodyPr>
          <a:lstStyle/>
          <a:p>
            <a:pPr algn="l">
              <a:lnSpc>
                <a:spcPct val="100000"/>
              </a:lnSpc>
              <a:spcAft>
                <a:spcPts val="0"/>
              </a:spcAft>
            </a:pPr>
            <a:r>
              <a:rPr sz="700" b="0" i="0">
                <a:solidFill>
                  <a:srgbClr val="767576"/>
                </a:solidFill>
                <a:latin typeface="Arial"/>
              </a:rPr>
              <a:t>steepening</a:t>
            </a:r>
          </a:p>
        </p:txBody>
      </p:sp>
      <p:sp>
        <p:nvSpPr>
          <p:cNvPr id="259" name="TextBox 258"/>
          <p:cNvSpPr txBox="1"/>
          <p:nvPr/>
        </p:nvSpPr>
        <p:spPr>
          <a:xfrm>
            <a:off x="7132320" y="4992624"/>
            <a:ext cx="1828800" cy="164592"/>
          </a:xfrm>
          <a:prstGeom prst="rect">
            <a:avLst/>
          </a:prstGeom>
          <a:noFill/>
        </p:spPr>
        <p:txBody>
          <a:bodyPr wrap="none" lIns="0" tIns="0" rIns="0" bIns="0" anchor="t">
            <a:spAutoFit/>
          </a:bodyPr>
          <a:lstStyle/>
          <a:p>
            <a:pPr algn="l">
              <a:lnSpc>
                <a:spcPct val="100000"/>
              </a:lnSpc>
              <a:spcAft>
                <a:spcPts val="0"/>
              </a:spcAft>
            </a:pPr>
            <a:r>
              <a:rPr sz="700" b="0" i="0">
                <a:solidFill>
                  <a:srgbClr val="767576"/>
                </a:solidFill>
                <a:latin typeface="Arial"/>
              </a:rPr>
              <a:t>flattening</a:t>
            </a:r>
          </a:p>
        </p:txBody>
      </p:sp>
      <p:sp>
        <p:nvSpPr>
          <p:cNvPr id="260" name="TextBox 259"/>
          <p:cNvSpPr txBox="1"/>
          <p:nvPr/>
        </p:nvSpPr>
        <p:spPr>
          <a:xfrm>
            <a:off x="7132320" y="5157216"/>
            <a:ext cx="1463040" cy="164592"/>
          </a:xfrm>
          <a:prstGeom prst="rect">
            <a:avLst/>
          </a:prstGeom>
          <a:noFill/>
        </p:spPr>
        <p:txBody>
          <a:bodyPr wrap="none" lIns="0" tIns="0" rIns="0" bIns="0" anchor="t">
            <a:spAutoFit/>
          </a:bodyPr>
          <a:lstStyle/>
          <a:p>
            <a:pPr algn="l">
              <a:lnSpc>
                <a:spcPct val="100000"/>
              </a:lnSpc>
              <a:spcAft>
                <a:spcPts val="0"/>
              </a:spcAft>
            </a:pPr>
            <a:r>
              <a:rPr sz="700" b="0" i="0">
                <a:solidFill>
                  <a:srgbClr val="767576"/>
                </a:solidFill>
                <a:latin typeface="Arial"/>
              </a:rPr>
              <a:t>CATL -20%</a:t>
            </a:r>
          </a:p>
        </p:txBody>
      </p:sp>
      <p:sp>
        <p:nvSpPr>
          <p:cNvPr id="261" name="TextBox 260"/>
          <p:cNvSpPr txBox="1"/>
          <p:nvPr/>
        </p:nvSpPr>
        <p:spPr>
          <a:xfrm>
            <a:off x="10241280" y="5157216"/>
            <a:ext cx="1463040" cy="164592"/>
          </a:xfrm>
          <a:prstGeom prst="rect">
            <a:avLst/>
          </a:prstGeom>
          <a:noFill/>
        </p:spPr>
        <p:txBody>
          <a:bodyPr wrap="none" lIns="0" tIns="0" rIns="0" bIns="0" anchor="t">
            <a:spAutoFit/>
          </a:bodyPr>
          <a:lstStyle/>
          <a:p>
            <a:pPr algn="r">
              <a:lnSpc>
                <a:spcPct val="100000"/>
              </a:lnSpc>
              <a:spcAft>
                <a:spcPts val="0"/>
              </a:spcAft>
            </a:pPr>
            <a:r>
              <a:rPr sz="700" b="0" i="0">
                <a:solidFill>
                  <a:srgbClr val="767576"/>
                </a:solidFill>
                <a:latin typeface="Arial"/>
              </a:rPr>
              <a:t>CATL +20%</a:t>
            </a:r>
          </a:p>
        </p:txBody>
      </p:sp>
      <p:sp>
        <p:nvSpPr>
          <p:cNvPr id="262" name="TextBox 261"/>
          <p:cNvSpPr txBox="1"/>
          <p:nvPr/>
        </p:nvSpPr>
        <p:spPr>
          <a:xfrm>
            <a:off x="6949440" y="5321808"/>
            <a:ext cx="4864608" cy="146304"/>
          </a:xfrm>
          <a:prstGeom prst="rect">
            <a:avLst/>
          </a:prstGeom>
          <a:noFill/>
        </p:spPr>
        <p:txBody>
          <a:bodyPr wrap="none" lIns="0" tIns="0" rIns="0" bIns="0" anchor="t">
            <a:spAutoFit/>
          </a:bodyPr>
          <a:lstStyle/>
          <a:p>
            <a:pPr algn="l">
              <a:lnSpc>
                <a:spcPct val="100000"/>
              </a:lnSpc>
              <a:spcAft>
                <a:spcPts val="0"/>
              </a:spcAft>
            </a:pPr>
            <a:r>
              <a:rPr sz="850" b="1" i="0">
                <a:solidFill>
                  <a:srgbClr val="DB0011"/>
                </a:solidFill>
                <a:latin typeface="Arial"/>
              </a:rPr>
              <a:t>18.0% of weeks both lose. </a:t>
            </a:r>
            <a:r>
              <a:rPr sz="850" b="0" i="0">
                <a:solidFill>
                  <a:srgbClr val="000000"/>
                </a:solidFill>
                <a:latin typeface="Arial"/>
              </a:rPr>
              <a:t>Independence predicts 19.4%.</a:t>
            </a:r>
          </a:p>
        </p:txBody>
      </p:sp>
      <p:sp>
        <p:nvSpPr>
          <p:cNvPr id="263" name="Rectangle 262"/>
          <p:cNvSpPr/>
          <p:nvPr/>
        </p:nvSpPr>
        <p:spPr>
          <a:xfrm>
            <a:off x="374904" y="5486400"/>
            <a:ext cx="11441887" cy="56692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TextBox 263"/>
          <p:cNvSpPr txBox="1"/>
          <p:nvPr/>
        </p:nvSpPr>
        <p:spPr>
          <a:xfrm>
            <a:off x="594360" y="5632704"/>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Independent trades. The concentration is inside CATL: 90% of sessions below a prior peak, drawdown 24.7%, no stop.</a:t>
            </a:r>
          </a:p>
        </p:txBody>
      </p:sp>
      <p:sp>
        <p:nvSpPr>
          <p:cNvPr id="265" name="TextBox 264"/>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Likelihood is the probability of at least one occurrence in 26 weeks from observed frequency, except the two ringed. Scatter is 300750 CH against weekly 2s10s, n = 178. Drawdown is 3750 HK since listing. Computed by data-puller/risk_matrix.py.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Time underwater</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Distance below the running peak, weekly.</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3</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MoF and Yahoo Finance · refresh before use</a:t>
            </a:r>
          </a:p>
        </p:txBody>
      </p:sp>
      <p:sp>
        <p:nvSpPr>
          <p:cNvPr id="16" name="TextBox 15"/>
          <p:cNvSpPr txBox="1"/>
          <p:nvPr/>
        </p:nvSpPr>
        <p:spPr>
          <a:xfrm>
            <a:off x="374904" y="1975104"/>
            <a:ext cx="3657600" cy="164592"/>
          </a:xfrm>
          <a:prstGeom prst="rect">
            <a:avLst/>
          </a:prstGeom>
          <a:noFill/>
        </p:spPr>
        <p:txBody>
          <a:bodyPr wrap="none" lIns="0" tIns="0" rIns="0" bIns="0" anchor="t">
            <a:spAutoFit/>
          </a:bodyPr>
          <a:lstStyle/>
          <a:p>
            <a:pPr algn="l">
              <a:lnSpc>
                <a:spcPct val="100000"/>
              </a:lnSpc>
              <a:spcAft>
                <a:spcPts val="0"/>
              </a:spcAft>
            </a:pPr>
            <a:r>
              <a:rPr sz="800" b="1" i="0">
                <a:solidFill>
                  <a:srgbClr val="DB0011"/>
                </a:solidFill>
                <a:latin typeface="Arial"/>
              </a:rPr>
              <a:t>CATL 300750 CH, %</a:t>
            </a:r>
          </a:p>
        </p:txBody>
      </p:sp>
      <p:sp>
        <p:nvSpPr>
          <p:cNvPr id="17" name="TextBox 16"/>
          <p:cNvSpPr txBox="1"/>
          <p:nvPr/>
        </p:nvSpPr>
        <p:spPr>
          <a:xfrm>
            <a:off x="374904" y="3493008"/>
            <a:ext cx="3657600" cy="164592"/>
          </a:xfrm>
          <a:prstGeom prst="rect">
            <a:avLst/>
          </a:prstGeom>
          <a:noFill/>
        </p:spPr>
        <p:txBody>
          <a:bodyPr wrap="none" lIns="0" tIns="0" rIns="0" bIns="0" anchor="t">
            <a:spAutoFit/>
          </a:bodyPr>
          <a:lstStyle/>
          <a:p>
            <a:pPr algn="l">
              <a:lnSpc>
                <a:spcPct val="100000"/>
              </a:lnSpc>
              <a:spcAft>
                <a:spcPts val="0"/>
              </a:spcAft>
            </a:pPr>
            <a:r>
              <a:rPr sz="800" b="1" i="0">
                <a:solidFill>
                  <a:srgbClr val="44546A"/>
                </a:solidFill>
                <a:latin typeface="Arial"/>
              </a:rPr>
              <a:t>JGB 2s10s steepener, bp</a:t>
            </a:r>
          </a:p>
        </p:txBody>
      </p:sp>
      <p:sp>
        <p:nvSpPr>
          <p:cNvPr id="18" name="Rectangle 17"/>
          <p:cNvSpPr/>
          <p:nvPr/>
        </p:nvSpPr>
        <p:spPr>
          <a:xfrm>
            <a:off x="960120" y="2194560"/>
            <a:ext cx="6263640" cy="1207008"/>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9" name="Connector 18"/>
          <p:cNvCxnSpPr/>
          <p:nvPr/>
        </p:nvCxnSpPr>
        <p:spPr>
          <a:xfrm>
            <a:off x="960120" y="2194560"/>
            <a:ext cx="6263639" cy="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109295" y="2194560"/>
            <a:ext cx="38404" cy="4570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42970" y="2194560"/>
            <a:ext cx="38404" cy="16540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1176645" y="2194560"/>
            <a:ext cx="38404" cy="23749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1210321" y="2194560"/>
            <a:ext cx="38404" cy="25282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1243996" y="2194560"/>
            <a:ext cx="38404" cy="23556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277672" y="2194560"/>
            <a:ext cx="38404" cy="38905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1311347" y="2194560"/>
            <a:ext cx="38404" cy="29702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1345023" y="2194560"/>
            <a:ext cx="38404" cy="2342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1378698" y="2194560"/>
            <a:ext cx="38404" cy="31277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1412374" y="2194560"/>
            <a:ext cx="38404" cy="27813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1446049" y="2194560"/>
            <a:ext cx="38404" cy="23953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1479725" y="2194560"/>
            <a:ext cx="38404" cy="18785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1513400" y="2194560"/>
            <a:ext cx="38404" cy="22166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547076" y="2194560"/>
            <a:ext cx="38404" cy="12665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1580751" y="2194560"/>
            <a:ext cx="38404" cy="19527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1614427" y="2194560"/>
            <a:ext cx="38404" cy="28469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1648102" y="2194560"/>
            <a:ext cx="38404" cy="20895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1681778" y="2194560"/>
            <a:ext cx="38404" cy="35882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1715453" y="2194560"/>
            <a:ext cx="38404" cy="18565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1749129" y="2194560"/>
            <a:ext cx="38404" cy="24027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1782804" y="2194560"/>
            <a:ext cx="38404" cy="20587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1816480" y="2194560"/>
            <a:ext cx="38404" cy="26421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1850155" y="2194560"/>
            <a:ext cx="38404" cy="21036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1883831" y="2194560"/>
            <a:ext cx="38404" cy="27020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1917506" y="2194560"/>
            <a:ext cx="38404" cy="19483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1951182" y="2194560"/>
            <a:ext cx="38404" cy="6399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1984857" y="2194560"/>
            <a:ext cx="38404" cy="9710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2018533" y="2194560"/>
            <a:ext cx="38404" cy="14455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2052208" y="2194560"/>
            <a:ext cx="38404" cy="20983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2085884" y="2194560"/>
            <a:ext cx="38404" cy="14005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2119559" y="2194560"/>
            <a:ext cx="38404" cy="25797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2153235" y="2194560"/>
            <a:ext cx="38404" cy="39984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2186910" y="2194560"/>
            <a:ext cx="38404" cy="36938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2220585" y="2194560"/>
            <a:ext cx="38404" cy="44617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2287936" y="2194560"/>
            <a:ext cx="38404" cy="57326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2321612" y="2194560"/>
            <a:ext cx="38404" cy="6772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Rectangle 55"/>
          <p:cNvSpPr/>
          <p:nvPr/>
        </p:nvSpPr>
        <p:spPr>
          <a:xfrm>
            <a:off x="2355287" y="2194560"/>
            <a:ext cx="38404" cy="63629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Rectangle 56"/>
          <p:cNvSpPr/>
          <p:nvPr/>
        </p:nvSpPr>
        <p:spPr>
          <a:xfrm>
            <a:off x="2388963" y="2194560"/>
            <a:ext cx="38404" cy="60690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Rectangle 57"/>
          <p:cNvSpPr/>
          <p:nvPr/>
        </p:nvSpPr>
        <p:spPr>
          <a:xfrm>
            <a:off x="2422638" y="2194560"/>
            <a:ext cx="38404" cy="58990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2456314" y="2194560"/>
            <a:ext cx="38404" cy="68022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ectangle 59"/>
          <p:cNvSpPr/>
          <p:nvPr/>
        </p:nvSpPr>
        <p:spPr>
          <a:xfrm>
            <a:off x="2489989" y="2194560"/>
            <a:ext cx="38404" cy="74504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ectangle 60"/>
          <p:cNvSpPr/>
          <p:nvPr/>
        </p:nvSpPr>
        <p:spPr>
          <a:xfrm>
            <a:off x="2523665" y="2194560"/>
            <a:ext cx="38404" cy="85731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Rectangle 61"/>
          <p:cNvSpPr/>
          <p:nvPr/>
        </p:nvSpPr>
        <p:spPr>
          <a:xfrm>
            <a:off x="2557340" y="2194560"/>
            <a:ext cx="38404" cy="88067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Rectangle 62"/>
          <p:cNvSpPr/>
          <p:nvPr/>
        </p:nvSpPr>
        <p:spPr>
          <a:xfrm>
            <a:off x="2591016" y="2194560"/>
            <a:ext cx="38404" cy="98918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Rectangle 63"/>
          <p:cNvSpPr/>
          <p:nvPr/>
        </p:nvSpPr>
        <p:spPr>
          <a:xfrm>
            <a:off x="2624691" y="2194560"/>
            <a:ext cx="38404" cy="97250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ectangle 64"/>
          <p:cNvSpPr/>
          <p:nvPr/>
        </p:nvSpPr>
        <p:spPr>
          <a:xfrm>
            <a:off x="2658367" y="2194560"/>
            <a:ext cx="38404" cy="8847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ectangle 65"/>
          <p:cNvSpPr/>
          <p:nvPr/>
        </p:nvSpPr>
        <p:spPr>
          <a:xfrm>
            <a:off x="2692042" y="2194560"/>
            <a:ext cx="38404" cy="104311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Rectangle 66"/>
          <p:cNvSpPr/>
          <p:nvPr/>
        </p:nvSpPr>
        <p:spPr>
          <a:xfrm>
            <a:off x="2725718" y="2194560"/>
            <a:ext cx="38404" cy="99399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Rectangle 67"/>
          <p:cNvSpPr/>
          <p:nvPr/>
        </p:nvSpPr>
        <p:spPr>
          <a:xfrm>
            <a:off x="2759393" y="2194560"/>
            <a:ext cx="38404" cy="99047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Rectangle 68"/>
          <p:cNvSpPr/>
          <p:nvPr/>
        </p:nvSpPr>
        <p:spPr>
          <a:xfrm>
            <a:off x="2793069" y="2194560"/>
            <a:ext cx="38404" cy="105514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Rectangle 69"/>
          <p:cNvSpPr/>
          <p:nvPr/>
        </p:nvSpPr>
        <p:spPr>
          <a:xfrm>
            <a:off x="2826744" y="2194560"/>
            <a:ext cx="38404" cy="110952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Rectangle 70"/>
          <p:cNvSpPr/>
          <p:nvPr/>
        </p:nvSpPr>
        <p:spPr>
          <a:xfrm>
            <a:off x="2860420" y="2194560"/>
            <a:ext cx="38404" cy="88992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Rectangle 71"/>
          <p:cNvSpPr/>
          <p:nvPr/>
        </p:nvSpPr>
        <p:spPr>
          <a:xfrm>
            <a:off x="2927771" y="2194560"/>
            <a:ext cx="38404" cy="91903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Rectangle 72"/>
          <p:cNvSpPr/>
          <p:nvPr/>
        </p:nvSpPr>
        <p:spPr>
          <a:xfrm>
            <a:off x="2961446" y="2194560"/>
            <a:ext cx="38404" cy="86890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Rectangle 73"/>
          <p:cNvSpPr/>
          <p:nvPr/>
        </p:nvSpPr>
        <p:spPr>
          <a:xfrm>
            <a:off x="2995122" y="2194560"/>
            <a:ext cx="38404" cy="95061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Rectangle 74"/>
          <p:cNvSpPr/>
          <p:nvPr/>
        </p:nvSpPr>
        <p:spPr>
          <a:xfrm>
            <a:off x="3028797" y="2194560"/>
            <a:ext cx="38404" cy="6772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Rectangle 75"/>
          <p:cNvSpPr/>
          <p:nvPr/>
        </p:nvSpPr>
        <p:spPr>
          <a:xfrm>
            <a:off x="3062473" y="2194560"/>
            <a:ext cx="38404" cy="61690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Rectangle 76"/>
          <p:cNvSpPr/>
          <p:nvPr/>
        </p:nvSpPr>
        <p:spPr>
          <a:xfrm>
            <a:off x="3096148" y="2194560"/>
            <a:ext cx="38404" cy="57791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Rectangle 77"/>
          <p:cNvSpPr/>
          <p:nvPr/>
        </p:nvSpPr>
        <p:spPr>
          <a:xfrm>
            <a:off x="3129824" y="2194560"/>
            <a:ext cx="38404" cy="50020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Rectangle 78"/>
          <p:cNvSpPr/>
          <p:nvPr/>
        </p:nvSpPr>
        <p:spPr>
          <a:xfrm>
            <a:off x="3163499" y="2194560"/>
            <a:ext cx="38404" cy="59672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Rectangle 79"/>
          <p:cNvSpPr/>
          <p:nvPr/>
        </p:nvSpPr>
        <p:spPr>
          <a:xfrm>
            <a:off x="3197175" y="2194560"/>
            <a:ext cx="38404" cy="57115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Rectangle 80"/>
          <p:cNvSpPr/>
          <p:nvPr/>
        </p:nvSpPr>
        <p:spPr>
          <a:xfrm>
            <a:off x="3230850" y="2194560"/>
            <a:ext cx="38404" cy="49177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Rectangle 81"/>
          <p:cNvSpPr/>
          <p:nvPr/>
        </p:nvSpPr>
        <p:spPr>
          <a:xfrm>
            <a:off x="3264525" y="2194560"/>
            <a:ext cx="38404" cy="45043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Rectangle 82"/>
          <p:cNvSpPr/>
          <p:nvPr/>
        </p:nvSpPr>
        <p:spPr>
          <a:xfrm>
            <a:off x="3298201" y="2194560"/>
            <a:ext cx="38404" cy="44152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Rectangle 83"/>
          <p:cNvSpPr/>
          <p:nvPr/>
        </p:nvSpPr>
        <p:spPr>
          <a:xfrm>
            <a:off x="3331876" y="2194560"/>
            <a:ext cx="38404" cy="4464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Rectangle 84"/>
          <p:cNvSpPr/>
          <p:nvPr/>
        </p:nvSpPr>
        <p:spPr>
          <a:xfrm>
            <a:off x="3365552" y="2194560"/>
            <a:ext cx="38404" cy="46658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ectangle 85"/>
          <p:cNvSpPr/>
          <p:nvPr/>
        </p:nvSpPr>
        <p:spPr>
          <a:xfrm>
            <a:off x="3399227" y="2194560"/>
            <a:ext cx="38404" cy="49907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Rectangle 86"/>
          <p:cNvSpPr/>
          <p:nvPr/>
        </p:nvSpPr>
        <p:spPr>
          <a:xfrm>
            <a:off x="3432903" y="2194560"/>
            <a:ext cx="38404" cy="54601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Rectangle 87"/>
          <p:cNvSpPr/>
          <p:nvPr/>
        </p:nvSpPr>
        <p:spPr>
          <a:xfrm>
            <a:off x="3466578" y="2194560"/>
            <a:ext cx="38404" cy="63444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Rectangle 88"/>
          <p:cNvSpPr/>
          <p:nvPr/>
        </p:nvSpPr>
        <p:spPr>
          <a:xfrm>
            <a:off x="3500254" y="2194560"/>
            <a:ext cx="38404" cy="63150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Rectangle 89"/>
          <p:cNvSpPr/>
          <p:nvPr/>
        </p:nvSpPr>
        <p:spPr>
          <a:xfrm>
            <a:off x="3533929" y="2194560"/>
            <a:ext cx="38404" cy="68803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Rectangle 90"/>
          <p:cNvSpPr/>
          <p:nvPr/>
        </p:nvSpPr>
        <p:spPr>
          <a:xfrm>
            <a:off x="3567605" y="2194560"/>
            <a:ext cx="38404" cy="7151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Rectangle 91"/>
          <p:cNvSpPr/>
          <p:nvPr/>
        </p:nvSpPr>
        <p:spPr>
          <a:xfrm>
            <a:off x="3601280" y="2194560"/>
            <a:ext cx="38404" cy="69060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Rectangle 92"/>
          <p:cNvSpPr/>
          <p:nvPr/>
        </p:nvSpPr>
        <p:spPr>
          <a:xfrm>
            <a:off x="3634956" y="2194560"/>
            <a:ext cx="38404" cy="58553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ectangle 93"/>
          <p:cNvSpPr/>
          <p:nvPr/>
        </p:nvSpPr>
        <p:spPr>
          <a:xfrm>
            <a:off x="3668631" y="2194560"/>
            <a:ext cx="38404" cy="58650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Rectangle 94"/>
          <p:cNvSpPr/>
          <p:nvPr/>
        </p:nvSpPr>
        <p:spPr>
          <a:xfrm>
            <a:off x="3702307" y="2194560"/>
            <a:ext cx="38404" cy="72116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Rectangle 95"/>
          <p:cNvSpPr/>
          <p:nvPr/>
        </p:nvSpPr>
        <p:spPr>
          <a:xfrm>
            <a:off x="3735982" y="2194560"/>
            <a:ext cx="38404" cy="80336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Rectangle 96"/>
          <p:cNvSpPr/>
          <p:nvPr/>
        </p:nvSpPr>
        <p:spPr>
          <a:xfrm>
            <a:off x="3769658" y="2194560"/>
            <a:ext cx="38404" cy="76097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Rectangle 97"/>
          <p:cNvSpPr/>
          <p:nvPr/>
        </p:nvSpPr>
        <p:spPr>
          <a:xfrm>
            <a:off x="3803333" y="2194560"/>
            <a:ext cx="38404" cy="6683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Rectangle 98"/>
          <p:cNvSpPr/>
          <p:nvPr/>
        </p:nvSpPr>
        <p:spPr>
          <a:xfrm>
            <a:off x="3837009" y="2194560"/>
            <a:ext cx="38404" cy="64043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Rectangle 99"/>
          <p:cNvSpPr/>
          <p:nvPr/>
        </p:nvSpPr>
        <p:spPr>
          <a:xfrm>
            <a:off x="3870684" y="2194560"/>
            <a:ext cx="38404" cy="62295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Rectangle 100"/>
          <p:cNvSpPr/>
          <p:nvPr/>
        </p:nvSpPr>
        <p:spPr>
          <a:xfrm>
            <a:off x="3904360" y="2194560"/>
            <a:ext cx="38404" cy="64963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Rectangle 101"/>
          <p:cNvSpPr/>
          <p:nvPr/>
        </p:nvSpPr>
        <p:spPr>
          <a:xfrm>
            <a:off x="3938035" y="2194560"/>
            <a:ext cx="38404" cy="62673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Rectangle 102"/>
          <p:cNvSpPr/>
          <p:nvPr/>
        </p:nvSpPr>
        <p:spPr>
          <a:xfrm>
            <a:off x="3971711" y="2194560"/>
            <a:ext cx="38404" cy="22335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Rectangle 103"/>
          <p:cNvSpPr/>
          <p:nvPr/>
        </p:nvSpPr>
        <p:spPr>
          <a:xfrm>
            <a:off x="4005386" y="2194560"/>
            <a:ext cx="38404" cy="1237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Rectangle 104"/>
          <p:cNvSpPr/>
          <p:nvPr/>
        </p:nvSpPr>
        <p:spPr>
          <a:xfrm>
            <a:off x="4039062" y="2194560"/>
            <a:ext cx="38404" cy="9468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Rectangle 105"/>
          <p:cNvSpPr/>
          <p:nvPr/>
        </p:nvSpPr>
        <p:spPr>
          <a:xfrm>
            <a:off x="4072737" y="2194560"/>
            <a:ext cx="38404" cy="2840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Rectangle 106"/>
          <p:cNvSpPr/>
          <p:nvPr/>
        </p:nvSpPr>
        <p:spPr>
          <a:xfrm>
            <a:off x="4140088" y="2194560"/>
            <a:ext cx="38404" cy="10102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Rectangle 107"/>
          <p:cNvSpPr/>
          <p:nvPr/>
        </p:nvSpPr>
        <p:spPr>
          <a:xfrm>
            <a:off x="4173764" y="2194560"/>
            <a:ext cx="38404" cy="1074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Rectangle 108"/>
          <p:cNvSpPr/>
          <p:nvPr/>
        </p:nvSpPr>
        <p:spPr>
          <a:xfrm>
            <a:off x="4241115" y="2194560"/>
            <a:ext cx="38404" cy="4954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Rectangle 109"/>
          <p:cNvSpPr/>
          <p:nvPr/>
        </p:nvSpPr>
        <p:spPr>
          <a:xfrm>
            <a:off x="4274790" y="2194560"/>
            <a:ext cx="38404" cy="3299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Rectangle 110"/>
          <p:cNvSpPr/>
          <p:nvPr/>
        </p:nvSpPr>
        <p:spPr>
          <a:xfrm>
            <a:off x="4375816" y="2194560"/>
            <a:ext cx="38404" cy="3281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Rectangle 111"/>
          <p:cNvSpPr/>
          <p:nvPr/>
        </p:nvSpPr>
        <p:spPr>
          <a:xfrm>
            <a:off x="4409492" y="2194560"/>
            <a:ext cx="38404" cy="3826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Rectangle 112"/>
          <p:cNvSpPr/>
          <p:nvPr/>
        </p:nvSpPr>
        <p:spPr>
          <a:xfrm>
            <a:off x="4443167" y="2194560"/>
            <a:ext cx="38404" cy="7209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Rectangle 113"/>
          <p:cNvSpPr/>
          <p:nvPr/>
        </p:nvSpPr>
        <p:spPr>
          <a:xfrm>
            <a:off x="4476843" y="2194560"/>
            <a:ext cx="38404" cy="16501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Rectangle 114"/>
          <p:cNvSpPr/>
          <p:nvPr/>
        </p:nvSpPr>
        <p:spPr>
          <a:xfrm>
            <a:off x="4510518" y="2194560"/>
            <a:ext cx="38404" cy="12053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Rectangle 115"/>
          <p:cNvSpPr/>
          <p:nvPr/>
        </p:nvSpPr>
        <p:spPr>
          <a:xfrm>
            <a:off x="4544194" y="2194560"/>
            <a:ext cx="38404" cy="4888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Rectangle 116"/>
          <p:cNvSpPr/>
          <p:nvPr/>
        </p:nvSpPr>
        <p:spPr>
          <a:xfrm>
            <a:off x="4577869" y="2194560"/>
            <a:ext cx="38404" cy="7700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Rectangle 117"/>
          <p:cNvSpPr/>
          <p:nvPr/>
        </p:nvSpPr>
        <p:spPr>
          <a:xfrm>
            <a:off x="4611545" y="2194560"/>
            <a:ext cx="38404" cy="4379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Rectangle 118"/>
          <p:cNvSpPr/>
          <p:nvPr/>
        </p:nvSpPr>
        <p:spPr>
          <a:xfrm>
            <a:off x="4712571" y="2194560"/>
            <a:ext cx="38404" cy="8384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Rectangle 119"/>
          <p:cNvSpPr/>
          <p:nvPr/>
        </p:nvSpPr>
        <p:spPr>
          <a:xfrm>
            <a:off x="4746247" y="2194560"/>
            <a:ext cx="38404" cy="11098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Rectangle 120"/>
          <p:cNvSpPr/>
          <p:nvPr/>
        </p:nvSpPr>
        <p:spPr>
          <a:xfrm>
            <a:off x="4779922" y="2194560"/>
            <a:ext cx="38404" cy="10142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Rectangle 121"/>
          <p:cNvSpPr/>
          <p:nvPr/>
        </p:nvSpPr>
        <p:spPr>
          <a:xfrm>
            <a:off x="4813598" y="2194560"/>
            <a:ext cx="38404" cy="14803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Rectangle 122"/>
          <p:cNvSpPr/>
          <p:nvPr/>
        </p:nvSpPr>
        <p:spPr>
          <a:xfrm>
            <a:off x="4847273" y="2194560"/>
            <a:ext cx="38404" cy="14176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Rectangle 123"/>
          <p:cNvSpPr/>
          <p:nvPr/>
        </p:nvSpPr>
        <p:spPr>
          <a:xfrm>
            <a:off x="4880949" y="2194560"/>
            <a:ext cx="38404" cy="25222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Rectangle 124"/>
          <p:cNvSpPr/>
          <p:nvPr/>
        </p:nvSpPr>
        <p:spPr>
          <a:xfrm>
            <a:off x="4914624" y="2194560"/>
            <a:ext cx="38404" cy="41665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Rectangle 125"/>
          <p:cNvSpPr/>
          <p:nvPr/>
        </p:nvSpPr>
        <p:spPr>
          <a:xfrm>
            <a:off x="4948300" y="2194560"/>
            <a:ext cx="38404" cy="40360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Rectangle 126"/>
          <p:cNvSpPr/>
          <p:nvPr/>
        </p:nvSpPr>
        <p:spPr>
          <a:xfrm>
            <a:off x="4981975" y="2194560"/>
            <a:ext cx="38404" cy="30658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Rectangle 127"/>
          <p:cNvSpPr/>
          <p:nvPr/>
        </p:nvSpPr>
        <p:spPr>
          <a:xfrm>
            <a:off x="5015651" y="2194560"/>
            <a:ext cx="38404" cy="35041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Rectangle 128"/>
          <p:cNvSpPr/>
          <p:nvPr/>
        </p:nvSpPr>
        <p:spPr>
          <a:xfrm>
            <a:off x="5049326" y="2194560"/>
            <a:ext cx="38404" cy="20971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Rectangle 129"/>
          <p:cNvSpPr/>
          <p:nvPr/>
        </p:nvSpPr>
        <p:spPr>
          <a:xfrm>
            <a:off x="5083002" y="2194560"/>
            <a:ext cx="38404" cy="12180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Rectangle 130"/>
          <p:cNvSpPr/>
          <p:nvPr/>
        </p:nvSpPr>
        <p:spPr>
          <a:xfrm>
            <a:off x="5116677" y="2194560"/>
            <a:ext cx="38404" cy="634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ectangle 131"/>
          <p:cNvSpPr/>
          <p:nvPr/>
        </p:nvSpPr>
        <p:spPr>
          <a:xfrm>
            <a:off x="5150353" y="2194560"/>
            <a:ext cx="38404" cy="19575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Rectangle 132"/>
          <p:cNvSpPr/>
          <p:nvPr/>
        </p:nvSpPr>
        <p:spPr>
          <a:xfrm>
            <a:off x="5184028" y="2194560"/>
            <a:ext cx="38404" cy="20478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Rectangle 133"/>
          <p:cNvSpPr/>
          <p:nvPr/>
        </p:nvSpPr>
        <p:spPr>
          <a:xfrm>
            <a:off x="5217704" y="2194560"/>
            <a:ext cx="38404" cy="21028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Rectangle 134"/>
          <p:cNvSpPr/>
          <p:nvPr/>
        </p:nvSpPr>
        <p:spPr>
          <a:xfrm>
            <a:off x="5251379" y="2194560"/>
            <a:ext cx="38404" cy="27570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Rectangle 135"/>
          <p:cNvSpPr/>
          <p:nvPr/>
        </p:nvSpPr>
        <p:spPr>
          <a:xfrm>
            <a:off x="5285055" y="2194560"/>
            <a:ext cx="38404" cy="18781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Rectangle 136"/>
          <p:cNvSpPr/>
          <p:nvPr/>
        </p:nvSpPr>
        <p:spPr>
          <a:xfrm>
            <a:off x="5318730" y="2194560"/>
            <a:ext cx="38404" cy="7246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Rectangle 137"/>
          <p:cNvSpPr/>
          <p:nvPr/>
        </p:nvSpPr>
        <p:spPr>
          <a:xfrm>
            <a:off x="5352405" y="2194560"/>
            <a:ext cx="38404" cy="2979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Rectangle 138"/>
          <p:cNvSpPr/>
          <p:nvPr/>
        </p:nvSpPr>
        <p:spPr>
          <a:xfrm>
            <a:off x="5386081" y="2194560"/>
            <a:ext cx="38404" cy="3200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ectangle 139"/>
          <p:cNvSpPr/>
          <p:nvPr/>
        </p:nvSpPr>
        <p:spPr>
          <a:xfrm>
            <a:off x="5453432" y="2194560"/>
            <a:ext cx="38404" cy="14548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Rectangle 140"/>
          <p:cNvSpPr/>
          <p:nvPr/>
        </p:nvSpPr>
        <p:spPr>
          <a:xfrm>
            <a:off x="5487107" y="2194560"/>
            <a:ext cx="38404" cy="14234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Rectangle 141"/>
          <p:cNvSpPr/>
          <p:nvPr/>
        </p:nvSpPr>
        <p:spPr>
          <a:xfrm>
            <a:off x="5520783" y="2194560"/>
            <a:ext cx="38404" cy="1520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Rectangle 142"/>
          <p:cNvSpPr/>
          <p:nvPr/>
        </p:nvSpPr>
        <p:spPr>
          <a:xfrm>
            <a:off x="5655485" y="2194560"/>
            <a:ext cx="38404" cy="68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Rectangle 143"/>
          <p:cNvSpPr/>
          <p:nvPr/>
        </p:nvSpPr>
        <p:spPr>
          <a:xfrm>
            <a:off x="5790187" y="2194560"/>
            <a:ext cx="38404" cy="10291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Rectangle 144"/>
          <p:cNvSpPr/>
          <p:nvPr/>
        </p:nvSpPr>
        <p:spPr>
          <a:xfrm>
            <a:off x="5823862" y="2194560"/>
            <a:ext cx="38404" cy="23240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Rectangle 145"/>
          <p:cNvSpPr/>
          <p:nvPr/>
        </p:nvSpPr>
        <p:spPr>
          <a:xfrm>
            <a:off x="5857538" y="2194560"/>
            <a:ext cx="38404" cy="8290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Rectangle 146"/>
          <p:cNvSpPr/>
          <p:nvPr/>
        </p:nvSpPr>
        <p:spPr>
          <a:xfrm>
            <a:off x="5891213" y="2194560"/>
            <a:ext cx="38404" cy="6731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Rectangle 147"/>
          <p:cNvSpPr/>
          <p:nvPr/>
        </p:nvSpPr>
        <p:spPr>
          <a:xfrm>
            <a:off x="5924889" y="2194560"/>
            <a:ext cx="38404" cy="3345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Rectangle 148"/>
          <p:cNvSpPr/>
          <p:nvPr/>
        </p:nvSpPr>
        <p:spPr>
          <a:xfrm>
            <a:off x="5992240" y="2194560"/>
            <a:ext cx="38404" cy="17745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Rectangle 149"/>
          <p:cNvSpPr/>
          <p:nvPr/>
        </p:nvSpPr>
        <p:spPr>
          <a:xfrm>
            <a:off x="6025915" y="2194560"/>
            <a:ext cx="38404" cy="16012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Rectangle 150"/>
          <p:cNvSpPr/>
          <p:nvPr/>
        </p:nvSpPr>
        <p:spPr>
          <a:xfrm>
            <a:off x="6059591" y="2194560"/>
            <a:ext cx="38404" cy="7624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Rectangle 151"/>
          <p:cNvSpPr/>
          <p:nvPr/>
        </p:nvSpPr>
        <p:spPr>
          <a:xfrm>
            <a:off x="6093266" y="2194560"/>
            <a:ext cx="38404" cy="6228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Rectangle 152"/>
          <p:cNvSpPr/>
          <p:nvPr/>
        </p:nvSpPr>
        <p:spPr>
          <a:xfrm>
            <a:off x="6126942" y="2194560"/>
            <a:ext cx="38404" cy="15582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Rectangle 153"/>
          <p:cNvSpPr/>
          <p:nvPr/>
        </p:nvSpPr>
        <p:spPr>
          <a:xfrm>
            <a:off x="6160617" y="2194560"/>
            <a:ext cx="38404" cy="15351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Rectangle 154"/>
          <p:cNvSpPr/>
          <p:nvPr/>
        </p:nvSpPr>
        <p:spPr>
          <a:xfrm>
            <a:off x="6194293" y="2194560"/>
            <a:ext cx="38404" cy="19239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Rectangle 155"/>
          <p:cNvSpPr/>
          <p:nvPr/>
        </p:nvSpPr>
        <p:spPr>
          <a:xfrm>
            <a:off x="6227968" y="2194560"/>
            <a:ext cx="38404" cy="18163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Rectangle 156"/>
          <p:cNvSpPr/>
          <p:nvPr/>
        </p:nvSpPr>
        <p:spPr>
          <a:xfrm>
            <a:off x="6261644" y="2194560"/>
            <a:ext cx="38404" cy="27594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Rectangle 157"/>
          <p:cNvSpPr/>
          <p:nvPr/>
        </p:nvSpPr>
        <p:spPr>
          <a:xfrm>
            <a:off x="6295319" y="2194560"/>
            <a:ext cx="38404" cy="30655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Rectangle 158"/>
          <p:cNvSpPr/>
          <p:nvPr/>
        </p:nvSpPr>
        <p:spPr>
          <a:xfrm>
            <a:off x="6328995" y="2194560"/>
            <a:ext cx="38404" cy="28923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Rectangle 159"/>
          <p:cNvSpPr/>
          <p:nvPr/>
        </p:nvSpPr>
        <p:spPr>
          <a:xfrm>
            <a:off x="6362670" y="2194560"/>
            <a:ext cx="38404" cy="18229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Rectangle 160"/>
          <p:cNvSpPr/>
          <p:nvPr/>
        </p:nvSpPr>
        <p:spPr>
          <a:xfrm>
            <a:off x="6396345" y="2194560"/>
            <a:ext cx="38404" cy="20293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Rectangle 161"/>
          <p:cNvSpPr/>
          <p:nvPr/>
        </p:nvSpPr>
        <p:spPr>
          <a:xfrm>
            <a:off x="6463696" y="2194560"/>
            <a:ext cx="38404" cy="33568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Rectangle 162"/>
          <p:cNvSpPr/>
          <p:nvPr/>
        </p:nvSpPr>
        <p:spPr>
          <a:xfrm>
            <a:off x="6497372" y="2194560"/>
            <a:ext cx="38404" cy="26200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Rectangle 163"/>
          <p:cNvSpPr/>
          <p:nvPr/>
        </p:nvSpPr>
        <p:spPr>
          <a:xfrm>
            <a:off x="6531047" y="2194560"/>
            <a:ext cx="38404" cy="35767"/>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Rectangle 164"/>
          <p:cNvSpPr/>
          <p:nvPr/>
        </p:nvSpPr>
        <p:spPr>
          <a:xfrm>
            <a:off x="6632074" y="2194560"/>
            <a:ext cx="38404" cy="14904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Rectangle 165"/>
          <p:cNvSpPr/>
          <p:nvPr/>
        </p:nvSpPr>
        <p:spPr>
          <a:xfrm>
            <a:off x="6665749" y="2194560"/>
            <a:ext cx="38404" cy="86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Rectangle 166"/>
          <p:cNvSpPr/>
          <p:nvPr/>
        </p:nvSpPr>
        <p:spPr>
          <a:xfrm>
            <a:off x="6766776" y="2194560"/>
            <a:ext cx="38404" cy="4065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ectangle 167"/>
          <p:cNvSpPr/>
          <p:nvPr/>
        </p:nvSpPr>
        <p:spPr>
          <a:xfrm>
            <a:off x="6800451" y="2194560"/>
            <a:ext cx="38404" cy="3604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Rectangle 168"/>
          <p:cNvSpPr/>
          <p:nvPr/>
        </p:nvSpPr>
        <p:spPr>
          <a:xfrm>
            <a:off x="6834127" y="2194560"/>
            <a:ext cx="38404" cy="9869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Rectangle 169"/>
          <p:cNvSpPr/>
          <p:nvPr/>
        </p:nvSpPr>
        <p:spPr>
          <a:xfrm>
            <a:off x="6867802" y="2194560"/>
            <a:ext cx="38404" cy="15866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Rectangle 170"/>
          <p:cNvSpPr/>
          <p:nvPr/>
        </p:nvSpPr>
        <p:spPr>
          <a:xfrm>
            <a:off x="6901478" y="2194560"/>
            <a:ext cx="38404" cy="9680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Rectangle 171"/>
          <p:cNvSpPr/>
          <p:nvPr/>
        </p:nvSpPr>
        <p:spPr>
          <a:xfrm>
            <a:off x="6935153" y="2194560"/>
            <a:ext cx="38404" cy="19897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Rectangle 172"/>
          <p:cNvSpPr/>
          <p:nvPr/>
        </p:nvSpPr>
        <p:spPr>
          <a:xfrm>
            <a:off x="6968829" y="2194560"/>
            <a:ext cx="38404" cy="24007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ectangle 173"/>
          <p:cNvSpPr/>
          <p:nvPr/>
        </p:nvSpPr>
        <p:spPr>
          <a:xfrm>
            <a:off x="7002504" y="2194560"/>
            <a:ext cx="38404" cy="25697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Rectangle 174"/>
          <p:cNvSpPr/>
          <p:nvPr/>
        </p:nvSpPr>
        <p:spPr>
          <a:xfrm>
            <a:off x="7036180" y="2194560"/>
            <a:ext cx="38404" cy="31191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Rectangle 175"/>
          <p:cNvSpPr/>
          <p:nvPr/>
        </p:nvSpPr>
        <p:spPr>
          <a:xfrm>
            <a:off x="7069855" y="2194560"/>
            <a:ext cx="38404" cy="31720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Rectangle 176"/>
          <p:cNvSpPr/>
          <p:nvPr/>
        </p:nvSpPr>
        <p:spPr>
          <a:xfrm>
            <a:off x="7103531" y="2194560"/>
            <a:ext cx="38404" cy="48978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Rectangle 177"/>
          <p:cNvSpPr/>
          <p:nvPr/>
        </p:nvSpPr>
        <p:spPr>
          <a:xfrm>
            <a:off x="7137206" y="2194560"/>
            <a:ext cx="38404" cy="425973"/>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Rectangle 178"/>
          <p:cNvSpPr/>
          <p:nvPr/>
        </p:nvSpPr>
        <p:spPr>
          <a:xfrm>
            <a:off x="7170882" y="2194560"/>
            <a:ext cx="38404" cy="301329"/>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ectangle 179"/>
          <p:cNvSpPr/>
          <p:nvPr/>
        </p:nvSpPr>
        <p:spPr>
          <a:xfrm>
            <a:off x="7204557" y="2194560"/>
            <a:ext cx="38404" cy="23778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Rectangle 180"/>
          <p:cNvSpPr/>
          <p:nvPr/>
        </p:nvSpPr>
        <p:spPr>
          <a:xfrm>
            <a:off x="960120" y="3712463"/>
            <a:ext cx="6263640" cy="1207008"/>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82" name="Connector 181"/>
          <p:cNvCxnSpPr/>
          <p:nvPr/>
        </p:nvCxnSpPr>
        <p:spPr>
          <a:xfrm>
            <a:off x="960120" y="3712463"/>
            <a:ext cx="6263639" cy="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183" name="Rectangle 182"/>
          <p:cNvSpPr/>
          <p:nvPr/>
        </p:nvSpPr>
        <p:spPr>
          <a:xfrm>
            <a:off x="974593" y="3712463"/>
            <a:ext cx="38404" cy="7040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Rectangle 183"/>
          <p:cNvSpPr/>
          <p:nvPr/>
        </p:nvSpPr>
        <p:spPr>
          <a:xfrm>
            <a:off x="1008268" y="3712463"/>
            <a:ext cx="38404" cy="2514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Rectangle 184"/>
          <p:cNvSpPr/>
          <p:nvPr/>
        </p:nvSpPr>
        <p:spPr>
          <a:xfrm>
            <a:off x="1041944" y="3712463"/>
            <a:ext cx="38404" cy="335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Rectangle 185"/>
          <p:cNvSpPr/>
          <p:nvPr/>
        </p:nvSpPr>
        <p:spPr>
          <a:xfrm>
            <a:off x="1176645" y="3712463"/>
            <a:ext cx="38404" cy="5364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Rectangle 186"/>
          <p:cNvSpPr/>
          <p:nvPr/>
        </p:nvSpPr>
        <p:spPr>
          <a:xfrm>
            <a:off x="1210321" y="3712463"/>
            <a:ext cx="38404" cy="2682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Rectangle 187"/>
          <p:cNvSpPr/>
          <p:nvPr/>
        </p:nvSpPr>
        <p:spPr>
          <a:xfrm>
            <a:off x="1243996" y="3712463"/>
            <a:ext cx="38404" cy="39227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Rectangle 188"/>
          <p:cNvSpPr/>
          <p:nvPr/>
        </p:nvSpPr>
        <p:spPr>
          <a:xfrm>
            <a:off x="1277672" y="3712463"/>
            <a:ext cx="38404" cy="61356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Rectangle 189"/>
          <p:cNvSpPr/>
          <p:nvPr/>
        </p:nvSpPr>
        <p:spPr>
          <a:xfrm>
            <a:off x="1311347" y="3712463"/>
            <a:ext cx="38404" cy="62697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Rectangle 190"/>
          <p:cNvSpPr/>
          <p:nvPr/>
        </p:nvSpPr>
        <p:spPr>
          <a:xfrm>
            <a:off x="1345023" y="3712463"/>
            <a:ext cx="38404" cy="41910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ectangle 191"/>
          <p:cNvSpPr/>
          <p:nvPr/>
        </p:nvSpPr>
        <p:spPr>
          <a:xfrm>
            <a:off x="1378698" y="3712463"/>
            <a:ext cx="38404" cy="17769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Rectangle 192"/>
          <p:cNvSpPr/>
          <p:nvPr/>
        </p:nvSpPr>
        <p:spPr>
          <a:xfrm>
            <a:off x="1412374" y="3712463"/>
            <a:ext cx="38404" cy="2346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Rectangle 193"/>
          <p:cNvSpPr/>
          <p:nvPr/>
        </p:nvSpPr>
        <p:spPr>
          <a:xfrm>
            <a:off x="1446049" y="3712463"/>
            <a:ext cx="38404" cy="2346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Rectangle 194"/>
          <p:cNvSpPr/>
          <p:nvPr/>
        </p:nvSpPr>
        <p:spPr>
          <a:xfrm>
            <a:off x="1479725" y="3712463"/>
            <a:ext cx="38404" cy="42580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Rectangle 195"/>
          <p:cNvSpPr/>
          <p:nvPr/>
        </p:nvSpPr>
        <p:spPr>
          <a:xfrm>
            <a:off x="1513400" y="3712463"/>
            <a:ext cx="38404" cy="37551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Rectangle 196"/>
          <p:cNvSpPr/>
          <p:nvPr/>
        </p:nvSpPr>
        <p:spPr>
          <a:xfrm>
            <a:off x="1547076" y="3712463"/>
            <a:ext cx="38404" cy="41574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Rectangle 197"/>
          <p:cNvSpPr/>
          <p:nvPr/>
        </p:nvSpPr>
        <p:spPr>
          <a:xfrm>
            <a:off x="1580751" y="3712463"/>
            <a:ext cx="38404" cy="33192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Rectangle 198"/>
          <p:cNvSpPr/>
          <p:nvPr/>
        </p:nvSpPr>
        <p:spPr>
          <a:xfrm>
            <a:off x="1614427" y="3712463"/>
            <a:ext cx="38404" cy="25816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Rectangle 199"/>
          <p:cNvSpPr/>
          <p:nvPr/>
        </p:nvSpPr>
        <p:spPr>
          <a:xfrm>
            <a:off x="1648102" y="3712463"/>
            <a:ext cx="38404" cy="2346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Rectangle 200"/>
          <p:cNvSpPr/>
          <p:nvPr/>
        </p:nvSpPr>
        <p:spPr>
          <a:xfrm>
            <a:off x="1681778" y="3712463"/>
            <a:ext cx="38404" cy="19781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Rectangle 201"/>
          <p:cNvSpPr/>
          <p:nvPr/>
        </p:nvSpPr>
        <p:spPr>
          <a:xfrm>
            <a:off x="1715453" y="3712463"/>
            <a:ext cx="38404" cy="29504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Rectangle 202"/>
          <p:cNvSpPr/>
          <p:nvPr/>
        </p:nvSpPr>
        <p:spPr>
          <a:xfrm>
            <a:off x="1749129" y="3712463"/>
            <a:ext cx="38404" cy="3721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Rectangle 203"/>
          <p:cNvSpPr/>
          <p:nvPr/>
        </p:nvSpPr>
        <p:spPr>
          <a:xfrm>
            <a:off x="1782804" y="3712463"/>
            <a:ext cx="38404" cy="24810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Rectangle 204"/>
          <p:cNvSpPr/>
          <p:nvPr/>
        </p:nvSpPr>
        <p:spPr>
          <a:xfrm>
            <a:off x="1816480" y="3712463"/>
            <a:ext cx="38404" cy="32522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Rectangle 205"/>
          <p:cNvSpPr/>
          <p:nvPr/>
        </p:nvSpPr>
        <p:spPr>
          <a:xfrm>
            <a:off x="1850155" y="3712463"/>
            <a:ext cx="38404" cy="19110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Rectangle 206"/>
          <p:cNvSpPr/>
          <p:nvPr/>
        </p:nvSpPr>
        <p:spPr>
          <a:xfrm>
            <a:off x="1883831" y="3712463"/>
            <a:ext cx="38404" cy="22799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Rectangle 207"/>
          <p:cNvSpPr/>
          <p:nvPr/>
        </p:nvSpPr>
        <p:spPr>
          <a:xfrm>
            <a:off x="1917506" y="3712463"/>
            <a:ext cx="38404" cy="3017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Rectangle 208"/>
          <p:cNvSpPr/>
          <p:nvPr/>
        </p:nvSpPr>
        <p:spPr>
          <a:xfrm>
            <a:off x="1984857" y="3712463"/>
            <a:ext cx="38404" cy="14417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Rectangle 209"/>
          <p:cNvSpPr/>
          <p:nvPr/>
        </p:nvSpPr>
        <p:spPr>
          <a:xfrm>
            <a:off x="2018533" y="3712463"/>
            <a:ext cx="38404" cy="4023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Rectangle 210"/>
          <p:cNvSpPr/>
          <p:nvPr/>
        </p:nvSpPr>
        <p:spPr>
          <a:xfrm>
            <a:off x="2085884" y="3712463"/>
            <a:ext cx="38404" cy="12405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Rectangle 211"/>
          <p:cNvSpPr/>
          <p:nvPr/>
        </p:nvSpPr>
        <p:spPr>
          <a:xfrm>
            <a:off x="2119559" y="3712463"/>
            <a:ext cx="38404" cy="670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Rectangle 212"/>
          <p:cNvSpPr/>
          <p:nvPr/>
        </p:nvSpPr>
        <p:spPr>
          <a:xfrm>
            <a:off x="2287936" y="3712463"/>
            <a:ext cx="38404" cy="6705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Rectangle 213"/>
          <p:cNvSpPr/>
          <p:nvPr/>
        </p:nvSpPr>
        <p:spPr>
          <a:xfrm>
            <a:off x="2422638" y="3712463"/>
            <a:ext cx="38404" cy="11399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Rectangle 214"/>
          <p:cNvSpPr/>
          <p:nvPr/>
        </p:nvSpPr>
        <p:spPr>
          <a:xfrm>
            <a:off x="2456314" y="3712463"/>
            <a:ext cx="38404" cy="22128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Rectangle 215"/>
          <p:cNvSpPr/>
          <p:nvPr/>
        </p:nvSpPr>
        <p:spPr>
          <a:xfrm>
            <a:off x="2489989" y="3712463"/>
            <a:ext cx="38404" cy="22463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Rectangle 216"/>
          <p:cNvSpPr/>
          <p:nvPr/>
        </p:nvSpPr>
        <p:spPr>
          <a:xfrm>
            <a:off x="2523665" y="3712463"/>
            <a:ext cx="38404" cy="35204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Rectangle 217"/>
          <p:cNvSpPr/>
          <p:nvPr/>
        </p:nvSpPr>
        <p:spPr>
          <a:xfrm>
            <a:off x="2557340" y="3712463"/>
            <a:ext cx="38404" cy="2883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Rectangle 218"/>
          <p:cNvSpPr/>
          <p:nvPr/>
        </p:nvSpPr>
        <p:spPr>
          <a:xfrm>
            <a:off x="2591016" y="3712463"/>
            <a:ext cx="38404" cy="48280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Rectangle 219"/>
          <p:cNvSpPr/>
          <p:nvPr/>
        </p:nvSpPr>
        <p:spPr>
          <a:xfrm>
            <a:off x="2624691" y="3712463"/>
            <a:ext cx="38404" cy="60350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Rectangle 220"/>
          <p:cNvSpPr/>
          <p:nvPr/>
        </p:nvSpPr>
        <p:spPr>
          <a:xfrm>
            <a:off x="2658367" y="3712463"/>
            <a:ext cx="38404" cy="62362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Rectangle 221"/>
          <p:cNvSpPr/>
          <p:nvPr/>
        </p:nvSpPr>
        <p:spPr>
          <a:xfrm>
            <a:off x="2692042" y="3712463"/>
            <a:ext cx="38404" cy="62362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Rectangle 222"/>
          <p:cNvSpPr/>
          <p:nvPr/>
        </p:nvSpPr>
        <p:spPr>
          <a:xfrm>
            <a:off x="2725718" y="3712463"/>
            <a:ext cx="38404" cy="66720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Rectangle 223"/>
          <p:cNvSpPr/>
          <p:nvPr/>
        </p:nvSpPr>
        <p:spPr>
          <a:xfrm>
            <a:off x="2759393" y="3712463"/>
            <a:ext cx="38404" cy="48615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Rectangle 224"/>
          <p:cNvSpPr/>
          <p:nvPr/>
        </p:nvSpPr>
        <p:spPr>
          <a:xfrm>
            <a:off x="2793069" y="3712463"/>
            <a:ext cx="38404" cy="38892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Rectangle 225"/>
          <p:cNvSpPr/>
          <p:nvPr/>
        </p:nvSpPr>
        <p:spPr>
          <a:xfrm>
            <a:off x="2826744" y="3712463"/>
            <a:ext cx="38404" cy="73091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Rectangle 226"/>
          <p:cNvSpPr/>
          <p:nvPr/>
        </p:nvSpPr>
        <p:spPr>
          <a:xfrm>
            <a:off x="2860420" y="3712463"/>
            <a:ext cx="38404" cy="56997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Rectangle 227"/>
          <p:cNvSpPr/>
          <p:nvPr/>
        </p:nvSpPr>
        <p:spPr>
          <a:xfrm>
            <a:off x="2894095" y="3712463"/>
            <a:ext cx="38404" cy="64038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Rectangle 228"/>
          <p:cNvSpPr/>
          <p:nvPr/>
        </p:nvSpPr>
        <p:spPr>
          <a:xfrm>
            <a:off x="2927771" y="3712463"/>
            <a:ext cx="38404" cy="72420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Rectangle 229"/>
          <p:cNvSpPr/>
          <p:nvPr/>
        </p:nvSpPr>
        <p:spPr>
          <a:xfrm>
            <a:off x="2961446" y="3712463"/>
            <a:ext cx="38404" cy="79461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Rectangle 230"/>
          <p:cNvSpPr/>
          <p:nvPr/>
        </p:nvSpPr>
        <p:spPr>
          <a:xfrm>
            <a:off x="2995122" y="3712463"/>
            <a:ext cx="38404" cy="80802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Rectangle 231"/>
          <p:cNvSpPr/>
          <p:nvPr/>
        </p:nvSpPr>
        <p:spPr>
          <a:xfrm>
            <a:off x="3028797" y="3712463"/>
            <a:ext cx="38404" cy="59009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Rectangle 232"/>
          <p:cNvSpPr/>
          <p:nvPr/>
        </p:nvSpPr>
        <p:spPr>
          <a:xfrm>
            <a:off x="3062473" y="3712463"/>
            <a:ext cx="38404" cy="76779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Rectangle 233"/>
          <p:cNvSpPr/>
          <p:nvPr/>
        </p:nvSpPr>
        <p:spPr>
          <a:xfrm>
            <a:off x="3096148" y="3712463"/>
            <a:ext cx="38404" cy="75102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Rectangle 234"/>
          <p:cNvSpPr/>
          <p:nvPr/>
        </p:nvSpPr>
        <p:spPr>
          <a:xfrm>
            <a:off x="3129824" y="3712463"/>
            <a:ext cx="38404" cy="7543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Rectangle 235"/>
          <p:cNvSpPr/>
          <p:nvPr/>
        </p:nvSpPr>
        <p:spPr>
          <a:xfrm>
            <a:off x="3163499" y="3712463"/>
            <a:ext cx="38404" cy="67726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Rectangle 236"/>
          <p:cNvSpPr/>
          <p:nvPr/>
        </p:nvSpPr>
        <p:spPr>
          <a:xfrm>
            <a:off x="3197175" y="3712463"/>
            <a:ext cx="38404" cy="7074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Rectangle 237"/>
          <p:cNvSpPr/>
          <p:nvPr/>
        </p:nvSpPr>
        <p:spPr>
          <a:xfrm>
            <a:off x="3230850" y="3712463"/>
            <a:ext cx="38404" cy="52974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Rectangle 238"/>
          <p:cNvSpPr/>
          <p:nvPr/>
        </p:nvSpPr>
        <p:spPr>
          <a:xfrm>
            <a:off x="3264525" y="3712463"/>
            <a:ext cx="38404" cy="55991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Rectangle 239"/>
          <p:cNvSpPr/>
          <p:nvPr/>
        </p:nvSpPr>
        <p:spPr>
          <a:xfrm>
            <a:off x="3298201" y="3712463"/>
            <a:ext cx="38404" cy="62697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Rectangle 240"/>
          <p:cNvSpPr/>
          <p:nvPr/>
        </p:nvSpPr>
        <p:spPr>
          <a:xfrm>
            <a:off x="3331876" y="3712463"/>
            <a:ext cx="38404" cy="55321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Rectangle 241"/>
          <p:cNvSpPr/>
          <p:nvPr/>
        </p:nvSpPr>
        <p:spPr>
          <a:xfrm>
            <a:off x="3365552" y="3712463"/>
            <a:ext cx="38404" cy="38221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Rectangle 242"/>
          <p:cNvSpPr/>
          <p:nvPr/>
        </p:nvSpPr>
        <p:spPr>
          <a:xfrm>
            <a:off x="3399227" y="3712463"/>
            <a:ext cx="38404" cy="34869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Rectangle 243"/>
          <p:cNvSpPr/>
          <p:nvPr/>
        </p:nvSpPr>
        <p:spPr>
          <a:xfrm>
            <a:off x="3432903" y="3712463"/>
            <a:ext cx="38404" cy="50292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Rectangle 244"/>
          <p:cNvSpPr/>
          <p:nvPr/>
        </p:nvSpPr>
        <p:spPr>
          <a:xfrm>
            <a:off x="3466578" y="3712463"/>
            <a:ext cx="38404" cy="45933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Rectangle 245"/>
          <p:cNvSpPr/>
          <p:nvPr/>
        </p:nvSpPr>
        <p:spPr>
          <a:xfrm>
            <a:off x="3500254" y="3712463"/>
            <a:ext cx="38404" cy="33192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Rectangle 246"/>
          <p:cNvSpPr/>
          <p:nvPr/>
        </p:nvSpPr>
        <p:spPr>
          <a:xfrm>
            <a:off x="3533929" y="3712463"/>
            <a:ext cx="38404" cy="25481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Rectangle 247"/>
          <p:cNvSpPr/>
          <p:nvPr/>
        </p:nvSpPr>
        <p:spPr>
          <a:xfrm>
            <a:off x="3567605" y="3712463"/>
            <a:ext cx="38404" cy="19781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Rectangle 248"/>
          <p:cNvSpPr/>
          <p:nvPr/>
        </p:nvSpPr>
        <p:spPr>
          <a:xfrm>
            <a:off x="3601280" y="3712463"/>
            <a:ext cx="38404" cy="21122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Rectangle 249"/>
          <p:cNvSpPr/>
          <p:nvPr/>
        </p:nvSpPr>
        <p:spPr>
          <a:xfrm>
            <a:off x="3634956" y="3712463"/>
            <a:ext cx="38404" cy="28163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Rectangle 250"/>
          <p:cNvSpPr/>
          <p:nvPr/>
        </p:nvSpPr>
        <p:spPr>
          <a:xfrm>
            <a:off x="3668631" y="3712463"/>
            <a:ext cx="38404" cy="41910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Rectangle 251"/>
          <p:cNvSpPr/>
          <p:nvPr/>
        </p:nvSpPr>
        <p:spPr>
          <a:xfrm>
            <a:off x="3702307" y="3712463"/>
            <a:ext cx="38404" cy="74096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Rectangle 252"/>
          <p:cNvSpPr/>
          <p:nvPr/>
        </p:nvSpPr>
        <p:spPr>
          <a:xfrm>
            <a:off x="3735982" y="3712463"/>
            <a:ext cx="38404" cy="68732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Rectangle 253"/>
          <p:cNvSpPr/>
          <p:nvPr/>
        </p:nvSpPr>
        <p:spPr>
          <a:xfrm>
            <a:off x="3769658" y="3712463"/>
            <a:ext cx="38404" cy="81808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Rectangle 254"/>
          <p:cNvSpPr/>
          <p:nvPr/>
        </p:nvSpPr>
        <p:spPr>
          <a:xfrm>
            <a:off x="3803333" y="3712463"/>
            <a:ext cx="38404" cy="79796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Rectangle 255"/>
          <p:cNvSpPr/>
          <p:nvPr/>
        </p:nvSpPr>
        <p:spPr>
          <a:xfrm>
            <a:off x="3837009" y="3712463"/>
            <a:ext cx="38404" cy="75773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Rectangle 256"/>
          <p:cNvSpPr/>
          <p:nvPr/>
        </p:nvSpPr>
        <p:spPr>
          <a:xfrm>
            <a:off x="3870684" y="3712463"/>
            <a:ext cx="38404" cy="95554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Rectangle 257"/>
          <p:cNvSpPr/>
          <p:nvPr/>
        </p:nvSpPr>
        <p:spPr>
          <a:xfrm>
            <a:off x="3904360" y="3712463"/>
            <a:ext cx="38404" cy="100248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Rectangle 258"/>
          <p:cNvSpPr/>
          <p:nvPr/>
        </p:nvSpPr>
        <p:spPr>
          <a:xfrm>
            <a:off x="3938035" y="3712463"/>
            <a:ext cx="38404" cy="94548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Rectangle 259"/>
          <p:cNvSpPr/>
          <p:nvPr/>
        </p:nvSpPr>
        <p:spPr>
          <a:xfrm>
            <a:off x="3971711" y="3712463"/>
            <a:ext cx="38404" cy="86837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Rectangle 260"/>
          <p:cNvSpPr/>
          <p:nvPr/>
        </p:nvSpPr>
        <p:spPr>
          <a:xfrm>
            <a:off x="4005386" y="3712463"/>
            <a:ext cx="38404" cy="90190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Rectangle 261"/>
          <p:cNvSpPr/>
          <p:nvPr/>
        </p:nvSpPr>
        <p:spPr>
          <a:xfrm>
            <a:off x="4039062" y="3712463"/>
            <a:ext cx="38404" cy="82814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Rectangle 262"/>
          <p:cNvSpPr/>
          <p:nvPr/>
        </p:nvSpPr>
        <p:spPr>
          <a:xfrm>
            <a:off x="4072737" y="3712463"/>
            <a:ext cx="38404" cy="84155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Rectangle 263"/>
          <p:cNvSpPr/>
          <p:nvPr/>
        </p:nvSpPr>
        <p:spPr>
          <a:xfrm>
            <a:off x="4106413" y="3712463"/>
            <a:ext cx="38404" cy="93543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Rectangle 264"/>
          <p:cNvSpPr/>
          <p:nvPr/>
        </p:nvSpPr>
        <p:spPr>
          <a:xfrm>
            <a:off x="4140088" y="3712463"/>
            <a:ext cx="38404" cy="99913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Rectangle 265"/>
          <p:cNvSpPr/>
          <p:nvPr/>
        </p:nvSpPr>
        <p:spPr>
          <a:xfrm>
            <a:off x="4173764" y="3712463"/>
            <a:ext cx="38404" cy="92202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Rectangle 266"/>
          <p:cNvSpPr/>
          <p:nvPr/>
        </p:nvSpPr>
        <p:spPr>
          <a:xfrm>
            <a:off x="4207439" y="3712463"/>
            <a:ext cx="38404" cy="85496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Rectangle 267"/>
          <p:cNvSpPr/>
          <p:nvPr/>
        </p:nvSpPr>
        <p:spPr>
          <a:xfrm>
            <a:off x="4241115" y="3712463"/>
            <a:ext cx="38404" cy="94884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Rectangle 268"/>
          <p:cNvSpPr/>
          <p:nvPr/>
        </p:nvSpPr>
        <p:spPr>
          <a:xfrm>
            <a:off x="4274790" y="3712463"/>
            <a:ext cx="38404" cy="10728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Rectangle 269"/>
          <p:cNvSpPr/>
          <p:nvPr/>
        </p:nvSpPr>
        <p:spPr>
          <a:xfrm>
            <a:off x="4308465" y="3712463"/>
            <a:ext cx="38404" cy="102930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Rectangle 270"/>
          <p:cNvSpPr/>
          <p:nvPr/>
        </p:nvSpPr>
        <p:spPr>
          <a:xfrm>
            <a:off x="4342141" y="3712463"/>
            <a:ext cx="38404" cy="98572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Rectangle 271"/>
          <p:cNvSpPr/>
          <p:nvPr/>
        </p:nvSpPr>
        <p:spPr>
          <a:xfrm>
            <a:off x="4375816" y="3712463"/>
            <a:ext cx="38404" cy="97566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Rectangle 272"/>
          <p:cNvSpPr/>
          <p:nvPr/>
        </p:nvSpPr>
        <p:spPr>
          <a:xfrm>
            <a:off x="4409492" y="3712463"/>
            <a:ext cx="38404" cy="89855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Rectangle 273"/>
          <p:cNvSpPr/>
          <p:nvPr/>
        </p:nvSpPr>
        <p:spPr>
          <a:xfrm>
            <a:off x="4443167" y="3712463"/>
            <a:ext cx="38404" cy="91531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Rectangle 274"/>
          <p:cNvSpPr/>
          <p:nvPr/>
        </p:nvSpPr>
        <p:spPr>
          <a:xfrm>
            <a:off x="4476843" y="3712463"/>
            <a:ext cx="38404" cy="77784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Rectangle 275"/>
          <p:cNvSpPr/>
          <p:nvPr/>
        </p:nvSpPr>
        <p:spPr>
          <a:xfrm>
            <a:off x="4510518" y="3712463"/>
            <a:ext cx="38404" cy="90860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Rectangle 276"/>
          <p:cNvSpPr/>
          <p:nvPr/>
        </p:nvSpPr>
        <p:spPr>
          <a:xfrm>
            <a:off x="4544194" y="3712463"/>
            <a:ext cx="38404" cy="88849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Rectangle 277"/>
          <p:cNvSpPr/>
          <p:nvPr/>
        </p:nvSpPr>
        <p:spPr>
          <a:xfrm>
            <a:off x="4577869" y="3712463"/>
            <a:ext cx="38404" cy="88513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Rectangle 278"/>
          <p:cNvSpPr/>
          <p:nvPr/>
        </p:nvSpPr>
        <p:spPr>
          <a:xfrm>
            <a:off x="4611545" y="3712463"/>
            <a:ext cx="38404" cy="92537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Rectangle 279"/>
          <p:cNvSpPr/>
          <p:nvPr/>
        </p:nvSpPr>
        <p:spPr>
          <a:xfrm>
            <a:off x="4645220" y="3712463"/>
            <a:ext cx="38404" cy="74432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Rectangle 280"/>
          <p:cNvSpPr/>
          <p:nvPr/>
        </p:nvSpPr>
        <p:spPr>
          <a:xfrm>
            <a:off x="4678896" y="3712463"/>
            <a:ext cx="38404" cy="59009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Rectangle 281"/>
          <p:cNvSpPr/>
          <p:nvPr/>
        </p:nvSpPr>
        <p:spPr>
          <a:xfrm>
            <a:off x="4712571" y="3712463"/>
            <a:ext cx="38404" cy="71414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Rectangle 282"/>
          <p:cNvSpPr/>
          <p:nvPr/>
        </p:nvSpPr>
        <p:spPr>
          <a:xfrm>
            <a:off x="4746247" y="3712463"/>
            <a:ext cx="38404" cy="36880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Rectangle 283"/>
          <p:cNvSpPr/>
          <p:nvPr/>
        </p:nvSpPr>
        <p:spPr>
          <a:xfrm>
            <a:off x="4779922" y="3712463"/>
            <a:ext cx="38404" cy="34533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Rectangle 284"/>
          <p:cNvSpPr/>
          <p:nvPr/>
        </p:nvSpPr>
        <p:spPr>
          <a:xfrm>
            <a:off x="4813598" y="3712463"/>
            <a:ext cx="38404" cy="37551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Rectangle 285"/>
          <p:cNvSpPr/>
          <p:nvPr/>
        </p:nvSpPr>
        <p:spPr>
          <a:xfrm>
            <a:off x="4847273" y="3712463"/>
            <a:ext cx="38404" cy="3721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Rectangle 286"/>
          <p:cNvSpPr/>
          <p:nvPr/>
        </p:nvSpPr>
        <p:spPr>
          <a:xfrm>
            <a:off x="4880949" y="3712463"/>
            <a:ext cx="38404" cy="74096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Rectangle 287"/>
          <p:cNvSpPr/>
          <p:nvPr/>
        </p:nvSpPr>
        <p:spPr>
          <a:xfrm>
            <a:off x="4914624" y="3712463"/>
            <a:ext cx="38404" cy="13075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Rectangle 288"/>
          <p:cNvSpPr/>
          <p:nvPr/>
        </p:nvSpPr>
        <p:spPr>
          <a:xfrm>
            <a:off x="4948300" y="3712463"/>
            <a:ext cx="38404" cy="39898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Rectangle 289"/>
          <p:cNvSpPr/>
          <p:nvPr/>
        </p:nvSpPr>
        <p:spPr>
          <a:xfrm>
            <a:off x="4981975" y="3712463"/>
            <a:ext cx="38404" cy="42580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Rectangle 290"/>
          <p:cNvSpPr/>
          <p:nvPr/>
        </p:nvSpPr>
        <p:spPr>
          <a:xfrm>
            <a:off x="5015651" y="3712463"/>
            <a:ext cx="38404" cy="3721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Rectangle 291"/>
          <p:cNvSpPr/>
          <p:nvPr/>
        </p:nvSpPr>
        <p:spPr>
          <a:xfrm>
            <a:off x="5049326" y="3712463"/>
            <a:ext cx="38404" cy="16428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Rectangle 292"/>
          <p:cNvSpPr/>
          <p:nvPr/>
        </p:nvSpPr>
        <p:spPr>
          <a:xfrm>
            <a:off x="5083002" y="3712463"/>
            <a:ext cx="38404" cy="8717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Rectangle 293"/>
          <p:cNvSpPr/>
          <p:nvPr/>
        </p:nvSpPr>
        <p:spPr>
          <a:xfrm>
            <a:off x="5150353" y="3712463"/>
            <a:ext cx="38404" cy="20116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Rectangle 294"/>
          <p:cNvSpPr/>
          <p:nvPr/>
        </p:nvSpPr>
        <p:spPr>
          <a:xfrm>
            <a:off x="5184028" y="3712463"/>
            <a:ext cx="38404" cy="3721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Rectangle 295"/>
          <p:cNvSpPr/>
          <p:nvPr/>
        </p:nvSpPr>
        <p:spPr>
          <a:xfrm>
            <a:off x="5217704" y="3712463"/>
            <a:ext cx="38404" cy="45262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Rectangle 296"/>
          <p:cNvSpPr/>
          <p:nvPr/>
        </p:nvSpPr>
        <p:spPr>
          <a:xfrm>
            <a:off x="5251379" y="3712463"/>
            <a:ext cx="38404" cy="44256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Rectangle 297"/>
          <p:cNvSpPr/>
          <p:nvPr/>
        </p:nvSpPr>
        <p:spPr>
          <a:xfrm>
            <a:off x="5285055" y="3712463"/>
            <a:ext cx="38404" cy="36545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Rectangle 298"/>
          <p:cNvSpPr/>
          <p:nvPr/>
        </p:nvSpPr>
        <p:spPr>
          <a:xfrm>
            <a:off x="5318730" y="3712463"/>
            <a:ext cx="38404" cy="40233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Rectangle 299"/>
          <p:cNvSpPr/>
          <p:nvPr/>
        </p:nvSpPr>
        <p:spPr>
          <a:xfrm>
            <a:off x="5352405" y="3712463"/>
            <a:ext cx="38404" cy="28498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Rectangle 300"/>
          <p:cNvSpPr/>
          <p:nvPr/>
        </p:nvSpPr>
        <p:spPr>
          <a:xfrm>
            <a:off x="5386081" y="3712463"/>
            <a:ext cx="38404" cy="24140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Rectangle 301"/>
          <p:cNvSpPr/>
          <p:nvPr/>
        </p:nvSpPr>
        <p:spPr>
          <a:xfrm>
            <a:off x="5419756" y="3712463"/>
            <a:ext cx="38404" cy="2883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Rectangle 302"/>
          <p:cNvSpPr/>
          <p:nvPr/>
        </p:nvSpPr>
        <p:spPr>
          <a:xfrm>
            <a:off x="5453432" y="3712463"/>
            <a:ext cx="38404" cy="27492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Rectangle 303"/>
          <p:cNvSpPr/>
          <p:nvPr/>
        </p:nvSpPr>
        <p:spPr>
          <a:xfrm>
            <a:off x="5487107" y="3712463"/>
            <a:ext cx="38404" cy="32186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Rectangle 304"/>
          <p:cNvSpPr/>
          <p:nvPr/>
        </p:nvSpPr>
        <p:spPr>
          <a:xfrm>
            <a:off x="5520783" y="3712463"/>
            <a:ext cx="38404" cy="26822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Rectangle 305"/>
          <p:cNvSpPr/>
          <p:nvPr/>
        </p:nvSpPr>
        <p:spPr>
          <a:xfrm>
            <a:off x="5554458" y="3712463"/>
            <a:ext cx="38404" cy="25146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Rectangle 306"/>
          <p:cNvSpPr/>
          <p:nvPr/>
        </p:nvSpPr>
        <p:spPr>
          <a:xfrm>
            <a:off x="5588134" y="3712463"/>
            <a:ext cx="38404" cy="2883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Rectangle 307"/>
          <p:cNvSpPr/>
          <p:nvPr/>
        </p:nvSpPr>
        <p:spPr>
          <a:xfrm>
            <a:off x="5621809" y="3712463"/>
            <a:ext cx="38404" cy="26487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Rectangle 308"/>
          <p:cNvSpPr/>
          <p:nvPr/>
        </p:nvSpPr>
        <p:spPr>
          <a:xfrm>
            <a:off x="5655485" y="3712463"/>
            <a:ext cx="38404" cy="29504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Rectangle 309"/>
          <p:cNvSpPr/>
          <p:nvPr/>
        </p:nvSpPr>
        <p:spPr>
          <a:xfrm>
            <a:off x="5689160" y="3712463"/>
            <a:ext cx="38404" cy="30510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Rectangle 310"/>
          <p:cNvSpPr/>
          <p:nvPr/>
        </p:nvSpPr>
        <p:spPr>
          <a:xfrm>
            <a:off x="5722836" y="3712463"/>
            <a:ext cx="38404" cy="30175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Rectangle 311"/>
          <p:cNvSpPr/>
          <p:nvPr/>
        </p:nvSpPr>
        <p:spPr>
          <a:xfrm>
            <a:off x="5756511" y="3712463"/>
            <a:ext cx="38404" cy="3553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Rectangle 312"/>
          <p:cNvSpPr/>
          <p:nvPr/>
        </p:nvSpPr>
        <p:spPr>
          <a:xfrm>
            <a:off x="5790187" y="3712463"/>
            <a:ext cx="38404" cy="18775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Rectangle 313"/>
          <p:cNvSpPr/>
          <p:nvPr/>
        </p:nvSpPr>
        <p:spPr>
          <a:xfrm>
            <a:off x="5823862" y="3712463"/>
            <a:ext cx="38404" cy="33192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Rectangle 314"/>
          <p:cNvSpPr/>
          <p:nvPr/>
        </p:nvSpPr>
        <p:spPr>
          <a:xfrm>
            <a:off x="5857538" y="3712463"/>
            <a:ext cx="38404" cy="31181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Rectangle 315"/>
          <p:cNvSpPr/>
          <p:nvPr/>
        </p:nvSpPr>
        <p:spPr>
          <a:xfrm>
            <a:off x="5891213" y="3712463"/>
            <a:ext cx="38404" cy="28834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Rectangle 316"/>
          <p:cNvSpPr/>
          <p:nvPr/>
        </p:nvSpPr>
        <p:spPr>
          <a:xfrm>
            <a:off x="5924889" y="3712463"/>
            <a:ext cx="38404" cy="27157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Rectangle 317"/>
          <p:cNvSpPr/>
          <p:nvPr/>
        </p:nvSpPr>
        <p:spPr>
          <a:xfrm>
            <a:off x="5958564" y="3712463"/>
            <a:ext cx="38404" cy="15422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Rectangle 318"/>
          <p:cNvSpPr/>
          <p:nvPr/>
        </p:nvSpPr>
        <p:spPr>
          <a:xfrm>
            <a:off x="6025915" y="3712463"/>
            <a:ext cx="38404" cy="4358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Rectangle 319"/>
          <p:cNvSpPr/>
          <p:nvPr/>
        </p:nvSpPr>
        <p:spPr>
          <a:xfrm>
            <a:off x="6093266" y="3712463"/>
            <a:ext cx="38404" cy="4358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Rectangle 320"/>
          <p:cNvSpPr/>
          <p:nvPr/>
        </p:nvSpPr>
        <p:spPr>
          <a:xfrm>
            <a:off x="6160617" y="3712463"/>
            <a:ext cx="38404" cy="7376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Rectangle 321"/>
          <p:cNvSpPr/>
          <p:nvPr/>
        </p:nvSpPr>
        <p:spPr>
          <a:xfrm>
            <a:off x="6194293" y="3712463"/>
            <a:ext cx="38404" cy="7040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Rectangle 322"/>
          <p:cNvSpPr/>
          <p:nvPr/>
        </p:nvSpPr>
        <p:spPr>
          <a:xfrm>
            <a:off x="6362670" y="3712463"/>
            <a:ext cx="38404" cy="13746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Rectangle 323"/>
          <p:cNvSpPr/>
          <p:nvPr/>
        </p:nvSpPr>
        <p:spPr>
          <a:xfrm>
            <a:off x="6396345" y="3712463"/>
            <a:ext cx="38404" cy="22463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Rectangle 324"/>
          <p:cNvSpPr/>
          <p:nvPr/>
        </p:nvSpPr>
        <p:spPr>
          <a:xfrm>
            <a:off x="6430021" y="3712463"/>
            <a:ext cx="38404" cy="43921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Rectangle 325"/>
          <p:cNvSpPr/>
          <p:nvPr/>
        </p:nvSpPr>
        <p:spPr>
          <a:xfrm>
            <a:off x="6463696" y="3712463"/>
            <a:ext cx="38404" cy="382219"/>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Rectangle 326"/>
          <p:cNvSpPr/>
          <p:nvPr/>
        </p:nvSpPr>
        <p:spPr>
          <a:xfrm>
            <a:off x="6497372" y="3712463"/>
            <a:ext cx="38404" cy="20787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Rectangle 327"/>
          <p:cNvSpPr/>
          <p:nvPr/>
        </p:nvSpPr>
        <p:spPr>
          <a:xfrm>
            <a:off x="6531047" y="3712463"/>
            <a:ext cx="38404" cy="10058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Rectangle 328"/>
          <p:cNvSpPr/>
          <p:nvPr/>
        </p:nvSpPr>
        <p:spPr>
          <a:xfrm>
            <a:off x="6598398" y="3712463"/>
            <a:ext cx="38404" cy="3017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Rectangle 329"/>
          <p:cNvSpPr/>
          <p:nvPr/>
        </p:nvSpPr>
        <p:spPr>
          <a:xfrm>
            <a:off x="6632074" y="3712463"/>
            <a:ext cx="38404" cy="335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Rectangle 330"/>
          <p:cNvSpPr/>
          <p:nvPr/>
        </p:nvSpPr>
        <p:spPr>
          <a:xfrm>
            <a:off x="6800451" y="3712463"/>
            <a:ext cx="38404" cy="5029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Rectangle 331"/>
          <p:cNvSpPr/>
          <p:nvPr/>
        </p:nvSpPr>
        <p:spPr>
          <a:xfrm>
            <a:off x="6901478" y="3712463"/>
            <a:ext cx="38404" cy="14081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Rectangle 332"/>
          <p:cNvSpPr/>
          <p:nvPr/>
        </p:nvSpPr>
        <p:spPr>
          <a:xfrm>
            <a:off x="6935153" y="3712463"/>
            <a:ext cx="38404" cy="16428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Rectangle 333"/>
          <p:cNvSpPr/>
          <p:nvPr/>
        </p:nvSpPr>
        <p:spPr>
          <a:xfrm>
            <a:off x="6968829" y="3712463"/>
            <a:ext cx="38404" cy="268224"/>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Rectangle 334"/>
          <p:cNvSpPr/>
          <p:nvPr/>
        </p:nvSpPr>
        <p:spPr>
          <a:xfrm>
            <a:off x="7002504" y="3712463"/>
            <a:ext cx="38404" cy="19781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Rectangle 335"/>
          <p:cNvSpPr/>
          <p:nvPr/>
        </p:nvSpPr>
        <p:spPr>
          <a:xfrm>
            <a:off x="7036180" y="3712463"/>
            <a:ext cx="38404" cy="348691"/>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Rectangle 336"/>
          <p:cNvSpPr/>
          <p:nvPr/>
        </p:nvSpPr>
        <p:spPr>
          <a:xfrm>
            <a:off x="7103531" y="3712463"/>
            <a:ext cx="38404" cy="17099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Rectangle 337"/>
          <p:cNvSpPr/>
          <p:nvPr/>
        </p:nvSpPr>
        <p:spPr>
          <a:xfrm>
            <a:off x="7137206" y="3712463"/>
            <a:ext cx="38404" cy="331927"/>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Rectangle 338"/>
          <p:cNvSpPr/>
          <p:nvPr/>
        </p:nvSpPr>
        <p:spPr>
          <a:xfrm>
            <a:off x="7170882" y="3712463"/>
            <a:ext cx="38404" cy="31516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Rectangle 339"/>
          <p:cNvSpPr/>
          <p:nvPr/>
        </p:nvSpPr>
        <p:spPr>
          <a:xfrm>
            <a:off x="7204557" y="3712463"/>
            <a:ext cx="38404" cy="281635"/>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41" name="Connector 340"/>
          <p:cNvCxnSpPr/>
          <p:nvPr/>
        </p:nvCxnSpPr>
        <p:spPr>
          <a:xfrm>
            <a:off x="960120" y="4248912"/>
            <a:ext cx="6263639"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42" name="TextBox 341"/>
          <p:cNvSpPr txBox="1"/>
          <p:nvPr/>
        </p:nvSpPr>
        <p:spPr>
          <a:xfrm>
            <a:off x="7260336" y="4166616"/>
            <a:ext cx="822960" cy="164592"/>
          </a:xfrm>
          <a:prstGeom prst="rect">
            <a:avLst/>
          </a:prstGeom>
          <a:noFill/>
        </p:spPr>
        <p:txBody>
          <a:bodyPr wrap="none" lIns="0" tIns="0" rIns="0" bIns="0" anchor="t">
            <a:spAutoFit/>
          </a:bodyPr>
          <a:lstStyle/>
          <a:p>
            <a:pPr algn="l">
              <a:lnSpc>
                <a:spcPct val="100000"/>
              </a:lnSpc>
              <a:spcAft>
                <a:spcPts val="0"/>
              </a:spcAft>
            </a:pPr>
            <a:r>
              <a:rPr sz="700" b="1" i="0">
                <a:solidFill>
                  <a:srgbClr val="000000"/>
                </a:solidFill>
                <a:latin typeface="Arial"/>
              </a:rPr>
              <a:t>16bp stop</a:t>
            </a:r>
          </a:p>
        </p:txBody>
      </p:sp>
      <p:sp>
        <p:nvSpPr>
          <p:cNvPr id="343" name="TextBox 342"/>
          <p:cNvSpPr txBox="1"/>
          <p:nvPr/>
        </p:nvSpPr>
        <p:spPr>
          <a:xfrm>
            <a:off x="374904" y="3218688"/>
            <a:ext cx="530352" cy="146304"/>
          </a:xfrm>
          <a:prstGeom prst="rect">
            <a:avLst/>
          </a:prstGeom>
          <a:noFill/>
        </p:spPr>
        <p:txBody>
          <a:bodyPr wrap="none" lIns="0" tIns="0" rIns="0" bIns="0" anchor="t">
            <a:spAutoFit/>
          </a:bodyPr>
          <a:lstStyle/>
          <a:p>
            <a:pPr algn="r">
              <a:lnSpc>
                <a:spcPct val="100000"/>
              </a:lnSpc>
              <a:spcAft>
                <a:spcPts val="0"/>
              </a:spcAft>
            </a:pPr>
            <a:r>
              <a:rPr sz="750" b="1" i="0">
                <a:solidFill>
                  <a:srgbClr val="DB0011"/>
                </a:solidFill>
                <a:latin typeface="Arial"/>
              </a:rPr>
              <a:t>-55.2%</a:t>
            </a:r>
          </a:p>
        </p:txBody>
      </p:sp>
      <p:sp>
        <p:nvSpPr>
          <p:cNvPr id="344" name="TextBox 343"/>
          <p:cNvSpPr txBox="1"/>
          <p:nvPr/>
        </p:nvSpPr>
        <p:spPr>
          <a:xfrm>
            <a:off x="374904" y="4736592"/>
            <a:ext cx="530352" cy="146304"/>
          </a:xfrm>
          <a:prstGeom prst="rect">
            <a:avLst/>
          </a:prstGeom>
          <a:noFill/>
        </p:spPr>
        <p:txBody>
          <a:bodyPr wrap="none" lIns="0" tIns="0" rIns="0" bIns="0" anchor="t">
            <a:spAutoFit/>
          </a:bodyPr>
          <a:lstStyle/>
          <a:p>
            <a:pPr algn="r">
              <a:lnSpc>
                <a:spcPct val="100000"/>
              </a:lnSpc>
              <a:spcAft>
                <a:spcPts val="0"/>
              </a:spcAft>
            </a:pPr>
            <a:r>
              <a:rPr sz="750" b="1" i="0">
                <a:solidFill>
                  <a:srgbClr val="44546A"/>
                </a:solidFill>
                <a:latin typeface="Arial"/>
              </a:rPr>
              <a:t>-32.0bp</a:t>
            </a:r>
          </a:p>
        </p:txBody>
      </p:sp>
      <p:sp>
        <p:nvSpPr>
          <p:cNvPr id="345" name="TextBox 344"/>
          <p:cNvSpPr txBox="1"/>
          <p:nvPr/>
        </p:nvSpPr>
        <p:spPr>
          <a:xfrm>
            <a:off x="2417682" y="4974336"/>
            <a:ext cx="548640"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2024</a:t>
            </a:r>
          </a:p>
        </p:txBody>
      </p:sp>
      <p:sp>
        <p:nvSpPr>
          <p:cNvPr id="346" name="TextBox 345"/>
          <p:cNvSpPr txBox="1"/>
          <p:nvPr/>
        </p:nvSpPr>
        <p:spPr>
          <a:xfrm>
            <a:off x="4178428" y="4974336"/>
            <a:ext cx="548640"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2025</a:t>
            </a:r>
          </a:p>
        </p:txBody>
      </p:sp>
      <p:sp>
        <p:nvSpPr>
          <p:cNvPr id="347" name="TextBox 346"/>
          <p:cNvSpPr txBox="1"/>
          <p:nvPr/>
        </p:nvSpPr>
        <p:spPr>
          <a:xfrm>
            <a:off x="5934364" y="4974336"/>
            <a:ext cx="548640" cy="164592"/>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2026</a:t>
            </a:r>
          </a:p>
        </p:txBody>
      </p:sp>
      <p:sp>
        <p:nvSpPr>
          <p:cNvPr id="348" name="TextBox 347"/>
          <p:cNvSpPr txBox="1"/>
          <p:nvPr/>
        </p:nvSpPr>
        <p:spPr>
          <a:xfrm>
            <a:off x="7589520" y="1975104"/>
            <a:ext cx="4224528" cy="201168"/>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Against the runway</a:t>
            </a:r>
          </a:p>
        </p:txBody>
      </p:sp>
      <p:sp>
        <p:nvSpPr>
          <p:cNvPr id="349" name="Rectangle 348"/>
          <p:cNvSpPr/>
          <p:nvPr/>
        </p:nvSpPr>
        <p:spPr>
          <a:xfrm>
            <a:off x="7699248" y="2395728"/>
            <a:ext cx="1580083" cy="27432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TextBox 349"/>
          <p:cNvSpPr txBox="1"/>
          <p:nvPr/>
        </p:nvSpPr>
        <p:spPr>
          <a:xfrm>
            <a:off x="7699248" y="2688336"/>
            <a:ext cx="4023360" cy="164592"/>
          </a:xfrm>
          <a:prstGeom prst="rect">
            <a:avLst/>
          </a:prstGeom>
          <a:noFill/>
        </p:spPr>
        <p:txBody>
          <a:bodyPr wrap="none" lIns="0" tIns="0" rIns="0" bIns="0" anchor="t">
            <a:spAutoFit/>
          </a:bodyPr>
          <a:lstStyle/>
          <a:p>
            <a:pPr algn="l">
              <a:lnSpc>
                <a:spcPct val="100000"/>
              </a:lnSpc>
              <a:spcAft>
                <a:spcPts val="0"/>
              </a:spcAft>
            </a:pPr>
            <a:r>
              <a:rPr sz="750" b="0" i="0">
                <a:solidFill>
                  <a:srgbClr val="000000"/>
                </a:solidFill>
                <a:latin typeface="Arial"/>
              </a:rPr>
              <a:t>Runway to 30 Jun 2027, 48 weeks</a:t>
            </a:r>
          </a:p>
        </p:txBody>
      </p:sp>
      <p:sp>
        <p:nvSpPr>
          <p:cNvPr id="351" name="Rectangle 350"/>
          <p:cNvSpPr/>
          <p:nvPr/>
        </p:nvSpPr>
        <p:spPr>
          <a:xfrm>
            <a:off x="7699248" y="2871216"/>
            <a:ext cx="2863900" cy="27432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TextBox 351"/>
          <p:cNvSpPr txBox="1"/>
          <p:nvPr/>
        </p:nvSpPr>
        <p:spPr>
          <a:xfrm>
            <a:off x="7699248" y="3163824"/>
            <a:ext cx="4023360" cy="164592"/>
          </a:xfrm>
          <a:prstGeom prst="rect">
            <a:avLst/>
          </a:prstGeom>
          <a:noFill/>
        </p:spPr>
        <p:txBody>
          <a:bodyPr wrap="none" lIns="0" tIns="0" rIns="0" bIns="0" anchor="t">
            <a:spAutoFit/>
          </a:bodyPr>
          <a:lstStyle/>
          <a:p>
            <a:pPr algn="l">
              <a:lnSpc>
                <a:spcPct val="100000"/>
              </a:lnSpc>
              <a:spcAft>
                <a:spcPts val="0"/>
              </a:spcAft>
            </a:pPr>
            <a:r>
              <a:rPr sz="750" b="0" i="0">
                <a:solidFill>
                  <a:srgbClr val="000000"/>
                </a:solidFill>
                <a:latin typeface="Arial"/>
              </a:rPr>
              <a:t>300750 CH longest spell, 87 weeks</a:t>
            </a:r>
          </a:p>
        </p:txBody>
      </p:sp>
      <p:sp>
        <p:nvSpPr>
          <p:cNvPr id="353" name="Rectangle 352"/>
          <p:cNvSpPr/>
          <p:nvPr/>
        </p:nvSpPr>
        <p:spPr>
          <a:xfrm>
            <a:off x="7699248" y="3346704"/>
            <a:ext cx="724204" cy="27432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TextBox 353"/>
          <p:cNvSpPr txBox="1"/>
          <p:nvPr/>
        </p:nvSpPr>
        <p:spPr>
          <a:xfrm>
            <a:off x="7699248" y="3639312"/>
            <a:ext cx="4023360" cy="164592"/>
          </a:xfrm>
          <a:prstGeom prst="rect">
            <a:avLst/>
          </a:prstGeom>
          <a:noFill/>
        </p:spPr>
        <p:txBody>
          <a:bodyPr wrap="none" lIns="0" tIns="0" rIns="0" bIns="0" anchor="t">
            <a:spAutoFit/>
          </a:bodyPr>
          <a:lstStyle/>
          <a:p>
            <a:pPr algn="l">
              <a:lnSpc>
                <a:spcPct val="100000"/>
              </a:lnSpc>
              <a:spcAft>
                <a:spcPts val="0"/>
              </a:spcAft>
            </a:pPr>
            <a:r>
              <a:rPr sz="750" b="0" i="0">
                <a:solidFill>
                  <a:srgbClr val="000000"/>
                </a:solidFill>
                <a:latin typeface="Arial"/>
              </a:rPr>
              <a:t>3750 HK longest spell, 22 weeks</a:t>
            </a:r>
          </a:p>
        </p:txBody>
      </p:sp>
      <p:cxnSp>
        <p:nvCxnSpPr>
          <p:cNvPr id="355" name="Connector 354"/>
          <p:cNvCxnSpPr/>
          <p:nvPr/>
        </p:nvCxnSpPr>
        <p:spPr>
          <a:xfrm>
            <a:off x="9279331" y="2340864"/>
            <a:ext cx="0" cy="14264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56" name="TextBox 355"/>
          <p:cNvSpPr txBox="1"/>
          <p:nvPr/>
        </p:nvSpPr>
        <p:spPr>
          <a:xfrm>
            <a:off x="7589520" y="4434840"/>
            <a:ext cx="4224528" cy="365760"/>
          </a:xfrm>
          <a:prstGeom prst="rect">
            <a:avLst/>
          </a:prstGeom>
          <a:noFill/>
        </p:spPr>
        <p:txBody>
          <a:bodyPr wrap="square" lIns="0" tIns="0" rIns="0" bIns="0" anchor="t">
            <a:spAutoFit/>
          </a:bodyPr>
          <a:lstStyle/>
          <a:p>
            <a:pPr algn="l">
              <a:lnSpc>
                <a:spcPct val="118000"/>
              </a:lnSpc>
              <a:spcAft>
                <a:spcPts val="0"/>
              </a:spcAft>
            </a:pPr>
            <a:r>
              <a:rPr sz="850" b="1" i="0">
                <a:solidFill>
                  <a:srgbClr val="DB0011"/>
                </a:solidFill>
                <a:latin typeface="Arial"/>
              </a:rPr>
              <a:t>The longest spell is 1.8x the runway. </a:t>
            </a:r>
            <a:r>
              <a:rPr sz="850" b="0" i="0">
                <a:solidFill>
                  <a:srgbClr val="000000"/>
                </a:solidFill>
                <a:latin typeface="Arial"/>
              </a:rPr>
              <a:t>The traded line is younger and has not been tested.</a:t>
            </a:r>
          </a:p>
        </p:txBody>
      </p:sp>
      <p:sp>
        <p:nvSpPr>
          <p:cNvPr id="357" name="Rectangle 356"/>
          <p:cNvSpPr/>
          <p:nvPr/>
        </p:nvSpPr>
        <p:spPr>
          <a:xfrm>
            <a:off x="374904" y="5504688"/>
            <a:ext cx="11441887" cy="56692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TextBox 357"/>
          <p:cNvSpPr txBox="1"/>
          <p:nvPr/>
        </p:nvSpPr>
        <p:spPr>
          <a:xfrm>
            <a:off x="594360" y="5650992"/>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risk is not a bad week, it is a long one. The 16bp stop is never gapped through, but drift takes it past twice over.</a:t>
            </a:r>
          </a:p>
        </p:txBody>
      </p:sp>
      <p:sp>
        <p:nvSpPr>
          <p:cNvPr id="359" name="TextBox 358"/>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Underwater is the distance below the running peak of cumulative weekly P&amp;L. The steepener series is a buy-and-hold proxy from January 2023 and is not the specified trade, which has an entry trigger and a stop; shown to size cumulative drift, which reached 32.0bp, twice the stop, and sat beyond it in 28% of weeks. CATL long-history figures are 300750 CH; 3750 HK has traded since 20-May-25. Computed by data-puller/underwater.py.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Which sample is calm?</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Where each sleeve's volatility sits in its own history.</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4</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52-week rolling · JGB from 2000, CATL from 2018 · refresh before use</a:t>
            </a:r>
          </a:p>
        </p:txBody>
      </p:sp>
      <p:sp>
        <p:nvSpPr>
          <p:cNvPr id="16" name="TextBox 15"/>
          <p:cNvSpPr txBox="1"/>
          <p:nvPr/>
        </p:nvSpPr>
        <p:spPr>
          <a:xfrm>
            <a:off x="374904" y="2011680"/>
            <a:ext cx="658368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Annualised volatility, own history</a:t>
            </a:r>
          </a:p>
        </p:txBody>
      </p:sp>
      <p:sp>
        <p:nvSpPr>
          <p:cNvPr id="17" name="Rectangle 16"/>
          <p:cNvSpPr/>
          <p:nvPr/>
        </p:nvSpPr>
        <p:spPr>
          <a:xfrm>
            <a:off x="1691640" y="2651760"/>
            <a:ext cx="4983480" cy="310896"/>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2117736" y="2651760"/>
            <a:ext cx="3760767" cy="31089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3292424" y="2606040"/>
            <a:ext cx="21945" cy="40233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937637" y="3035808"/>
            <a:ext cx="731520" cy="146304"/>
          </a:xfrm>
          <a:prstGeom prst="rect">
            <a:avLst/>
          </a:prstGeom>
          <a:noFill/>
        </p:spPr>
        <p:txBody>
          <a:bodyPr wrap="none" lIns="0" tIns="0" rIns="0" bIns="0" anchor="t">
            <a:spAutoFit/>
          </a:bodyPr>
          <a:lstStyle/>
          <a:p>
            <a:pPr algn="ctr">
              <a:lnSpc>
                <a:spcPct val="100000"/>
              </a:lnSpc>
              <a:spcAft>
                <a:spcPts val="0"/>
              </a:spcAft>
            </a:pPr>
            <a:r>
              <a:rPr sz="650" b="0" i="0">
                <a:solidFill>
                  <a:srgbClr val="767576"/>
                </a:solidFill>
                <a:latin typeface="Arial"/>
              </a:rPr>
              <a:t>median</a:t>
            </a:r>
          </a:p>
        </p:txBody>
      </p:sp>
      <p:sp>
        <p:nvSpPr>
          <p:cNvPr id="21" name="Oval 20"/>
          <p:cNvSpPr/>
          <p:nvPr/>
        </p:nvSpPr>
        <p:spPr>
          <a:xfrm>
            <a:off x="2651607" y="2711196"/>
            <a:ext cx="192024" cy="19202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924659" y="2395728"/>
            <a:ext cx="1645920" cy="182880"/>
          </a:xfrm>
          <a:prstGeom prst="rect">
            <a:avLst/>
          </a:prstGeom>
          <a:noFill/>
        </p:spPr>
        <p:txBody>
          <a:bodyPr wrap="none" lIns="0" tIns="0" rIns="0" bIns="0" anchor="t">
            <a:spAutoFit/>
          </a:bodyPr>
          <a:lstStyle/>
          <a:p>
            <a:pPr algn="ctr">
              <a:lnSpc>
                <a:spcPct val="100000"/>
              </a:lnSpc>
              <a:spcAft>
                <a:spcPts val="0"/>
              </a:spcAft>
            </a:pPr>
            <a:r>
              <a:rPr sz="900" b="1" i="0">
                <a:solidFill>
                  <a:srgbClr val="DB0011"/>
                </a:solidFill>
                <a:latin typeface="Arial"/>
              </a:rPr>
              <a:t>34.2% today</a:t>
            </a:r>
          </a:p>
        </p:txBody>
      </p:sp>
      <p:sp>
        <p:nvSpPr>
          <p:cNvPr id="23" name="TextBox 22"/>
          <p:cNvSpPr txBox="1"/>
          <p:nvPr/>
        </p:nvSpPr>
        <p:spPr>
          <a:xfrm>
            <a:off x="374904" y="2715768"/>
            <a:ext cx="1207008" cy="182880"/>
          </a:xfrm>
          <a:prstGeom prst="rect">
            <a:avLst/>
          </a:prstGeom>
          <a:noFill/>
        </p:spPr>
        <p:txBody>
          <a:bodyPr wrap="none" lIns="0" tIns="0" rIns="0" bIns="0" anchor="t">
            <a:spAutoFit/>
          </a:bodyPr>
          <a:lstStyle/>
          <a:p>
            <a:pPr algn="l">
              <a:lnSpc>
                <a:spcPct val="100000"/>
              </a:lnSpc>
              <a:spcAft>
                <a:spcPts val="0"/>
              </a:spcAft>
            </a:pPr>
            <a:r>
              <a:rPr sz="850" b="1" i="0">
                <a:solidFill>
                  <a:srgbClr val="DB0011"/>
                </a:solidFill>
                <a:latin typeface="Arial"/>
              </a:rPr>
              <a:t>CATL 300750 CH</a:t>
            </a:r>
          </a:p>
        </p:txBody>
      </p:sp>
      <p:sp>
        <p:nvSpPr>
          <p:cNvPr id="24" name="TextBox 23"/>
          <p:cNvSpPr txBox="1"/>
          <p:nvPr/>
        </p:nvSpPr>
        <p:spPr>
          <a:xfrm>
            <a:off x="6766560" y="2715768"/>
            <a:ext cx="914400" cy="182880"/>
          </a:xfrm>
          <a:prstGeom prst="rect">
            <a:avLst/>
          </a:prstGeom>
          <a:noFill/>
        </p:spPr>
        <p:txBody>
          <a:bodyPr wrap="none" lIns="0" tIns="0" rIns="0" bIns="0" anchor="t">
            <a:spAutoFit/>
          </a:bodyPr>
          <a:lstStyle/>
          <a:p>
            <a:pPr algn="l">
              <a:lnSpc>
                <a:spcPct val="100000"/>
              </a:lnSpc>
              <a:spcAft>
                <a:spcPts val="0"/>
              </a:spcAft>
            </a:pPr>
            <a:r>
              <a:rPr sz="900" b="1" i="0">
                <a:solidFill>
                  <a:srgbClr val="DB0011"/>
                </a:solidFill>
                <a:latin typeface="Arial"/>
              </a:rPr>
              <a:t>34th</a:t>
            </a:r>
          </a:p>
        </p:txBody>
      </p:sp>
      <p:sp>
        <p:nvSpPr>
          <p:cNvPr id="25" name="TextBox 24"/>
          <p:cNvSpPr txBox="1"/>
          <p:nvPr/>
        </p:nvSpPr>
        <p:spPr>
          <a:xfrm>
            <a:off x="1691640" y="3035808"/>
            <a:ext cx="10972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28.5</a:t>
            </a:r>
          </a:p>
        </p:txBody>
      </p:sp>
      <p:sp>
        <p:nvSpPr>
          <p:cNvPr id="26" name="TextBox 25"/>
          <p:cNvSpPr txBox="1"/>
          <p:nvPr/>
        </p:nvSpPr>
        <p:spPr>
          <a:xfrm>
            <a:off x="5577840" y="3035808"/>
            <a:ext cx="10972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55.4</a:t>
            </a:r>
          </a:p>
        </p:txBody>
      </p:sp>
      <p:sp>
        <p:nvSpPr>
          <p:cNvPr id="27" name="Rectangle 26"/>
          <p:cNvSpPr/>
          <p:nvPr/>
        </p:nvSpPr>
        <p:spPr>
          <a:xfrm>
            <a:off x="1691640" y="4023360"/>
            <a:ext cx="4983480" cy="310896"/>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2221580" y="4023360"/>
            <a:ext cx="2496835" cy="31089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3545650" y="3977640"/>
            <a:ext cx="21945" cy="40233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190863" y="4407408"/>
            <a:ext cx="731520" cy="146304"/>
          </a:xfrm>
          <a:prstGeom prst="rect">
            <a:avLst/>
          </a:prstGeom>
          <a:noFill/>
        </p:spPr>
        <p:txBody>
          <a:bodyPr wrap="none" lIns="0" tIns="0" rIns="0" bIns="0" anchor="t">
            <a:spAutoFit/>
          </a:bodyPr>
          <a:lstStyle/>
          <a:p>
            <a:pPr algn="ctr">
              <a:lnSpc>
                <a:spcPct val="100000"/>
              </a:lnSpc>
              <a:spcAft>
                <a:spcPts val="0"/>
              </a:spcAft>
            </a:pPr>
            <a:r>
              <a:rPr sz="650" b="0" i="0">
                <a:solidFill>
                  <a:srgbClr val="767576"/>
                </a:solidFill>
                <a:latin typeface="Arial"/>
              </a:rPr>
              <a:t>median</a:t>
            </a:r>
          </a:p>
        </p:txBody>
      </p:sp>
      <p:sp>
        <p:nvSpPr>
          <p:cNvPr id="31" name="Oval 30"/>
          <p:cNvSpPr/>
          <p:nvPr/>
        </p:nvSpPr>
        <p:spPr>
          <a:xfrm>
            <a:off x="4133228" y="4082796"/>
            <a:ext cx="192024" cy="19202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406280" y="3767328"/>
            <a:ext cx="1645920" cy="182880"/>
          </a:xfrm>
          <a:prstGeom prst="rect">
            <a:avLst/>
          </a:prstGeom>
          <a:noFill/>
        </p:spPr>
        <p:txBody>
          <a:bodyPr wrap="none" lIns="0" tIns="0" rIns="0" bIns="0" anchor="t">
            <a:spAutoFit/>
          </a:bodyPr>
          <a:lstStyle/>
          <a:p>
            <a:pPr algn="ctr">
              <a:lnSpc>
                <a:spcPct val="100000"/>
              </a:lnSpc>
              <a:spcAft>
                <a:spcPts val="0"/>
              </a:spcAft>
            </a:pPr>
            <a:r>
              <a:rPr sz="900" b="1" i="0">
                <a:solidFill>
                  <a:srgbClr val="44546A"/>
                </a:solidFill>
                <a:latin typeface="Arial"/>
              </a:rPr>
              <a:t>32.3bp today</a:t>
            </a:r>
          </a:p>
        </p:txBody>
      </p:sp>
      <p:sp>
        <p:nvSpPr>
          <p:cNvPr id="33" name="TextBox 32"/>
          <p:cNvSpPr txBox="1"/>
          <p:nvPr/>
        </p:nvSpPr>
        <p:spPr>
          <a:xfrm>
            <a:off x="374904" y="4087368"/>
            <a:ext cx="1207008" cy="182880"/>
          </a:xfrm>
          <a:prstGeom prst="rect">
            <a:avLst/>
          </a:prstGeom>
          <a:noFill/>
        </p:spPr>
        <p:txBody>
          <a:bodyPr wrap="none" lIns="0" tIns="0" rIns="0" bIns="0" anchor="t">
            <a:spAutoFit/>
          </a:bodyPr>
          <a:lstStyle/>
          <a:p>
            <a:pPr algn="l">
              <a:lnSpc>
                <a:spcPct val="100000"/>
              </a:lnSpc>
              <a:spcAft>
                <a:spcPts val="0"/>
              </a:spcAft>
            </a:pPr>
            <a:r>
              <a:rPr sz="850" b="1" i="0">
                <a:solidFill>
                  <a:srgbClr val="44546A"/>
                </a:solidFill>
                <a:latin typeface="Arial"/>
              </a:rPr>
              <a:t>JGB 2s10s</a:t>
            </a:r>
          </a:p>
        </p:txBody>
      </p:sp>
      <p:sp>
        <p:nvSpPr>
          <p:cNvPr id="34" name="TextBox 33"/>
          <p:cNvSpPr txBox="1"/>
          <p:nvPr/>
        </p:nvSpPr>
        <p:spPr>
          <a:xfrm>
            <a:off x="6766560" y="4087368"/>
            <a:ext cx="914400" cy="182880"/>
          </a:xfrm>
          <a:prstGeom prst="rect">
            <a:avLst/>
          </a:prstGeom>
          <a:noFill/>
        </p:spPr>
        <p:txBody>
          <a:bodyPr wrap="none" lIns="0" tIns="0" rIns="0" bIns="0" anchor="t">
            <a:spAutoFit/>
          </a:bodyPr>
          <a:lstStyle/>
          <a:p>
            <a:pPr algn="l">
              <a:lnSpc>
                <a:spcPct val="100000"/>
              </a:lnSpc>
              <a:spcAft>
                <a:spcPts val="0"/>
              </a:spcAft>
            </a:pPr>
            <a:r>
              <a:rPr sz="900" b="1" i="0">
                <a:solidFill>
                  <a:srgbClr val="44546A"/>
                </a:solidFill>
                <a:latin typeface="Arial"/>
              </a:rPr>
              <a:t>78th</a:t>
            </a:r>
          </a:p>
        </p:txBody>
      </p:sp>
      <p:sp>
        <p:nvSpPr>
          <p:cNvPr id="35" name="TextBox 34"/>
          <p:cNvSpPr txBox="1"/>
          <p:nvPr/>
        </p:nvSpPr>
        <p:spPr>
          <a:xfrm>
            <a:off x="1691640" y="4407408"/>
            <a:ext cx="10972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7.4</a:t>
            </a:r>
          </a:p>
        </p:txBody>
      </p:sp>
      <p:sp>
        <p:nvSpPr>
          <p:cNvPr id="36" name="TextBox 35"/>
          <p:cNvSpPr txBox="1"/>
          <p:nvPr/>
        </p:nvSpPr>
        <p:spPr>
          <a:xfrm>
            <a:off x="5577840" y="4407408"/>
            <a:ext cx="10972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56.3</a:t>
            </a:r>
          </a:p>
        </p:txBody>
      </p:sp>
      <p:sp>
        <p:nvSpPr>
          <p:cNvPr id="37" name="TextBox 36"/>
          <p:cNvSpPr txBox="1"/>
          <p:nvPr/>
        </p:nvSpPr>
        <p:spPr>
          <a:xfrm>
            <a:off x="7406640" y="2011680"/>
            <a:ext cx="4407408"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Chance of touching the 16bp stop</a:t>
            </a:r>
          </a:p>
        </p:txBody>
      </p:sp>
      <p:sp>
        <p:nvSpPr>
          <p:cNvPr id="38" name="Rectangle 37"/>
          <p:cNvSpPr/>
          <p:nvPr/>
        </p:nvSpPr>
        <p:spPr>
          <a:xfrm>
            <a:off x="7818120" y="2487168"/>
            <a:ext cx="3657600" cy="233172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8407603" y="476178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8445703" y="470851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8483803" y="4655958"/>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521903" y="460420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8560003" y="4553308"/>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8598103" y="450332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8636203" y="4454275"/>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8674303" y="440620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8712403" y="435911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8750503" y="431302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8788603" y="426792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8826703" y="422383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8864803" y="418074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8902903" y="413863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8941003" y="409749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8979103" y="405732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9017203" y="401809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9055303" y="3979786"/>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9093403" y="3942388"/>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9322003" y="373592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9360103" y="370431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9398203" y="3673435"/>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9436303" y="364328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9474403" y="361383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9512503" y="358506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9550603" y="355695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9588703" y="352949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9626803" y="350266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9664903" y="347643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9703003" y="345079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9741103" y="342572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9779203" y="340122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9817303" y="337725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9855403" y="335380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9893503" y="333087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9931603" y="330843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9969703" y="328647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10007803" y="326498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10045903" y="324394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10084003" y="322334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10122103" y="320317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10160203" y="318341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10198303" y="316406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10236403" y="3145112"/>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10274503" y="312653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10312603" y="310833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10350703" y="3090490"/>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10388803" y="307299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10426903" y="305584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10465003" y="303903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10503103" y="302253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10541203" y="300635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10579303" y="299048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10617403" y="297490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10655503" y="295962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10693603" y="294462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10731703" y="292989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10769803" y="2915435"/>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10807903" y="2901238"/>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10846003" y="2887294"/>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10884103" y="287359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10922203" y="2860146"/>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10960303" y="284692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10998403" y="283394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11036503" y="282117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11074603" y="2808633"/>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11112703" y="279630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11150803" y="2784178"/>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11188903" y="277225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11227003" y="2760535"/>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11265103" y="2749006"/>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11303203" y="273766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11341303" y="2726511"/>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11379403" y="2715536"/>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11417503" y="2704737"/>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11455603" y="2694109"/>
            <a:ext cx="40233" cy="40233"/>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15" name="Connector 114"/>
          <p:cNvCxnSpPr/>
          <p:nvPr/>
        </p:nvCxnSpPr>
        <p:spPr>
          <a:xfrm>
            <a:off x="9014460" y="4061635"/>
            <a:ext cx="0" cy="757253"/>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116" name="Oval 115"/>
          <p:cNvSpPr/>
          <p:nvPr/>
        </p:nvSpPr>
        <p:spPr>
          <a:xfrm>
            <a:off x="8945880" y="3993055"/>
            <a:ext cx="137160" cy="1371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17" name="Connector 116"/>
          <p:cNvCxnSpPr/>
          <p:nvPr/>
        </p:nvCxnSpPr>
        <p:spPr>
          <a:xfrm>
            <a:off x="9517380" y="3616608"/>
            <a:ext cx="0" cy="1202280"/>
          </a:xfrm>
          <a:prstGeom prst="line">
            <a:avLst/>
          </a:prstGeom>
          <a:ln w="9525">
            <a:solidFill>
              <a:srgbClr val="44546A"/>
            </a:solidFill>
          </a:ln>
        </p:spPr>
        <p:style>
          <a:lnRef idx="2">
            <a:schemeClr val="accent1"/>
          </a:lnRef>
          <a:fillRef idx="0">
            <a:schemeClr val="accent1"/>
          </a:fillRef>
          <a:effectRef idx="1">
            <a:schemeClr val="accent1"/>
          </a:effectRef>
          <a:fontRef idx="minor">
            <a:schemeClr val="tx1"/>
          </a:fontRef>
        </p:style>
      </p:cxnSp>
      <p:sp>
        <p:nvSpPr>
          <p:cNvPr id="118" name="Oval 117"/>
          <p:cNvSpPr/>
          <p:nvPr/>
        </p:nvSpPr>
        <p:spPr>
          <a:xfrm>
            <a:off x="9448800" y="3548028"/>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19" name="Connector 118"/>
          <p:cNvCxnSpPr/>
          <p:nvPr/>
        </p:nvCxnSpPr>
        <p:spPr>
          <a:xfrm>
            <a:off x="9883140" y="3369296"/>
            <a:ext cx="0" cy="1449592"/>
          </a:xfrm>
          <a:prstGeom prst="line">
            <a:avLst/>
          </a:prstGeom>
          <a:ln w="9525">
            <a:solidFill>
              <a:srgbClr val="DB0011"/>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9814560" y="330071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TextBox 120"/>
          <p:cNvSpPr txBox="1"/>
          <p:nvPr/>
        </p:nvSpPr>
        <p:spPr>
          <a:xfrm>
            <a:off x="8237220" y="3787315"/>
            <a:ext cx="1554480" cy="164592"/>
          </a:xfrm>
          <a:prstGeom prst="rect">
            <a:avLst/>
          </a:prstGeom>
          <a:noFill/>
        </p:spPr>
        <p:txBody>
          <a:bodyPr wrap="none" lIns="0" tIns="0" rIns="0" bIns="0" anchor="t">
            <a:spAutoFit/>
          </a:bodyPr>
          <a:lstStyle/>
          <a:p>
            <a:pPr algn="ctr">
              <a:lnSpc>
                <a:spcPct val="100000"/>
              </a:lnSpc>
              <a:spcAft>
                <a:spcPts val="0"/>
              </a:spcAft>
            </a:pPr>
            <a:r>
              <a:rPr sz="800" b="1" i="0">
                <a:solidFill>
                  <a:srgbClr val="767576"/>
                </a:solidFill>
                <a:latin typeface="Arial"/>
              </a:rPr>
              <a:t>median  38%</a:t>
            </a:r>
          </a:p>
        </p:txBody>
      </p:sp>
      <p:sp>
        <p:nvSpPr>
          <p:cNvPr id="122" name="TextBox 121"/>
          <p:cNvSpPr txBox="1"/>
          <p:nvPr/>
        </p:nvSpPr>
        <p:spPr>
          <a:xfrm>
            <a:off x="8740140" y="3141120"/>
            <a:ext cx="1554480" cy="164592"/>
          </a:xfrm>
          <a:prstGeom prst="rect">
            <a:avLst/>
          </a:prstGeom>
          <a:noFill/>
        </p:spPr>
        <p:txBody>
          <a:bodyPr wrap="none" lIns="0" tIns="0" rIns="0" bIns="0" anchor="t">
            <a:spAutoFit/>
          </a:bodyPr>
          <a:lstStyle/>
          <a:p>
            <a:pPr algn="ctr">
              <a:lnSpc>
                <a:spcPct val="100000"/>
              </a:lnSpc>
              <a:spcAft>
                <a:spcPts val="0"/>
              </a:spcAft>
            </a:pPr>
            <a:r>
              <a:rPr sz="800" b="1" i="0">
                <a:solidFill>
                  <a:srgbClr val="44546A"/>
                </a:solidFill>
                <a:latin typeface="Arial"/>
              </a:rPr>
              <a:t>today  48%</a:t>
            </a:r>
          </a:p>
        </p:txBody>
      </p:sp>
      <p:sp>
        <p:nvSpPr>
          <p:cNvPr id="123" name="TextBox 122"/>
          <p:cNvSpPr txBox="1"/>
          <p:nvPr/>
        </p:nvSpPr>
        <p:spPr>
          <a:xfrm>
            <a:off x="9105900" y="2692640"/>
            <a:ext cx="1554480" cy="164592"/>
          </a:xfrm>
          <a:prstGeom prst="rect">
            <a:avLst/>
          </a:prstGeom>
          <a:noFill/>
        </p:spPr>
        <p:txBody>
          <a:bodyPr wrap="none" lIns="0" tIns="0" rIns="0" bIns="0" anchor="t">
            <a:spAutoFit/>
          </a:bodyPr>
          <a:lstStyle/>
          <a:p>
            <a:pPr algn="ctr">
              <a:lnSpc>
                <a:spcPct val="100000"/>
              </a:lnSpc>
              <a:spcAft>
                <a:spcPts val="0"/>
              </a:spcAft>
            </a:pPr>
            <a:r>
              <a:rPr sz="800" b="1" i="0">
                <a:solidFill>
                  <a:srgbClr val="DB0011"/>
                </a:solidFill>
                <a:latin typeface="Arial"/>
              </a:rPr>
              <a:t>90th  54%</a:t>
            </a:r>
          </a:p>
        </p:txBody>
      </p:sp>
      <p:sp>
        <p:nvSpPr>
          <p:cNvPr id="124" name="TextBox 123"/>
          <p:cNvSpPr txBox="1"/>
          <p:nvPr/>
        </p:nvSpPr>
        <p:spPr>
          <a:xfrm>
            <a:off x="7818120" y="4873751"/>
            <a:ext cx="146304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slope vol 10bp</a:t>
            </a:r>
          </a:p>
        </p:txBody>
      </p:sp>
      <p:sp>
        <p:nvSpPr>
          <p:cNvPr id="125" name="TextBox 124"/>
          <p:cNvSpPr txBox="1"/>
          <p:nvPr/>
        </p:nvSpPr>
        <p:spPr>
          <a:xfrm>
            <a:off x="10012680" y="4873751"/>
            <a:ext cx="146304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58bp</a:t>
            </a:r>
          </a:p>
        </p:txBody>
      </p:sp>
      <p:sp>
        <p:nvSpPr>
          <p:cNvPr id="126" name="Rectangle 125"/>
          <p:cNvSpPr/>
          <p:nvPr/>
        </p:nvSpPr>
        <p:spPr>
          <a:xfrm>
            <a:off x="374904" y="5358384"/>
            <a:ext cx="11441887" cy="56692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TextBox 126"/>
          <p:cNvSpPr txBox="1"/>
          <p:nvPr/>
        </p:nvSpPr>
        <p:spPr>
          <a:xfrm>
            <a:off x="594360" y="5504688"/>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calm sample is CATL's, not the curve's. Sized at the 34th percentile, it is 1.5x light against a 90th-percentile regime.</a:t>
            </a:r>
          </a:p>
        </p:txBody>
      </p:sp>
      <p:sp>
        <p:nvSpPr>
          <p:cNvPr id="128" name="TextBox 127"/>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Rolling 52-week standard deviation of weekly changes, annualised, ranked inside each sleeve's own history: 2s10s from the MoF curve since 2000, CATL on 300750 CH since its June 2018 listing. Touch probability is 2*Phi(-16 / sigma*sqrt(0.5)), the reflection approximation for a driftless walk over six months; it ignores drift, mean reversion and fat tails. Computed by data-puller/vol_regime.py.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What actually moves each sleeve</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Mean weekly P&amp;L in the bottom and top fifth of each factor's own move.</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5</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MoF and Yahoo Finance · refresh before use</a:t>
            </a:r>
          </a:p>
        </p:txBody>
      </p:sp>
      <p:sp>
        <p:nvSpPr>
          <p:cNvPr id="16" name="TextBox 15"/>
          <p:cNvSpPr txBox="1"/>
          <p:nvPr/>
        </p:nvSpPr>
        <p:spPr>
          <a:xfrm>
            <a:off x="374904" y="2048256"/>
            <a:ext cx="484632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CATL 300750 CH, weekly %</a:t>
            </a:r>
          </a:p>
        </p:txBody>
      </p:sp>
      <p:sp>
        <p:nvSpPr>
          <p:cNvPr id="17" name="Rectangle 16"/>
          <p:cNvSpPr/>
          <p:nvPr/>
        </p:nvSpPr>
        <p:spPr>
          <a:xfrm>
            <a:off x="1600200" y="2395728"/>
            <a:ext cx="3749039" cy="27432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8" name="Connector 17"/>
          <p:cNvCxnSpPr/>
          <p:nvPr/>
        </p:nvCxnSpPr>
        <p:spPr>
          <a:xfrm>
            <a:off x="3474720" y="2395728"/>
            <a:ext cx="0" cy="274320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97598" y="2615184"/>
            <a:ext cx="3150443"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929018" y="26197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5079461" y="26197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74904" y="2606039"/>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Hang Seng</a:t>
            </a:r>
          </a:p>
        </p:txBody>
      </p:sp>
      <p:sp>
        <p:nvSpPr>
          <p:cNvPr id="23" name="TextBox 22"/>
          <p:cNvSpPr txBox="1"/>
          <p:nvPr/>
        </p:nvSpPr>
        <p:spPr>
          <a:xfrm>
            <a:off x="5422392" y="26060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5.0%</a:t>
            </a:r>
          </a:p>
        </p:txBody>
      </p:sp>
      <p:sp>
        <p:nvSpPr>
          <p:cNvPr id="24" name="Rectangle 23"/>
          <p:cNvSpPr/>
          <p:nvPr/>
        </p:nvSpPr>
        <p:spPr>
          <a:xfrm>
            <a:off x="2970474" y="3072384"/>
            <a:ext cx="2158197"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2901894" y="30769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5060091" y="30769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74904" y="3063239"/>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Copper</a:t>
            </a:r>
          </a:p>
        </p:txBody>
      </p:sp>
      <p:sp>
        <p:nvSpPr>
          <p:cNvPr id="28" name="TextBox 27"/>
          <p:cNvSpPr txBox="1"/>
          <p:nvPr/>
        </p:nvSpPr>
        <p:spPr>
          <a:xfrm>
            <a:off x="5422392" y="30632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3.5%</a:t>
            </a:r>
          </a:p>
        </p:txBody>
      </p:sp>
      <p:sp>
        <p:nvSpPr>
          <p:cNvPr id="29" name="Rectangle 28"/>
          <p:cNvSpPr/>
          <p:nvPr/>
        </p:nvSpPr>
        <p:spPr>
          <a:xfrm>
            <a:off x="3065449" y="3529584"/>
            <a:ext cx="1312164"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2996869" y="35341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4309033" y="35341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74904" y="3520439"/>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S&amp;P 500</a:t>
            </a:r>
          </a:p>
        </p:txBody>
      </p:sp>
      <p:sp>
        <p:nvSpPr>
          <p:cNvPr id="33" name="TextBox 32"/>
          <p:cNvSpPr txBox="1"/>
          <p:nvPr/>
        </p:nvSpPr>
        <p:spPr>
          <a:xfrm>
            <a:off x="5422392" y="35204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2.1%</a:t>
            </a:r>
          </a:p>
        </p:txBody>
      </p:sp>
      <p:sp>
        <p:nvSpPr>
          <p:cNvPr id="34" name="Rectangle 33"/>
          <p:cNvSpPr/>
          <p:nvPr/>
        </p:nvSpPr>
        <p:spPr>
          <a:xfrm>
            <a:off x="3154177" y="3986783"/>
            <a:ext cx="1177823"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263420" y="39913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3085597" y="39913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374904" y="3977639"/>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USD/CNY</a:t>
            </a:r>
          </a:p>
        </p:txBody>
      </p:sp>
      <p:sp>
        <p:nvSpPr>
          <p:cNvPr id="38" name="TextBox 37"/>
          <p:cNvSpPr txBox="1"/>
          <p:nvPr/>
        </p:nvSpPr>
        <p:spPr>
          <a:xfrm>
            <a:off x="5422392" y="39776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1.9%</a:t>
            </a:r>
          </a:p>
        </p:txBody>
      </p:sp>
      <p:sp>
        <p:nvSpPr>
          <p:cNvPr id="39" name="Rectangle 38"/>
          <p:cNvSpPr/>
          <p:nvPr/>
        </p:nvSpPr>
        <p:spPr>
          <a:xfrm>
            <a:off x="3166049" y="4443983"/>
            <a:ext cx="1163452"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4260921" y="44485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3097469" y="44485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374904" y="4434840"/>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VIX</a:t>
            </a:r>
          </a:p>
        </p:txBody>
      </p:sp>
      <p:sp>
        <p:nvSpPr>
          <p:cNvPr id="43" name="TextBox 42"/>
          <p:cNvSpPr txBox="1"/>
          <p:nvPr/>
        </p:nvSpPr>
        <p:spPr>
          <a:xfrm>
            <a:off x="5422392" y="4434840"/>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1.9%</a:t>
            </a:r>
          </a:p>
        </p:txBody>
      </p:sp>
      <p:sp>
        <p:nvSpPr>
          <p:cNvPr id="44" name="Rectangle 43"/>
          <p:cNvSpPr/>
          <p:nvPr/>
        </p:nvSpPr>
        <p:spPr>
          <a:xfrm>
            <a:off x="3598438" y="4901183"/>
            <a:ext cx="1089720"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3529858" y="49057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4619579" y="49057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74904" y="4892040"/>
            <a:ext cx="1133856"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Brent</a:t>
            </a:r>
          </a:p>
        </p:txBody>
      </p:sp>
      <p:sp>
        <p:nvSpPr>
          <p:cNvPr id="48" name="TextBox 47"/>
          <p:cNvSpPr txBox="1"/>
          <p:nvPr/>
        </p:nvSpPr>
        <p:spPr>
          <a:xfrm>
            <a:off x="5422392" y="4892040"/>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1.7%</a:t>
            </a:r>
          </a:p>
        </p:txBody>
      </p:sp>
      <p:sp>
        <p:nvSpPr>
          <p:cNvPr id="49" name="TextBox 48"/>
          <p:cNvSpPr txBox="1"/>
          <p:nvPr/>
        </p:nvSpPr>
        <p:spPr>
          <a:xfrm>
            <a:off x="1600200" y="5193792"/>
            <a:ext cx="10972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-3%</a:t>
            </a:r>
          </a:p>
        </p:txBody>
      </p:sp>
      <p:sp>
        <p:nvSpPr>
          <p:cNvPr id="50" name="TextBox 49"/>
          <p:cNvSpPr txBox="1"/>
          <p:nvPr/>
        </p:nvSpPr>
        <p:spPr>
          <a:xfrm>
            <a:off x="4251959" y="5193792"/>
            <a:ext cx="10972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+3%</a:t>
            </a:r>
          </a:p>
        </p:txBody>
      </p:sp>
      <p:sp>
        <p:nvSpPr>
          <p:cNvPr id="51" name="TextBox 50"/>
          <p:cNvSpPr txBox="1"/>
          <p:nvPr/>
        </p:nvSpPr>
        <p:spPr>
          <a:xfrm>
            <a:off x="6355080" y="2048256"/>
            <a:ext cx="484632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JGB 2s10s steepener, weekly bp</a:t>
            </a:r>
          </a:p>
        </p:txBody>
      </p:sp>
      <p:sp>
        <p:nvSpPr>
          <p:cNvPr id="52" name="Rectangle 51"/>
          <p:cNvSpPr/>
          <p:nvPr/>
        </p:nvSpPr>
        <p:spPr>
          <a:xfrm>
            <a:off x="7726679" y="2395728"/>
            <a:ext cx="3749039" cy="27432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3" name="Connector 52"/>
          <p:cNvCxnSpPr/>
          <p:nvPr/>
        </p:nvCxnSpPr>
        <p:spPr>
          <a:xfrm>
            <a:off x="9601200" y="2395728"/>
            <a:ext cx="0" cy="274320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988487" y="2615184"/>
            <a:ext cx="3436620"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7919907" y="26197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11356527" y="26197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355080" y="2606039"/>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UST 10y yield</a:t>
            </a:r>
          </a:p>
        </p:txBody>
      </p:sp>
      <p:sp>
        <p:nvSpPr>
          <p:cNvPr id="58" name="TextBox 57"/>
          <p:cNvSpPr txBox="1"/>
          <p:nvPr/>
        </p:nvSpPr>
        <p:spPr>
          <a:xfrm>
            <a:off x="11548872" y="26060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5.5bp</a:t>
            </a:r>
          </a:p>
        </p:txBody>
      </p:sp>
      <p:sp>
        <p:nvSpPr>
          <p:cNvPr id="59" name="Rectangle 58"/>
          <p:cNvSpPr/>
          <p:nvPr/>
        </p:nvSpPr>
        <p:spPr>
          <a:xfrm>
            <a:off x="8814526" y="3072384"/>
            <a:ext cx="1455252"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8745946" y="30769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10201198" y="30769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6355080" y="3063239"/>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Brent</a:t>
            </a:r>
          </a:p>
        </p:txBody>
      </p:sp>
      <p:sp>
        <p:nvSpPr>
          <p:cNvPr id="63" name="TextBox 62"/>
          <p:cNvSpPr txBox="1"/>
          <p:nvPr/>
        </p:nvSpPr>
        <p:spPr>
          <a:xfrm>
            <a:off x="11548872" y="30632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2.3bp</a:t>
            </a:r>
          </a:p>
        </p:txBody>
      </p:sp>
      <p:sp>
        <p:nvSpPr>
          <p:cNvPr id="64" name="Rectangle 63"/>
          <p:cNvSpPr/>
          <p:nvPr/>
        </p:nvSpPr>
        <p:spPr>
          <a:xfrm>
            <a:off x="9207550" y="3529584"/>
            <a:ext cx="1160327"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9138970" y="35341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10299298" y="35341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6355080" y="3520439"/>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USD/JPY</a:t>
            </a:r>
          </a:p>
        </p:txBody>
      </p:sp>
      <p:sp>
        <p:nvSpPr>
          <p:cNvPr id="68" name="TextBox 67"/>
          <p:cNvSpPr txBox="1"/>
          <p:nvPr/>
        </p:nvSpPr>
        <p:spPr>
          <a:xfrm>
            <a:off x="11548872" y="35204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1.9bp</a:t>
            </a:r>
          </a:p>
        </p:txBody>
      </p:sp>
      <p:sp>
        <p:nvSpPr>
          <p:cNvPr id="69" name="Rectangle 68"/>
          <p:cNvSpPr/>
          <p:nvPr/>
        </p:nvSpPr>
        <p:spPr>
          <a:xfrm>
            <a:off x="9204426" y="3986783"/>
            <a:ext cx="1077224"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10213070" y="39913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9135846" y="39913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6355080" y="3977639"/>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US HY</a:t>
            </a:r>
          </a:p>
        </p:txBody>
      </p:sp>
      <p:sp>
        <p:nvSpPr>
          <p:cNvPr id="73" name="TextBox 72"/>
          <p:cNvSpPr txBox="1"/>
          <p:nvPr/>
        </p:nvSpPr>
        <p:spPr>
          <a:xfrm>
            <a:off x="11548872" y="3977639"/>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1.7bp</a:t>
            </a:r>
          </a:p>
        </p:txBody>
      </p:sp>
      <p:sp>
        <p:nvSpPr>
          <p:cNvPr id="74" name="Rectangle 73"/>
          <p:cNvSpPr/>
          <p:nvPr/>
        </p:nvSpPr>
        <p:spPr>
          <a:xfrm>
            <a:off x="9423745" y="4443983"/>
            <a:ext cx="1059103"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9355165" y="44485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10414269" y="44485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Box 76"/>
          <p:cNvSpPr txBox="1"/>
          <p:nvPr/>
        </p:nvSpPr>
        <p:spPr>
          <a:xfrm>
            <a:off x="6355080" y="4434840"/>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Hang Seng</a:t>
            </a:r>
          </a:p>
        </p:txBody>
      </p:sp>
      <p:sp>
        <p:nvSpPr>
          <p:cNvPr id="78" name="TextBox 77"/>
          <p:cNvSpPr txBox="1"/>
          <p:nvPr/>
        </p:nvSpPr>
        <p:spPr>
          <a:xfrm>
            <a:off x="11548872" y="4434840"/>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1.7bp</a:t>
            </a:r>
          </a:p>
        </p:txBody>
      </p:sp>
      <p:sp>
        <p:nvSpPr>
          <p:cNvPr id="79" name="Rectangle 78"/>
          <p:cNvSpPr/>
          <p:nvPr/>
        </p:nvSpPr>
        <p:spPr>
          <a:xfrm>
            <a:off x="9241292" y="4901183"/>
            <a:ext cx="949131" cy="1463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9172712" y="4905756"/>
            <a:ext cx="137160" cy="1371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10121844" y="4905756"/>
            <a:ext cx="137160" cy="1371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6355080" y="4892040"/>
            <a:ext cx="1280159" cy="182880"/>
          </a:xfrm>
          <a:prstGeom prst="rect">
            <a:avLst/>
          </a:prstGeom>
          <a:noFill/>
        </p:spPr>
        <p:txBody>
          <a:bodyPr wrap="none" lIns="0" tIns="0" rIns="0" bIns="0" anchor="t">
            <a:spAutoFit/>
          </a:bodyPr>
          <a:lstStyle/>
          <a:p>
            <a:pPr algn="r">
              <a:lnSpc>
                <a:spcPct val="100000"/>
              </a:lnSpc>
              <a:spcAft>
                <a:spcPts val="0"/>
              </a:spcAft>
            </a:pPr>
            <a:r>
              <a:rPr sz="850" b="1" i="0">
                <a:solidFill>
                  <a:srgbClr val="000000"/>
                </a:solidFill>
                <a:latin typeface="Arial"/>
              </a:rPr>
              <a:t>Copper</a:t>
            </a:r>
          </a:p>
        </p:txBody>
      </p:sp>
      <p:sp>
        <p:nvSpPr>
          <p:cNvPr id="83" name="TextBox 82"/>
          <p:cNvSpPr txBox="1"/>
          <p:nvPr/>
        </p:nvSpPr>
        <p:spPr>
          <a:xfrm>
            <a:off x="11548872" y="4892040"/>
            <a:ext cx="731520" cy="182880"/>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1.5bp</a:t>
            </a:r>
          </a:p>
        </p:txBody>
      </p:sp>
      <p:sp>
        <p:nvSpPr>
          <p:cNvPr id="84" name="TextBox 83"/>
          <p:cNvSpPr txBox="1"/>
          <p:nvPr/>
        </p:nvSpPr>
        <p:spPr>
          <a:xfrm>
            <a:off x="7726679" y="5193792"/>
            <a:ext cx="10972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-3bp</a:t>
            </a:r>
          </a:p>
        </p:txBody>
      </p:sp>
      <p:sp>
        <p:nvSpPr>
          <p:cNvPr id="85" name="TextBox 84"/>
          <p:cNvSpPr txBox="1"/>
          <p:nvPr/>
        </p:nvSpPr>
        <p:spPr>
          <a:xfrm>
            <a:off x="10378440" y="5193792"/>
            <a:ext cx="10972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+3bp</a:t>
            </a:r>
          </a:p>
        </p:txBody>
      </p:sp>
      <p:sp>
        <p:nvSpPr>
          <p:cNvPr id="86" name="TextBox 85"/>
          <p:cNvSpPr txBox="1"/>
          <p:nvPr/>
        </p:nvSpPr>
        <p:spPr>
          <a:xfrm>
            <a:off x="374904" y="5413248"/>
            <a:ext cx="5486400" cy="164592"/>
          </a:xfrm>
          <a:prstGeom prst="rect">
            <a:avLst/>
          </a:prstGeom>
          <a:noFill/>
        </p:spPr>
        <p:txBody>
          <a:bodyPr wrap="none" lIns="0" tIns="0" rIns="0" bIns="0" anchor="t">
            <a:spAutoFit/>
          </a:bodyPr>
          <a:lstStyle/>
          <a:p>
            <a:pPr algn="l">
              <a:lnSpc>
                <a:spcPct val="100000"/>
              </a:lnSpc>
              <a:spcAft>
                <a:spcPts val="0"/>
              </a:spcAft>
            </a:pPr>
            <a:r>
              <a:rPr sz="700" b="1" i="0">
                <a:solidFill>
                  <a:srgbClr val="DB0011"/>
                </a:solidFill>
                <a:latin typeface="Arial"/>
              </a:rPr>
              <a:t>red = factor's worst fifth</a:t>
            </a:r>
            <a:r>
              <a:rPr sz="700" b="1" i="0">
                <a:solidFill>
                  <a:srgbClr val="44546A"/>
                </a:solidFill>
                <a:latin typeface="Arial"/>
              </a:rPr>
              <a:t>     navy = its best fifth</a:t>
            </a:r>
          </a:p>
        </p:txBody>
      </p:sp>
      <p:sp>
        <p:nvSpPr>
          <p:cNvPr id="87" name="Rectangle 86"/>
          <p:cNvSpPr/>
          <p:nvPr/>
        </p:nvSpPr>
        <p:spPr>
          <a:xfrm>
            <a:off x="374904" y="5669280"/>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p:cNvSpPr txBox="1"/>
          <p:nvPr/>
        </p:nvSpPr>
        <p:spPr>
          <a:xfrm>
            <a:off x="594360" y="5797296"/>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CATL is a Hang Seng position. The steepener's largest driver is the UST 10-year, not the yen.</a:t>
            </a:r>
          </a:p>
        </p:txBody>
      </p:sp>
      <p:sp>
        <p:nvSpPr>
          <p:cNvPr id="89" name="TextBox 88"/>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For each factor the weeks are ranked by that factor's own move and split into fifths; the markers are the sleeve's mean weekly P&amp;L in the bottom and top fifth. Conditional means rather than a fitted beta, so the two sides are not forced to mirror. Univariate, so the factors are correlated with one another and the effects are not additive. Weekly 2023 to 31-Jul-26. Computed by data-puller/tornado.py.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What a hedge could reach</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Eight-factor model. Predicted against actual, weekly.</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6</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MoF and Yahoo Finance · refresh before use</a:t>
            </a:r>
          </a:p>
        </p:txBody>
      </p:sp>
      <p:sp>
        <p:nvSpPr>
          <p:cNvPr id="16" name="TextBox 15"/>
          <p:cNvSpPr txBox="1"/>
          <p:nvPr/>
        </p:nvSpPr>
        <p:spPr>
          <a:xfrm>
            <a:off x="1005840" y="1993392"/>
            <a:ext cx="420624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CATL 300750 CH</a:t>
            </a:r>
          </a:p>
        </p:txBody>
      </p:sp>
      <p:sp>
        <p:nvSpPr>
          <p:cNvPr id="17" name="Rectangle 16"/>
          <p:cNvSpPr/>
          <p:nvPr/>
        </p:nvSpPr>
        <p:spPr>
          <a:xfrm>
            <a:off x="1188720" y="2340864"/>
            <a:ext cx="2651760" cy="265176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8" name="Connector 17"/>
          <p:cNvCxnSpPr/>
          <p:nvPr/>
        </p:nvCxnSpPr>
        <p:spPr>
          <a:xfrm>
            <a:off x="1188720" y="3666744"/>
            <a:ext cx="26517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514600" y="2340864"/>
            <a:ext cx="0" cy="265176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175004" y="49789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219200" y="49347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263396" y="48905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07592" y="48463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351788" y="48021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395984" y="475792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440180" y="47137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484376" y="466953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528572" y="46253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572768" y="458114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616964" y="45369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1661160" y="449275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705356" y="444855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749552" y="440436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793748" y="436016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1837943" y="431596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882139" y="427177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926335" y="422757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970531" y="418338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2014727" y="413918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2058923" y="409498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2103120" y="405079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2147316" y="400659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2191512" y="396240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2235708" y="391820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2279904" y="38740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2324100" y="38298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2368296" y="37856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2412492" y="37414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2456688" y="36972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2500884" y="365302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2545080" y="360883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2589276" y="356463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2633472" y="35204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2677668" y="347624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2721864" y="34320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2766060" y="338785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2810256" y="334365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2854452" y="329946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2898648" y="325526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2942844" y="321106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2987040" y="316687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3031236" y="312267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3075431" y="307848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3119628" y="303428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3163823" y="299008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3208020" y="294589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3252215" y="290169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3296412" y="2857499"/>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3340607" y="281330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3384804" y="27691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3428999" y="27249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3473196" y="26807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3517391" y="26365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3561588" y="25923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3605783" y="254812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3649980" y="25039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3694176" y="245973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3738372" y="24155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3782568" y="237134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3826764" y="23271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2633409" y="320390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2592141" y="341380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2523361" y="383444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2476375" y="41392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2341798" y="394308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2731275" y="370939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2051347" y="357498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2382389" y="4273877"/>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2575981" y="326705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2763842" y="338770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2433366" y="396951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2608631" y="35035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2430383" y="348706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2416213" y="343328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2549878" y="378555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2390607" y="325470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2651805" y="39288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2375774" y="401451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2526095" y="333417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2669607" y="4258960"/>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2769974" y="293284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2197691" y="38711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2609460" y="35044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2415716" y="388648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2666307" y="342433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2448117" y="389261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2806602" y="333566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2478944" y="31071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2431212" y="37826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2216751" y="384165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2572667" y="39150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2579793" y="335870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2506621" y="413193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2524755" y="4225979"/>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2492700" y="352070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2510516" y="39624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2389281" y="407442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2544823" y="347761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2534796" y="352501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2373453" y="357614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2556010" y="401824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2508196" y="391316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2180206" y="410865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2293403" y="374237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2542752" y="409315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2386546" y="35774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2721663" y="328461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2424900" y="4294013"/>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2392679" y="344380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2310971" y="363175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2754810" y="391250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2309065" y="387016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2683792" y="274158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2440659" y="343966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2371713" y="398277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2743705" y="252000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2462702" y="339765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2531233" y="34855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2672356" y="33260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2566949" y="404376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2396242" y="354084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3039045" y="331917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2665727" y="347587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2714453" y="360945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2706415" y="36665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2245920" y="37290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2345030" y="378000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2555016" y="38394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2354228" y="40104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2590566" y="363407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2463116" y="38790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2567612" y="37578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2586837" y="354507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2200923" y="321335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2282216" y="365014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2290820" y="4196313"/>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2540348" y="39847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2658600" y="347156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2516814" y="326464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2623382" y="35312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2215508" y="35740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2473972" y="37560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2854002" y="35518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3263036" y="23202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3197073" y="27770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2213022" y="398526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2400302" y="3373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2539023" y="335331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2520792" y="406233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2580456" y="327426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2212856" y="33907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2437676" y="38502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2448531" y="357797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2628602" y="347944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2667219" y="363125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2549298" y="378132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2650645" y="36686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2402457" y="378555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2410329" y="402893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2591478" y="346294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2660258" y="335099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2473391" y="376210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2742959" y="35092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2930820" y="338306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2633326" y="346866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2328291" y="399156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2807513" y="37578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2422842" y="36068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2454415" y="383817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2493445" y="362031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2154766" y="410119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2164779" y="4318956"/>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2533222" y="359230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2687024" y="324650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2684621" y="382673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2606062" y="306659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2665147" y="328403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2592555" y="34059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2385966" y="419102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2681969" y="368337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2528416" y="36688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2449111" y="391557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2667716" y="3284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2459055" y="31710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2664567" y="34703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2714950" y="365536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2616089" y="329912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2205881" y="4240895"/>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2537531" y="363324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2647910" y="312244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2512836" y="345615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2423588" y="311532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2560485" y="314904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2714204" y="364898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2595455" y="26054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2492202" y="338256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2698957" y="318849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2372542" y="407012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2246749" y="417958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2770637" y="303029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2510433" y="358194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2549547" y="350670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2631586" y="346477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2213836" y="4372572"/>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2634320" y="35748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2598770" y="330061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2488888" y="358865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2442731" y="403150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2571424" y="363664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2625288" y="38063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2522035" y="360183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2681555" y="40346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2501566" y="377229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2584600" y="35748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2382237" y="320564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2364752" y="373127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2460216" y="334262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2485407" y="271415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2452757" y="331876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2493280" y="358261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2505944" y="4255563"/>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2672191" y="303576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2601339" y="310264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2521455" y="363315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2451349" y="381364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2674511" y="362719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2522283" y="390421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2437758" y="389319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2373370" y="339135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2502147" y="406713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2426406" y="381546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2323567" y="371569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2154352" y="387248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2714122" y="366796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2762999" y="4352518"/>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2611366" y="338331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2680063" y="313272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2678157" y="338447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TextBox 258"/>
          <p:cNvSpPr txBox="1"/>
          <p:nvPr/>
        </p:nvSpPr>
        <p:spPr>
          <a:xfrm>
            <a:off x="1188720" y="5047488"/>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predicted -16%</a:t>
            </a:r>
          </a:p>
        </p:txBody>
      </p:sp>
      <p:sp>
        <p:nvSpPr>
          <p:cNvPr id="260" name="TextBox 259"/>
          <p:cNvSpPr txBox="1"/>
          <p:nvPr/>
        </p:nvSpPr>
        <p:spPr>
          <a:xfrm>
            <a:off x="2011680" y="5047488"/>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+16%</a:t>
            </a:r>
          </a:p>
        </p:txBody>
      </p:sp>
      <p:sp>
        <p:nvSpPr>
          <p:cNvPr id="261" name="TextBox 260"/>
          <p:cNvSpPr txBox="1"/>
          <p:nvPr/>
        </p:nvSpPr>
        <p:spPr>
          <a:xfrm>
            <a:off x="1005840" y="2139696"/>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actual +16%</a:t>
            </a:r>
          </a:p>
        </p:txBody>
      </p:sp>
      <p:sp>
        <p:nvSpPr>
          <p:cNvPr id="262" name="TextBox 261"/>
          <p:cNvSpPr txBox="1"/>
          <p:nvPr/>
        </p:nvSpPr>
        <p:spPr>
          <a:xfrm>
            <a:off x="4114800" y="2468880"/>
            <a:ext cx="1737360" cy="402336"/>
          </a:xfrm>
          <a:prstGeom prst="rect">
            <a:avLst/>
          </a:prstGeom>
          <a:noFill/>
        </p:spPr>
        <p:txBody>
          <a:bodyPr wrap="none" lIns="0" tIns="0" rIns="0" bIns="0" anchor="t">
            <a:spAutoFit/>
          </a:bodyPr>
          <a:lstStyle/>
          <a:p>
            <a:pPr algn="l">
              <a:lnSpc>
                <a:spcPct val="100000"/>
              </a:lnSpc>
              <a:spcAft>
                <a:spcPts val="0"/>
              </a:spcAft>
            </a:pPr>
            <a:r>
              <a:rPr sz="2600" b="1" i="0">
                <a:solidFill>
                  <a:srgbClr val="DB0011"/>
                </a:solidFill>
                <a:latin typeface="Arial"/>
              </a:rPr>
              <a:t>22.7%</a:t>
            </a:r>
          </a:p>
        </p:txBody>
      </p:sp>
      <p:sp>
        <p:nvSpPr>
          <p:cNvPr id="263" name="TextBox 262"/>
          <p:cNvSpPr txBox="1"/>
          <p:nvPr/>
        </p:nvSpPr>
        <p:spPr>
          <a:xfrm>
            <a:off x="4114800" y="288950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reachable by</a:t>
            </a:r>
          </a:p>
        </p:txBody>
      </p:sp>
      <p:sp>
        <p:nvSpPr>
          <p:cNvPr id="264" name="TextBox 263"/>
          <p:cNvSpPr txBox="1"/>
          <p:nvPr/>
        </p:nvSpPr>
        <p:spPr>
          <a:xfrm>
            <a:off x="4114800" y="302666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any hedge</a:t>
            </a:r>
          </a:p>
        </p:txBody>
      </p:sp>
      <p:sp>
        <p:nvSpPr>
          <p:cNvPr id="265" name="TextBox 264"/>
          <p:cNvSpPr txBox="1"/>
          <p:nvPr/>
        </p:nvSpPr>
        <p:spPr>
          <a:xfrm>
            <a:off x="4114800" y="3566160"/>
            <a:ext cx="1737360" cy="402336"/>
          </a:xfrm>
          <a:prstGeom prst="rect">
            <a:avLst/>
          </a:prstGeom>
          <a:noFill/>
        </p:spPr>
        <p:txBody>
          <a:bodyPr wrap="none" lIns="0" tIns="0" rIns="0" bIns="0" anchor="t">
            <a:spAutoFit/>
          </a:bodyPr>
          <a:lstStyle/>
          <a:p>
            <a:pPr algn="l">
              <a:lnSpc>
                <a:spcPct val="100000"/>
              </a:lnSpc>
              <a:spcAft>
                <a:spcPts val="0"/>
              </a:spcAft>
            </a:pPr>
            <a:r>
              <a:rPr sz="2600" b="1" i="0">
                <a:solidFill>
                  <a:srgbClr val="DB0011"/>
                </a:solidFill>
                <a:latin typeface="Arial"/>
              </a:rPr>
              <a:t>12%</a:t>
            </a:r>
          </a:p>
        </p:txBody>
      </p:sp>
      <p:sp>
        <p:nvSpPr>
          <p:cNvPr id="266" name="TextBox 265"/>
          <p:cNvSpPr txBox="1"/>
          <p:nvPr/>
        </p:nvSpPr>
        <p:spPr>
          <a:xfrm>
            <a:off x="4114800" y="398678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of the ten</a:t>
            </a:r>
          </a:p>
        </p:txBody>
      </p:sp>
      <p:sp>
        <p:nvSpPr>
          <p:cNvPr id="267" name="TextBox 266"/>
          <p:cNvSpPr txBox="1"/>
          <p:nvPr/>
        </p:nvSpPr>
        <p:spPr>
          <a:xfrm>
            <a:off x="4114800" y="412394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worst weeks</a:t>
            </a:r>
          </a:p>
        </p:txBody>
      </p:sp>
      <p:sp>
        <p:nvSpPr>
          <p:cNvPr id="268" name="TextBox 267"/>
          <p:cNvSpPr txBox="1"/>
          <p:nvPr/>
        </p:nvSpPr>
        <p:spPr>
          <a:xfrm>
            <a:off x="6766559" y="1993392"/>
            <a:ext cx="420624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JGB 2s10s steepener</a:t>
            </a:r>
          </a:p>
        </p:txBody>
      </p:sp>
      <p:sp>
        <p:nvSpPr>
          <p:cNvPr id="269" name="Rectangle 268"/>
          <p:cNvSpPr/>
          <p:nvPr/>
        </p:nvSpPr>
        <p:spPr>
          <a:xfrm>
            <a:off x="6949440" y="2340864"/>
            <a:ext cx="2651760" cy="265176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70" name="Connector 269"/>
          <p:cNvCxnSpPr/>
          <p:nvPr/>
        </p:nvCxnSpPr>
        <p:spPr>
          <a:xfrm>
            <a:off x="6949440" y="3666744"/>
            <a:ext cx="26517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8275319" y="2340864"/>
            <a:ext cx="0" cy="265176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272" name="Oval 271"/>
          <p:cNvSpPr/>
          <p:nvPr/>
        </p:nvSpPr>
        <p:spPr>
          <a:xfrm>
            <a:off x="6935724" y="49789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6979920" y="49347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7024116" y="48905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7068312" y="48463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7112508" y="480212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7156704" y="475792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7200900" y="47137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7245096" y="466953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7289292" y="46253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7333488" y="458114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7377683" y="45369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7421879" y="449275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7466075" y="444855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7510272" y="440436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7554467" y="436016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7598663" y="431596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7642859" y="427177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7687056" y="422757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7731251" y="418338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7775447" y="413918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7819643" y="409498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7863840" y="405079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7908036" y="400659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7952231" y="396240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7996427" y="391820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8040624" y="38740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8084819" y="38298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8129015" y="378561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8173211" y="37414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8217408" y="36972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8261603" y="365302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8305799" y="36088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8349995" y="356463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8394192" y="35204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8438387" y="347624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8482583" y="34320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8526780" y="338785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8570976" y="334365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8615171" y="329946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8659367" y="325526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8703564" y="321106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8747759" y="316687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8791955" y="312267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8836151" y="307848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8880348" y="303428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8924543" y="299008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8968739" y="294589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9012935" y="290169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9057132" y="285750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9101328" y="281330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Oval 321"/>
          <p:cNvSpPr/>
          <p:nvPr/>
        </p:nvSpPr>
        <p:spPr>
          <a:xfrm>
            <a:off x="9145523" y="276910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Oval 322"/>
          <p:cNvSpPr/>
          <p:nvPr/>
        </p:nvSpPr>
        <p:spPr>
          <a:xfrm>
            <a:off x="9189719" y="27249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9233916" y="26807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9278111" y="26365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9322307" y="259232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9366503" y="254812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Oval 327"/>
          <p:cNvSpPr/>
          <p:nvPr/>
        </p:nvSpPr>
        <p:spPr>
          <a:xfrm>
            <a:off x="9410699" y="25039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Oval 328"/>
          <p:cNvSpPr/>
          <p:nvPr/>
        </p:nvSpPr>
        <p:spPr>
          <a:xfrm>
            <a:off x="9454896" y="245973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9499091" y="241554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9543288" y="237134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9587484" y="23271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8337723" y="38781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8218063" y="424281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8472853" y="282854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8328221" y="323735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8644775" y="335889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8367003" y="346938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8394626" y="382295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8412857" y="355777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1" name="Oval 340"/>
          <p:cNvSpPr/>
          <p:nvPr/>
        </p:nvSpPr>
        <p:spPr>
          <a:xfrm>
            <a:off x="7461164" y="4845938"/>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2" name="Oval 341"/>
          <p:cNvSpPr/>
          <p:nvPr/>
        </p:nvSpPr>
        <p:spPr>
          <a:xfrm>
            <a:off x="7704684" y="4370832"/>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3" name="Oval 342"/>
          <p:cNvSpPr/>
          <p:nvPr/>
        </p:nvSpPr>
        <p:spPr>
          <a:xfrm>
            <a:off x="8348883" y="36903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Oval 343"/>
          <p:cNvSpPr/>
          <p:nvPr/>
        </p:nvSpPr>
        <p:spPr>
          <a:xfrm>
            <a:off x="8607761" y="29611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5" name="Oval 344"/>
          <p:cNvSpPr/>
          <p:nvPr/>
        </p:nvSpPr>
        <p:spPr>
          <a:xfrm>
            <a:off x="8077299" y="285064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Oval 345"/>
          <p:cNvSpPr/>
          <p:nvPr/>
        </p:nvSpPr>
        <p:spPr>
          <a:xfrm>
            <a:off x="8582680" y="383400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7" name="Oval 346"/>
          <p:cNvSpPr/>
          <p:nvPr/>
        </p:nvSpPr>
        <p:spPr>
          <a:xfrm>
            <a:off x="8361368" y="364617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Oval 347"/>
          <p:cNvSpPr/>
          <p:nvPr/>
        </p:nvSpPr>
        <p:spPr>
          <a:xfrm>
            <a:off x="7994763" y="427596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9" name="Oval 348"/>
          <p:cNvSpPr/>
          <p:nvPr/>
        </p:nvSpPr>
        <p:spPr>
          <a:xfrm>
            <a:off x="8263143" y="348043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Oval 349"/>
          <p:cNvSpPr/>
          <p:nvPr/>
        </p:nvSpPr>
        <p:spPr>
          <a:xfrm>
            <a:off x="8263585" y="377875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1" name="Oval 350"/>
          <p:cNvSpPr/>
          <p:nvPr/>
        </p:nvSpPr>
        <p:spPr>
          <a:xfrm>
            <a:off x="8790180" y="336994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Oval 351"/>
          <p:cNvSpPr/>
          <p:nvPr/>
        </p:nvSpPr>
        <p:spPr>
          <a:xfrm>
            <a:off x="8442910" y="340309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3" name="Oval 352"/>
          <p:cNvSpPr/>
          <p:nvPr/>
        </p:nvSpPr>
        <p:spPr>
          <a:xfrm>
            <a:off x="8098292" y="35688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Oval 353"/>
          <p:cNvSpPr/>
          <p:nvPr/>
        </p:nvSpPr>
        <p:spPr>
          <a:xfrm>
            <a:off x="8419265" y="35246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5" name="Oval 354"/>
          <p:cNvSpPr/>
          <p:nvPr/>
        </p:nvSpPr>
        <p:spPr>
          <a:xfrm>
            <a:off x="8438490" y="396659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8086027" y="390029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Oval 356"/>
          <p:cNvSpPr/>
          <p:nvPr/>
        </p:nvSpPr>
        <p:spPr>
          <a:xfrm>
            <a:off x="8470643" y="323735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Oval 357"/>
          <p:cNvSpPr/>
          <p:nvPr/>
        </p:nvSpPr>
        <p:spPr>
          <a:xfrm>
            <a:off x="8722781" y="390029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9" name="Oval 358"/>
          <p:cNvSpPr/>
          <p:nvPr/>
        </p:nvSpPr>
        <p:spPr>
          <a:xfrm>
            <a:off x="7957638" y="320421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Oval 359"/>
          <p:cNvSpPr/>
          <p:nvPr/>
        </p:nvSpPr>
        <p:spPr>
          <a:xfrm>
            <a:off x="8301483" y="376770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1" name="Oval 360"/>
          <p:cNvSpPr/>
          <p:nvPr/>
        </p:nvSpPr>
        <p:spPr>
          <a:xfrm>
            <a:off x="8596049" y="299427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2" name="Oval 361"/>
          <p:cNvSpPr/>
          <p:nvPr/>
        </p:nvSpPr>
        <p:spPr>
          <a:xfrm>
            <a:off x="8396725" y="302742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Oval 362"/>
          <p:cNvSpPr/>
          <p:nvPr/>
        </p:nvSpPr>
        <p:spPr>
          <a:xfrm>
            <a:off x="8451197" y="412127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4" name="Oval 363"/>
          <p:cNvSpPr/>
          <p:nvPr/>
        </p:nvSpPr>
        <p:spPr>
          <a:xfrm>
            <a:off x="8314189" y="330365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5" name="Oval 364"/>
          <p:cNvSpPr/>
          <p:nvPr/>
        </p:nvSpPr>
        <p:spPr>
          <a:xfrm>
            <a:off x="8291981" y="317106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6" name="Oval 365"/>
          <p:cNvSpPr/>
          <p:nvPr/>
        </p:nvSpPr>
        <p:spPr>
          <a:xfrm>
            <a:off x="8238282" y="405498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7" name="Oval 366"/>
          <p:cNvSpPr/>
          <p:nvPr/>
        </p:nvSpPr>
        <p:spPr>
          <a:xfrm>
            <a:off x="8360263" y="32594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8" name="Oval 367"/>
          <p:cNvSpPr/>
          <p:nvPr/>
        </p:nvSpPr>
        <p:spPr>
          <a:xfrm>
            <a:off x="8444457" y="327050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Oval 368"/>
          <p:cNvSpPr/>
          <p:nvPr/>
        </p:nvSpPr>
        <p:spPr>
          <a:xfrm>
            <a:off x="8379931" y="327050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0" name="Oval 369"/>
          <p:cNvSpPr/>
          <p:nvPr/>
        </p:nvSpPr>
        <p:spPr>
          <a:xfrm>
            <a:off x="8558483" y="35246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1" name="Oval 370"/>
          <p:cNvSpPr/>
          <p:nvPr/>
        </p:nvSpPr>
        <p:spPr>
          <a:xfrm>
            <a:off x="8712837" y="35246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2" name="Oval 371"/>
          <p:cNvSpPr/>
          <p:nvPr/>
        </p:nvSpPr>
        <p:spPr>
          <a:xfrm>
            <a:off x="7954213" y="386715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3" name="Oval 372"/>
          <p:cNvSpPr/>
          <p:nvPr/>
        </p:nvSpPr>
        <p:spPr>
          <a:xfrm>
            <a:off x="8772723" y="314896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4" name="Oval 373"/>
          <p:cNvSpPr/>
          <p:nvPr/>
        </p:nvSpPr>
        <p:spPr>
          <a:xfrm>
            <a:off x="8008463" y="348043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5" name="Oval 374"/>
          <p:cNvSpPr/>
          <p:nvPr/>
        </p:nvSpPr>
        <p:spPr>
          <a:xfrm>
            <a:off x="7917641" y="360197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6" name="Oval 375"/>
          <p:cNvSpPr/>
          <p:nvPr/>
        </p:nvSpPr>
        <p:spPr>
          <a:xfrm>
            <a:off x="8397941" y="402183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7" name="Oval 376"/>
          <p:cNvSpPr/>
          <p:nvPr/>
        </p:nvSpPr>
        <p:spPr>
          <a:xfrm>
            <a:off x="8029788" y="399973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8" name="Oval 377"/>
          <p:cNvSpPr/>
          <p:nvPr/>
        </p:nvSpPr>
        <p:spPr>
          <a:xfrm>
            <a:off x="8461030" y="365721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9" name="Oval 378"/>
          <p:cNvSpPr/>
          <p:nvPr/>
        </p:nvSpPr>
        <p:spPr>
          <a:xfrm>
            <a:off x="7736547" y="406603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0" name="Oval 379"/>
          <p:cNvSpPr/>
          <p:nvPr/>
        </p:nvSpPr>
        <p:spPr>
          <a:xfrm>
            <a:off x="8206793" y="343623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1" name="Oval 380"/>
          <p:cNvSpPr/>
          <p:nvPr/>
        </p:nvSpPr>
        <p:spPr>
          <a:xfrm>
            <a:off x="7759045" y="4282440"/>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2" name="Oval 381"/>
          <p:cNvSpPr/>
          <p:nvPr/>
        </p:nvSpPr>
        <p:spPr>
          <a:xfrm>
            <a:off x="8212428" y="404393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3" name="Oval 382"/>
          <p:cNvSpPr/>
          <p:nvPr/>
        </p:nvSpPr>
        <p:spPr>
          <a:xfrm>
            <a:off x="8298168" y="371246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4" name="Oval 383"/>
          <p:cNvSpPr/>
          <p:nvPr/>
        </p:nvSpPr>
        <p:spPr>
          <a:xfrm>
            <a:off x="8565001" y="364617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5" name="Oval 384"/>
          <p:cNvSpPr/>
          <p:nvPr/>
        </p:nvSpPr>
        <p:spPr>
          <a:xfrm>
            <a:off x="8141162" y="378980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6" name="Oval 385"/>
          <p:cNvSpPr/>
          <p:nvPr/>
        </p:nvSpPr>
        <p:spPr>
          <a:xfrm>
            <a:off x="8658918" y="304952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7" name="Oval 386"/>
          <p:cNvSpPr/>
          <p:nvPr/>
        </p:nvSpPr>
        <p:spPr>
          <a:xfrm>
            <a:off x="8373080" y="332574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8" name="Oval 387"/>
          <p:cNvSpPr/>
          <p:nvPr/>
        </p:nvSpPr>
        <p:spPr>
          <a:xfrm>
            <a:off x="8026873" y="4768596"/>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9" name="Oval 388"/>
          <p:cNvSpPr/>
          <p:nvPr/>
        </p:nvSpPr>
        <p:spPr>
          <a:xfrm>
            <a:off x="8637041" y="311581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0" name="Oval 389"/>
          <p:cNvSpPr/>
          <p:nvPr/>
        </p:nvSpPr>
        <p:spPr>
          <a:xfrm>
            <a:off x="8531965" y="38781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1" name="Oval 390"/>
          <p:cNvSpPr/>
          <p:nvPr/>
        </p:nvSpPr>
        <p:spPr>
          <a:xfrm>
            <a:off x="8253530" y="392239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2" name="Oval 391"/>
          <p:cNvSpPr/>
          <p:nvPr/>
        </p:nvSpPr>
        <p:spPr>
          <a:xfrm>
            <a:off x="8158730" y="38781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3" name="Oval 392"/>
          <p:cNvSpPr/>
          <p:nvPr/>
        </p:nvSpPr>
        <p:spPr>
          <a:xfrm>
            <a:off x="8028904" y="36903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4" name="Oval 393"/>
          <p:cNvSpPr/>
          <p:nvPr/>
        </p:nvSpPr>
        <p:spPr>
          <a:xfrm>
            <a:off x="8744990" y="292798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5" name="Oval 394"/>
          <p:cNvSpPr/>
          <p:nvPr/>
        </p:nvSpPr>
        <p:spPr>
          <a:xfrm>
            <a:off x="8171105" y="423176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6" name="Oval 395"/>
          <p:cNvSpPr/>
          <p:nvPr/>
        </p:nvSpPr>
        <p:spPr>
          <a:xfrm>
            <a:off x="8233089" y="35909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7" name="Oval 396"/>
          <p:cNvSpPr/>
          <p:nvPr/>
        </p:nvSpPr>
        <p:spPr>
          <a:xfrm>
            <a:off x="8639361" y="365721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8" name="Oval 397"/>
          <p:cNvSpPr/>
          <p:nvPr/>
        </p:nvSpPr>
        <p:spPr>
          <a:xfrm>
            <a:off x="8455948"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9" name="Oval 398"/>
          <p:cNvSpPr/>
          <p:nvPr/>
        </p:nvSpPr>
        <p:spPr>
          <a:xfrm>
            <a:off x="8384129" y="374561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0" name="Oval 399"/>
          <p:cNvSpPr/>
          <p:nvPr/>
        </p:nvSpPr>
        <p:spPr>
          <a:xfrm>
            <a:off x="8552406" y="306057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1" name="Oval 400"/>
          <p:cNvSpPr/>
          <p:nvPr/>
        </p:nvSpPr>
        <p:spPr>
          <a:xfrm>
            <a:off x="7964930" y="374561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2" name="Oval 401"/>
          <p:cNvSpPr/>
          <p:nvPr/>
        </p:nvSpPr>
        <p:spPr>
          <a:xfrm>
            <a:off x="8383798" y="386715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3" name="Oval 402"/>
          <p:cNvSpPr/>
          <p:nvPr/>
        </p:nvSpPr>
        <p:spPr>
          <a:xfrm>
            <a:off x="8186021" y="340309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4" name="Oval 403"/>
          <p:cNvSpPr/>
          <p:nvPr/>
        </p:nvSpPr>
        <p:spPr>
          <a:xfrm>
            <a:off x="8307670" y="308267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5" name="Oval 404"/>
          <p:cNvSpPr/>
          <p:nvPr/>
        </p:nvSpPr>
        <p:spPr>
          <a:xfrm>
            <a:off x="8340707" y="353568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6" name="Oval 405"/>
          <p:cNvSpPr/>
          <p:nvPr/>
        </p:nvSpPr>
        <p:spPr>
          <a:xfrm>
            <a:off x="8157072" y="415442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7" name="Oval 406"/>
          <p:cNvSpPr/>
          <p:nvPr/>
        </p:nvSpPr>
        <p:spPr>
          <a:xfrm>
            <a:off x="7837314" y="35025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8" name="Oval 407"/>
          <p:cNvSpPr/>
          <p:nvPr/>
        </p:nvSpPr>
        <p:spPr>
          <a:xfrm>
            <a:off x="8413078" y="322630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9" name="Oval 408"/>
          <p:cNvSpPr/>
          <p:nvPr/>
        </p:nvSpPr>
        <p:spPr>
          <a:xfrm>
            <a:off x="8489205"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0" name="Oval 409"/>
          <p:cNvSpPr/>
          <p:nvPr/>
        </p:nvSpPr>
        <p:spPr>
          <a:xfrm>
            <a:off x="8179170" y="34583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1" name="Oval 410"/>
          <p:cNvSpPr/>
          <p:nvPr/>
        </p:nvSpPr>
        <p:spPr>
          <a:xfrm>
            <a:off x="8114755" y="36903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2" name="Oval 411"/>
          <p:cNvSpPr/>
          <p:nvPr/>
        </p:nvSpPr>
        <p:spPr>
          <a:xfrm>
            <a:off x="8305129" y="38781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3" name="Oval 412"/>
          <p:cNvSpPr/>
          <p:nvPr/>
        </p:nvSpPr>
        <p:spPr>
          <a:xfrm>
            <a:off x="8119837" y="409917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4" name="Oval 413"/>
          <p:cNvSpPr/>
          <p:nvPr/>
        </p:nvSpPr>
        <p:spPr>
          <a:xfrm>
            <a:off x="7338300" y="4702302"/>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5" name="Oval 414"/>
          <p:cNvSpPr/>
          <p:nvPr/>
        </p:nvSpPr>
        <p:spPr>
          <a:xfrm>
            <a:off x="8605883" y="346938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6" name="Oval 415"/>
          <p:cNvSpPr/>
          <p:nvPr/>
        </p:nvSpPr>
        <p:spPr>
          <a:xfrm>
            <a:off x="8323802" y="407708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7" name="Oval 416"/>
          <p:cNvSpPr/>
          <p:nvPr/>
        </p:nvSpPr>
        <p:spPr>
          <a:xfrm>
            <a:off x="8168563" y="357987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8" name="Oval 417"/>
          <p:cNvSpPr/>
          <p:nvPr/>
        </p:nvSpPr>
        <p:spPr>
          <a:xfrm>
            <a:off x="8532186" y="351358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9" name="Oval 418"/>
          <p:cNvSpPr/>
          <p:nvPr/>
        </p:nvSpPr>
        <p:spPr>
          <a:xfrm>
            <a:off x="7692309" y="4293489"/>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0" name="Oval 419"/>
          <p:cNvSpPr/>
          <p:nvPr/>
        </p:nvSpPr>
        <p:spPr>
          <a:xfrm>
            <a:off x="8248116" y="380085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1" name="Oval 420"/>
          <p:cNvSpPr/>
          <p:nvPr/>
        </p:nvSpPr>
        <p:spPr>
          <a:xfrm>
            <a:off x="8552737" y="34583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2" name="Oval 421"/>
          <p:cNvSpPr/>
          <p:nvPr/>
        </p:nvSpPr>
        <p:spPr>
          <a:xfrm>
            <a:off x="8495503"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3" name="Oval 422"/>
          <p:cNvSpPr/>
          <p:nvPr/>
        </p:nvSpPr>
        <p:spPr>
          <a:xfrm>
            <a:off x="8849292" y="375666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4" name="Oval 423"/>
          <p:cNvSpPr/>
          <p:nvPr/>
        </p:nvSpPr>
        <p:spPr>
          <a:xfrm>
            <a:off x="8446888" y="340309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5" name="Oval 424"/>
          <p:cNvSpPr/>
          <p:nvPr/>
        </p:nvSpPr>
        <p:spPr>
          <a:xfrm>
            <a:off x="8258060" y="369036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6" name="Oval 425"/>
          <p:cNvSpPr/>
          <p:nvPr/>
        </p:nvSpPr>
        <p:spPr>
          <a:xfrm>
            <a:off x="8599364" y="395554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7" name="Oval 426"/>
          <p:cNvSpPr/>
          <p:nvPr/>
        </p:nvSpPr>
        <p:spPr>
          <a:xfrm>
            <a:off x="8469207" y="385610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8" name="Oval 427"/>
          <p:cNvSpPr/>
          <p:nvPr/>
        </p:nvSpPr>
        <p:spPr>
          <a:xfrm>
            <a:off x="8287119"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9" name="Oval 428"/>
          <p:cNvSpPr/>
          <p:nvPr/>
        </p:nvSpPr>
        <p:spPr>
          <a:xfrm>
            <a:off x="8375069" y="34251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0" name="Oval 429"/>
          <p:cNvSpPr/>
          <p:nvPr/>
        </p:nvSpPr>
        <p:spPr>
          <a:xfrm>
            <a:off x="8270435" y="395554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1" name="Oval 430"/>
          <p:cNvSpPr/>
          <p:nvPr/>
        </p:nvSpPr>
        <p:spPr>
          <a:xfrm>
            <a:off x="7819636" y="405498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2" name="Oval 431"/>
          <p:cNvSpPr/>
          <p:nvPr/>
        </p:nvSpPr>
        <p:spPr>
          <a:xfrm>
            <a:off x="8248116" y="35025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3" name="Oval 432"/>
          <p:cNvSpPr/>
          <p:nvPr/>
        </p:nvSpPr>
        <p:spPr>
          <a:xfrm>
            <a:off x="8785981" y="35025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4" name="Oval 433"/>
          <p:cNvSpPr/>
          <p:nvPr/>
        </p:nvSpPr>
        <p:spPr>
          <a:xfrm>
            <a:off x="8455837" y="361302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5" name="Oval 434"/>
          <p:cNvSpPr/>
          <p:nvPr/>
        </p:nvSpPr>
        <p:spPr>
          <a:xfrm>
            <a:off x="8520253"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6" name="Oval 435"/>
          <p:cNvSpPr/>
          <p:nvPr/>
        </p:nvSpPr>
        <p:spPr>
          <a:xfrm>
            <a:off x="8201379" y="370141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7" name="Oval 436"/>
          <p:cNvSpPr/>
          <p:nvPr/>
        </p:nvSpPr>
        <p:spPr>
          <a:xfrm>
            <a:off x="8507215" y="319316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8" name="Oval 437"/>
          <p:cNvSpPr/>
          <p:nvPr/>
        </p:nvSpPr>
        <p:spPr>
          <a:xfrm>
            <a:off x="8052880" y="407708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9" name="Oval 438"/>
          <p:cNvSpPr/>
          <p:nvPr/>
        </p:nvSpPr>
        <p:spPr>
          <a:xfrm>
            <a:off x="8427441" y="357987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0" name="Oval 439"/>
          <p:cNvSpPr/>
          <p:nvPr/>
        </p:nvSpPr>
        <p:spPr>
          <a:xfrm>
            <a:off x="8195965" y="3635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1" name="Oval 440"/>
          <p:cNvSpPr/>
          <p:nvPr/>
        </p:nvSpPr>
        <p:spPr>
          <a:xfrm>
            <a:off x="8033765" y="377875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2" name="Oval 441"/>
          <p:cNvSpPr/>
          <p:nvPr/>
        </p:nvSpPr>
        <p:spPr>
          <a:xfrm>
            <a:off x="8355733" y="304952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3" name="Oval 442"/>
          <p:cNvSpPr/>
          <p:nvPr/>
        </p:nvSpPr>
        <p:spPr>
          <a:xfrm>
            <a:off x="8154752" y="313791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4" name="Oval 443"/>
          <p:cNvSpPr/>
          <p:nvPr/>
        </p:nvSpPr>
        <p:spPr>
          <a:xfrm>
            <a:off x="7833226" y="405498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5" name="Oval 444"/>
          <p:cNvSpPr/>
          <p:nvPr/>
        </p:nvSpPr>
        <p:spPr>
          <a:xfrm>
            <a:off x="8389543" y="250812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6" name="Oval 445"/>
          <p:cNvSpPr/>
          <p:nvPr/>
        </p:nvSpPr>
        <p:spPr>
          <a:xfrm>
            <a:off x="8164365" y="35688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7" name="Oval 446"/>
          <p:cNvSpPr/>
          <p:nvPr/>
        </p:nvSpPr>
        <p:spPr>
          <a:xfrm>
            <a:off x="8149338" y="374561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8" name="Oval 447"/>
          <p:cNvSpPr/>
          <p:nvPr/>
        </p:nvSpPr>
        <p:spPr>
          <a:xfrm>
            <a:off x="8258171" y="3635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9" name="Oval 448"/>
          <p:cNvSpPr/>
          <p:nvPr/>
        </p:nvSpPr>
        <p:spPr>
          <a:xfrm>
            <a:off x="7379733" y="4856988"/>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0" name="Oval 449"/>
          <p:cNvSpPr/>
          <p:nvPr/>
        </p:nvSpPr>
        <p:spPr>
          <a:xfrm>
            <a:off x="9297771" y="23202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1" name="Oval 450"/>
          <p:cNvSpPr/>
          <p:nvPr/>
        </p:nvSpPr>
        <p:spPr>
          <a:xfrm>
            <a:off x="7932404" y="4525518"/>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2" name="Oval 451"/>
          <p:cNvSpPr/>
          <p:nvPr/>
        </p:nvSpPr>
        <p:spPr>
          <a:xfrm>
            <a:off x="8365677" y="373456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3" name="Oval 452"/>
          <p:cNvSpPr/>
          <p:nvPr/>
        </p:nvSpPr>
        <p:spPr>
          <a:xfrm>
            <a:off x="8498376" y="346938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4" name="Oval 453"/>
          <p:cNvSpPr/>
          <p:nvPr/>
        </p:nvSpPr>
        <p:spPr>
          <a:xfrm>
            <a:off x="8389654" y="29611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5" name="Oval 454"/>
          <p:cNvSpPr/>
          <p:nvPr/>
        </p:nvSpPr>
        <p:spPr>
          <a:xfrm>
            <a:off x="8604778"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6" name="Oval 455"/>
          <p:cNvSpPr/>
          <p:nvPr/>
        </p:nvSpPr>
        <p:spPr>
          <a:xfrm>
            <a:off x="8348220" y="288378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7" name="Oval 456"/>
          <p:cNvSpPr/>
          <p:nvPr/>
        </p:nvSpPr>
        <p:spPr>
          <a:xfrm>
            <a:off x="8113387" y="4304538"/>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8" name="Oval 457"/>
          <p:cNvSpPr/>
          <p:nvPr/>
        </p:nvSpPr>
        <p:spPr>
          <a:xfrm>
            <a:off x="8566880" y="420966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9" name="Oval 458"/>
          <p:cNvSpPr/>
          <p:nvPr/>
        </p:nvSpPr>
        <p:spPr>
          <a:xfrm>
            <a:off x="8060836" y="391134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0" name="Oval 459"/>
          <p:cNvSpPr/>
          <p:nvPr/>
        </p:nvSpPr>
        <p:spPr>
          <a:xfrm>
            <a:off x="8209445" y="361302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1" name="Oval 460"/>
          <p:cNvSpPr/>
          <p:nvPr/>
        </p:nvSpPr>
        <p:spPr>
          <a:xfrm>
            <a:off x="8224913" y="339204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2" name="Oval 461"/>
          <p:cNvSpPr/>
          <p:nvPr/>
        </p:nvSpPr>
        <p:spPr>
          <a:xfrm>
            <a:off x="8446114" y="376770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3" name="Oval 462"/>
          <p:cNvSpPr/>
          <p:nvPr/>
        </p:nvSpPr>
        <p:spPr>
          <a:xfrm>
            <a:off x="8432413" y="32594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4" name="Oval 463"/>
          <p:cNvSpPr/>
          <p:nvPr/>
        </p:nvSpPr>
        <p:spPr>
          <a:xfrm>
            <a:off x="8348110" y="350253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5" name="Oval 464"/>
          <p:cNvSpPr/>
          <p:nvPr/>
        </p:nvSpPr>
        <p:spPr>
          <a:xfrm>
            <a:off x="8267673" y="380085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6" name="Oval 465"/>
          <p:cNvSpPr/>
          <p:nvPr/>
        </p:nvSpPr>
        <p:spPr>
          <a:xfrm>
            <a:off x="7835436" y="360197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7" name="Oval 466"/>
          <p:cNvSpPr/>
          <p:nvPr/>
        </p:nvSpPr>
        <p:spPr>
          <a:xfrm>
            <a:off x="8433518" y="380085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8" name="Oval 467"/>
          <p:cNvSpPr/>
          <p:nvPr/>
        </p:nvSpPr>
        <p:spPr>
          <a:xfrm>
            <a:off x="8450976" y="346938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9" name="Oval 468"/>
          <p:cNvSpPr/>
          <p:nvPr/>
        </p:nvSpPr>
        <p:spPr>
          <a:xfrm>
            <a:off x="8148012" y="35909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0" name="Oval 469"/>
          <p:cNvSpPr/>
          <p:nvPr/>
        </p:nvSpPr>
        <p:spPr>
          <a:xfrm>
            <a:off x="8206019" y="376770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1" name="Oval 470"/>
          <p:cNvSpPr/>
          <p:nvPr/>
        </p:nvSpPr>
        <p:spPr>
          <a:xfrm>
            <a:off x="8043599" y="35688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2" name="Oval 471"/>
          <p:cNvSpPr/>
          <p:nvPr/>
        </p:nvSpPr>
        <p:spPr>
          <a:xfrm>
            <a:off x="8289660" y="374561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3" name="Oval 472"/>
          <p:cNvSpPr/>
          <p:nvPr/>
        </p:nvSpPr>
        <p:spPr>
          <a:xfrm>
            <a:off x="8495393" y="367931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4" name="Oval 473"/>
          <p:cNvSpPr/>
          <p:nvPr/>
        </p:nvSpPr>
        <p:spPr>
          <a:xfrm>
            <a:off x="8371091" y="3635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5" name="Oval 474"/>
          <p:cNvSpPr/>
          <p:nvPr/>
        </p:nvSpPr>
        <p:spPr>
          <a:xfrm>
            <a:off x="8184474" y="382295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6" name="Oval 475"/>
          <p:cNvSpPr/>
          <p:nvPr/>
        </p:nvSpPr>
        <p:spPr>
          <a:xfrm>
            <a:off x="8026584" y="309372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7" name="Oval 476"/>
          <p:cNvSpPr/>
          <p:nvPr/>
        </p:nvSpPr>
        <p:spPr>
          <a:xfrm>
            <a:off x="8214306" y="412127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8" name="Oval 477"/>
          <p:cNvSpPr/>
          <p:nvPr/>
        </p:nvSpPr>
        <p:spPr>
          <a:xfrm>
            <a:off x="8385676" y="357987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9" name="Oval 478"/>
          <p:cNvSpPr/>
          <p:nvPr/>
        </p:nvSpPr>
        <p:spPr>
          <a:xfrm>
            <a:off x="8492409" y="356882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0" name="Oval 479"/>
          <p:cNvSpPr/>
          <p:nvPr/>
        </p:nvSpPr>
        <p:spPr>
          <a:xfrm>
            <a:off x="8221819" y="35909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1" name="Oval 480"/>
          <p:cNvSpPr/>
          <p:nvPr/>
        </p:nvSpPr>
        <p:spPr>
          <a:xfrm>
            <a:off x="8363689" y="325945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2" name="Oval 481"/>
          <p:cNvSpPr/>
          <p:nvPr/>
        </p:nvSpPr>
        <p:spPr>
          <a:xfrm>
            <a:off x="8009126" y="308267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3" name="Oval 482"/>
          <p:cNvSpPr/>
          <p:nvPr/>
        </p:nvSpPr>
        <p:spPr>
          <a:xfrm>
            <a:off x="8347115" y="378980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4" name="Oval 483"/>
          <p:cNvSpPr/>
          <p:nvPr/>
        </p:nvSpPr>
        <p:spPr>
          <a:xfrm>
            <a:off x="8533843" y="277329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5" name="Oval 484"/>
          <p:cNvSpPr/>
          <p:nvPr/>
        </p:nvSpPr>
        <p:spPr>
          <a:xfrm>
            <a:off x="8360705" y="378980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6" name="Oval 485"/>
          <p:cNvSpPr/>
          <p:nvPr/>
        </p:nvSpPr>
        <p:spPr>
          <a:xfrm>
            <a:off x="8211102" y="327050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7" name="Oval 486"/>
          <p:cNvSpPr/>
          <p:nvPr/>
        </p:nvSpPr>
        <p:spPr>
          <a:xfrm>
            <a:off x="8289108" y="388924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8" name="Oval 487"/>
          <p:cNvSpPr/>
          <p:nvPr/>
        </p:nvSpPr>
        <p:spPr>
          <a:xfrm>
            <a:off x="8387333" y="363512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9" name="Oval 488"/>
          <p:cNvSpPr/>
          <p:nvPr/>
        </p:nvSpPr>
        <p:spPr>
          <a:xfrm>
            <a:off x="8312421" y="3137916"/>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0" name="Oval 489"/>
          <p:cNvSpPr/>
          <p:nvPr/>
        </p:nvSpPr>
        <p:spPr>
          <a:xfrm>
            <a:off x="8431088" y="329260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1" name="Oval 490"/>
          <p:cNvSpPr/>
          <p:nvPr/>
        </p:nvSpPr>
        <p:spPr>
          <a:xfrm>
            <a:off x="8254635" y="349148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2" name="Oval 491"/>
          <p:cNvSpPr/>
          <p:nvPr/>
        </p:nvSpPr>
        <p:spPr>
          <a:xfrm>
            <a:off x="8345568" y="35909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3" name="Oval 492"/>
          <p:cNvSpPr/>
          <p:nvPr/>
        </p:nvSpPr>
        <p:spPr>
          <a:xfrm>
            <a:off x="8184253" y="409917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4" name="Oval 493"/>
          <p:cNvSpPr/>
          <p:nvPr/>
        </p:nvSpPr>
        <p:spPr>
          <a:xfrm>
            <a:off x="7858197" y="393344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5" name="Oval 494"/>
          <p:cNvSpPr/>
          <p:nvPr/>
        </p:nvSpPr>
        <p:spPr>
          <a:xfrm>
            <a:off x="8394473" y="4348734"/>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6" name="Oval 495"/>
          <p:cNvSpPr/>
          <p:nvPr/>
        </p:nvSpPr>
        <p:spPr>
          <a:xfrm>
            <a:off x="8084149" y="3458337"/>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7" name="Oval 496"/>
          <p:cNvSpPr/>
          <p:nvPr/>
        </p:nvSpPr>
        <p:spPr>
          <a:xfrm>
            <a:off x="8553068" y="307162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8" name="Oval 497"/>
          <p:cNvSpPr/>
          <p:nvPr/>
        </p:nvSpPr>
        <p:spPr>
          <a:xfrm>
            <a:off x="8510088" y="329260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9" name="Oval 498"/>
          <p:cNvSpPr/>
          <p:nvPr/>
        </p:nvSpPr>
        <p:spPr>
          <a:xfrm>
            <a:off x="8416392" y="331470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0" name="Oval 499"/>
          <p:cNvSpPr/>
          <p:nvPr/>
        </p:nvSpPr>
        <p:spPr>
          <a:xfrm>
            <a:off x="8295185" y="374561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1" name="Oval 500"/>
          <p:cNvSpPr/>
          <p:nvPr/>
        </p:nvSpPr>
        <p:spPr>
          <a:xfrm>
            <a:off x="8212870" y="355777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2" name="Oval 501"/>
          <p:cNvSpPr/>
          <p:nvPr/>
        </p:nvSpPr>
        <p:spPr>
          <a:xfrm>
            <a:off x="8351866" y="321525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3" name="Oval 502"/>
          <p:cNvSpPr/>
          <p:nvPr/>
        </p:nvSpPr>
        <p:spPr>
          <a:xfrm>
            <a:off x="8331647" y="340309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Oval 503"/>
          <p:cNvSpPr/>
          <p:nvPr/>
        </p:nvSpPr>
        <p:spPr>
          <a:xfrm>
            <a:off x="8406338" y="3380994"/>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5" name="Oval 504"/>
          <p:cNvSpPr/>
          <p:nvPr/>
        </p:nvSpPr>
        <p:spPr>
          <a:xfrm>
            <a:off x="8450644" y="318211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6" name="Oval 505"/>
          <p:cNvSpPr/>
          <p:nvPr/>
        </p:nvSpPr>
        <p:spPr>
          <a:xfrm>
            <a:off x="8361147" y="381190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7" name="Oval 506"/>
          <p:cNvSpPr/>
          <p:nvPr/>
        </p:nvSpPr>
        <p:spPr>
          <a:xfrm>
            <a:off x="8722781" y="23202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8" name="Oval 507"/>
          <p:cNvSpPr/>
          <p:nvPr/>
        </p:nvSpPr>
        <p:spPr>
          <a:xfrm>
            <a:off x="8213533" y="333679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9" name="Oval 508"/>
          <p:cNvSpPr/>
          <p:nvPr/>
        </p:nvSpPr>
        <p:spPr>
          <a:xfrm>
            <a:off x="8083817" y="4110228"/>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0" name="Oval 509"/>
          <p:cNvSpPr/>
          <p:nvPr/>
        </p:nvSpPr>
        <p:spPr>
          <a:xfrm>
            <a:off x="8397388" y="3723513"/>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Oval 510"/>
          <p:cNvSpPr/>
          <p:nvPr/>
        </p:nvSpPr>
        <p:spPr>
          <a:xfrm>
            <a:off x="8129781" y="398868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 name="Oval 511"/>
          <p:cNvSpPr/>
          <p:nvPr/>
        </p:nvSpPr>
        <p:spPr>
          <a:xfrm>
            <a:off x="8235410" y="3414141"/>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3" name="Oval 512"/>
          <p:cNvSpPr/>
          <p:nvPr/>
        </p:nvSpPr>
        <p:spPr>
          <a:xfrm>
            <a:off x="7974101" y="414337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4" name="Oval 513"/>
          <p:cNvSpPr/>
          <p:nvPr/>
        </p:nvSpPr>
        <p:spPr>
          <a:xfrm>
            <a:off x="8587762" y="232029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5" name="Oval 514"/>
          <p:cNvSpPr/>
          <p:nvPr/>
        </p:nvSpPr>
        <p:spPr>
          <a:xfrm>
            <a:off x="8499702" y="4209669"/>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6" name="Oval 515"/>
          <p:cNvSpPr/>
          <p:nvPr/>
        </p:nvSpPr>
        <p:spPr>
          <a:xfrm>
            <a:off x="8244801" y="4176522"/>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7" name="Oval 516"/>
          <p:cNvSpPr/>
          <p:nvPr/>
        </p:nvSpPr>
        <p:spPr>
          <a:xfrm>
            <a:off x="8571741" y="3590925"/>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Oval 517"/>
          <p:cNvSpPr/>
          <p:nvPr/>
        </p:nvSpPr>
        <p:spPr>
          <a:xfrm>
            <a:off x="8451307" y="3535680"/>
            <a:ext cx="41148" cy="4114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9" name="TextBox 518"/>
          <p:cNvSpPr txBox="1"/>
          <p:nvPr/>
        </p:nvSpPr>
        <p:spPr>
          <a:xfrm>
            <a:off x="6949440" y="5047488"/>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predicted -12bp</a:t>
            </a:r>
          </a:p>
        </p:txBody>
      </p:sp>
      <p:sp>
        <p:nvSpPr>
          <p:cNvPr id="520" name="TextBox 519"/>
          <p:cNvSpPr txBox="1"/>
          <p:nvPr/>
        </p:nvSpPr>
        <p:spPr>
          <a:xfrm>
            <a:off x="7772400" y="5047488"/>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+12bp</a:t>
            </a:r>
          </a:p>
        </p:txBody>
      </p:sp>
      <p:sp>
        <p:nvSpPr>
          <p:cNvPr id="521" name="TextBox 520"/>
          <p:cNvSpPr txBox="1"/>
          <p:nvPr/>
        </p:nvSpPr>
        <p:spPr>
          <a:xfrm>
            <a:off x="6766559" y="2139696"/>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actual +12bp</a:t>
            </a:r>
          </a:p>
        </p:txBody>
      </p:sp>
      <p:sp>
        <p:nvSpPr>
          <p:cNvPr id="522" name="TextBox 521"/>
          <p:cNvSpPr txBox="1"/>
          <p:nvPr/>
        </p:nvSpPr>
        <p:spPr>
          <a:xfrm>
            <a:off x="9875520" y="2468880"/>
            <a:ext cx="1737360" cy="402336"/>
          </a:xfrm>
          <a:prstGeom prst="rect">
            <a:avLst/>
          </a:prstGeom>
          <a:noFill/>
        </p:spPr>
        <p:txBody>
          <a:bodyPr wrap="none" lIns="0" tIns="0" rIns="0" bIns="0" anchor="t">
            <a:spAutoFit/>
          </a:bodyPr>
          <a:lstStyle/>
          <a:p>
            <a:pPr algn="l">
              <a:lnSpc>
                <a:spcPct val="100000"/>
              </a:lnSpc>
              <a:spcAft>
                <a:spcPts val="0"/>
              </a:spcAft>
            </a:pPr>
            <a:r>
              <a:rPr sz="2600" b="1" i="0">
                <a:solidFill>
                  <a:srgbClr val="DB0011"/>
                </a:solidFill>
                <a:latin typeface="Arial"/>
              </a:rPr>
              <a:t>31.2%</a:t>
            </a:r>
          </a:p>
        </p:txBody>
      </p:sp>
      <p:sp>
        <p:nvSpPr>
          <p:cNvPr id="523" name="TextBox 522"/>
          <p:cNvSpPr txBox="1"/>
          <p:nvPr/>
        </p:nvSpPr>
        <p:spPr>
          <a:xfrm>
            <a:off x="9875520" y="288950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reachable by</a:t>
            </a:r>
          </a:p>
        </p:txBody>
      </p:sp>
      <p:sp>
        <p:nvSpPr>
          <p:cNvPr id="524" name="TextBox 523"/>
          <p:cNvSpPr txBox="1"/>
          <p:nvPr/>
        </p:nvSpPr>
        <p:spPr>
          <a:xfrm>
            <a:off x="9875520" y="302666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any hedge</a:t>
            </a:r>
          </a:p>
        </p:txBody>
      </p:sp>
      <p:sp>
        <p:nvSpPr>
          <p:cNvPr id="525" name="TextBox 524"/>
          <p:cNvSpPr txBox="1"/>
          <p:nvPr/>
        </p:nvSpPr>
        <p:spPr>
          <a:xfrm>
            <a:off x="9875520" y="3566160"/>
            <a:ext cx="1737360" cy="402336"/>
          </a:xfrm>
          <a:prstGeom prst="rect">
            <a:avLst/>
          </a:prstGeom>
          <a:noFill/>
        </p:spPr>
        <p:txBody>
          <a:bodyPr wrap="none" lIns="0" tIns="0" rIns="0" bIns="0" anchor="t">
            <a:spAutoFit/>
          </a:bodyPr>
          <a:lstStyle/>
          <a:p>
            <a:pPr algn="l">
              <a:lnSpc>
                <a:spcPct val="100000"/>
              </a:lnSpc>
              <a:spcAft>
                <a:spcPts val="0"/>
              </a:spcAft>
            </a:pPr>
            <a:r>
              <a:rPr sz="2600" b="1" i="0">
                <a:solidFill>
                  <a:srgbClr val="DB0011"/>
                </a:solidFill>
                <a:latin typeface="Arial"/>
              </a:rPr>
              <a:t>53%</a:t>
            </a:r>
          </a:p>
        </p:txBody>
      </p:sp>
      <p:sp>
        <p:nvSpPr>
          <p:cNvPr id="526" name="TextBox 525"/>
          <p:cNvSpPr txBox="1"/>
          <p:nvPr/>
        </p:nvSpPr>
        <p:spPr>
          <a:xfrm>
            <a:off x="9875520" y="398678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of the ten</a:t>
            </a:r>
          </a:p>
        </p:txBody>
      </p:sp>
      <p:sp>
        <p:nvSpPr>
          <p:cNvPr id="527" name="TextBox 526"/>
          <p:cNvSpPr txBox="1"/>
          <p:nvPr/>
        </p:nvSpPr>
        <p:spPr>
          <a:xfrm>
            <a:off x="9875520" y="4123944"/>
            <a:ext cx="1737360" cy="146304"/>
          </a:xfrm>
          <a:prstGeom prst="rect">
            <a:avLst/>
          </a:prstGeom>
          <a:noFill/>
        </p:spPr>
        <p:txBody>
          <a:bodyPr wrap="square" lIns="0" tIns="0" rIns="0" bIns="0" anchor="t">
            <a:spAutoFit/>
          </a:bodyPr>
          <a:lstStyle/>
          <a:p>
            <a:pPr algn="l">
              <a:lnSpc>
                <a:spcPct val="100000"/>
              </a:lnSpc>
              <a:spcAft>
                <a:spcPts val="0"/>
              </a:spcAft>
            </a:pPr>
            <a:r>
              <a:rPr sz="800" b="0" i="0">
                <a:solidFill>
                  <a:srgbClr val="000000"/>
                </a:solidFill>
                <a:latin typeface="Arial"/>
              </a:rPr>
              <a:t>worst weeks</a:t>
            </a:r>
          </a:p>
        </p:txBody>
      </p:sp>
      <p:sp>
        <p:nvSpPr>
          <p:cNvPr id="528" name="TextBox 527"/>
          <p:cNvSpPr txBox="1"/>
          <p:nvPr/>
        </p:nvSpPr>
        <p:spPr>
          <a:xfrm>
            <a:off x="1188720" y="5230368"/>
            <a:ext cx="5486400" cy="164592"/>
          </a:xfrm>
          <a:prstGeom prst="rect">
            <a:avLst/>
          </a:prstGeom>
          <a:noFill/>
        </p:spPr>
        <p:txBody>
          <a:bodyPr wrap="none" lIns="0" tIns="0" rIns="0" bIns="0" anchor="t">
            <a:spAutoFit/>
          </a:bodyPr>
          <a:lstStyle/>
          <a:p>
            <a:pPr algn="l">
              <a:lnSpc>
                <a:spcPct val="100000"/>
              </a:lnSpc>
              <a:spcAft>
                <a:spcPts val="0"/>
              </a:spcAft>
            </a:pPr>
            <a:r>
              <a:rPr sz="700" b="1" i="0">
                <a:solidFill>
                  <a:srgbClr val="DB0011"/>
                </a:solidFill>
                <a:latin typeface="Arial"/>
              </a:rPr>
              <a:t>red = the ten worst weeks</a:t>
            </a:r>
            <a:r>
              <a:rPr sz="700" b="0" i="0">
                <a:solidFill>
                  <a:srgbClr val="767576"/>
                </a:solidFill>
                <a:latin typeface="Arial"/>
              </a:rPr>
              <a:t>     grey line = a perfect model</a:t>
            </a:r>
          </a:p>
        </p:txBody>
      </p:sp>
      <p:sp>
        <p:nvSpPr>
          <p:cNvPr id="529" name="Rectangle 528"/>
          <p:cNvSpPr/>
          <p:nvPr/>
        </p:nvSpPr>
        <p:spPr>
          <a:xfrm>
            <a:off x="374904" y="5541264"/>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0" name="TextBox 529"/>
          <p:cNvSpPr txBox="1"/>
          <p:nvPr/>
        </p:nvSpPr>
        <p:spPr>
          <a:xfrm>
            <a:off x="594360" y="5669280"/>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Nothing tradeable reaches CATL: factors saw 12% of its ten worst weeks. For the steepener, 53%.</a:t>
            </a:r>
          </a:p>
        </p:txBody>
      </p:sp>
      <p:sp>
        <p:nvSpPr>
          <p:cNvPr id="531" name="TextBox 530"/>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Ordinary least squares on eight weekly factors: UST 10y yield, S&amp;P 500, Hang Seng, USD/CNY, USD/JPY, copper, Brent and VIX. R-squared is the ceiling on what a costless, perfectly weighted factor hedge could remove, so the real figure is lower. Adjusted R-squared is 19.0% for CATL and 28.1% for the steepener. CATL is 300750 CH. Computed by data-puller/factor_reach.py.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How big can CATL be?</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Size is the only control left. This is how much.</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7</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Derived from exhibits 3 and 4 · refresh before use</a:t>
            </a:r>
          </a:p>
        </p:txBody>
      </p:sp>
      <p:sp>
        <p:nvSpPr>
          <p:cNvPr id="16" name="Rectangle 15"/>
          <p:cNvSpPr/>
          <p:nvPr/>
        </p:nvSpPr>
        <p:spPr>
          <a:xfrm>
            <a:off x="1051560" y="2331720"/>
            <a:ext cx="4754880" cy="256032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1035100" y="487558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094536" y="484485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153972" y="481413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213408" y="478340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272844" y="475268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332280" y="472196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91716" y="469123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451152" y="466051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510588" y="462979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570024" y="459906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629460" y="456834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688896" y="453761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748332" y="450689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807768" y="447617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1867204" y="444544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926640" y="441472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986076" y="438399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2045512" y="435327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2104948" y="432255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2164384" y="429182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2223820" y="426110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2283256" y="423038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2342692" y="419965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2402128" y="416893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2461564" y="413820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2521000" y="410748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2580436" y="407676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2639872" y="404603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2699308" y="401531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2758744" y="398458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2818180" y="395386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2877616" y="392314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2937052" y="389241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2996488" y="386169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3055924" y="383097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3115360" y="380024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3174796" y="376952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3234232" y="373879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3293668" y="370807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3353104" y="367735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3412540" y="364662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3471976" y="361590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3531412" y="358517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3590848" y="355445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3650284" y="352373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3709720" y="349300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3769156" y="346228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3828592" y="343156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3888028" y="340083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3947464" y="337011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4006900" y="333938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4066336" y="330866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4125772" y="327794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4185208" y="324721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4244644" y="321649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4304080" y="318576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4363516" y="315504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4422952" y="312432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4482388" y="309359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4541824" y="306287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4601260" y="303215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4660696" y="300142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4720132" y="297070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4779568" y="293997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4839004" y="290925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4898440" y="287853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4957876" y="284780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5017312" y="281708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5076748" y="278635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5136184" y="275563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5195620" y="272491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5255056" y="269418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5314492" y="266346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5373928" y="263274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5433364" y="260201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5492800" y="257129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5552236" y="254056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5611672" y="250984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5671108" y="247912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5730544" y="244839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5789980" y="241767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1035100" y="487558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1094536" y="484713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1153972" y="481869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1213408" y="479025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1272844" y="476181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1332280" y="473337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1391716" y="470492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1451152" y="467648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1510588" y="464804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1570024" y="461960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1629460" y="459116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1688896" y="456272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1748332" y="453427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1807768" y="450583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1867204" y="447739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1926640" y="444895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1986076" y="442051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2045512" y="439206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2104948" y="436362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2164384" y="433518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2223820" y="430674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2283256" y="427830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2342692" y="424986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2402128" y="422141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2461564" y="419297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2521000" y="416453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2580436" y="413609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2639872" y="410765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2699308" y="407920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2758744" y="405076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2818180" y="402232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2877616" y="399388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2937052" y="396544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2996488" y="393700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3055924" y="390855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3115360" y="388011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3174796" y="385167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3234232" y="382323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3293668" y="379479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3353104" y="376634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3412540" y="373790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3471976" y="370946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3531412" y="368102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3590848" y="365258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3650284" y="362414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3709720" y="359569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3769156" y="356725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3828592" y="353881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3888028" y="351037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3947464" y="348193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4006900" y="345349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4066336" y="342504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4125772" y="339660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4185208" y="336816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4244644" y="333972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4304080" y="331128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4363516" y="328283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4422952" y="325439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4482388" y="322595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4541824" y="319751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4601260" y="316907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4660696" y="314063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4720132" y="311218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4779568" y="308374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4839004" y="305530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4898440" y="302686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4957876" y="299842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5017312" y="296997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5076748" y="294153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5136184" y="291309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5195620" y="288465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5255056" y="285621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5314492" y="282777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5373928" y="279932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5433364" y="277088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5492800" y="274244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5552236" y="271400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5611672" y="268556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5671108" y="265711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5730544" y="262867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5789980" y="260023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1035100" y="487558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1094536" y="485654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1153972" y="483750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1213408" y="481847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1272844" y="479943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1332280" y="478040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1391716" y="476136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1451152" y="474233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1510588" y="472329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1570024" y="470426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1629460" y="468522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1688896" y="466619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1748332" y="464715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1807768" y="462812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1867204" y="460908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1926640" y="459004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1986076" y="457101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2045512" y="455197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2104948" y="453294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2164384" y="451390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2223820" y="449487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2283256" y="447583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2342692" y="445680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2402128" y="443776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2461564" y="441873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2521000" y="439969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2580436" y="438065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2639872" y="436162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2699308" y="434258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2758744" y="432355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2818180" y="430451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2877616" y="428548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2937052" y="426644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2996488" y="424741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3055924" y="422837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3115360" y="420934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3174796" y="419030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3234232" y="417127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3293668" y="415223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3353104" y="413319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3412540" y="411416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3471976" y="409512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3531412" y="407609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3590848" y="405705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3650284" y="403802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3709720" y="401898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3769156" y="399995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3828592" y="398091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3888028" y="396188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3947464" y="394284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4006900" y="392380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4066336" y="390477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4125772" y="388573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4185208" y="386670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4244644" y="384766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4304080" y="382863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4363516" y="380959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4422952" y="379056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4482388" y="377152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4541824" y="375249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4601260" y="373345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4660696" y="371442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4720132" y="369538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4779568" y="367634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4839004" y="365731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4898440" y="363827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4957876" y="361924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5017312" y="360020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5076748" y="358117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5136184" y="356213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5195620" y="3543101"/>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5255056" y="3524065"/>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5314492" y="3505030"/>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5373928" y="348599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5433364" y="3466959"/>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5492800" y="3447924"/>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5552236" y="3428888"/>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5611672" y="3409853"/>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5671108" y="3390817"/>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5730544" y="3371782"/>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5789980" y="3352746"/>
            <a:ext cx="32918" cy="32918"/>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1035100" y="487558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1094536" y="486044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1153972" y="484530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1213408" y="483016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1272844" y="481502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1332280" y="479988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1391716" y="478474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1451152" y="476960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1510588" y="475446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1570024" y="473932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1629460" y="472418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1688896" y="470904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1748332" y="469390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1807768" y="467877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1867204" y="466363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1926640" y="464849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1986076" y="463335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2045512" y="461821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2104948" y="460307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2164384" y="458793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2223820" y="457279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2283256" y="455765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2342692" y="454251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2402128" y="452737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2461564" y="451223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2521000" y="449709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2580436" y="448195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2639872" y="446682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2699308" y="445168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2758744" y="443654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2818180" y="442140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2877616" y="440626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2937052" y="439112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2996488" y="437598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3055924" y="436084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3115360" y="434570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3174796" y="433056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3234232" y="431542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3293668" y="430028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3353104" y="428514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3412540" y="427000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3471976" y="425487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3531412" y="423973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3590848" y="422459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3650284" y="420945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3709720" y="419431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3769156" y="417917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3828592" y="416403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3888028" y="414889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3947464" y="413375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4006900" y="411861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4066336" y="410347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4125772" y="408833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4185208" y="407319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4244644" y="405805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4304080" y="404292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4363516" y="402778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4422952" y="401264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4482388" y="399750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4541824" y="398236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4601260" y="396722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4660696" y="395208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Oval 321"/>
          <p:cNvSpPr/>
          <p:nvPr/>
        </p:nvSpPr>
        <p:spPr>
          <a:xfrm>
            <a:off x="4720132" y="393694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Oval 322"/>
          <p:cNvSpPr/>
          <p:nvPr/>
        </p:nvSpPr>
        <p:spPr>
          <a:xfrm>
            <a:off x="4779568" y="392180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4839004" y="390666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4898440" y="389152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4957876" y="387638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5017312" y="386124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Oval 327"/>
          <p:cNvSpPr/>
          <p:nvPr/>
        </p:nvSpPr>
        <p:spPr>
          <a:xfrm>
            <a:off x="5076748" y="3846109"/>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Oval 328"/>
          <p:cNvSpPr/>
          <p:nvPr/>
        </p:nvSpPr>
        <p:spPr>
          <a:xfrm>
            <a:off x="5136184" y="383097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5195620" y="3815830"/>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5255056" y="3800691"/>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5314492" y="3785552"/>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5373928" y="377041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5433364" y="3755273"/>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5492800" y="3740134"/>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5552236" y="372499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5611672" y="3709855"/>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5671108" y="3694716"/>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5730544" y="3679577"/>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5789980" y="3664438"/>
            <a:ext cx="32918" cy="32918"/>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41" name="Connector 340"/>
          <p:cNvCxnSpPr/>
          <p:nvPr/>
        </p:nvCxnSpPr>
        <p:spPr>
          <a:xfrm>
            <a:off x="1051560" y="3778857"/>
            <a:ext cx="475488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42" name="TextBox 341"/>
          <p:cNvSpPr txBox="1"/>
          <p:nvPr/>
        </p:nvSpPr>
        <p:spPr>
          <a:xfrm>
            <a:off x="1106424" y="3595977"/>
            <a:ext cx="2194560" cy="164592"/>
          </a:xfrm>
          <a:prstGeom prst="rect">
            <a:avLst/>
          </a:prstGeom>
          <a:noFill/>
        </p:spPr>
        <p:txBody>
          <a:bodyPr wrap="none" lIns="0" tIns="0" rIns="0" bIns="0" anchor="t">
            <a:spAutoFit/>
          </a:bodyPr>
          <a:lstStyle/>
          <a:p>
            <a:pPr algn="l">
              <a:lnSpc>
                <a:spcPct val="100000"/>
              </a:lnSpc>
              <a:spcAft>
                <a:spcPts val="0"/>
              </a:spcAft>
            </a:pPr>
            <a:r>
              <a:rPr sz="750" b="1" i="0">
                <a:solidFill>
                  <a:srgbClr val="000000"/>
                </a:solidFill>
                <a:latin typeface="Arial"/>
              </a:rPr>
              <a:t>10% tolerance</a:t>
            </a:r>
          </a:p>
        </p:txBody>
      </p:sp>
      <p:sp>
        <p:nvSpPr>
          <p:cNvPr id="343" name="Oval 342"/>
          <p:cNvSpPr/>
          <p:nvPr/>
        </p:nvSpPr>
        <p:spPr>
          <a:xfrm>
            <a:off x="3145602" y="3719421"/>
            <a:ext cx="118872" cy="118872"/>
          </a:xfrm>
          <a:prstGeom prst="ellipse">
            <a:avLst/>
          </a:prstGeom>
          <a:solidFill>
            <a:srgbClr val="DB00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TextBox 343"/>
          <p:cNvSpPr txBox="1"/>
          <p:nvPr/>
        </p:nvSpPr>
        <p:spPr>
          <a:xfrm>
            <a:off x="5897879" y="2432304"/>
            <a:ext cx="2011680"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Drawdown 300750 CH   18%</a:t>
            </a:r>
          </a:p>
        </p:txBody>
      </p:sp>
      <p:sp>
        <p:nvSpPr>
          <p:cNvPr id="345" name="Oval 344"/>
          <p:cNvSpPr/>
          <p:nvPr/>
        </p:nvSpPr>
        <p:spPr>
          <a:xfrm>
            <a:off x="3318386" y="3719421"/>
            <a:ext cx="118872" cy="118872"/>
          </a:xfrm>
          <a:prstGeom prst="ellipse">
            <a:avLst/>
          </a:prstGeom>
          <a:solidFill>
            <a:srgbClr val="4454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TextBox 345"/>
          <p:cNvSpPr txBox="1"/>
          <p:nvPr/>
        </p:nvSpPr>
        <p:spPr>
          <a:xfrm>
            <a:off x="5897879" y="2615184"/>
            <a:ext cx="2011680" cy="164592"/>
          </a:xfrm>
          <a:prstGeom prst="rect">
            <a:avLst/>
          </a:prstGeom>
          <a:noFill/>
        </p:spPr>
        <p:txBody>
          <a:bodyPr wrap="none" lIns="0" tIns="0" rIns="0" bIns="0" anchor="t">
            <a:spAutoFit/>
          </a:bodyPr>
          <a:lstStyle/>
          <a:p>
            <a:pPr algn="l">
              <a:lnSpc>
                <a:spcPct val="100000"/>
              </a:lnSpc>
              <a:spcAft>
                <a:spcPts val="0"/>
              </a:spcAft>
            </a:pPr>
            <a:r>
              <a:rPr sz="750" b="1" i="0">
                <a:solidFill>
                  <a:srgbClr val="44546A"/>
                </a:solidFill>
                <a:latin typeface="Arial"/>
              </a:rPr>
              <a:t>Volatility 90th pct   20%</a:t>
            </a:r>
          </a:p>
        </p:txBody>
      </p:sp>
      <p:sp>
        <p:nvSpPr>
          <p:cNvPr id="347" name="Oval 346"/>
          <p:cNvSpPr/>
          <p:nvPr/>
        </p:nvSpPr>
        <p:spPr>
          <a:xfrm>
            <a:off x="4467913" y="3719421"/>
            <a:ext cx="118872" cy="118872"/>
          </a:xfrm>
          <a:prstGeom prst="ellipse">
            <a:avLst/>
          </a:prstGeom>
          <a:solidFill>
            <a:srgbClr val="4454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TextBox 347"/>
          <p:cNvSpPr txBox="1"/>
          <p:nvPr/>
        </p:nvSpPr>
        <p:spPr>
          <a:xfrm>
            <a:off x="5897879" y="3364992"/>
            <a:ext cx="2011680" cy="164592"/>
          </a:xfrm>
          <a:prstGeom prst="rect">
            <a:avLst/>
          </a:prstGeom>
          <a:noFill/>
        </p:spPr>
        <p:txBody>
          <a:bodyPr wrap="none" lIns="0" tIns="0" rIns="0" bIns="0" anchor="t">
            <a:spAutoFit/>
          </a:bodyPr>
          <a:lstStyle/>
          <a:p>
            <a:pPr algn="l">
              <a:lnSpc>
                <a:spcPct val="100000"/>
              </a:lnSpc>
              <a:spcAft>
                <a:spcPts val="0"/>
              </a:spcAft>
            </a:pPr>
            <a:r>
              <a:rPr sz="750" b="1" i="0">
                <a:solidFill>
                  <a:srgbClr val="44546A"/>
                </a:solidFill>
                <a:latin typeface="Arial"/>
              </a:rPr>
              <a:t>Volatility today   29%</a:t>
            </a:r>
          </a:p>
        </p:txBody>
      </p:sp>
      <p:sp>
        <p:nvSpPr>
          <p:cNvPr id="349" name="Oval 348"/>
          <p:cNvSpPr/>
          <p:nvPr/>
        </p:nvSpPr>
        <p:spPr>
          <a:xfrm>
            <a:off x="5362418" y="3719421"/>
            <a:ext cx="118872" cy="118872"/>
          </a:xfrm>
          <a:prstGeom prst="ellipse">
            <a:avLst/>
          </a:prstGeom>
          <a:solidFill>
            <a:srgbClr val="DB00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TextBox 349"/>
          <p:cNvSpPr txBox="1"/>
          <p:nvPr/>
        </p:nvSpPr>
        <p:spPr>
          <a:xfrm>
            <a:off x="5897879" y="3685032"/>
            <a:ext cx="2011680"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Drawdown 3750 HK   37%</a:t>
            </a:r>
          </a:p>
        </p:txBody>
      </p:sp>
      <p:sp>
        <p:nvSpPr>
          <p:cNvPr id="351" name="TextBox 350"/>
          <p:cNvSpPr txBox="1"/>
          <p:nvPr/>
        </p:nvSpPr>
        <p:spPr>
          <a:xfrm>
            <a:off x="1051560" y="4946903"/>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CATL weight 0%</a:t>
            </a:r>
          </a:p>
        </p:txBody>
      </p:sp>
      <p:sp>
        <p:nvSpPr>
          <p:cNvPr id="352" name="TextBox 351"/>
          <p:cNvSpPr txBox="1"/>
          <p:nvPr/>
        </p:nvSpPr>
        <p:spPr>
          <a:xfrm>
            <a:off x="3977639" y="4946903"/>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40%</a:t>
            </a:r>
          </a:p>
        </p:txBody>
      </p:sp>
      <p:sp>
        <p:nvSpPr>
          <p:cNvPr id="353" name="TextBox 352"/>
          <p:cNvSpPr txBox="1"/>
          <p:nvPr/>
        </p:nvSpPr>
        <p:spPr>
          <a:xfrm>
            <a:off x="1051560" y="2130551"/>
            <a:ext cx="27432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book impact, % of risk capital</a:t>
            </a:r>
          </a:p>
        </p:txBody>
      </p:sp>
      <p:sp>
        <p:nvSpPr>
          <p:cNvPr id="354" name="TextBox 353"/>
          <p:cNvSpPr txBox="1"/>
          <p:nvPr/>
        </p:nvSpPr>
        <p:spPr>
          <a:xfrm>
            <a:off x="8138160" y="1993392"/>
            <a:ext cx="3675887"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Worst loss, in own sigma</a:t>
            </a:r>
          </a:p>
        </p:txBody>
      </p:sp>
      <p:sp>
        <p:nvSpPr>
          <p:cNvPr id="355" name="Rectangle 354"/>
          <p:cNvSpPr/>
          <p:nvPr/>
        </p:nvSpPr>
        <p:spPr>
          <a:xfrm>
            <a:off x="8321040" y="3291840"/>
            <a:ext cx="3383280" cy="146304"/>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9075420" y="3273552"/>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TextBox 356"/>
          <p:cNvSpPr txBox="1"/>
          <p:nvPr/>
        </p:nvSpPr>
        <p:spPr>
          <a:xfrm>
            <a:off x="8298180" y="2743200"/>
            <a:ext cx="1737360" cy="182880"/>
          </a:xfrm>
          <a:prstGeom prst="rect">
            <a:avLst/>
          </a:prstGeom>
          <a:noFill/>
        </p:spPr>
        <p:txBody>
          <a:bodyPr wrap="none" lIns="0" tIns="0" rIns="0" bIns="0" anchor="t">
            <a:spAutoFit/>
          </a:bodyPr>
          <a:lstStyle/>
          <a:p>
            <a:pPr algn="ctr">
              <a:lnSpc>
                <a:spcPct val="100000"/>
              </a:lnSpc>
              <a:spcAft>
                <a:spcPts val="0"/>
              </a:spcAft>
            </a:pPr>
            <a:r>
              <a:rPr sz="1000" b="1" i="0">
                <a:solidFill>
                  <a:srgbClr val="44546A"/>
                </a:solidFill>
                <a:latin typeface="Arial"/>
              </a:rPr>
              <a:t>0.50</a:t>
            </a:r>
          </a:p>
        </p:txBody>
      </p:sp>
      <p:sp>
        <p:nvSpPr>
          <p:cNvPr id="358" name="TextBox 357"/>
          <p:cNvSpPr txBox="1"/>
          <p:nvPr/>
        </p:nvSpPr>
        <p:spPr>
          <a:xfrm>
            <a:off x="8298180" y="2898648"/>
            <a:ext cx="1737360" cy="146304"/>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stop honoured</a:t>
            </a:r>
          </a:p>
        </p:txBody>
      </p:sp>
      <p:sp>
        <p:nvSpPr>
          <p:cNvPr id="359" name="Oval 358"/>
          <p:cNvSpPr/>
          <p:nvPr/>
        </p:nvSpPr>
        <p:spPr>
          <a:xfrm>
            <a:off x="9904323" y="3273552"/>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TextBox 359"/>
          <p:cNvSpPr txBox="1"/>
          <p:nvPr/>
        </p:nvSpPr>
        <p:spPr>
          <a:xfrm>
            <a:off x="9127083" y="3584448"/>
            <a:ext cx="1737360" cy="182880"/>
          </a:xfrm>
          <a:prstGeom prst="rect">
            <a:avLst/>
          </a:prstGeom>
          <a:noFill/>
        </p:spPr>
        <p:txBody>
          <a:bodyPr wrap="none" lIns="0" tIns="0" rIns="0" bIns="0" anchor="t">
            <a:spAutoFit/>
          </a:bodyPr>
          <a:lstStyle/>
          <a:p>
            <a:pPr algn="ctr">
              <a:lnSpc>
                <a:spcPct val="100000"/>
              </a:lnSpc>
              <a:spcAft>
                <a:spcPts val="0"/>
              </a:spcAft>
            </a:pPr>
            <a:r>
              <a:rPr sz="1000" b="1" i="0">
                <a:solidFill>
                  <a:srgbClr val="44546A"/>
                </a:solidFill>
                <a:latin typeface="Arial"/>
              </a:rPr>
              <a:t>0.99</a:t>
            </a:r>
          </a:p>
        </p:txBody>
      </p:sp>
      <p:sp>
        <p:nvSpPr>
          <p:cNvPr id="361" name="TextBox 360"/>
          <p:cNvSpPr txBox="1"/>
          <p:nvPr/>
        </p:nvSpPr>
        <p:spPr>
          <a:xfrm>
            <a:off x="9127083" y="3739896"/>
            <a:ext cx="1737360" cy="146304"/>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buy and hold</a:t>
            </a:r>
          </a:p>
        </p:txBody>
      </p:sp>
      <p:sp>
        <p:nvSpPr>
          <p:cNvPr id="362" name="Oval 361"/>
          <p:cNvSpPr/>
          <p:nvPr/>
        </p:nvSpPr>
        <p:spPr>
          <a:xfrm>
            <a:off x="10953140" y="3273552"/>
            <a:ext cx="182880" cy="18288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TextBox 362"/>
          <p:cNvSpPr txBox="1"/>
          <p:nvPr/>
        </p:nvSpPr>
        <p:spPr>
          <a:xfrm>
            <a:off x="10175900" y="2743200"/>
            <a:ext cx="1737360" cy="182880"/>
          </a:xfrm>
          <a:prstGeom prst="rect">
            <a:avLst/>
          </a:prstGeom>
          <a:noFill/>
        </p:spPr>
        <p:txBody>
          <a:bodyPr wrap="none" lIns="0" tIns="0" rIns="0" bIns="0" anchor="t">
            <a:spAutoFit/>
          </a:bodyPr>
          <a:lstStyle/>
          <a:p>
            <a:pPr algn="ctr">
              <a:lnSpc>
                <a:spcPct val="100000"/>
              </a:lnSpc>
              <a:spcAft>
                <a:spcPts val="0"/>
              </a:spcAft>
            </a:pPr>
            <a:r>
              <a:rPr sz="1000" b="1" i="0">
                <a:solidFill>
                  <a:srgbClr val="DB0011"/>
                </a:solidFill>
                <a:latin typeface="Arial"/>
              </a:rPr>
              <a:t>1.61</a:t>
            </a:r>
          </a:p>
        </p:txBody>
      </p:sp>
      <p:sp>
        <p:nvSpPr>
          <p:cNvPr id="364" name="TextBox 363"/>
          <p:cNvSpPr txBox="1"/>
          <p:nvPr/>
        </p:nvSpPr>
        <p:spPr>
          <a:xfrm>
            <a:off x="10175900" y="2898648"/>
            <a:ext cx="1737360" cy="146304"/>
          </a:xfrm>
          <a:prstGeom prst="rect">
            <a:avLst/>
          </a:prstGeom>
          <a:noFill/>
        </p:spPr>
        <p:txBody>
          <a:bodyPr wrap="none" lIns="0" tIns="0" rIns="0" bIns="0" anchor="t">
            <a:spAutoFit/>
          </a:bodyPr>
          <a:lstStyle/>
          <a:p>
            <a:pPr algn="ctr">
              <a:lnSpc>
                <a:spcPct val="100000"/>
              </a:lnSpc>
              <a:spcAft>
                <a:spcPts val="0"/>
              </a:spcAft>
            </a:pPr>
            <a:r>
              <a:rPr sz="700" b="0" i="0">
                <a:solidFill>
                  <a:srgbClr val="767576"/>
                </a:solidFill>
                <a:latin typeface="Arial"/>
              </a:rPr>
              <a:t>CATL, no cap</a:t>
            </a:r>
          </a:p>
        </p:txBody>
      </p:sp>
      <p:sp>
        <p:nvSpPr>
          <p:cNvPr id="365" name="TextBox 364"/>
          <p:cNvSpPr txBox="1"/>
          <p:nvPr/>
        </p:nvSpPr>
        <p:spPr>
          <a:xfrm>
            <a:off x="8321040" y="3511296"/>
            <a:ext cx="10972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0</a:t>
            </a:r>
          </a:p>
        </p:txBody>
      </p:sp>
      <p:sp>
        <p:nvSpPr>
          <p:cNvPr id="366" name="TextBox 365"/>
          <p:cNvSpPr txBox="1"/>
          <p:nvPr/>
        </p:nvSpPr>
        <p:spPr>
          <a:xfrm>
            <a:off x="10607040" y="3511296"/>
            <a:ext cx="10972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2 sigma</a:t>
            </a:r>
          </a:p>
        </p:txBody>
      </p:sp>
      <p:sp>
        <p:nvSpPr>
          <p:cNvPr id="367" name="TextBox 366"/>
          <p:cNvSpPr txBox="1"/>
          <p:nvPr/>
        </p:nvSpPr>
        <p:spPr>
          <a:xfrm>
            <a:off x="8138160" y="4206240"/>
            <a:ext cx="3675887" cy="329184"/>
          </a:xfrm>
          <a:prstGeom prst="rect">
            <a:avLst/>
          </a:prstGeom>
          <a:noFill/>
        </p:spPr>
        <p:txBody>
          <a:bodyPr wrap="square" lIns="0" tIns="0" rIns="0" bIns="0" anchor="t">
            <a:spAutoFit/>
          </a:bodyPr>
          <a:lstStyle/>
          <a:p>
            <a:pPr algn="l">
              <a:lnSpc>
                <a:spcPct val="118000"/>
              </a:lnSpc>
              <a:spcAft>
                <a:spcPts val="0"/>
              </a:spcAft>
            </a:pPr>
            <a:r>
              <a:rPr sz="850" b="1" i="0">
                <a:solidFill>
                  <a:srgbClr val="DB0011"/>
                </a:solidFill>
                <a:latin typeface="Arial"/>
              </a:rPr>
              <a:t>A stop turns 1.61 sigma into 0.50. </a:t>
            </a:r>
            <a:r>
              <a:rPr sz="850" b="0" i="0">
                <a:solidFill>
                  <a:srgbClr val="000000"/>
                </a:solidFill>
                <a:latin typeface="Arial"/>
              </a:rPr>
              <a:t>CATL has none.</a:t>
            </a:r>
          </a:p>
        </p:txBody>
      </p:sp>
      <p:sp>
        <p:nvSpPr>
          <p:cNvPr id="368" name="Rectangle 367"/>
          <p:cNvSpPr/>
          <p:nvPr/>
        </p:nvSpPr>
        <p:spPr>
          <a:xfrm>
            <a:off x="374904" y="5486400"/>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TextBox 368"/>
          <p:cNvSpPr txBox="1"/>
          <p:nvPr/>
        </p:nvSpPr>
        <p:spPr>
          <a:xfrm>
            <a:off x="594360" y="5614416"/>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Drawdown binds before volatility. The longer history caps CATL at 18% of risk capital, the traded line's at 37%.</a:t>
            </a:r>
          </a:p>
        </p:txBody>
      </p:sp>
      <p:sp>
        <p:nvSpPr>
          <p:cNvPr id="370" name="TextBox 369"/>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Book impact is weight times the stated loss per unit, so every line is linear through the origin. Drawdown inputs are the observed worst peak-to-trough from exhibit 3, 55.2% on 300750 CH and 27.2% on 3750 HK; volatility inputs are exhibit 4, 34.2% today and 51.1% at the 90th percentile. The 10% tolerance is an assumption, not a measurement, and the crossings scale linearly with it. Computed by data-puller/sizing.py.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Getting out</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Days to exit, and what it costs.</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8</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Daily turnover to 31-Jul-26 · Yahoo Finance · refresh before use</a:t>
            </a:r>
          </a:p>
        </p:txBody>
      </p:sp>
      <p:sp>
        <p:nvSpPr>
          <p:cNvPr id="16" name="TextBox 15"/>
          <p:cNvSpPr txBox="1"/>
          <p:nvPr/>
        </p:nvSpPr>
        <p:spPr>
          <a:xfrm>
            <a:off x="374904" y="2011680"/>
            <a:ext cx="539496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Days to exit at 20% of turnover</a:t>
            </a:r>
          </a:p>
        </p:txBody>
      </p:sp>
      <p:sp>
        <p:nvSpPr>
          <p:cNvPr id="17" name="Rectangle 16"/>
          <p:cNvSpPr/>
          <p:nvPr/>
        </p:nvSpPr>
        <p:spPr>
          <a:xfrm>
            <a:off x="1188720" y="2377440"/>
            <a:ext cx="352044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171346" y="482894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206550" y="480737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241755" y="478580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276959" y="476423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312164" y="474265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47368" y="472108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382572" y="469951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417777" y="467794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452981" y="465637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488186" y="463480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523390" y="461322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558594" y="459165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593799" y="457008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1629003" y="454851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664208" y="452694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699412" y="450537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734616" y="448379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1769821" y="446222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805025" y="444065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840230" y="441908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875434" y="439751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1910638" y="437594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1945843" y="435436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981047" y="433279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2016252" y="431122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2051456" y="428965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2086660" y="426808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2121865" y="424651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2157069" y="422493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2192274" y="420336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2227478" y="418179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2262682" y="416022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2297887" y="413865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2333091" y="411708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2368296" y="409550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2403500" y="407393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2438704" y="405236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2473909" y="403079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2509113" y="400922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2544318" y="398765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2579522" y="396607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2614726" y="394450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2649931" y="392293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2685135" y="390136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2720339" y="387979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2755544" y="385822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2790748" y="383664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2825953" y="381507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2861157" y="379350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2896362" y="377193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2931566" y="375036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2966770" y="372879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3001975" y="370721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3037179" y="368564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3072384" y="366407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3107588" y="364250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3142792" y="362093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3177997" y="359936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3213201" y="357778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3248406" y="355621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3283610" y="353464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3318814" y="351307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3354019" y="349150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3389223" y="346992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3424428" y="344835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3459632" y="342678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3494836" y="340521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3530041" y="338364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3565245" y="336207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3600450" y="334049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3635654" y="331892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3670858" y="329735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3706063" y="327578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3741267" y="325421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3776472" y="323264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3811676" y="321106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3846880" y="318949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3882085" y="316792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3917289" y="314635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3952494" y="312478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3987698" y="310321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4022902" y="308163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4058107" y="306006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4093311" y="303849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4128515" y="301692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4163720" y="299535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4198924" y="297378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4234129" y="295220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4269333" y="293063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4304538" y="290906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4339742" y="288749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4374946" y="286592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4410151" y="284435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4445355" y="282277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4480559" y="280120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4515764" y="277963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4550968" y="275806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4586173" y="273649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4621377" y="271492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4656582" y="269334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4691786" y="267177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TextBox 118"/>
          <p:cNvSpPr txBox="1"/>
          <p:nvPr/>
        </p:nvSpPr>
        <p:spPr>
          <a:xfrm>
            <a:off x="4782312" y="2468880"/>
            <a:ext cx="1874519"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3750 HK   6.1d</a:t>
            </a:r>
          </a:p>
        </p:txBody>
      </p:sp>
      <p:sp>
        <p:nvSpPr>
          <p:cNvPr id="120" name="Oval 119"/>
          <p:cNvSpPr/>
          <p:nvPr/>
        </p:nvSpPr>
        <p:spPr>
          <a:xfrm>
            <a:off x="1171346" y="482894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1206550" y="482539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1241755" y="482184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1276959" y="481829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1312164" y="481474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1347368" y="481120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1382572" y="480765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1417777" y="480410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1452981" y="480055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1488186" y="479700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1523390" y="479345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1558594" y="478990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1593799" y="478635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1629003" y="478280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1664208" y="477925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1699412" y="477570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1734616" y="477215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1769821" y="476861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1805025" y="476506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1840230" y="476151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1875434" y="475796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1910638" y="475441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1945843" y="475086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1981047" y="474731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2016252" y="474376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2051456" y="474021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2086660" y="473666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2121865" y="473311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2157069" y="472957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2192274" y="472602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2227478" y="472247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2262682" y="471892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2297887" y="471537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2333091" y="471182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2368296" y="470827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2403500" y="470472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2438704" y="470117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2473909" y="469762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2509113" y="469407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2544318" y="469052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2579522" y="468698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2614726" y="468343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2649931" y="467988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2685135" y="467633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2720339" y="467278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2755544" y="466923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2790748" y="466568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2825953" y="466213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2861157" y="465858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2896362" y="465503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2931566" y="465148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2966770" y="464793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3001975" y="464439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3037179" y="464084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3072384" y="463729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3107588" y="463374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3142792" y="463019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3177997" y="462664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3213201" y="462309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3248406" y="461954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3283610" y="461599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3318814" y="461244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3354019" y="460889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3389223" y="460534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3424428" y="460180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3459632" y="459825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3494836" y="459470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3530041" y="459115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3565245" y="458760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3600450" y="458405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3635654" y="458050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3670858" y="457695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3706063" y="457340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3741267" y="456985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3776472" y="456630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3811676" y="456275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3846880" y="455921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3882085" y="455566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3917289" y="455211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3952494" y="454856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3987698" y="454501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4022902" y="454146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4058107" y="453791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4093311" y="453436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4128515" y="453081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4163720" y="452726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4198924" y="452371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4234129" y="452017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4269333" y="451662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4304538" y="451307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4339742" y="450952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4374946" y="450597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4410151" y="450242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4445355" y="449887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4480559" y="449532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4515764" y="449177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4550968" y="448822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4586173" y="448467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4621377" y="448112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4656582" y="447758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4691786" y="447403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TextBox 220"/>
          <p:cNvSpPr txBox="1"/>
          <p:nvPr/>
        </p:nvSpPr>
        <p:spPr>
          <a:xfrm>
            <a:off x="4782312" y="4224528"/>
            <a:ext cx="1874519" cy="164592"/>
          </a:xfrm>
          <a:prstGeom prst="rect">
            <a:avLst/>
          </a:prstGeom>
          <a:noFill/>
        </p:spPr>
        <p:txBody>
          <a:bodyPr wrap="none" lIns="0" tIns="0" rIns="0" bIns="0" anchor="t">
            <a:spAutoFit/>
          </a:bodyPr>
          <a:lstStyle/>
          <a:p>
            <a:pPr algn="l">
              <a:lnSpc>
                <a:spcPct val="100000"/>
              </a:lnSpc>
              <a:spcAft>
                <a:spcPts val="0"/>
              </a:spcAft>
            </a:pPr>
            <a:r>
              <a:rPr sz="750" b="1" i="0">
                <a:solidFill>
                  <a:srgbClr val="44546A"/>
                </a:solidFill>
                <a:latin typeface="Arial"/>
              </a:rPr>
              <a:t>300750 CH   1.0d</a:t>
            </a:r>
          </a:p>
        </p:txBody>
      </p:sp>
      <p:sp>
        <p:nvSpPr>
          <p:cNvPr id="222" name="TextBox 221"/>
          <p:cNvSpPr txBox="1"/>
          <p:nvPr/>
        </p:nvSpPr>
        <p:spPr>
          <a:xfrm>
            <a:off x="1188720" y="2176272"/>
            <a:ext cx="29260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trading days</a:t>
            </a:r>
          </a:p>
        </p:txBody>
      </p:sp>
      <p:sp>
        <p:nvSpPr>
          <p:cNvPr id="223" name="TextBox 222"/>
          <p:cNvSpPr txBox="1"/>
          <p:nvPr/>
        </p:nvSpPr>
        <p:spPr>
          <a:xfrm>
            <a:off x="1188720" y="4901184"/>
            <a:ext cx="20116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order 0</a:t>
            </a:r>
          </a:p>
        </p:txBody>
      </p:sp>
      <p:sp>
        <p:nvSpPr>
          <p:cNvPr id="224" name="TextBox 223"/>
          <p:cNvSpPr txBox="1"/>
          <p:nvPr/>
        </p:nvSpPr>
        <p:spPr>
          <a:xfrm>
            <a:off x="2697480" y="4901184"/>
            <a:ext cx="20116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USD 400m</a:t>
            </a:r>
          </a:p>
        </p:txBody>
      </p:sp>
      <p:sp>
        <p:nvSpPr>
          <p:cNvPr id="225" name="TextBox 224"/>
          <p:cNvSpPr txBox="1"/>
          <p:nvPr/>
        </p:nvSpPr>
        <p:spPr>
          <a:xfrm>
            <a:off x="6675120" y="2011680"/>
            <a:ext cx="5138928"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Cost to exit, % given up</a:t>
            </a:r>
          </a:p>
        </p:txBody>
      </p:sp>
      <p:sp>
        <p:nvSpPr>
          <p:cNvPr id="226" name="Rectangle 225"/>
          <p:cNvSpPr/>
          <p:nvPr/>
        </p:nvSpPr>
        <p:spPr>
          <a:xfrm>
            <a:off x="7406640" y="2377440"/>
            <a:ext cx="352044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7389266" y="482894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7424470" y="480665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7459675" y="478436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7494879" y="476207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7530083" y="473978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7565288" y="471749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7600492" y="469520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7635697" y="467291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7670901" y="465062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7706106" y="462833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7741310" y="460604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7776514" y="458375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7811719" y="456146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7846923" y="453917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7882127" y="451687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7917332" y="449458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7952536" y="447229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7987741" y="445000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8022945" y="442771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8058150" y="440542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8093354" y="438313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8128558" y="436084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8163763" y="433855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8198967" y="431626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8234171" y="429397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8269376" y="427168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8304580" y="424939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8339785" y="422710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8374989" y="420481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8410194" y="418252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8445398" y="416023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8480602" y="413794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8515807" y="411565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8551011" y="409336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8586215" y="407107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8621420" y="404878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8656624" y="402648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8691829" y="400419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8727033" y="398190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8762238" y="395961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8797442" y="393732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8832646" y="391503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8867851" y="389274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8903055" y="387045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8938260" y="384816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8973464" y="382587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9008668" y="380358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9043873" y="378129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9079077" y="375900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9114282" y="373671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9149486" y="371442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9184690" y="369213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9219895" y="366984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9255099" y="364755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9290304" y="362526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9325508" y="360297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9360712" y="358068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9395917" y="355839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9431121" y="353609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9466326" y="351380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9501530" y="349151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9536734" y="346922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9571939" y="344693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9607143" y="342464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9642348" y="340235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9677552" y="338006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9712756" y="335777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9747961" y="333548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9783165" y="331319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9818369" y="329090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9853574" y="326861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9888778" y="324632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9923983" y="322403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9959187" y="320174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9994392" y="317945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10029596" y="315716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10064800" y="313487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10100005" y="311258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10135209" y="309029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10170414" y="306800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10205618" y="304570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10240822" y="3023419"/>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10276027" y="300112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10311231" y="2978838"/>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10346436" y="295654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10381640" y="2934257"/>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10416844" y="291196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10452049" y="2889676"/>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10487253" y="286738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10522458" y="284509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10557662" y="2822805"/>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10592866" y="280051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10628071" y="2778224"/>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10663275" y="275593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10698480" y="2733643"/>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Oval 321"/>
          <p:cNvSpPr/>
          <p:nvPr/>
        </p:nvSpPr>
        <p:spPr>
          <a:xfrm>
            <a:off x="10733684" y="271135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Oval 322"/>
          <p:cNvSpPr/>
          <p:nvPr/>
        </p:nvSpPr>
        <p:spPr>
          <a:xfrm>
            <a:off x="10768888" y="2689062"/>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10804093" y="266677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10839297" y="2644481"/>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10874502" y="262219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10909706" y="2599900"/>
            <a:ext cx="34747" cy="34747"/>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TextBox 327"/>
          <p:cNvSpPr txBox="1"/>
          <p:nvPr/>
        </p:nvSpPr>
        <p:spPr>
          <a:xfrm>
            <a:off x="11000232" y="2468880"/>
            <a:ext cx="1874519"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worst decile   6.3%</a:t>
            </a:r>
          </a:p>
        </p:txBody>
      </p:sp>
      <p:sp>
        <p:nvSpPr>
          <p:cNvPr id="329" name="Oval 328"/>
          <p:cNvSpPr/>
          <p:nvPr/>
        </p:nvSpPr>
        <p:spPr>
          <a:xfrm>
            <a:off x="7389266" y="482894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7424470" y="481568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7459675" y="480242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7494879" y="478916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7530083" y="477590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7565288" y="476263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7600492" y="474937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7635697" y="473611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7670901" y="472285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7706106" y="470959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7741310" y="469633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7776514" y="468307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1" name="Oval 340"/>
          <p:cNvSpPr/>
          <p:nvPr/>
        </p:nvSpPr>
        <p:spPr>
          <a:xfrm>
            <a:off x="7811719" y="466980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2" name="Oval 341"/>
          <p:cNvSpPr/>
          <p:nvPr/>
        </p:nvSpPr>
        <p:spPr>
          <a:xfrm>
            <a:off x="7846923" y="465654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3" name="Oval 342"/>
          <p:cNvSpPr/>
          <p:nvPr/>
        </p:nvSpPr>
        <p:spPr>
          <a:xfrm>
            <a:off x="7882127" y="464328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Oval 343"/>
          <p:cNvSpPr/>
          <p:nvPr/>
        </p:nvSpPr>
        <p:spPr>
          <a:xfrm>
            <a:off x="7917332" y="463002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5" name="Oval 344"/>
          <p:cNvSpPr/>
          <p:nvPr/>
        </p:nvSpPr>
        <p:spPr>
          <a:xfrm>
            <a:off x="7952536" y="461676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Oval 345"/>
          <p:cNvSpPr/>
          <p:nvPr/>
        </p:nvSpPr>
        <p:spPr>
          <a:xfrm>
            <a:off x="7987741" y="460350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7" name="Oval 346"/>
          <p:cNvSpPr/>
          <p:nvPr/>
        </p:nvSpPr>
        <p:spPr>
          <a:xfrm>
            <a:off x="8022945" y="459024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Oval 347"/>
          <p:cNvSpPr/>
          <p:nvPr/>
        </p:nvSpPr>
        <p:spPr>
          <a:xfrm>
            <a:off x="8058150" y="457697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9" name="Oval 348"/>
          <p:cNvSpPr/>
          <p:nvPr/>
        </p:nvSpPr>
        <p:spPr>
          <a:xfrm>
            <a:off x="8093354" y="456371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Oval 349"/>
          <p:cNvSpPr/>
          <p:nvPr/>
        </p:nvSpPr>
        <p:spPr>
          <a:xfrm>
            <a:off x="8128558" y="455045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1" name="Oval 350"/>
          <p:cNvSpPr/>
          <p:nvPr/>
        </p:nvSpPr>
        <p:spPr>
          <a:xfrm>
            <a:off x="8163763" y="453719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Oval 351"/>
          <p:cNvSpPr/>
          <p:nvPr/>
        </p:nvSpPr>
        <p:spPr>
          <a:xfrm>
            <a:off x="8198967" y="452393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3" name="Oval 352"/>
          <p:cNvSpPr/>
          <p:nvPr/>
        </p:nvSpPr>
        <p:spPr>
          <a:xfrm>
            <a:off x="8234171" y="451067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Oval 353"/>
          <p:cNvSpPr/>
          <p:nvPr/>
        </p:nvSpPr>
        <p:spPr>
          <a:xfrm>
            <a:off x="8269376" y="449741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5" name="Oval 354"/>
          <p:cNvSpPr/>
          <p:nvPr/>
        </p:nvSpPr>
        <p:spPr>
          <a:xfrm>
            <a:off x="8304580" y="448414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8339785" y="447088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Oval 356"/>
          <p:cNvSpPr/>
          <p:nvPr/>
        </p:nvSpPr>
        <p:spPr>
          <a:xfrm>
            <a:off x="8374989" y="445762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Oval 357"/>
          <p:cNvSpPr/>
          <p:nvPr/>
        </p:nvSpPr>
        <p:spPr>
          <a:xfrm>
            <a:off x="8410194" y="444436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9" name="Oval 358"/>
          <p:cNvSpPr/>
          <p:nvPr/>
        </p:nvSpPr>
        <p:spPr>
          <a:xfrm>
            <a:off x="8445398" y="443110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Oval 359"/>
          <p:cNvSpPr/>
          <p:nvPr/>
        </p:nvSpPr>
        <p:spPr>
          <a:xfrm>
            <a:off x="8480602" y="441784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1" name="Oval 360"/>
          <p:cNvSpPr/>
          <p:nvPr/>
        </p:nvSpPr>
        <p:spPr>
          <a:xfrm>
            <a:off x="8515807" y="440458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2" name="Oval 361"/>
          <p:cNvSpPr/>
          <p:nvPr/>
        </p:nvSpPr>
        <p:spPr>
          <a:xfrm>
            <a:off x="8551011" y="439131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Oval 362"/>
          <p:cNvSpPr/>
          <p:nvPr/>
        </p:nvSpPr>
        <p:spPr>
          <a:xfrm>
            <a:off x="8586215" y="437805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4" name="Oval 363"/>
          <p:cNvSpPr/>
          <p:nvPr/>
        </p:nvSpPr>
        <p:spPr>
          <a:xfrm>
            <a:off x="8621420" y="436479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5" name="Oval 364"/>
          <p:cNvSpPr/>
          <p:nvPr/>
        </p:nvSpPr>
        <p:spPr>
          <a:xfrm>
            <a:off x="8656624" y="435153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6" name="Oval 365"/>
          <p:cNvSpPr/>
          <p:nvPr/>
        </p:nvSpPr>
        <p:spPr>
          <a:xfrm>
            <a:off x="8691829" y="433827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7" name="Oval 366"/>
          <p:cNvSpPr/>
          <p:nvPr/>
        </p:nvSpPr>
        <p:spPr>
          <a:xfrm>
            <a:off x="8727033" y="432501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8" name="Oval 367"/>
          <p:cNvSpPr/>
          <p:nvPr/>
        </p:nvSpPr>
        <p:spPr>
          <a:xfrm>
            <a:off x="8762238" y="431175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Oval 368"/>
          <p:cNvSpPr/>
          <p:nvPr/>
        </p:nvSpPr>
        <p:spPr>
          <a:xfrm>
            <a:off x="8797442" y="429848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0" name="Oval 369"/>
          <p:cNvSpPr/>
          <p:nvPr/>
        </p:nvSpPr>
        <p:spPr>
          <a:xfrm>
            <a:off x="8832646" y="428522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1" name="Oval 370"/>
          <p:cNvSpPr/>
          <p:nvPr/>
        </p:nvSpPr>
        <p:spPr>
          <a:xfrm>
            <a:off x="8867851" y="427196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2" name="Oval 371"/>
          <p:cNvSpPr/>
          <p:nvPr/>
        </p:nvSpPr>
        <p:spPr>
          <a:xfrm>
            <a:off x="8903055" y="425870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3" name="Oval 372"/>
          <p:cNvSpPr/>
          <p:nvPr/>
        </p:nvSpPr>
        <p:spPr>
          <a:xfrm>
            <a:off x="8938260" y="424544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4" name="Oval 373"/>
          <p:cNvSpPr/>
          <p:nvPr/>
        </p:nvSpPr>
        <p:spPr>
          <a:xfrm>
            <a:off x="8973464" y="423218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5" name="Oval 374"/>
          <p:cNvSpPr/>
          <p:nvPr/>
        </p:nvSpPr>
        <p:spPr>
          <a:xfrm>
            <a:off x="9008668" y="421892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6" name="Oval 375"/>
          <p:cNvSpPr/>
          <p:nvPr/>
        </p:nvSpPr>
        <p:spPr>
          <a:xfrm>
            <a:off x="9043873" y="420566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7" name="Oval 376"/>
          <p:cNvSpPr/>
          <p:nvPr/>
        </p:nvSpPr>
        <p:spPr>
          <a:xfrm>
            <a:off x="9079077" y="419239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8" name="Oval 377"/>
          <p:cNvSpPr/>
          <p:nvPr/>
        </p:nvSpPr>
        <p:spPr>
          <a:xfrm>
            <a:off x="9114282" y="417913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9" name="Oval 378"/>
          <p:cNvSpPr/>
          <p:nvPr/>
        </p:nvSpPr>
        <p:spPr>
          <a:xfrm>
            <a:off x="9149486" y="416587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0" name="Oval 379"/>
          <p:cNvSpPr/>
          <p:nvPr/>
        </p:nvSpPr>
        <p:spPr>
          <a:xfrm>
            <a:off x="9184690" y="415261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1" name="Oval 380"/>
          <p:cNvSpPr/>
          <p:nvPr/>
        </p:nvSpPr>
        <p:spPr>
          <a:xfrm>
            <a:off x="9219895" y="413935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2" name="Oval 381"/>
          <p:cNvSpPr/>
          <p:nvPr/>
        </p:nvSpPr>
        <p:spPr>
          <a:xfrm>
            <a:off x="9255099" y="412609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3" name="Oval 382"/>
          <p:cNvSpPr/>
          <p:nvPr/>
        </p:nvSpPr>
        <p:spPr>
          <a:xfrm>
            <a:off x="9290304" y="411283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4" name="Oval 383"/>
          <p:cNvSpPr/>
          <p:nvPr/>
        </p:nvSpPr>
        <p:spPr>
          <a:xfrm>
            <a:off x="9325508" y="409956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5" name="Oval 384"/>
          <p:cNvSpPr/>
          <p:nvPr/>
        </p:nvSpPr>
        <p:spPr>
          <a:xfrm>
            <a:off x="9360712" y="408630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6" name="Oval 385"/>
          <p:cNvSpPr/>
          <p:nvPr/>
        </p:nvSpPr>
        <p:spPr>
          <a:xfrm>
            <a:off x="9395917" y="407304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7" name="Oval 386"/>
          <p:cNvSpPr/>
          <p:nvPr/>
        </p:nvSpPr>
        <p:spPr>
          <a:xfrm>
            <a:off x="9431121" y="405978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8" name="Oval 387"/>
          <p:cNvSpPr/>
          <p:nvPr/>
        </p:nvSpPr>
        <p:spPr>
          <a:xfrm>
            <a:off x="9466326" y="404652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9" name="Oval 388"/>
          <p:cNvSpPr/>
          <p:nvPr/>
        </p:nvSpPr>
        <p:spPr>
          <a:xfrm>
            <a:off x="9501530" y="403326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0" name="Oval 389"/>
          <p:cNvSpPr/>
          <p:nvPr/>
        </p:nvSpPr>
        <p:spPr>
          <a:xfrm>
            <a:off x="9536734" y="402000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1" name="Oval 390"/>
          <p:cNvSpPr/>
          <p:nvPr/>
        </p:nvSpPr>
        <p:spPr>
          <a:xfrm>
            <a:off x="9571939" y="400673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2" name="Oval 391"/>
          <p:cNvSpPr/>
          <p:nvPr/>
        </p:nvSpPr>
        <p:spPr>
          <a:xfrm>
            <a:off x="9607143" y="399347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3" name="Oval 392"/>
          <p:cNvSpPr/>
          <p:nvPr/>
        </p:nvSpPr>
        <p:spPr>
          <a:xfrm>
            <a:off x="9642348" y="398021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4" name="Oval 393"/>
          <p:cNvSpPr/>
          <p:nvPr/>
        </p:nvSpPr>
        <p:spPr>
          <a:xfrm>
            <a:off x="9677552" y="396695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5" name="Oval 394"/>
          <p:cNvSpPr/>
          <p:nvPr/>
        </p:nvSpPr>
        <p:spPr>
          <a:xfrm>
            <a:off x="9712756" y="395369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6" name="Oval 395"/>
          <p:cNvSpPr/>
          <p:nvPr/>
        </p:nvSpPr>
        <p:spPr>
          <a:xfrm>
            <a:off x="9747961" y="394043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7" name="Oval 396"/>
          <p:cNvSpPr/>
          <p:nvPr/>
        </p:nvSpPr>
        <p:spPr>
          <a:xfrm>
            <a:off x="9783165" y="392717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8" name="Oval 397"/>
          <p:cNvSpPr/>
          <p:nvPr/>
        </p:nvSpPr>
        <p:spPr>
          <a:xfrm>
            <a:off x="9818369" y="3913908"/>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9" name="Oval 398"/>
          <p:cNvSpPr/>
          <p:nvPr/>
        </p:nvSpPr>
        <p:spPr>
          <a:xfrm>
            <a:off x="9853574" y="390064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0" name="Oval 399"/>
          <p:cNvSpPr/>
          <p:nvPr/>
        </p:nvSpPr>
        <p:spPr>
          <a:xfrm>
            <a:off x="9888778" y="388738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1" name="Oval 400"/>
          <p:cNvSpPr/>
          <p:nvPr/>
        </p:nvSpPr>
        <p:spPr>
          <a:xfrm>
            <a:off x="9923983" y="387412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2" name="Oval 401"/>
          <p:cNvSpPr/>
          <p:nvPr/>
        </p:nvSpPr>
        <p:spPr>
          <a:xfrm>
            <a:off x="9959187" y="386086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3" name="Oval 402"/>
          <p:cNvSpPr/>
          <p:nvPr/>
        </p:nvSpPr>
        <p:spPr>
          <a:xfrm>
            <a:off x="9994392" y="384760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4" name="Oval 403"/>
          <p:cNvSpPr/>
          <p:nvPr/>
        </p:nvSpPr>
        <p:spPr>
          <a:xfrm>
            <a:off x="10029596" y="383434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5" name="Oval 404"/>
          <p:cNvSpPr/>
          <p:nvPr/>
        </p:nvSpPr>
        <p:spPr>
          <a:xfrm>
            <a:off x="10064800" y="382107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6" name="Oval 405"/>
          <p:cNvSpPr/>
          <p:nvPr/>
        </p:nvSpPr>
        <p:spPr>
          <a:xfrm>
            <a:off x="10100005" y="380781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7" name="Oval 406"/>
          <p:cNvSpPr/>
          <p:nvPr/>
        </p:nvSpPr>
        <p:spPr>
          <a:xfrm>
            <a:off x="10135209" y="379455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8" name="Oval 407"/>
          <p:cNvSpPr/>
          <p:nvPr/>
        </p:nvSpPr>
        <p:spPr>
          <a:xfrm>
            <a:off x="10170414" y="378129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9" name="Oval 408"/>
          <p:cNvSpPr/>
          <p:nvPr/>
        </p:nvSpPr>
        <p:spPr>
          <a:xfrm>
            <a:off x="10205618" y="376803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0" name="Oval 409"/>
          <p:cNvSpPr/>
          <p:nvPr/>
        </p:nvSpPr>
        <p:spPr>
          <a:xfrm>
            <a:off x="10240822" y="3754771"/>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1" name="Oval 410"/>
          <p:cNvSpPr/>
          <p:nvPr/>
        </p:nvSpPr>
        <p:spPr>
          <a:xfrm>
            <a:off x="10276027" y="374151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2" name="Oval 411"/>
          <p:cNvSpPr/>
          <p:nvPr/>
        </p:nvSpPr>
        <p:spPr>
          <a:xfrm>
            <a:off x="10311231" y="372824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3" name="Oval 412"/>
          <p:cNvSpPr/>
          <p:nvPr/>
        </p:nvSpPr>
        <p:spPr>
          <a:xfrm>
            <a:off x="10346436" y="371498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4" name="Oval 413"/>
          <p:cNvSpPr/>
          <p:nvPr/>
        </p:nvSpPr>
        <p:spPr>
          <a:xfrm>
            <a:off x="10381640" y="370172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5" name="Oval 414"/>
          <p:cNvSpPr/>
          <p:nvPr/>
        </p:nvSpPr>
        <p:spPr>
          <a:xfrm>
            <a:off x="10416844" y="3688464"/>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6" name="Oval 415"/>
          <p:cNvSpPr/>
          <p:nvPr/>
        </p:nvSpPr>
        <p:spPr>
          <a:xfrm>
            <a:off x="10452049" y="367520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7" name="Oval 416"/>
          <p:cNvSpPr/>
          <p:nvPr/>
        </p:nvSpPr>
        <p:spPr>
          <a:xfrm>
            <a:off x="10487253" y="366194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8" name="Oval 417"/>
          <p:cNvSpPr/>
          <p:nvPr/>
        </p:nvSpPr>
        <p:spPr>
          <a:xfrm>
            <a:off x="10522458" y="364868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9" name="Oval 418"/>
          <p:cNvSpPr/>
          <p:nvPr/>
        </p:nvSpPr>
        <p:spPr>
          <a:xfrm>
            <a:off x="10557662" y="363541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0" name="Oval 419"/>
          <p:cNvSpPr/>
          <p:nvPr/>
        </p:nvSpPr>
        <p:spPr>
          <a:xfrm>
            <a:off x="10592866" y="362215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1" name="Oval 420"/>
          <p:cNvSpPr/>
          <p:nvPr/>
        </p:nvSpPr>
        <p:spPr>
          <a:xfrm>
            <a:off x="10628071" y="360889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2" name="Oval 421"/>
          <p:cNvSpPr/>
          <p:nvPr/>
        </p:nvSpPr>
        <p:spPr>
          <a:xfrm>
            <a:off x="10663275" y="359563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3" name="Oval 422"/>
          <p:cNvSpPr/>
          <p:nvPr/>
        </p:nvSpPr>
        <p:spPr>
          <a:xfrm>
            <a:off x="10698480" y="3582373"/>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4" name="Oval 423"/>
          <p:cNvSpPr/>
          <p:nvPr/>
        </p:nvSpPr>
        <p:spPr>
          <a:xfrm>
            <a:off x="10733684" y="3569112"/>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5" name="Oval 424"/>
          <p:cNvSpPr/>
          <p:nvPr/>
        </p:nvSpPr>
        <p:spPr>
          <a:xfrm>
            <a:off x="10768888" y="3555850"/>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6" name="Oval 425"/>
          <p:cNvSpPr/>
          <p:nvPr/>
        </p:nvSpPr>
        <p:spPr>
          <a:xfrm>
            <a:off x="10804093" y="3542589"/>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7" name="Oval 426"/>
          <p:cNvSpPr/>
          <p:nvPr/>
        </p:nvSpPr>
        <p:spPr>
          <a:xfrm>
            <a:off x="10839297" y="3529327"/>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8" name="Oval 427"/>
          <p:cNvSpPr/>
          <p:nvPr/>
        </p:nvSpPr>
        <p:spPr>
          <a:xfrm>
            <a:off x="10874502" y="3516066"/>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9" name="Oval 428"/>
          <p:cNvSpPr/>
          <p:nvPr/>
        </p:nvSpPr>
        <p:spPr>
          <a:xfrm>
            <a:off x="10909706" y="3502805"/>
            <a:ext cx="34747" cy="34747"/>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0" name="TextBox 429"/>
          <p:cNvSpPr txBox="1"/>
          <p:nvPr/>
        </p:nvSpPr>
        <p:spPr>
          <a:xfrm>
            <a:off x="11000232" y="3310128"/>
            <a:ext cx="1874519" cy="164592"/>
          </a:xfrm>
          <a:prstGeom prst="rect">
            <a:avLst/>
          </a:prstGeom>
          <a:noFill/>
        </p:spPr>
        <p:txBody>
          <a:bodyPr wrap="none" lIns="0" tIns="0" rIns="0" bIns="0" anchor="t">
            <a:spAutoFit/>
          </a:bodyPr>
          <a:lstStyle/>
          <a:p>
            <a:pPr algn="l">
              <a:lnSpc>
                <a:spcPct val="100000"/>
              </a:lnSpc>
              <a:spcAft>
                <a:spcPts val="0"/>
              </a:spcAft>
            </a:pPr>
            <a:r>
              <a:rPr sz="750" b="1" i="0">
                <a:solidFill>
                  <a:srgbClr val="44546A"/>
                </a:solidFill>
                <a:latin typeface="Arial"/>
              </a:rPr>
              <a:t>normal day   3.8%</a:t>
            </a:r>
          </a:p>
        </p:txBody>
      </p:sp>
      <p:sp>
        <p:nvSpPr>
          <p:cNvPr id="431" name="TextBox 430"/>
          <p:cNvSpPr txBox="1"/>
          <p:nvPr/>
        </p:nvSpPr>
        <p:spPr>
          <a:xfrm>
            <a:off x="7406640" y="2176272"/>
            <a:ext cx="29260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price impact, %</a:t>
            </a:r>
          </a:p>
        </p:txBody>
      </p:sp>
      <p:sp>
        <p:nvSpPr>
          <p:cNvPr id="432" name="TextBox 431"/>
          <p:cNvSpPr txBox="1"/>
          <p:nvPr/>
        </p:nvSpPr>
        <p:spPr>
          <a:xfrm>
            <a:off x="7406640" y="4901184"/>
            <a:ext cx="20116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order 0</a:t>
            </a:r>
          </a:p>
        </p:txBody>
      </p:sp>
      <p:sp>
        <p:nvSpPr>
          <p:cNvPr id="433" name="TextBox 432"/>
          <p:cNvSpPr txBox="1"/>
          <p:nvPr/>
        </p:nvSpPr>
        <p:spPr>
          <a:xfrm>
            <a:off x="8915400" y="4901184"/>
            <a:ext cx="20116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USD 400m</a:t>
            </a:r>
          </a:p>
        </p:txBody>
      </p:sp>
      <p:sp>
        <p:nvSpPr>
          <p:cNvPr id="434" name="TextBox 433"/>
          <p:cNvSpPr txBox="1"/>
          <p:nvPr/>
        </p:nvSpPr>
        <p:spPr>
          <a:xfrm>
            <a:off x="1188720" y="5120640"/>
            <a:ext cx="3108960" cy="237744"/>
          </a:xfrm>
          <a:prstGeom prst="rect">
            <a:avLst/>
          </a:prstGeom>
          <a:noFill/>
        </p:spPr>
        <p:txBody>
          <a:bodyPr wrap="none" lIns="0" tIns="0" rIns="0" bIns="0" anchor="t">
            <a:spAutoFit/>
          </a:bodyPr>
          <a:lstStyle/>
          <a:p>
            <a:pPr algn="l">
              <a:lnSpc>
                <a:spcPct val="100000"/>
              </a:lnSpc>
              <a:spcAft>
                <a:spcPts val="0"/>
              </a:spcAft>
            </a:pPr>
            <a:r>
              <a:rPr sz="1700" b="1" i="0">
                <a:solidFill>
                  <a:srgbClr val="DB0011"/>
                </a:solidFill>
                <a:latin typeface="Arial"/>
              </a:rPr>
              <a:t>1.7x</a:t>
            </a:r>
          </a:p>
        </p:txBody>
      </p:sp>
      <p:sp>
        <p:nvSpPr>
          <p:cNvPr id="435" name="TextBox 434"/>
          <p:cNvSpPr txBox="1"/>
          <p:nvPr/>
        </p:nvSpPr>
        <p:spPr>
          <a:xfrm>
            <a:off x="1188720" y="535838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impact on the worst days</a:t>
            </a:r>
          </a:p>
        </p:txBody>
      </p:sp>
      <p:sp>
        <p:nvSpPr>
          <p:cNvPr id="436" name="TextBox 435"/>
          <p:cNvSpPr txBox="1"/>
          <p:nvPr/>
        </p:nvSpPr>
        <p:spPr>
          <a:xfrm>
            <a:off x="4754880" y="5120640"/>
            <a:ext cx="3108960" cy="237744"/>
          </a:xfrm>
          <a:prstGeom prst="rect">
            <a:avLst/>
          </a:prstGeom>
          <a:noFill/>
        </p:spPr>
        <p:txBody>
          <a:bodyPr wrap="none" lIns="0" tIns="0" rIns="0" bIns="0" anchor="t">
            <a:spAutoFit/>
          </a:bodyPr>
          <a:lstStyle/>
          <a:p>
            <a:pPr algn="l">
              <a:lnSpc>
                <a:spcPct val="100000"/>
              </a:lnSpc>
              <a:spcAft>
                <a:spcPts val="0"/>
              </a:spcAft>
            </a:pPr>
            <a:r>
              <a:rPr sz="1700" b="1" i="0">
                <a:solidFill>
                  <a:srgbClr val="DB0011"/>
                </a:solidFill>
                <a:latin typeface="Arial"/>
              </a:rPr>
              <a:t>6.3x</a:t>
            </a:r>
          </a:p>
        </p:txBody>
      </p:sp>
      <p:sp>
        <p:nvSpPr>
          <p:cNvPr id="437" name="TextBox 436"/>
          <p:cNvSpPr txBox="1"/>
          <p:nvPr/>
        </p:nvSpPr>
        <p:spPr>
          <a:xfrm>
            <a:off x="4754880" y="535838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H share thinner than A</a:t>
            </a:r>
          </a:p>
        </p:txBody>
      </p:sp>
      <p:sp>
        <p:nvSpPr>
          <p:cNvPr id="438" name="TextBox 437"/>
          <p:cNvSpPr txBox="1"/>
          <p:nvPr/>
        </p:nvSpPr>
        <p:spPr>
          <a:xfrm>
            <a:off x="8321040" y="5120640"/>
            <a:ext cx="3108960" cy="237744"/>
          </a:xfrm>
          <a:prstGeom prst="rect">
            <a:avLst/>
          </a:prstGeom>
          <a:noFill/>
        </p:spPr>
        <p:txBody>
          <a:bodyPr wrap="none" lIns="0" tIns="0" rIns="0" bIns="0" anchor="t">
            <a:spAutoFit/>
          </a:bodyPr>
          <a:lstStyle/>
          <a:p>
            <a:pPr algn="l">
              <a:lnSpc>
                <a:spcPct val="100000"/>
              </a:lnSpc>
              <a:spcAft>
                <a:spcPts val="0"/>
              </a:spcAft>
            </a:pPr>
            <a:r>
              <a:rPr sz="1700" b="1" i="0">
                <a:solidFill>
                  <a:srgbClr val="44546A"/>
                </a:solidFill>
                <a:latin typeface="Arial"/>
              </a:rPr>
              <a:t>14%</a:t>
            </a:r>
          </a:p>
        </p:txBody>
      </p:sp>
      <p:sp>
        <p:nvSpPr>
          <p:cNvPr id="439" name="TextBox 438"/>
          <p:cNvSpPr txBox="1"/>
          <p:nvPr/>
        </p:nvSpPr>
        <p:spPr>
          <a:xfrm>
            <a:off x="8321040" y="535838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of turnover is the H line</a:t>
            </a:r>
          </a:p>
        </p:txBody>
      </p:sp>
      <p:sp>
        <p:nvSpPr>
          <p:cNvPr id="440" name="Rectangle 439"/>
          <p:cNvSpPr/>
          <p:nvPr/>
        </p:nvSpPr>
        <p:spPr>
          <a:xfrm>
            <a:off x="374904" y="5669280"/>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1" name="TextBox 440"/>
          <p:cNvSpPr txBox="1"/>
          <p:nvPr/>
        </p:nvSpPr>
        <p:spPr>
          <a:xfrm>
            <a:off x="594360" y="5797296"/>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size is tradeable. The exit is not free, and it gets 1.7x dearer on exactly the days it is wanted.</a:t>
            </a:r>
          </a:p>
        </p:txBody>
      </p:sp>
      <p:sp>
        <p:nvSpPr>
          <p:cNvPr id="442" name="TextBox 441"/>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Turnover is close times volume, converted at 7.80 and 7.20 to the dollar. Days to exit is order size divided by the stated share of 60-day average turnover, USD 327m for 3750 HK and USD 1,988m for 300750 CH. Cost to exit uses Amihud illiquidity, the median of absolute return over turnover, at 0.0094 per USD m on all days and 0.0158 in the worst return decile. Amihud is a relative depth proxy, not a transaction cost estimate, and it conflates impact with information. Computed by data-puller/liquidity.py.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What bounding the tail costs</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Puts to the 30 June 2027 prohibition.</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9</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Realised vol, not implied · indicative only · quote before use</a:t>
            </a:r>
          </a:p>
        </p:txBody>
      </p:sp>
      <p:sp>
        <p:nvSpPr>
          <p:cNvPr id="16" name="TextBox 15"/>
          <p:cNvSpPr txBox="1"/>
          <p:nvPr/>
        </p:nvSpPr>
        <p:spPr>
          <a:xfrm>
            <a:off x="374904" y="2011680"/>
            <a:ext cx="576072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Premium paid against worst case bought</a:t>
            </a:r>
          </a:p>
        </p:txBody>
      </p:sp>
      <p:sp>
        <p:nvSpPr>
          <p:cNvPr id="17" name="Rectangle 16"/>
          <p:cNvSpPr/>
          <p:nvPr/>
        </p:nvSpPr>
        <p:spPr>
          <a:xfrm>
            <a:off x="1188720" y="2377440"/>
            <a:ext cx="457200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172718" y="255894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207904" y="26160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243090" y="267319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278277" y="273031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1313463" y="278744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48650" y="284456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383836" y="290168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419023" y="295881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454209" y="301593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489396" y="307305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524582" y="313017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559769" y="318730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594955" y="32444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1630142" y="330154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665328" y="33586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700515" y="341579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735701" y="347291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1770887" y="353004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770887" y="353004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790610" y="353996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810332" y="354988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1830055" y="355981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1849777" y="356973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869499" y="357966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1889222" y="358958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908944" y="359950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1928666" y="360943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1948389" y="361935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1968111" y="362928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1987833" y="363920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2007556" y="364912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2027278" y="365905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2047000" y="366897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2066723" y="367890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2086445" y="368882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2106168" y="369874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2106168" y="369874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2132389" y="370818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2158611" y="371762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2184833" y="372706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2211055" y="373650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2237276" y="374594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2263498" y="375538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2289720" y="376482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2315942" y="377426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2342163" y="378370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2368385" y="379314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2394607" y="380258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2420829" y="381202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2447050" y="382146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2473272" y="383090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2499494" y="384034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2525716" y="384978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2551938" y="38592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2551938" y="38592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2584883" y="386769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2617828" y="387616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2650773" y="388464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2683719" y="389311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2716664" y="390158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2749609" y="391005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2782555" y="391852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2815500" y="392699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2848445" y="393547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2881390" y="394394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2914336" y="395241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2947281" y="396088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2980226" y="396935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3013172" y="397782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3046117" y="398629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3079062" y="39947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3112008" y="400324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3112008" y="400324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3152125" y="401098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3192242" y="401873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3232359" y="402647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3272476" y="40342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3312593" y="404197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3352710" y="404971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3392827" y="405746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3432944" y="406520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3473061" y="407295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3513178" y="408069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3553295" y="408844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3593412" y="409618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3633529" y="410393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3673646" y="411168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3713763" y="41194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3753880" y="41271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3793998" y="413491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3793998" y="413491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3841286" y="414193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3888575" y="414895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3935864" y="415597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3983153" y="416299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4030442" y="4170013"/>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4077730" y="417703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4125019" y="418405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4172308" y="41910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4219597" y="419809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4266886" y="420511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4314175" y="421212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4361463" y="421914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4408752" y="422616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4456041" y="423318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4503330" y="424020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4550619" y="424722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4597908" y="425424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4597908" y="4254246"/>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4651920" y="4260539"/>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4705932" y="426683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4759945" y="427312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4813957" y="427941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4867969" y="4285712"/>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4921982" y="429200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4975994" y="429829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5030006" y="430459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5084019" y="4310885"/>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5138031" y="4317178"/>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5192043" y="432347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5246056" y="432976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5300068" y="433605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5354080" y="4342351"/>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5408093" y="4348644"/>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5462105" y="4354937"/>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5516118" y="4361230"/>
            <a:ext cx="32004" cy="32004"/>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1097280" y="2483510"/>
            <a:ext cx="182880" cy="18288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1335024" y="2483510"/>
            <a:ext cx="1828800" cy="182880"/>
          </a:xfrm>
          <a:prstGeom prst="rect">
            <a:avLst/>
          </a:prstGeom>
          <a:noFill/>
        </p:spPr>
        <p:txBody>
          <a:bodyPr wrap="none" lIns="0" tIns="0" rIns="0" bIns="0" anchor="t">
            <a:spAutoFit/>
          </a:bodyPr>
          <a:lstStyle/>
          <a:p>
            <a:pPr algn="l">
              <a:lnSpc>
                <a:spcPct val="100000"/>
              </a:lnSpc>
              <a:spcAft>
                <a:spcPts val="0"/>
              </a:spcAft>
            </a:pPr>
            <a:r>
              <a:rPr sz="850" b="1" i="0">
                <a:solidFill>
                  <a:srgbClr val="DB0011"/>
                </a:solidFill>
                <a:latin typeface="Arial"/>
              </a:rPr>
              <a:t>no hedge</a:t>
            </a:r>
          </a:p>
        </p:txBody>
      </p:sp>
      <p:sp>
        <p:nvSpPr>
          <p:cNvPr id="146" name="Oval 145"/>
          <p:cNvSpPr/>
          <p:nvPr/>
        </p:nvSpPr>
        <p:spPr>
          <a:xfrm>
            <a:off x="2476500" y="3783787"/>
            <a:ext cx="182880" cy="18288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TextBox 146"/>
          <p:cNvSpPr txBox="1"/>
          <p:nvPr/>
        </p:nvSpPr>
        <p:spPr>
          <a:xfrm>
            <a:off x="2695956" y="3637483"/>
            <a:ext cx="2194560" cy="182880"/>
          </a:xfrm>
          <a:prstGeom prst="rect">
            <a:avLst/>
          </a:prstGeom>
          <a:noFill/>
        </p:spPr>
        <p:txBody>
          <a:bodyPr wrap="none" lIns="0" tIns="0" rIns="0" bIns="0" anchor="t">
            <a:spAutoFit/>
          </a:bodyPr>
          <a:lstStyle/>
          <a:p>
            <a:pPr algn="l">
              <a:lnSpc>
                <a:spcPct val="100000"/>
              </a:lnSpc>
              <a:spcAft>
                <a:spcPts val="0"/>
              </a:spcAft>
            </a:pPr>
            <a:r>
              <a:rPr sz="850" b="1" i="0">
                <a:solidFill>
                  <a:srgbClr val="44546A"/>
                </a:solidFill>
                <a:latin typeface="Arial"/>
              </a:rPr>
              <a:t>80 strike, 3.6%</a:t>
            </a:r>
          </a:p>
        </p:txBody>
      </p:sp>
      <p:sp>
        <p:nvSpPr>
          <p:cNvPr id="148" name="TextBox 147"/>
          <p:cNvSpPr txBox="1"/>
          <p:nvPr/>
        </p:nvSpPr>
        <p:spPr>
          <a:xfrm>
            <a:off x="1188720" y="2176272"/>
            <a:ext cx="27432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worst case, % of notional</a:t>
            </a:r>
          </a:p>
        </p:txBody>
      </p:sp>
      <p:sp>
        <p:nvSpPr>
          <p:cNvPr id="149" name="TextBox 148"/>
          <p:cNvSpPr txBox="1"/>
          <p:nvPr/>
        </p:nvSpPr>
        <p:spPr>
          <a:xfrm>
            <a:off x="1188720" y="4901184"/>
            <a:ext cx="20116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premium 0%</a:t>
            </a:r>
          </a:p>
        </p:txBody>
      </p:sp>
      <p:sp>
        <p:nvSpPr>
          <p:cNvPr id="150" name="TextBox 149"/>
          <p:cNvSpPr txBox="1"/>
          <p:nvPr/>
        </p:nvSpPr>
        <p:spPr>
          <a:xfrm>
            <a:off x="3749039" y="4901184"/>
            <a:ext cx="20116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12%</a:t>
            </a:r>
          </a:p>
        </p:txBody>
      </p:sp>
      <p:sp>
        <p:nvSpPr>
          <p:cNvPr id="151" name="TextBox 150"/>
          <p:cNvSpPr txBox="1"/>
          <p:nvPr/>
        </p:nvSpPr>
        <p:spPr>
          <a:xfrm>
            <a:off x="6492240" y="2011680"/>
            <a:ext cx="530352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And what volatility does to it</a:t>
            </a:r>
          </a:p>
        </p:txBody>
      </p:sp>
      <p:sp>
        <p:nvSpPr>
          <p:cNvPr id="152" name="Rectangle 151"/>
          <p:cNvSpPr/>
          <p:nvPr/>
        </p:nvSpPr>
        <p:spPr>
          <a:xfrm>
            <a:off x="7315200" y="2377440"/>
            <a:ext cx="384048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7300569" y="416783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7349806" y="415158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7399043" y="413533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7448280" y="411909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7497517" y="4102842"/>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7546754" y="408659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7595991" y="407034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7645228" y="405409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7694464" y="4037849"/>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7743701" y="402160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7792938" y="400535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7842175" y="398910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7891412" y="397285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7940649" y="395660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7940649" y="395660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7989886" y="393782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8039123" y="391904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8088360" y="390026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8137597" y="388148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8186834" y="386270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8236071" y="384392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8285308" y="382514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8334544" y="380636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8383781" y="378758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8433018" y="376880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8482255" y="375002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8531492" y="373124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8580729" y="371246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8580729" y="371246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8629966" y="369115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8679203" y="366983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8728440" y="364852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8777677" y="362721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8826914" y="360590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8876151" y="358458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8925388" y="356327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8974624" y="354196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9023861" y="352065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9073098" y="349933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9122335" y="347802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9171572" y="345671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9220809" y="343540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9220809" y="343540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9270046" y="341166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9319283" y="3387922"/>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9368520" y="336418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9417757" y="334044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9466994" y="331670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9516231" y="329296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9565468" y="326922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9614704" y="324548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9663941" y="322174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9713178" y="3198008"/>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9762415" y="3174269"/>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9811652" y="315053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9860889" y="312679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9860889" y="312679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9910126" y="310083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9959363" y="307488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10008600" y="304892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10057837" y="302297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10107074" y="299701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10156311" y="297106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10205548" y="294510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10254784" y="291915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10304021" y="289319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10353258" y="286724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10402495" y="284128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10451732" y="2815332"/>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10500969" y="278937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10500969" y="2789377"/>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10550206" y="276120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10599443" y="2733036"/>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10648680" y="2704865"/>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10697917" y="267669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10747154" y="2648524"/>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10796391" y="262035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10845628" y="2592183"/>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10894864" y="2564012"/>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10944101" y="2535842"/>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10993338" y="250767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11042575" y="2479501"/>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11091812" y="245133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11141049" y="2423160"/>
            <a:ext cx="29260" cy="2926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TextBox 236"/>
          <p:cNvSpPr txBox="1"/>
          <p:nvPr/>
        </p:nvSpPr>
        <p:spPr>
          <a:xfrm>
            <a:off x="11228832" y="2395728"/>
            <a:ext cx="1737360"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90th pct vol</a:t>
            </a:r>
          </a:p>
        </p:txBody>
      </p:sp>
      <p:sp>
        <p:nvSpPr>
          <p:cNvPr id="238" name="Oval 237"/>
          <p:cNvSpPr/>
          <p:nvPr/>
        </p:nvSpPr>
        <p:spPr>
          <a:xfrm>
            <a:off x="7300569" y="454914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7349806" y="453837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7399043" y="452761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7448280" y="451685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7497517" y="450609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7546754" y="449533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7595991" y="448456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7645228" y="447380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7694464" y="446304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7743701" y="445228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7792938" y="444152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7842175" y="443076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7891412" y="441999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7940649" y="440923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7940649" y="440923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7989886" y="439562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8039123" y="438201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8088360" y="436840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8137597" y="435479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8186834" y="434118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8236071" y="432757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8285308" y="431396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8334544" y="430035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8383781" y="428674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8433018" y="427313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8482255" y="425952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8531492" y="424591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8580729" y="423230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8580729" y="423230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8629966" y="421552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8679203" y="419874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8728440" y="418197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8777677" y="416519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8826914" y="414842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8876151" y="413164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8925388" y="411487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8974624" y="409809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9023861" y="408131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9073098" y="406454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9122335" y="404776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9171572" y="403099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9220809" y="401421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9220809" y="401421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9270046" y="399427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9319283" y="397433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9368520" y="395439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9417757" y="393445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9466994" y="391451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9516231" y="389457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9565468" y="387462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9614704" y="385468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9663941" y="383474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9713178" y="381480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9762415" y="379486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9811652" y="377492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9860889" y="375498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9860889" y="375498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9910126" y="373187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9959363" y="370877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10008600" y="368566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10057837" y="366255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10107074" y="3639452"/>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10156311" y="3616346"/>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10205548" y="3593240"/>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10254784" y="357013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10304021" y="3547027"/>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10353258" y="3523921"/>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10402495" y="3500815"/>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10451732" y="347770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10500969" y="345460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10500969" y="345460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10550206" y="342864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10599443" y="340269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10648680" y="337673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10697917" y="335078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10747154" y="332482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10796391" y="3298873"/>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10845628" y="3272918"/>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10894864" y="324696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10944101" y="322100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10993338" y="319505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11042575" y="316909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11091812" y="3143144"/>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11141049" y="3117189"/>
            <a:ext cx="29260" cy="29260"/>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TextBox 321"/>
          <p:cNvSpPr txBox="1"/>
          <p:nvPr/>
        </p:nvSpPr>
        <p:spPr>
          <a:xfrm>
            <a:off x="11228832" y="3127248"/>
            <a:ext cx="1737360" cy="164592"/>
          </a:xfrm>
          <a:prstGeom prst="rect">
            <a:avLst/>
          </a:prstGeom>
          <a:noFill/>
        </p:spPr>
        <p:txBody>
          <a:bodyPr wrap="none" lIns="0" tIns="0" rIns="0" bIns="0" anchor="t">
            <a:spAutoFit/>
          </a:bodyPr>
          <a:lstStyle/>
          <a:p>
            <a:pPr algn="l">
              <a:lnSpc>
                <a:spcPct val="100000"/>
              </a:lnSpc>
              <a:spcAft>
                <a:spcPts val="0"/>
              </a:spcAft>
            </a:pPr>
            <a:r>
              <a:rPr sz="750" b="1" i="0">
                <a:solidFill>
                  <a:srgbClr val="767576"/>
                </a:solidFill>
                <a:latin typeface="Arial"/>
              </a:rPr>
              <a:t>median vol</a:t>
            </a:r>
          </a:p>
        </p:txBody>
      </p:sp>
      <p:sp>
        <p:nvSpPr>
          <p:cNvPr id="323" name="Oval 322"/>
          <p:cNvSpPr/>
          <p:nvPr/>
        </p:nvSpPr>
        <p:spPr>
          <a:xfrm>
            <a:off x="7300569" y="461634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7349806" y="460706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7399043" y="459777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7448280" y="458849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7497517" y="457920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Oval 327"/>
          <p:cNvSpPr/>
          <p:nvPr/>
        </p:nvSpPr>
        <p:spPr>
          <a:xfrm>
            <a:off x="7546754" y="456992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Oval 328"/>
          <p:cNvSpPr/>
          <p:nvPr/>
        </p:nvSpPr>
        <p:spPr>
          <a:xfrm>
            <a:off x="7595991" y="456064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7645228" y="455135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7694464" y="454207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7743701" y="453278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7792938" y="452350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7842175" y="451421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7891412" y="450493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7940649" y="449564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7940649" y="449564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7989886" y="448330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8039123" y="447095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8088360" y="445861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1" name="Oval 340"/>
          <p:cNvSpPr/>
          <p:nvPr/>
        </p:nvSpPr>
        <p:spPr>
          <a:xfrm>
            <a:off x="8137597" y="444627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2" name="Oval 341"/>
          <p:cNvSpPr/>
          <p:nvPr/>
        </p:nvSpPr>
        <p:spPr>
          <a:xfrm>
            <a:off x="8186834" y="443392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3" name="Oval 342"/>
          <p:cNvSpPr/>
          <p:nvPr/>
        </p:nvSpPr>
        <p:spPr>
          <a:xfrm>
            <a:off x="8236071" y="442158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Oval 343"/>
          <p:cNvSpPr/>
          <p:nvPr/>
        </p:nvSpPr>
        <p:spPr>
          <a:xfrm>
            <a:off x="8285308" y="440923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5" name="Oval 344"/>
          <p:cNvSpPr/>
          <p:nvPr/>
        </p:nvSpPr>
        <p:spPr>
          <a:xfrm>
            <a:off x="8334544" y="439689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Oval 345"/>
          <p:cNvSpPr/>
          <p:nvPr/>
        </p:nvSpPr>
        <p:spPr>
          <a:xfrm>
            <a:off x="8383781" y="438454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7" name="Oval 346"/>
          <p:cNvSpPr/>
          <p:nvPr/>
        </p:nvSpPr>
        <p:spPr>
          <a:xfrm>
            <a:off x="8433018" y="437220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Oval 347"/>
          <p:cNvSpPr/>
          <p:nvPr/>
        </p:nvSpPr>
        <p:spPr>
          <a:xfrm>
            <a:off x="8482255" y="435985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9" name="Oval 348"/>
          <p:cNvSpPr/>
          <p:nvPr/>
        </p:nvSpPr>
        <p:spPr>
          <a:xfrm>
            <a:off x="8531492" y="434751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Oval 349"/>
          <p:cNvSpPr/>
          <p:nvPr/>
        </p:nvSpPr>
        <p:spPr>
          <a:xfrm>
            <a:off x="8580729" y="433517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1" name="Oval 350"/>
          <p:cNvSpPr/>
          <p:nvPr/>
        </p:nvSpPr>
        <p:spPr>
          <a:xfrm>
            <a:off x="8580729" y="433517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Oval 351"/>
          <p:cNvSpPr/>
          <p:nvPr/>
        </p:nvSpPr>
        <p:spPr>
          <a:xfrm>
            <a:off x="8629966" y="431966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3" name="Oval 352"/>
          <p:cNvSpPr/>
          <p:nvPr/>
        </p:nvSpPr>
        <p:spPr>
          <a:xfrm>
            <a:off x="8679203" y="430415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Oval 353"/>
          <p:cNvSpPr/>
          <p:nvPr/>
        </p:nvSpPr>
        <p:spPr>
          <a:xfrm>
            <a:off x="8728440" y="428864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5" name="Oval 354"/>
          <p:cNvSpPr/>
          <p:nvPr/>
        </p:nvSpPr>
        <p:spPr>
          <a:xfrm>
            <a:off x="8777677" y="427313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8826914" y="425762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Oval 356"/>
          <p:cNvSpPr/>
          <p:nvPr/>
        </p:nvSpPr>
        <p:spPr>
          <a:xfrm>
            <a:off x="8876151" y="424211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Oval 357"/>
          <p:cNvSpPr/>
          <p:nvPr/>
        </p:nvSpPr>
        <p:spPr>
          <a:xfrm>
            <a:off x="8925388" y="422660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9" name="Oval 358"/>
          <p:cNvSpPr/>
          <p:nvPr/>
        </p:nvSpPr>
        <p:spPr>
          <a:xfrm>
            <a:off x="8974624" y="421109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Oval 359"/>
          <p:cNvSpPr/>
          <p:nvPr/>
        </p:nvSpPr>
        <p:spPr>
          <a:xfrm>
            <a:off x="9023861" y="419558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1" name="Oval 360"/>
          <p:cNvSpPr/>
          <p:nvPr/>
        </p:nvSpPr>
        <p:spPr>
          <a:xfrm>
            <a:off x="9073098" y="418007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2" name="Oval 361"/>
          <p:cNvSpPr/>
          <p:nvPr/>
        </p:nvSpPr>
        <p:spPr>
          <a:xfrm>
            <a:off x="9122335" y="416456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Oval 362"/>
          <p:cNvSpPr/>
          <p:nvPr/>
        </p:nvSpPr>
        <p:spPr>
          <a:xfrm>
            <a:off x="9171572" y="414905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4" name="Oval 363"/>
          <p:cNvSpPr/>
          <p:nvPr/>
        </p:nvSpPr>
        <p:spPr>
          <a:xfrm>
            <a:off x="9220809" y="413354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5" name="Oval 364"/>
          <p:cNvSpPr/>
          <p:nvPr/>
        </p:nvSpPr>
        <p:spPr>
          <a:xfrm>
            <a:off x="9220809" y="413354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6" name="Oval 365"/>
          <p:cNvSpPr/>
          <p:nvPr/>
        </p:nvSpPr>
        <p:spPr>
          <a:xfrm>
            <a:off x="9270046" y="411465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7" name="Oval 366"/>
          <p:cNvSpPr/>
          <p:nvPr/>
        </p:nvSpPr>
        <p:spPr>
          <a:xfrm>
            <a:off x="9319283" y="409577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8" name="Oval 367"/>
          <p:cNvSpPr/>
          <p:nvPr/>
        </p:nvSpPr>
        <p:spPr>
          <a:xfrm>
            <a:off x="9368520" y="407688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Oval 368"/>
          <p:cNvSpPr/>
          <p:nvPr/>
        </p:nvSpPr>
        <p:spPr>
          <a:xfrm>
            <a:off x="9417757" y="405800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0" name="Oval 369"/>
          <p:cNvSpPr/>
          <p:nvPr/>
        </p:nvSpPr>
        <p:spPr>
          <a:xfrm>
            <a:off x="9466994" y="403911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1" name="Oval 370"/>
          <p:cNvSpPr/>
          <p:nvPr/>
        </p:nvSpPr>
        <p:spPr>
          <a:xfrm>
            <a:off x="9516231" y="402022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2" name="Oval 371"/>
          <p:cNvSpPr/>
          <p:nvPr/>
        </p:nvSpPr>
        <p:spPr>
          <a:xfrm>
            <a:off x="9565468" y="400134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3" name="Oval 372"/>
          <p:cNvSpPr/>
          <p:nvPr/>
        </p:nvSpPr>
        <p:spPr>
          <a:xfrm>
            <a:off x="9614704" y="398245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4" name="Oval 373"/>
          <p:cNvSpPr/>
          <p:nvPr/>
        </p:nvSpPr>
        <p:spPr>
          <a:xfrm>
            <a:off x="9663941" y="396357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5" name="Oval 374"/>
          <p:cNvSpPr/>
          <p:nvPr/>
        </p:nvSpPr>
        <p:spPr>
          <a:xfrm>
            <a:off x="9713178" y="394468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6" name="Oval 375"/>
          <p:cNvSpPr/>
          <p:nvPr/>
        </p:nvSpPr>
        <p:spPr>
          <a:xfrm>
            <a:off x="9762415" y="392580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7" name="Oval 376"/>
          <p:cNvSpPr/>
          <p:nvPr/>
        </p:nvSpPr>
        <p:spPr>
          <a:xfrm>
            <a:off x="9811652" y="390691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8" name="Oval 377"/>
          <p:cNvSpPr/>
          <p:nvPr/>
        </p:nvSpPr>
        <p:spPr>
          <a:xfrm>
            <a:off x="9860889" y="388802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9" name="Oval 378"/>
          <p:cNvSpPr/>
          <p:nvPr/>
        </p:nvSpPr>
        <p:spPr>
          <a:xfrm>
            <a:off x="9860889" y="388802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0" name="Oval 379"/>
          <p:cNvSpPr/>
          <p:nvPr/>
        </p:nvSpPr>
        <p:spPr>
          <a:xfrm>
            <a:off x="9910126" y="386576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1" name="Oval 380"/>
          <p:cNvSpPr/>
          <p:nvPr/>
        </p:nvSpPr>
        <p:spPr>
          <a:xfrm>
            <a:off x="9959363" y="384350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2" name="Oval 381"/>
          <p:cNvSpPr/>
          <p:nvPr/>
        </p:nvSpPr>
        <p:spPr>
          <a:xfrm>
            <a:off x="10008600" y="382124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3" name="Oval 382"/>
          <p:cNvSpPr/>
          <p:nvPr/>
        </p:nvSpPr>
        <p:spPr>
          <a:xfrm>
            <a:off x="10057837" y="379898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4" name="Oval 383"/>
          <p:cNvSpPr/>
          <p:nvPr/>
        </p:nvSpPr>
        <p:spPr>
          <a:xfrm>
            <a:off x="10107074" y="3776718"/>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5" name="Oval 384"/>
          <p:cNvSpPr/>
          <p:nvPr/>
        </p:nvSpPr>
        <p:spPr>
          <a:xfrm>
            <a:off x="10156311" y="375445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6" name="Oval 385"/>
          <p:cNvSpPr/>
          <p:nvPr/>
        </p:nvSpPr>
        <p:spPr>
          <a:xfrm>
            <a:off x="10205548" y="373219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7" name="Oval 386"/>
          <p:cNvSpPr/>
          <p:nvPr/>
        </p:nvSpPr>
        <p:spPr>
          <a:xfrm>
            <a:off x="10254784" y="370993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8" name="Oval 387"/>
          <p:cNvSpPr/>
          <p:nvPr/>
        </p:nvSpPr>
        <p:spPr>
          <a:xfrm>
            <a:off x="10304021" y="368766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9" name="Oval 388"/>
          <p:cNvSpPr/>
          <p:nvPr/>
        </p:nvSpPr>
        <p:spPr>
          <a:xfrm>
            <a:off x="10353258" y="366540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0" name="Oval 389"/>
          <p:cNvSpPr/>
          <p:nvPr/>
        </p:nvSpPr>
        <p:spPr>
          <a:xfrm>
            <a:off x="10402495" y="364314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1" name="Oval 390"/>
          <p:cNvSpPr/>
          <p:nvPr/>
        </p:nvSpPr>
        <p:spPr>
          <a:xfrm>
            <a:off x="10451732" y="362088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2" name="Oval 391"/>
          <p:cNvSpPr/>
          <p:nvPr/>
        </p:nvSpPr>
        <p:spPr>
          <a:xfrm>
            <a:off x="10500969" y="359862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3" name="Oval 392"/>
          <p:cNvSpPr/>
          <p:nvPr/>
        </p:nvSpPr>
        <p:spPr>
          <a:xfrm>
            <a:off x="10500969" y="359862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4" name="Oval 393"/>
          <p:cNvSpPr/>
          <p:nvPr/>
        </p:nvSpPr>
        <p:spPr>
          <a:xfrm>
            <a:off x="10550206" y="3573193"/>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5" name="Oval 394"/>
          <p:cNvSpPr/>
          <p:nvPr/>
        </p:nvSpPr>
        <p:spPr>
          <a:xfrm>
            <a:off x="10599443" y="3547766"/>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6" name="Oval 395"/>
          <p:cNvSpPr/>
          <p:nvPr/>
        </p:nvSpPr>
        <p:spPr>
          <a:xfrm>
            <a:off x="10648680" y="352233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7" name="Oval 396"/>
          <p:cNvSpPr/>
          <p:nvPr/>
        </p:nvSpPr>
        <p:spPr>
          <a:xfrm>
            <a:off x="10697917" y="3496911"/>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8" name="Oval 397"/>
          <p:cNvSpPr/>
          <p:nvPr/>
        </p:nvSpPr>
        <p:spPr>
          <a:xfrm>
            <a:off x="10747154" y="3471484"/>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9" name="Oval 398"/>
          <p:cNvSpPr/>
          <p:nvPr/>
        </p:nvSpPr>
        <p:spPr>
          <a:xfrm>
            <a:off x="10796391" y="344605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0" name="Oval 399"/>
          <p:cNvSpPr/>
          <p:nvPr/>
        </p:nvSpPr>
        <p:spPr>
          <a:xfrm>
            <a:off x="10845628" y="3420629"/>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1" name="Oval 400"/>
          <p:cNvSpPr/>
          <p:nvPr/>
        </p:nvSpPr>
        <p:spPr>
          <a:xfrm>
            <a:off x="10894864" y="339520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2" name="Oval 401"/>
          <p:cNvSpPr/>
          <p:nvPr/>
        </p:nvSpPr>
        <p:spPr>
          <a:xfrm>
            <a:off x="10944101" y="336977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3" name="Oval 402"/>
          <p:cNvSpPr/>
          <p:nvPr/>
        </p:nvSpPr>
        <p:spPr>
          <a:xfrm>
            <a:off x="10993338" y="3344347"/>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4" name="Oval 403"/>
          <p:cNvSpPr/>
          <p:nvPr/>
        </p:nvSpPr>
        <p:spPr>
          <a:xfrm>
            <a:off x="11042575" y="3318920"/>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5" name="Oval 404"/>
          <p:cNvSpPr/>
          <p:nvPr/>
        </p:nvSpPr>
        <p:spPr>
          <a:xfrm>
            <a:off x="11091812" y="3293492"/>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6" name="Oval 405"/>
          <p:cNvSpPr/>
          <p:nvPr/>
        </p:nvSpPr>
        <p:spPr>
          <a:xfrm>
            <a:off x="11141049" y="3268065"/>
            <a:ext cx="29260" cy="2926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7" name="TextBox 406"/>
          <p:cNvSpPr txBox="1"/>
          <p:nvPr/>
        </p:nvSpPr>
        <p:spPr>
          <a:xfrm>
            <a:off x="11228832" y="3529584"/>
            <a:ext cx="1737360" cy="164592"/>
          </a:xfrm>
          <a:prstGeom prst="rect">
            <a:avLst/>
          </a:prstGeom>
          <a:noFill/>
        </p:spPr>
        <p:txBody>
          <a:bodyPr wrap="none" lIns="0" tIns="0" rIns="0" bIns="0" anchor="t">
            <a:spAutoFit/>
          </a:bodyPr>
          <a:lstStyle/>
          <a:p>
            <a:pPr algn="l">
              <a:lnSpc>
                <a:spcPct val="100000"/>
              </a:lnSpc>
              <a:spcAft>
                <a:spcPts val="0"/>
              </a:spcAft>
            </a:pPr>
            <a:r>
              <a:rPr sz="750" b="1" i="0">
                <a:solidFill>
                  <a:srgbClr val="44546A"/>
                </a:solidFill>
                <a:latin typeface="Arial"/>
              </a:rPr>
              <a:t>today</a:t>
            </a:r>
          </a:p>
        </p:txBody>
      </p:sp>
      <p:sp>
        <p:nvSpPr>
          <p:cNvPr id="408" name="TextBox 407"/>
          <p:cNvSpPr txBox="1"/>
          <p:nvPr/>
        </p:nvSpPr>
        <p:spPr>
          <a:xfrm>
            <a:off x="7315200" y="2176272"/>
            <a:ext cx="27432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premium, % of notional</a:t>
            </a:r>
          </a:p>
        </p:txBody>
      </p:sp>
      <p:sp>
        <p:nvSpPr>
          <p:cNvPr id="409" name="TextBox 408"/>
          <p:cNvSpPr txBox="1"/>
          <p:nvPr/>
        </p:nvSpPr>
        <p:spPr>
          <a:xfrm>
            <a:off x="7315200" y="4901184"/>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strike 70</a:t>
            </a:r>
          </a:p>
        </p:txBody>
      </p:sp>
      <p:sp>
        <p:nvSpPr>
          <p:cNvPr id="410" name="TextBox 409"/>
          <p:cNvSpPr txBox="1"/>
          <p:nvPr/>
        </p:nvSpPr>
        <p:spPr>
          <a:xfrm>
            <a:off x="9326880" y="4901184"/>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100</a:t>
            </a:r>
          </a:p>
        </p:txBody>
      </p:sp>
      <p:sp>
        <p:nvSpPr>
          <p:cNvPr id="411" name="TextBox 410"/>
          <p:cNvSpPr txBox="1"/>
          <p:nvPr/>
        </p:nvSpPr>
        <p:spPr>
          <a:xfrm>
            <a:off x="1188720" y="5047488"/>
            <a:ext cx="5303520" cy="329184"/>
          </a:xfrm>
          <a:prstGeom prst="rect">
            <a:avLst/>
          </a:prstGeom>
          <a:noFill/>
        </p:spPr>
        <p:txBody>
          <a:bodyPr wrap="square" lIns="0" tIns="0" rIns="0" bIns="0" anchor="t">
            <a:spAutoFit/>
          </a:bodyPr>
          <a:lstStyle/>
          <a:p>
            <a:pPr algn="l">
              <a:lnSpc>
                <a:spcPct val="118000"/>
              </a:lnSpc>
              <a:spcAft>
                <a:spcPts val="0"/>
              </a:spcAft>
            </a:pPr>
            <a:r>
              <a:rPr sz="850" b="1" i="0">
                <a:solidFill>
                  <a:srgbClr val="DB0011"/>
                </a:solidFill>
                <a:latin typeface="Arial"/>
              </a:rPr>
              <a:t>The first 1.6% removes 24 points. </a:t>
            </a:r>
            <a:r>
              <a:rPr sz="850" b="0" i="0">
                <a:solidFill>
                  <a:srgbClr val="000000"/>
                </a:solidFill>
                <a:latin typeface="Arial"/>
              </a:rPr>
              <a:t>Everything after it costs more per point.</a:t>
            </a:r>
          </a:p>
        </p:txBody>
      </p:sp>
      <p:sp>
        <p:nvSpPr>
          <p:cNvPr id="412" name="Rectangle 411"/>
          <p:cNvSpPr/>
          <p:nvPr/>
        </p:nvSpPr>
        <p:spPr>
          <a:xfrm>
            <a:off x="374904" y="5541264"/>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3" name="TextBox 412"/>
          <p:cNvSpPr txBox="1"/>
          <p:nvPr/>
        </p:nvSpPr>
        <p:spPr>
          <a:xfrm>
            <a:off x="594360" y="5669280"/>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steepener bounds its tail with a stop, for nothing. CATL's costs 3.6% of notional to cut 55% to 24%.</a:t>
            </a:r>
          </a:p>
        </p:txBody>
      </p:sp>
      <p:sp>
        <p:nvSpPr>
          <p:cNvPr id="414" name="TextBox 413"/>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Black-Scholes European puts on a normalised spot of 100, expiring 30-Jun-27, T = 0.915 years, r = 4.0% and q = 1.0% stated rather than fitted. Volatilities are realised from exhibit 4: 34.2% today, 37.2% median, 51.1% at the 90th percentile. Realised is not implied, and single-name Asian implied typically trades above it, so every premium here is a floor on the true cost. Worst case is the distance to the strike plus the premium, against the 55.2% observed drawdown on 300750 CH. Quote it properly before acting. Computed by data-puller/protection_cost.py.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Is the independence stable?</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Rolling 52-week correlation, with its own confidence band.</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10</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MoF and Yahoo Finance · refresh before use</a:t>
            </a:r>
          </a:p>
        </p:txBody>
      </p:sp>
      <p:sp>
        <p:nvSpPr>
          <p:cNvPr id="16" name="TextBox 15"/>
          <p:cNvSpPr txBox="1"/>
          <p:nvPr/>
        </p:nvSpPr>
        <p:spPr>
          <a:xfrm>
            <a:off x="374904" y="2011680"/>
            <a:ext cx="658368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Correlation between the two sleeves</a:t>
            </a:r>
          </a:p>
        </p:txBody>
      </p:sp>
      <p:sp>
        <p:nvSpPr>
          <p:cNvPr id="17" name="Rectangle 16"/>
          <p:cNvSpPr/>
          <p:nvPr/>
        </p:nvSpPr>
        <p:spPr>
          <a:xfrm>
            <a:off x="1097280" y="2377440"/>
            <a:ext cx="539496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1068606" y="3071812"/>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111423" y="2924502"/>
            <a:ext cx="57348" cy="111819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1154240" y="2896727"/>
            <a:ext cx="57348" cy="11157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1197057" y="2885000"/>
            <a:ext cx="57348" cy="111469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1239874" y="2721025"/>
            <a:ext cx="57348" cy="108857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1282691" y="2767728"/>
            <a:ext cx="57348" cy="109803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1325508" y="2765877"/>
            <a:ext cx="57348" cy="10978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368326" y="2727609"/>
            <a:ext cx="57348" cy="109021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1411143" y="2837268"/>
            <a:ext cx="57348" cy="110893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1453960" y="2830890"/>
            <a:ext cx="57348" cy="110832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1496777" y="2827804"/>
            <a:ext cx="57348" cy="110770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1539594" y="2768757"/>
            <a:ext cx="57348" cy="109824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1582411" y="2763613"/>
            <a:ext cx="57348" cy="10972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1625228" y="2763613"/>
            <a:ext cx="57348" cy="10972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1668046" y="2733781"/>
            <a:ext cx="57348" cy="109145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1710863" y="2731930"/>
            <a:ext cx="57348" cy="109083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1753680" y="2694279"/>
            <a:ext cx="57348" cy="108239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1796497" y="2688313"/>
            <a:ext cx="57348" cy="108095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1839314" y="2669590"/>
            <a:ext cx="57348" cy="107643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1882131" y="2680289"/>
            <a:ext cx="57348" cy="107910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1924948" y="2665270"/>
            <a:ext cx="57348" cy="107519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1967766" y="2582974"/>
            <a:ext cx="57348" cy="105071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2010583" y="2635232"/>
            <a:ext cx="57348" cy="106676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2053400" y="2652308"/>
            <a:ext cx="57348" cy="107169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2096217" y="2568983"/>
            <a:ext cx="57348" cy="104598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2139034" y="2599021"/>
            <a:ext cx="57348" cy="105565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2181851" y="2629677"/>
            <a:ext cx="57348" cy="106532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2224668" y="2665270"/>
            <a:ext cx="57348" cy="107519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2267486" y="2726580"/>
            <a:ext cx="57348" cy="108959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2310303" y="2757441"/>
            <a:ext cx="57348" cy="109618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2353120" y="2738513"/>
            <a:ext cx="57348" cy="109227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2395937" y="2699217"/>
            <a:ext cx="57348" cy="10836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2438754" y="2640992"/>
            <a:ext cx="57348" cy="106840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2481571" y="2624739"/>
            <a:ext cx="57348" cy="106367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2524388" y="2588734"/>
            <a:ext cx="57348" cy="105256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ectangle 52"/>
          <p:cNvSpPr/>
          <p:nvPr/>
        </p:nvSpPr>
        <p:spPr>
          <a:xfrm>
            <a:off x="2567206" y="2593467"/>
            <a:ext cx="57348" cy="105400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2610023" y="2595730"/>
            <a:ext cx="57348" cy="10548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2652840" y="2522075"/>
            <a:ext cx="57348" cy="102870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Rectangle 55"/>
          <p:cNvSpPr/>
          <p:nvPr/>
        </p:nvSpPr>
        <p:spPr>
          <a:xfrm>
            <a:off x="2695657" y="2511993"/>
            <a:ext cx="57348" cy="102479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Rectangle 56"/>
          <p:cNvSpPr/>
          <p:nvPr/>
        </p:nvSpPr>
        <p:spPr>
          <a:xfrm>
            <a:off x="2738474" y="2506027"/>
            <a:ext cx="57348" cy="102232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Rectangle 57"/>
          <p:cNvSpPr/>
          <p:nvPr/>
        </p:nvSpPr>
        <p:spPr>
          <a:xfrm>
            <a:off x="2781291" y="2492448"/>
            <a:ext cx="57348" cy="101676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2824108" y="2514874"/>
            <a:ext cx="57348" cy="102581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ectangle 59"/>
          <p:cNvSpPr/>
          <p:nvPr/>
        </p:nvSpPr>
        <p:spPr>
          <a:xfrm>
            <a:off x="2866926" y="2507467"/>
            <a:ext cx="57348" cy="102293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ectangle 60"/>
          <p:cNvSpPr/>
          <p:nvPr/>
        </p:nvSpPr>
        <p:spPr>
          <a:xfrm>
            <a:off x="2909743" y="2538534"/>
            <a:ext cx="57348" cy="103487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Rectangle 61"/>
          <p:cNvSpPr/>
          <p:nvPr/>
        </p:nvSpPr>
        <p:spPr>
          <a:xfrm>
            <a:off x="2952560" y="2531539"/>
            <a:ext cx="57348" cy="103240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Rectangle 62"/>
          <p:cNvSpPr/>
          <p:nvPr/>
        </p:nvSpPr>
        <p:spPr>
          <a:xfrm>
            <a:off x="2995377" y="2587912"/>
            <a:ext cx="57348" cy="105236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Rectangle 63"/>
          <p:cNvSpPr/>
          <p:nvPr/>
        </p:nvSpPr>
        <p:spPr>
          <a:xfrm>
            <a:off x="3038194" y="2584208"/>
            <a:ext cx="57348" cy="105091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ectangle 64"/>
          <p:cNvSpPr/>
          <p:nvPr/>
        </p:nvSpPr>
        <p:spPr>
          <a:xfrm>
            <a:off x="3081011" y="2633586"/>
            <a:ext cx="57348" cy="106635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ectangle 65"/>
          <p:cNvSpPr/>
          <p:nvPr/>
        </p:nvSpPr>
        <p:spPr>
          <a:xfrm>
            <a:off x="3123828" y="2635232"/>
            <a:ext cx="57348" cy="106696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Rectangle 66"/>
          <p:cNvSpPr/>
          <p:nvPr/>
        </p:nvSpPr>
        <p:spPr>
          <a:xfrm>
            <a:off x="3166646" y="2628854"/>
            <a:ext cx="57348" cy="106511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Rectangle 67"/>
          <p:cNvSpPr/>
          <p:nvPr/>
        </p:nvSpPr>
        <p:spPr>
          <a:xfrm>
            <a:off x="3209463" y="2611572"/>
            <a:ext cx="57348" cy="105976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Rectangle 68"/>
          <p:cNvSpPr/>
          <p:nvPr/>
        </p:nvSpPr>
        <p:spPr>
          <a:xfrm>
            <a:off x="3252280" y="2580299"/>
            <a:ext cx="57348" cy="104989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Rectangle 69"/>
          <p:cNvSpPr/>
          <p:nvPr/>
        </p:nvSpPr>
        <p:spPr>
          <a:xfrm>
            <a:off x="3295097" y="2608280"/>
            <a:ext cx="57348" cy="105894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Rectangle 70"/>
          <p:cNvSpPr/>
          <p:nvPr/>
        </p:nvSpPr>
        <p:spPr>
          <a:xfrm>
            <a:off x="3337914" y="2684609"/>
            <a:ext cx="57348" cy="108013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Rectangle 71"/>
          <p:cNvSpPr/>
          <p:nvPr/>
        </p:nvSpPr>
        <p:spPr>
          <a:xfrm>
            <a:off x="3380731" y="2640581"/>
            <a:ext cx="57348" cy="106840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Rectangle 72"/>
          <p:cNvSpPr/>
          <p:nvPr/>
        </p:nvSpPr>
        <p:spPr>
          <a:xfrm>
            <a:off x="3423548" y="2725346"/>
            <a:ext cx="57348" cy="108939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Rectangle 73"/>
          <p:cNvSpPr/>
          <p:nvPr/>
        </p:nvSpPr>
        <p:spPr>
          <a:xfrm>
            <a:off x="3466365" y="2882943"/>
            <a:ext cx="57348" cy="111428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Rectangle 74"/>
          <p:cNvSpPr/>
          <p:nvPr/>
        </p:nvSpPr>
        <p:spPr>
          <a:xfrm>
            <a:off x="3509183" y="2838297"/>
            <a:ext cx="57348" cy="110914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Rectangle 75"/>
          <p:cNvSpPr/>
          <p:nvPr/>
        </p:nvSpPr>
        <p:spPr>
          <a:xfrm>
            <a:off x="3552000" y="2838914"/>
            <a:ext cx="57348" cy="110935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Rectangle 76"/>
          <p:cNvSpPr/>
          <p:nvPr/>
        </p:nvSpPr>
        <p:spPr>
          <a:xfrm>
            <a:off x="3594817" y="2712178"/>
            <a:ext cx="57348" cy="108671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Rectangle 77"/>
          <p:cNvSpPr/>
          <p:nvPr/>
        </p:nvSpPr>
        <p:spPr>
          <a:xfrm>
            <a:off x="3637634" y="3039922"/>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Rectangle 78"/>
          <p:cNvSpPr/>
          <p:nvPr/>
        </p:nvSpPr>
        <p:spPr>
          <a:xfrm>
            <a:off x="3680451" y="3043214"/>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Rectangle 79"/>
          <p:cNvSpPr/>
          <p:nvPr/>
        </p:nvSpPr>
        <p:spPr>
          <a:xfrm>
            <a:off x="3723268" y="3086420"/>
            <a:ext cx="57348" cy="112251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Rectangle 80"/>
          <p:cNvSpPr/>
          <p:nvPr/>
        </p:nvSpPr>
        <p:spPr>
          <a:xfrm>
            <a:off x="3766086" y="3090123"/>
            <a:ext cx="57348" cy="112251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Rectangle 81"/>
          <p:cNvSpPr/>
          <p:nvPr/>
        </p:nvSpPr>
        <p:spPr>
          <a:xfrm>
            <a:off x="3808903" y="3015645"/>
            <a:ext cx="57348" cy="112251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Rectangle 82"/>
          <p:cNvSpPr/>
          <p:nvPr/>
        </p:nvSpPr>
        <p:spPr>
          <a:xfrm>
            <a:off x="3851720" y="2999186"/>
            <a:ext cx="57348" cy="11223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Rectangle 83"/>
          <p:cNvSpPr/>
          <p:nvPr/>
        </p:nvSpPr>
        <p:spPr>
          <a:xfrm>
            <a:off x="3894537" y="2959684"/>
            <a:ext cx="57348" cy="112046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Rectangle 84"/>
          <p:cNvSpPr/>
          <p:nvPr/>
        </p:nvSpPr>
        <p:spPr>
          <a:xfrm>
            <a:off x="3937354" y="2887675"/>
            <a:ext cx="57348" cy="11149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ectangle 85"/>
          <p:cNvSpPr/>
          <p:nvPr/>
        </p:nvSpPr>
        <p:spPr>
          <a:xfrm>
            <a:off x="3980171" y="2901459"/>
            <a:ext cx="57348" cy="111634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Rectangle 86"/>
          <p:cNvSpPr/>
          <p:nvPr/>
        </p:nvSpPr>
        <p:spPr>
          <a:xfrm>
            <a:off x="4022988" y="2887263"/>
            <a:ext cx="57348" cy="11149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Rectangle 87"/>
          <p:cNvSpPr/>
          <p:nvPr/>
        </p:nvSpPr>
        <p:spPr>
          <a:xfrm>
            <a:off x="4065806" y="2886440"/>
            <a:ext cx="57348" cy="11149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Rectangle 88"/>
          <p:cNvSpPr/>
          <p:nvPr/>
        </p:nvSpPr>
        <p:spPr>
          <a:xfrm>
            <a:off x="4108623" y="2859900"/>
            <a:ext cx="57348" cy="111202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Rectangle 89"/>
          <p:cNvSpPr/>
          <p:nvPr/>
        </p:nvSpPr>
        <p:spPr>
          <a:xfrm>
            <a:off x="4151440" y="2864838"/>
            <a:ext cx="57348" cy="1112436"/>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Rectangle 90"/>
          <p:cNvSpPr/>
          <p:nvPr/>
        </p:nvSpPr>
        <p:spPr>
          <a:xfrm>
            <a:off x="4194257" y="2858048"/>
            <a:ext cx="57348" cy="111161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Rectangle 91"/>
          <p:cNvSpPr/>
          <p:nvPr/>
        </p:nvSpPr>
        <p:spPr>
          <a:xfrm>
            <a:off x="4237074" y="2842000"/>
            <a:ext cx="57348" cy="110976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Rectangle 92"/>
          <p:cNvSpPr/>
          <p:nvPr/>
        </p:nvSpPr>
        <p:spPr>
          <a:xfrm>
            <a:off x="4279891" y="2855579"/>
            <a:ext cx="57348" cy="111140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ectangle 93"/>
          <p:cNvSpPr/>
          <p:nvPr/>
        </p:nvSpPr>
        <p:spPr>
          <a:xfrm>
            <a:off x="4322708" y="2976143"/>
            <a:ext cx="57348" cy="112128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Rectangle 94"/>
          <p:cNvSpPr/>
          <p:nvPr/>
        </p:nvSpPr>
        <p:spPr>
          <a:xfrm>
            <a:off x="4365526" y="2962358"/>
            <a:ext cx="57348" cy="112066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Rectangle 95"/>
          <p:cNvSpPr/>
          <p:nvPr/>
        </p:nvSpPr>
        <p:spPr>
          <a:xfrm>
            <a:off x="4408343" y="2941579"/>
            <a:ext cx="57348" cy="111943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Rectangle 96"/>
          <p:cNvSpPr/>
          <p:nvPr/>
        </p:nvSpPr>
        <p:spPr>
          <a:xfrm>
            <a:off x="4451160" y="2942196"/>
            <a:ext cx="57348" cy="111943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Rectangle 97"/>
          <p:cNvSpPr/>
          <p:nvPr/>
        </p:nvSpPr>
        <p:spPr>
          <a:xfrm>
            <a:off x="4493977" y="2958244"/>
            <a:ext cx="57348" cy="112046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Rectangle 98"/>
          <p:cNvSpPr/>
          <p:nvPr/>
        </p:nvSpPr>
        <p:spPr>
          <a:xfrm>
            <a:off x="4536794" y="2956803"/>
            <a:ext cx="57348" cy="112025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Rectangle 99"/>
          <p:cNvSpPr/>
          <p:nvPr/>
        </p:nvSpPr>
        <p:spPr>
          <a:xfrm>
            <a:off x="4579611" y="2961741"/>
            <a:ext cx="57348" cy="112066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Rectangle 100"/>
          <p:cNvSpPr/>
          <p:nvPr/>
        </p:nvSpPr>
        <p:spPr>
          <a:xfrm>
            <a:off x="4622428" y="2980669"/>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Rectangle 101"/>
          <p:cNvSpPr/>
          <p:nvPr/>
        </p:nvSpPr>
        <p:spPr>
          <a:xfrm>
            <a:off x="4665246" y="3040128"/>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Rectangle 102"/>
          <p:cNvSpPr/>
          <p:nvPr/>
        </p:nvSpPr>
        <p:spPr>
          <a:xfrm>
            <a:off x="4708063" y="3031075"/>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Rectangle 103"/>
          <p:cNvSpPr/>
          <p:nvPr/>
        </p:nvSpPr>
        <p:spPr>
          <a:xfrm>
            <a:off x="4750880" y="3069755"/>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Rectangle 104"/>
          <p:cNvSpPr/>
          <p:nvPr/>
        </p:nvSpPr>
        <p:spPr>
          <a:xfrm>
            <a:off x="4793697" y="2997746"/>
            <a:ext cx="57348" cy="11221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Rectangle 105"/>
          <p:cNvSpPr/>
          <p:nvPr/>
        </p:nvSpPr>
        <p:spPr>
          <a:xfrm>
            <a:off x="4836514" y="2978612"/>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Rectangle 106"/>
          <p:cNvSpPr/>
          <p:nvPr/>
        </p:nvSpPr>
        <p:spPr>
          <a:xfrm>
            <a:off x="4879331" y="3004329"/>
            <a:ext cx="57348" cy="11223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Rectangle 107"/>
          <p:cNvSpPr/>
          <p:nvPr/>
        </p:nvSpPr>
        <p:spPr>
          <a:xfrm>
            <a:off x="4922148" y="3017085"/>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Rectangle 108"/>
          <p:cNvSpPr/>
          <p:nvPr/>
        </p:nvSpPr>
        <p:spPr>
          <a:xfrm>
            <a:off x="4964966" y="3015851"/>
            <a:ext cx="57348" cy="112251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Rectangle 109"/>
          <p:cNvSpPr/>
          <p:nvPr/>
        </p:nvSpPr>
        <p:spPr>
          <a:xfrm>
            <a:off x="5007783" y="3122218"/>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Rectangle 110"/>
          <p:cNvSpPr/>
          <p:nvPr/>
        </p:nvSpPr>
        <p:spPr>
          <a:xfrm>
            <a:off x="5050600" y="3122218"/>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Rectangle 111"/>
          <p:cNvSpPr/>
          <p:nvPr/>
        </p:nvSpPr>
        <p:spPr>
          <a:xfrm>
            <a:off x="5093417" y="3074281"/>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Rectangle 112"/>
          <p:cNvSpPr/>
          <p:nvPr/>
        </p:nvSpPr>
        <p:spPr>
          <a:xfrm>
            <a:off x="5136234" y="3073458"/>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Rectangle 113"/>
          <p:cNvSpPr/>
          <p:nvPr/>
        </p:nvSpPr>
        <p:spPr>
          <a:xfrm>
            <a:off x="5179051" y="3101439"/>
            <a:ext cx="57348" cy="11223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Rectangle 114"/>
          <p:cNvSpPr/>
          <p:nvPr/>
        </p:nvSpPr>
        <p:spPr>
          <a:xfrm>
            <a:off x="5221868" y="3095472"/>
            <a:ext cx="57348" cy="11223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Rectangle 115"/>
          <p:cNvSpPr/>
          <p:nvPr/>
        </p:nvSpPr>
        <p:spPr>
          <a:xfrm>
            <a:off x="5264686" y="3097735"/>
            <a:ext cx="57348" cy="112231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Rectangle 116"/>
          <p:cNvSpPr/>
          <p:nvPr/>
        </p:nvSpPr>
        <p:spPr>
          <a:xfrm>
            <a:off x="5307503" y="3066051"/>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Rectangle 117"/>
          <p:cNvSpPr/>
          <p:nvPr/>
        </p:nvSpPr>
        <p:spPr>
          <a:xfrm>
            <a:off x="5350320" y="3076750"/>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Rectangle 118"/>
          <p:cNvSpPr/>
          <p:nvPr/>
        </p:nvSpPr>
        <p:spPr>
          <a:xfrm>
            <a:off x="5393137" y="3077161"/>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Rectangle 119"/>
          <p:cNvSpPr/>
          <p:nvPr/>
        </p:nvSpPr>
        <p:spPr>
          <a:xfrm>
            <a:off x="5435954" y="3080453"/>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Rectangle 120"/>
          <p:cNvSpPr/>
          <p:nvPr/>
        </p:nvSpPr>
        <p:spPr>
          <a:xfrm>
            <a:off x="5478771" y="3119132"/>
            <a:ext cx="57348" cy="112169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Rectangle 121"/>
          <p:cNvSpPr/>
          <p:nvPr/>
        </p:nvSpPr>
        <p:spPr>
          <a:xfrm>
            <a:off x="5521588" y="3131271"/>
            <a:ext cx="57348" cy="112107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Rectangle 122"/>
          <p:cNvSpPr/>
          <p:nvPr/>
        </p:nvSpPr>
        <p:spPr>
          <a:xfrm>
            <a:off x="5564406" y="3116252"/>
            <a:ext cx="57348" cy="112169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Rectangle 123"/>
          <p:cNvSpPr/>
          <p:nvPr/>
        </p:nvSpPr>
        <p:spPr>
          <a:xfrm>
            <a:off x="5607223" y="3108228"/>
            <a:ext cx="57348" cy="11221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Rectangle 124"/>
          <p:cNvSpPr/>
          <p:nvPr/>
        </p:nvSpPr>
        <p:spPr>
          <a:xfrm>
            <a:off x="5650040" y="3057410"/>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Rectangle 125"/>
          <p:cNvSpPr/>
          <p:nvPr/>
        </p:nvSpPr>
        <p:spPr>
          <a:xfrm>
            <a:off x="5692857" y="3056793"/>
            <a:ext cx="57348" cy="112292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Rectangle 126"/>
          <p:cNvSpPr/>
          <p:nvPr/>
        </p:nvSpPr>
        <p:spPr>
          <a:xfrm>
            <a:off x="5735674" y="3067697"/>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Rectangle 127"/>
          <p:cNvSpPr/>
          <p:nvPr/>
        </p:nvSpPr>
        <p:spPr>
          <a:xfrm>
            <a:off x="5778491" y="3032721"/>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Rectangle 128"/>
          <p:cNvSpPr/>
          <p:nvPr/>
        </p:nvSpPr>
        <p:spPr>
          <a:xfrm>
            <a:off x="5821308" y="3171596"/>
            <a:ext cx="57348" cy="111881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Rectangle 129"/>
          <p:cNvSpPr/>
          <p:nvPr/>
        </p:nvSpPr>
        <p:spPr>
          <a:xfrm>
            <a:off x="5864126" y="2807642"/>
            <a:ext cx="57348" cy="11048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Rectangle 130"/>
          <p:cNvSpPr/>
          <p:nvPr/>
        </p:nvSpPr>
        <p:spPr>
          <a:xfrm>
            <a:off x="5906943" y="2837886"/>
            <a:ext cx="57348" cy="110914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ectangle 131"/>
          <p:cNvSpPr/>
          <p:nvPr/>
        </p:nvSpPr>
        <p:spPr>
          <a:xfrm>
            <a:off x="5949760" y="2815460"/>
            <a:ext cx="57348" cy="110605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Rectangle 132"/>
          <p:cNvSpPr/>
          <p:nvPr/>
        </p:nvSpPr>
        <p:spPr>
          <a:xfrm>
            <a:off x="5992577" y="3002478"/>
            <a:ext cx="57348" cy="11221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Rectangle 133"/>
          <p:cNvSpPr/>
          <p:nvPr/>
        </p:nvSpPr>
        <p:spPr>
          <a:xfrm>
            <a:off x="6035394" y="3078190"/>
            <a:ext cx="57348" cy="112272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Rectangle 134"/>
          <p:cNvSpPr/>
          <p:nvPr/>
        </p:nvSpPr>
        <p:spPr>
          <a:xfrm>
            <a:off x="6078211" y="3109051"/>
            <a:ext cx="57348" cy="112190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Rectangle 135"/>
          <p:cNvSpPr/>
          <p:nvPr/>
        </p:nvSpPr>
        <p:spPr>
          <a:xfrm>
            <a:off x="6121028" y="3111726"/>
            <a:ext cx="57348" cy="112190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Rectangle 136"/>
          <p:cNvSpPr/>
          <p:nvPr/>
        </p:nvSpPr>
        <p:spPr>
          <a:xfrm>
            <a:off x="6163846" y="3208012"/>
            <a:ext cx="57348" cy="111613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Rectangle 137"/>
          <p:cNvSpPr/>
          <p:nvPr/>
        </p:nvSpPr>
        <p:spPr>
          <a:xfrm>
            <a:off x="6206663" y="3239079"/>
            <a:ext cx="57348" cy="111325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Rectangle 138"/>
          <p:cNvSpPr/>
          <p:nvPr/>
        </p:nvSpPr>
        <p:spPr>
          <a:xfrm>
            <a:off x="6249480" y="3196079"/>
            <a:ext cx="57348" cy="111716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ectangle 139"/>
          <p:cNvSpPr/>
          <p:nvPr/>
        </p:nvSpPr>
        <p:spPr>
          <a:xfrm>
            <a:off x="6292297" y="3222002"/>
            <a:ext cx="57348" cy="11149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Rectangle 140"/>
          <p:cNvSpPr/>
          <p:nvPr/>
        </p:nvSpPr>
        <p:spPr>
          <a:xfrm>
            <a:off x="6335114" y="3104730"/>
            <a:ext cx="57348" cy="11221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Rectangle 141"/>
          <p:cNvSpPr/>
          <p:nvPr/>
        </p:nvSpPr>
        <p:spPr>
          <a:xfrm>
            <a:off x="6377931" y="3109874"/>
            <a:ext cx="57348" cy="112210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Rectangle 142"/>
          <p:cNvSpPr/>
          <p:nvPr/>
        </p:nvSpPr>
        <p:spPr>
          <a:xfrm>
            <a:off x="6420748" y="3121807"/>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Rectangle 143"/>
          <p:cNvSpPr/>
          <p:nvPr/>
        </p:nvSpPr>
        <p:spPr>
          <a:xfrm>
            <a:off x="6463566" y="3121807"/>
            <a:ext cx="57348" cy="112148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5" name="Connector 144"/>
          <p:cNvCxnSpPr/>
          <p:nvPr/>
        </p:nvCxnSpPr>
        <p:spPr>
          <a:xfrm>
            <a:off x="1097280" y="3611880"/>
            <a:ext cx="539496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46" name="Oval 145"/>
          <p:cNvSpPr/>
          <p:nvPr/>
        </p:nvSpPr>
        <p:spPr>
          <a:xfrm>
            <a:off x="1074420" y="361206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1117237" y="345035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1160054" y="341907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1202871" y="34059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1245688" y="32156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1288505" y="327074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1331322" y="326868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1374140" y="32234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1416957" y="33513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1459774" y="33441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1502591" y="33404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1545408" y="327197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1588225" y="326580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1631042" y="326580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1673860" y="32306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1716677" y="322835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1759494" y="31835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1802311" y="31765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1845128" y="31538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1887945" y="316684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1930762" y="314853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1973580" y="30477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2016397" y="311190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2059214" y="313289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2102031" y="303043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2144848" y="30674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2187665" y="310532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2230482" y="314853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2273300" y="32219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2316117" y="32586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2358934" y="32363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2401751" y="318947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2444568" y="311910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2487385" y="309915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2530202" y="30549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2573020" y="30606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2615837" y="306356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2658654" y="29713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2701471" y="295883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2744288" y="29510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2787105" y="293394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2829922" y="296233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2872740" y="29528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2915557" y="299216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2958374" y="298352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3001191" y="30538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3044008" y="30491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3086825" y="311005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3129642" y="311211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3172460" y="31042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3215277" y="308310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3258094" y="30444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3300911" y="30789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3343728" y="317198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3386545" y="311849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3429362" y="322053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3472180" y="340344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3514997" y="335262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3557814" y="335344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3600631" y="320490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3643448" y="35777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3686265" y="35812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3729082" y="362769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3771900" y="363160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3814717" y="355116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3857534" y="353326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3900351" y="348964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3943168" y="340899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3985985" y="34246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4028802" y="34085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4071619" y="340755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4114437" y="33775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4157254" y="338286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4200071" y="337525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4242888" y="335694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4285705" y="33725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4328522" y="35077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4371340" y="349252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4414157" y="34696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4456974" y="347030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4499791" y="348820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4542608" y="34863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4585425" y="349191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4628242" y="35128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4671060" y="357791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4713877" y="356803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4756694" y="360979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4799511" y="35316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4842328" y="35106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4885145" y="35388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4927962" y="355280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4970780" y="35513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5013597" y="366576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5056414" y="366576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5099231" y="36147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5142048" y="361391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5184865" y="364374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5227682" y="363736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5270500" y="36398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5313317" y="36058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5356134" y="361741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5398951" y="36178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5441768" y="362132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5484585" y="366267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5527402" y="367543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5570220" y="36595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5613037" y="365094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5655854" y="359663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5698671" y="359580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5741488" y="360753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5784305" y="35698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5827122" y="371760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5869940" y="33172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5912757" y="335221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5955574" y="33262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5998391" y="353676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6041208" y="36188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6084025" y="365177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6126842" y="365465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6169660" y="375546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6212477" y="378735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6255294" y="374332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6298111" y="37700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6340928" y="364724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6383745" y="365279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6426562" y="366534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6469380" y="36655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73" name="Connector 272"/>
          <p:cNvCxnSpPr/>
          <p:nvPr/>
        </p:nvCxnSpPr>
        <p:spPr>
          <a:xfrm>
            <a:off x="1097280" y="2957626"/>
            <a:ext cx="5394960" cy="0"/>
          </a:xfrm>
          <a:prstGeom prst="line">
            <a:avLst/>
          </a:prstGeom>
          <a:ln w="6350">
            <a:solidFill>
              <a:srgbClr val="DB0011"/>
            </a:solidFill>
          </a:ln>
        </p:spPr>
        <p:style>
          <a:lnRef idx="2">
            <a:schemeClr val="accent1"/>
          </a:lnRef>
          <a:fillRef idx="0">
            <a:schemeClr val="accent1"/>
          </a:fillRef>
          <a:effectRef idx="1">
            <a:schemeClr val="accent1"/>
          </a:effectRef>
          <a:fontRef idx="minor">
            <a:schemeClr val="tx1"/>
          </a:fontRef>
        </p:style>
      </p:cxnSp>
      <p:sp>
        <p:nvSpPr>
          <p:cNvPr id="274" name="TextBox 273"/>
          <p:cNvSpPr txBox="1"/>
          <p:nvPr/>
        </p:nvSpPr>
        <p:spPr>
          <a:xfrm>
            <a:off x="6565392" y="2875330"/>
            <a:ext cx="1188720"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+0.32 high</a:t>
            </a:r>
          </a:p>
        </p:txBody>
      </p:sp>
      <p:cxnSp>
        <p:nvCxnSpPr>
          <p:cNvPr id="275" name="Connector 274"/>
          <p:cNvCxnSpPr/>
          <p:nvPr/>
        </p:nvCxnSpPr>
        <p:spPr>
          <a:xfrm>
            <a:off x="1097280" y="3809390"/>
            <a:ext cx="5394960" cy="0"/>
          </a:xfrm>
          <a:prstGeom prst="line">
            <a:avLst/>
          </a:prstGeom>
          <a:ln w="6350">
            <a:solidFill>
              <a:srgbClr val="DB0011"/>
            </a:solidFill>
          </a:ln>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6565392" y="3727094"/>
            <a:ext cx="1188720" cy="164592"/>
          </a:xfrm>
          <a:prstGeom prst="rect">
            <a:avLst/>
          </a:prstGeom>
          <a:noFill/>
        </p:spPr>
        <p:txBody>
          <a:bodyPr wrap="none" lIns="0" tIns="0" rIns="0" bIns="0" anchor="t">
            <a:spAutoFit/>
          </a:bodyPr>
          <a:lstStyle/>
          <a:p>
            <a:pPr algn="l">
              <a:lnSpc>
                <a:spcPct val="100000"/>
              </a:lnSpc>
              <a:spcAft>
                <a:spcPts val="0"/>
              </a:spcAft>
            </a:pPr>
            <a:r>
              <a:rPr sz="750" b="1" i="0">
                <a:solidFill>
                  <a:srgbClr val="DB0011"/>
                </a:solidFill>
                <a:latin typeface="Arial"/>
              </a:rPr>
              <a:t>-0.10 low</a:t>
            </a:r>
          </a:p>
        </p:txBody>
      </p:sp>
      <p:sp>
        <p:nvSpPr>
          <p:cNvPr id="277" name="TextBox 276"/>
          <p:cNvSpPr txBox="1"/>
          <p:nvPr/>
        </p:nvSpPr>
        <p:spPr>
          <a:xfrm>
            <a:off x="1097280" y="2176272"/>
            <a:ext cx="219456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rho +0.6</a:t>
            </a:r>
          </a:p>
        </p:txBody>
      </p:sp>
      <p:sp>
        <p:nvSpPr>
          <p:cNvPr id="278" name="TextBox 277"/>
          <p:cNvSpPr txBox="1"/>
          <p:nvPr/>
        </p:nvSpPr>
        <p:spPr>
          <a:xfrm>
            <a:off x="1097280" y="4901184"/>
            <a:ext cx="219456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rho -0.6</a:t>
            </a:r>
          </a:p>
        </p:txBody>
      </p:sp>
      <p:sp>
        <p:nvSpPr>
          <p:cNvPr id="279" name="TextBox 278"/>
          <p:cNvSpPr txBox="1"/>
          <p:nvPr/>
        </p:nvSpPr>
        <p:spPr>
          <a:xfrm>
            <a:off x="1097280" y="5065776"/>
            <a:ext cx="219456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2024-02</a:t>
            </a:r>
          </a:p>
        </p:txBody>
      </p:sp>
      <p:sp>
        <p:nvSpPr>
          <p:cNvPr id="280" name="TextBox 279"/>
          <p:cNvSpPr txBox="1"/>
          <p:nvPr/>
        </p:nvSpPr>
        <p:spPr>
          <a:xfrm>
            <a:off x="4297680" y="5065776"/>
            <a:ext cx="219456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2026-07</a:t>
            </a:r>
          </a:p>
        </p:txBody>
      </p:sp>
      <p:sp>
        <p:nvSpPr>
          <p:cNvPr id="281" name="TextBox 280"/>
          <p:cNvSpPr txBox="1"/>
          <p:nvPr/>
        </p:nvSpPr>
        <p:spPr>
          <a:xfrm>
            <a:off x="7223760" y="2011680"/>
            <a:ext cx="457200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What it is worth</a:t>
            </a:r>
          </a:p>
        </p:txBody>
      </p:sp>
      <p:sp>
        <p:nvSpPr>
          <p:cNvPr id="282" name="Rectangle 281"/>
          <p:cNvSpPr/>
          <p:nvPr/>
        </p:nvSpPr>
        <p:spPr>
          <a:xfrm>
            <a:off x="7863840" y="2377440"/>
            <a:ext cx="3840480" cy="24688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7845552" y="255947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7869554" y="257165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7893558" y="258379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7917561" y="259590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7941564" y="260796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7965567" y="261999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7989570" y="263199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8013573" y="264395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8037576" y="265587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8061579" y="266776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8085581" y="267961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8109585" y="269143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8133588" y="270321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8157591" y="271496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8181594" y="272667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8205597" y="273835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8229600" y="275000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8253602" y="276162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8277606" y="277320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8301608" y="278475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8325612" y="279626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8349615" y="280775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8373618" y="281920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8397621" y="283063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8421624" y="284202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8445627" y="285338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8469630" y="286471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8493633" y="287601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8517636" y="288727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8541639" y="289851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8565642" y="290972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8589645" y="292090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8613648" y="293205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8637651" y="294317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8661654" y="295427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8685657" y="296533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8709660" y="297637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8733663" y="298737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8757666" y="299835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Oval 321"/>
          <p:cNvSpPr/>
          <p:nvPr/>
        </p:nvSpPr>
        <p:spPr>
          <a:xfrm>
            <a:off x="8781669" y="300931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Oval 322"/>
          <p:cNvSpPr/>
          <p:nvPr/>
        </p:nvSpPr>
        <p:spPr>
          <a:xfrm>
            <a:off x="8805672" y="302023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8829675" y="303113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8853678" y="304200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8877681" y="305284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8901684" y="306366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Oval 327"/>
          <p:cNvSpPr/>
          <p:nvPr/>
        </p:nvSpPr>
        <p:spPr>
          <a:xfrm>
            <a:off x="8925687" y="307445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Oval 328"/>
          <p:cNvSpPr/>
          <p:nvPr/>
        </p:nvSpPr>
        <p:spPr>
          <a:xfrm>
            <a:off x="8949690" y="308521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8973693" y="309595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8997696" y="310666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9021699" y="311735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9045702" y="31280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9069705" y="313865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9093708" y="314926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9117711" y="315984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9141714" y="317040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9165717" y="318094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9189720" y="319145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9213723" y="320194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1" name="Oval 340"/>
          <p:cNvSpPr/>
          <p:nvPr/>
        </p:nvSpPr>
        <p:spPr>
          <a:xfrm>
            <a:off x="9237726" y="321240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2" name="Oval 341"/>
          <p:cNvSpPr/>
          <p:nvPr/>
        </p:nvSpPr>
        <p:spPr>
          <a:xfrm>
            <a:off x="9261729" y="322284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3" name="Oval 342"/>
          <p:cNvSpPr/>
          <p:nvPr/>
        </p:nvSpPr>
        <p:spPr>
          <a:xfrm>
            <a:off x="9285732" y="323325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Oval 343"/>
          <p:cNvSpPr/>
          <p:nvPr/>
        </p:nvSpPr>
        <p:spPr>
          <a:xfrm>
            <a:off x="9309735" y="324364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5" name="Oval 344"/>
          <p:cNvSpPr/>
          <p:nvPr/>
        </p:nvSpPr>
        <p:spPr>
          <a:xfrm>
            <a:off x="9333738" y="325401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Oval 345"/>
          <p:cNvSpPr/>
          <p:nvPr/>
        </p:nvSpPr>
        <p:spPr>
          <a:xfrm>
            <a:off x="9357741" y="326436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7" name="Oval 346"/>
          <p:cNvSpPr/>
          <p:nvPr/>
        </p:nvSpPr>
        <p:spPr>
          <a:xfrm>
            <a:off x="9381744" y="327468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Oval 347"/>
          <p:cNvSpPr/>
          <p:nvPr/>
        </p:nvSpPr>
        <p:spPr>
          <a:xfrm>
            <a:off x="9405747" y="328498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9" name="Oval 348"/>
          <p:cNvSpPr/>
          <p:nvPr/>
        </p:nvSpPr>
        <p:spPr>
          <a:xfrm>
            <a:off x="9429750" y="329525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Oval 349"/>
          <p:cNvSpPr/>
          <p:nvPr/>
        </p:nvSpPr>
        <p:spPr>
          <a:xfrm>
            <a:off x="9453753" y="330551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1" name="Oval 350"/>
          <p:cNvSpPr/>
          <p:nvPr/>
        </p:nvSpPr>
        <p:spPr>
          <a:xfrm>
            <a:off x="9477756" y="331574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Oval 351"/>
          <p:cNvSpPr/>
          <p:nvPr/>
        </p:nvSpPr>
        <p:spPr>
          <a:xfrm>
            <a:off x="9501759" y="332594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3" name="Oval 352"/>
          <p:cNvSpPr/>
          <p:nvPr/>
        </p:nvSpPr>
        <p:spPr>
          <a:xfrm>
            <a:off x="9525762" y="333613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Oval 353"/>
          <p:cNvSpPr/>
          <p:nvPr/>
        </p:nvSpPr>
        <p:spPr>
          <a:xfrm>
            <a:off x="9549765" y="334629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5" name="Oval 354"/>
          <p:cNvSpPr/>
          <p:nvPr/>
        </p:nvSpPr>
        <p:spPr>
          <a:xfrm>
            <a:off x="9573768" y="335643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9597771" y="336655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Oval 356"/>
          <p:cNvSpPr/>
          <p:nvPr/>
        </p:nvSpPr>
        <p:spPr>
          <a:xfrm>
            <a:off x="9621774" y="337665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Oval 357"/>
          <p:cNvSpPr/>
          <p:nvPr/>
        </p:nvSpPr>
        <p:spPr>
          <a:xfrm>
            <a:off x="9645777" y="338673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9" name="Oval 358"/>
          <p:cNvSpPr/>
          <p:nvPr/>
        </p:nvSpPr>
        <p:spPr>
          <a:xfrm>
            <a:off x="9669780" y="339678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Oval 359"/>
          <p:cNvSpPr/>
          <p:nvPr/>
        </p:nvSpPr>
        <p:spPr>
          <a:xfrm>
            <a:off x="9693783" y="340682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1" name="Oval 360"/>
          <p:cNvSpPr/>
          <p:nvPr/>
        </p:nvSpPr>
        <p:spPr>
          <a:xfrm>
            <a:off x="9717786" y="341683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2" name="Oval 361"/>
          <p:cNvSpPr/>
          <p:nvPr/>
        </p:nvSpPr>
        <p:spPr>
          <a:xfrm>
            <a:off x="9741789" y="342682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Oval 362"/>
          <p:cNvSpPr/>
          <p:nvPr/>
        </p:nvSpPr>
        <p:spPr>
          <a:xfrm>
            <a:off x="9765792" y="343679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4" name="Oval 363"/>
          <p:cNvSpPr/>
          <p:nvPr/>
        </p:nvSpPr>
        <p:spPr>
          <a:xfrm>
            <a:off x="9789795" y="344674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5" name="Oval 364"/>
          <p:cNvSpPr/>
          <p:nvPr/>
        </p:nvSpPr>
        <p:spPr>
          <a:xfrm>
            <a:off x="9813798" y="345667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6" name="Oval 365"/>
          <p:cNvSpPr/>
          <p:nvPr/>
        </p:nvSpPr>
        <p:spPr>
          <a:xfrm>
            <a:off x="9837801" y="346658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7" name="Oval 366"/>
          <p:cNvSpPr/>
          <p:nvPr/>
        </p:nvSpPr>
        <p:spPr>
          <a:xfrm>
            <a:off x="9861804" y="347647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8" name="Oval 367"/>
          <p:cNvSpPr/>
          <p:nvPr/>
        </p:nvSpPr>
        <p:spPr>
          <a:xfrm>
            <a:off x="9885807" y="348634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Oval 368"/>
          <p:cNvSpPr/>
          <p:nvPr/>
        </p:nvSpPr>
        <p:spPr>
          <a:xfrm>
            <a:off x="9909810" y="349619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0" name="Oval 369"/>
          <p:cNvSpPr/>
          <p:nvPr/>
        </p:nvSpPr>
        <p:spPr>
          <a:xfrm>
            <a:off x="9933813" y="350601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1" name="Oval 370"/>
          <p:cNvSpPr/>
          <p:nvPr/>
        </p:nvSpPr>
        <p:spPr>
          <a:xfrm>
            <a:off x="9957816" y="351582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2" name="Oval 371"/>
          <p:cNvSpPr/>
          <p:nvPr/>
        </p:nvSpPr>
        <p:spPr>
          <a:xfrm>
            <a:off x="9981819" y="35256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3" name="Oval 372"/>
          <p:cNvSpPr/>
          <p:nvPr/>
        </p:nvSpPr>
        <p:spPr>
          <a:xfrm>
            <a:off x="10005822" y="353538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4" name="Oval 373"/>
          <p:cNvSpPr/>
          <p:nvPr/>
        </p:nvSpPr>
        <p:spPr>
          <a:xfrm>
            <a:off x="10029825" y="354513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5" name="Oval 374"/>
          <p:cNvSpPr/>
          <p:nvPr/>
        </p:nvSpPr>
        <p:spPr>
          <a:xfrm>
            <a:off x="10053828" y="355486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6" name="Oval 375"/>
          <p:cNvSpPr/>
          <p:nvPr/>
        </p:nvSpPr>
        <p:spPr>
          <a:xfrm>
            <a:off x="10077831" y="356457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7" name="Oval 376"/>
          <p:cNvSpPr/>
          <p:nvPr/>
        </p:nvSpPr>
        <p:spPr>
          <a:xfrm>
            <a:off x="10101834" y="357426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8" name="Oval 377"/>
          <p:cNvSpPr/>
          <p:nvPr/>
        </p:nvSpPr>
        <p:spPr>
          <a:xfrm>
            <a:off x="10125837" y="358393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9" name="Oval 378"/>
          <p:cNvSpPr/>
          <p:nvPr/>
        </p:nvSpPr>
        <p:spPr>
          <a:xfrm>
            <a:off x="10149840" y="359359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0" name="Oval 379"/>
          <p:cNvSpPr/>
          <p:nvPr/>
        </p:nvSpPr>
        <p:spPr>
          <a:xfrm>
            <a:off x="10173843" y="360322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1" name="Oval 380"/>
          <p:cNvSpPr/>
          <p:nvPr/>
        </p:nvSpPr>
        <p:spPr>
          <a:xfrm>
            <a:off x="10197846" y="361284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2" name="Oval 381"/>
          <p:cNvSpPr/>
          <p:nvPr/>
        </p:nvSpPr>
        <p:spPr>
          <a:xfrm>
            <a:off x="10221849" y="362243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3" name="Oval 382"/>
          <p:cNvSpPr/>
          <p:nvPr/>
        </p:nvSpPr>
        <p:spPr>
          <a:xfrm>
            <a:off x="10245852" y="363201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4" name="Oval 383"/>
          <p:cNvSpPr/>
          <p:nvPr/>
        </p:nvSpPr>
        <p:spPr>
          <a:xfrm>
            <a:off x="10269855" y="364157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5" name="Oval 384"/>
          <p:cNvSpPr/>
          <p:nvPr/>
        </p:nvSpPr>
        <p:spPr>
          <a:xfrm>
            <a:off x="10293858" y="365112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6" name="Oval 385"/>
          <p:cNvSpPr/>
          <p:nvPr/>
        </p:nvSpPr>
        <p:spPr>
          <a:xfrm>
            <a:off x="10317861" y="366064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7" name="Oval 386"/>
          <p:cNvSpPr/>
          <p:nvPr/>
        </p:nvSpPr>
        <p:spPr>
          <a:xfrm>
            <a:off x="10341864" y="367015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8" name="Oval 387"/>
          <p:cNvSpPr/>
          <p:nvPr/>
        </p:nvSpPr>
        <p:spPr>
          <a:xfrm>
            <a:off x="10365867" y="367963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9" name="Oval 388"/>
          <p:cNvSpPr/>
          <p:nvPr/>
        </p:nvSpPr>
        <p:spPr>
          <a:xfrm>
            <a:off x="10389870" y="368910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0" name="Oval 389"/>
          <p:cNvSpPr/>
          <p:nvPr/>
        </p:nvSpPr>
        <p:spPr>
          <a:xfrm>
            <a:off x="10413873" y="369856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1" name="Oval 390"/>
          <p:cNvSpPr/>
          <p:nvPr/>
        </p:nvSpPr>
        <p:spPr>
          <a:xfrm>
            <a:off x="10437876" y="370799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2" name="Oval 391"/>
          <p:cNvSpPr/>
          <p:nvPr/>
        </p:nvSpPr>
        <p:spPr>
          <a:xfrm>
            <a:off x="10461879" y="371741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3" name="Oval 392"/>
          <p:cNvSpPr/>
          <p:nvPr/>
        </p:nvSpPr>
        <p:spPr>
          <a:xfrm>
            <a:off x="10485882" y="372681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4" name="Oval 393"/>
          <p:cNvSpPr/>
          <p:nvPr/>
        </p:nvSpPr>
        <p:spPr>
          <a:xfrm>
            <a:off x="10509885" y="373619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5" name="Oval 394"/>
          <p:cNvSpPr/>
          <p:nvPr/>
        </p:nvSpPr>
        <p:spPr>
          <a:xfrm>
            <a:off x="10533888" y="374555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6" name="Oval 395"/>
          <p:cNvSpPr/>
          <p:nvPr/>
        </p:nvSpPr>
        <p:spPr>
          <a:xfrm>
            <a:off x="10557891" y="375490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7" name="Oval 396"/>
          <p:cNvSpPr/>
          <p:nvPr/>
        </p:nvSpPr>
        <p:spPr>
          <a:xfrm>
            <a:off x="10581894" y="376423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8" name="Oval 397"/>
          <p:cNvSpPr/>
          <p:nvPr/>
        </p:nvSpPr>
        <p:spPr>
          <a:xfrm>
            <a:off x="10605897" y="377354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9" name="Oval 398"/>
          <p:cNvSpPr/>
          <p:nvPr/>
        </p:nvSpPr>
        <p:spPr>
          <a:xfrm>
            <a:off x="10629900" y="378284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0" name="Oval 399"/>
          <p:cNvSpPr/>
          <p:nvPr/>
        </p:nvSpPr>
        <p:spPr>
          <a:xfrm>
            <a:off x="10653903" y="379212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1" name="Oval 400"/>
          <p:cNvSpPr/>
          <p:nvPr/>
        </p:nvSpPr>
        <p:spPr>
          <a:xfrm>
            <a:off x="10677906" y="380138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2" name="Oval 401"/>
          <p:cNvSpPr/>
          <p:nvPr/>
        </p:nvSpPr>
        <p:spPr>
          <a:xfrm>
            <a:off x="10701909" y="381063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3" name="Oval 402"/>
          <p:cNvSpPr/>
          <p:nvPr/>
        </p:nvSpPr>
        <p:spPr>
          <a:xfrm>
            <a:off x="10725912" y="381986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4" name="Oval 403"/>
          <p:cNvSpPr/>
          <p:nvPr/>
        </p:nvSpPr>
        <p:spPr>
          <a:xfrm>
            <a:off x="10749915" y="382907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5" name="Oval 404"/>
          <p:cNvSpPr/>
          <p:nvPr/>
        </p:nvSpPr>
        <p:spPr>
          <a:xfrm>
            <a:off x="10773918" y="383827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6" name="Oval 405"/>
          <p:cNvSpPr/>
          <p:nvPr/>
        </p:nvSpPr>
        <p:spPr>
          <a:xfrm>
            <a:off x="10797921" y="384745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7" name="Oval 406"/>
          <p:cNvSpPr/>
          <p:nvPr/>
        </p:nvSpPr>
        <p:spPr>
          <a:xfrm>
            <a:off x="10821924" y="385662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8" name="Oval 407"/>
          <p:cNvSpPr/>
          <p:nvPr/>
        </p:nvSpPr>
        <p:spPr>
          <a:xfrm>
            <a:off x="10845927" y="386576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9" name="Oval 408"/>
          <p:cNvSpPr/>
          <p:nvPr/>
        </p:nvSpPr>
        <p:spPr>
          <a:xfrm>
            <a:off x="10869930" y="387490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0" name="Oval 409"/>
          <p:cNvSpPr/>
          <p:nvPr/>
        </p:nvSpPr>
        <p:spPr>
          <a:xfrm>
            <a:off x="10893933" y="388401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1" name="Oval 410"/>
          <p:cNvSpPr/>
          <p:nvPr/>
        </p:nvSpPr>
        <p:spPr>
          <a:xfrm>
            <a:off x="10917936" y="389311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2" name="Oval 411"/>
          <p:cNvSpPr/>
          <p:nvPr/>
        </p:nvSpPr>
        <p:spPr>
          <a:xfrm>
            <a:off x="10941939" y="390220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3" name="Oval 412"/>
          <p:cNvSpPr/>
          <p:nvPr/>
        </p:nvSpPr>
        <p:spPr>
          <a:xfrm>
            <a:off x="10965942" y="391127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4" name="Oval 413"/>
          <p:cNvSpPr/>
          <p:nvPr/>
        </p:nvSpPr>
        <p:spPr>
          <a:xfrm>
            <a:off x="10989945" y="392032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5" name="Oval 414"/>
          <p:cNvSpPr/>
          <p:nvPr/>
        </p:nvSpPr>
        <p:spPr>
          <a:xfrm>
            <a:off x="11013948" y="392936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6" name="Oval 415"/>
          <p:cNvSpPr/>
          <p:nvPr/>
        </p:nvSpPr>
        <p:spPr>
          <a:xfrm>
            <a:off x="11037951" y="3938384"/>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7" name="Oval 416"/>
          <p:cNvSpPr/>
          <p:nvPr/>
        </p:nvSpPr>
        <p:spPr>
          <a:xfrm>
            <a:off x="11061954" y="394739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8" name="Oval 417"/>
          <p:cNvSpPr/>
          <p:nvPr/>
        </p:nvSpPr>
        <p:spPr>
          <a:xfrm>
            <a:off x="11085957" y="395638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9" name="Oval 418"/>
          <p:cNvSpPr/>
          <p:nvPr/>
        </p:nvSpPr>
        <p:spPr>
          <a:xfrm>
            <a:off x="11109960" y="3965359"/>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0" name="Oval 419"/>
          <p:cNvSpPr/>
          <p:nvPr/>
        </p:nvSpPr>
        <p:spPr>
          <a:xfrm>
            <a:off x="11133963" y="397432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1" name="Oval 420"/>
          <p:cNvSpPr/>
          <p:nvPr/>
        </p:nvSpPr>
        <p:spPr>
          <a:xfrm>
            <a:off x="11157966" y="398326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2" name="Oval 421"/>
          <p:cNvSpPr/>
          <p:nvPr/>
        </p:nvSpPr>
        <p:spPr>
          <a:xfrm>
            <a:off x="11181969" y="3992197"/>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3" name="Oval 422"/>
          <p:cNvSpPr/>
          <p:nvPr/>
        </p:nvSpPr>
        <p:spPr>
          <a:xfrm>
            <a:off x="11205972" y="400111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4" name="Oval 423"/>
          <p:cNvSpPr/>
          <p:nvPr/>
        </p:nvSpPr>
        <p:spPr>
          <a:xfrm>
            <a:off x="11229975" y="40100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5" name="Oval 424"/>
          <p:cNvSpPr/>
          <p:nvPr/>
        </p:nvSpPr>
        <p:spPr>
          <a:xfrm>
            <a:off x="11253978" y="401890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6" name="Oval 425"/>
          <p:cNvSpPr/>
          <p:nvPr/>
        </p:nvSpPr>
        <p:spPr>
          <a:xfrm>
            <a:off x="11277980" y="402777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7" name="Oval 426"/>
          <p:cNvSpPr/>
          <p:nvPr/>
        </p:nvSpPr>
        <p:spPr>
          <a:xfrm>
            <a:off x="11301984" y="403663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8" name="Oval 427"/>
          <p:cNvSpPr/>
          <p:nvPr/>
        </p:nvSpPr>
        <p:spPr>
          <a:xfrm>
            <a:off x="11325986" y="404547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9" name="Oval 428"/>
          <p:cNvSpPr/>
          <p:nvPr/>
        </p:nvSpPr>
        <p:spPr>
          <a:xfrm>
            <a:off x="11349990" y="405430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0" name="Oval 429"/>
          <p:cNvSpPr/>
          <p:nvPr/>
        </p:nvSpPr>
        <p:spPr>
          <a:xfrm>
            <a:off x="11373992" y="406311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1" name="Oval 430"/>
          <p:cNvSpPr/>
          <p:nvPr/>
        </p:nvSpPr>
        <p:spPr>
          <a:xfrm>
            <a:off x="11397996" y="40719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2" name="Oval 431"/>
          <p:cNvSpPr/>
          <p:nvPr/>
        </p:nvSpPr>
        <p:spPr>
          <a:xfrm>
            <a:off x="11421999" y="408070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3" name="Oval 432"/>
          <p:cNvSpPr/>
          <p:nvPr/>
        </p:nvSpPr>
        <p:spPr>
          <a:xfrm>
            <a:off x="11446002" y="408947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4" name="Oval 433"/>
          <p:cNvSpPr/>
          <p:nvPr/>
        </p:nvSpPr>
        <p:spPr>
          <a:xfrm>
            <a:off x="11470005" y="4098228"/>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5" name="Oval 434"/>
          <p:cNvSpPr/>
          <p:nvPr/>
        </p:nvSpPr>
        <p:spPr>
          <a:xfrm>
            <a:off x="11494008" y="4106971"/>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6" name="Oval 435"/>
          <p:cNvSpPr/>
          <p:nvPr/>
        </p:nvSpPr>
        <p:spPr>
          <a:xfrm>
            <a:off x="11518011" y="4115700"/>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7" name="Oval 436"/>
          <p:cNvSpPr/>
          <p:nvPr/>
        </p:nvSpPr>
        <p:spPr>
          <a:xfrm>
            <a:off x="11542014" y="41244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8" name="Oval 437"/>
          <p:cNvSpPr/>
          <p:nvPr/>
        </p:nvSpPr>
        <p:spPr>
          <a:xfrm>
            <a:off x="11566017" y="413311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9" name="Oval 438"/>
          <p:cNvSpPr/>
          <p:nvPr/>
        </p:nvSpPr>
        <p:spPr>
          <a:xfrm>
            <a:off x="11590020" y="4141803"/>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0" name="Oval 439"/>
          <p:cNvSpPr/>
          <p:nvPr/>
        </p:nvSpPr>
        <p:spPr>
          <a:xfrm>
            <a:off x="11614023" y="415047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1" name="Oval 440"/>
          <p:cNvSpPr/>
          <p:nvPr/>
        </p:nvSpPr>
        <p:spPr>
          <a:xfrm>
            <a:off x="11638026" y="4159136"/>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2" name="Oval 441"/>
          <p:cNvSpPr/>
          <p:nvPr/>
        </p:nvSpPr>
        <p:spPr>
          <a:xfrm>
            <a:off x="11662029" y="4167782"/>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3" name="Oval 442"/>
          <p:cNvSpPr/>
          <p:nvPr/>
        </p:nvSpPr>
        <p:spPr>
          <a:xfrm>
            <a:off x="11686032" y="4176415"/>
            <a:ext cx="36576" cy="36576"/>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4" name="Oval 443"/>
          <p:cNvSpPr/>
          <p:nvPr/>
        </p:nvSpPr>
        <p:spPr>
          <a:xfrm>
            <a:off x="9039301" y="3089490"/>
            <a:ext cx="164592" cy="1645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5" name="TextBox 444"/>
          <p:cNvSpPr txBox="1"/>
          <p:nvPr/>
        </p:nvSpPr>
        <p:spPr>
          <a:xfrm>
            <a:off x="8161477" y="2897466"/>
            <a:ext cx="1920240" cy="164592"/>
          </a:xfrm>
          <a:prstGeom prst="rect">
            <a:avLst/>
          </a:prstGeom>
          <a:noFill/>
        </p:spPr>
        <p:txBody>
          <a:bodyPr wrap="none" lIns="0" tIns="0" rIns="0" bIns="0" anchor="t">
            <a:spAutoFit/>
          </a:bodyPr>
          <a:lstStyle/>
          <a:p>
            <a:pPr algn="ctr">
              <a:lnSpc>
                <a:spcPct val="100000"/>
              </a:lnSpc>
              <a:spcAft>
                <a:spcPts val="0"/>
              </a:spcAft>
            </a:pPr>
            <a:r>
              <a:rPr sz="800" b="1" i="0">
                <a:solidFill>
                  <a:srgbClr val="44546A"/>
                </a:solidFill>
                <a:latin typeface="Arial"/>
              </a:rPr>
              <a:t>today  27%</a:t>
            </a:r>
          </a:p>
        </p:txBody>
      </p:sp>
      <p:sp>
        <p:nvSpPr>
          <p:cNvPr id="446" name="Oval 445"/>
          <p:cNvSpPr/>
          <p:nvPr/>
        </p:nvSpPr>
        <p:spPr>
          <a:xfrm>
            <a:off x="9735388" y="3386713"/>
            <a:ext cx="164592" cy="16459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7" name="TextBox 446"/>
          <p:cNvSpPr txBox="1"/>
          <p:nvPr/>
        </p:nvSpPr>
        <p:spPr>
          <a:xfrm>
            <a:off x="8857564" y="3194689"/>
            <a:ext cx="1920240" cy="164592"/>
          </a:xfrm>
          <a:prstGeom prst="rect">
            <a:avLst/>
          </a:prstGeom>
          <a:noFill/>
        </p:spPr>
        <p:txBody>
          <a:bodyPr wrap="none" lIns="0" tIns="0" rIns="0" bIns="0" anchor="t">
            <a:spAutoFit/>
          </a:bodyPr>
          <a:lstStyle/>
          <a:p>
            <a:pPr algn="ctr">
              <a:lnSpc>
                <a:spcPct val="100000"/>
              </a:lnSpc>
              <a:spcAft>
                <a:spcPts val="0"/>
              </a:spcAft>
            </a:pPr>
            <a:r>
              <a:rPr sz="800" b="1" i="0">
                <a:solidFill>
                  <a:srgbClr val="767576"/>
                </a:solidFill>
                <a:latin typeface="Arial"/>
              </a:rPr>
              <a:t>CI upper  22%</a:t>
            </a:r>
          </a:p>
        </p:txBody>
      </p:sp>
      <p:sp>
        <p:nvSpPr>
          <p:cNvPr id="448" name="Oval 447"/>
          <p:cNvSpPr/>
          <p:nvPr/>
        </p:nvSpPr>
        <p:spPr>
          <a:xfrm>
            <a:off x="10268254" y="3602342"/>
            <a:ext cx="164592" cy="1645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9" name="TextBox 448"/>
          <p:cNvSpPr txBox="1"/>
          <p:nvPr/>
        </p:nvSpPr>
        <p:spPr>
          <a:xfrm>
            <a:off x="9390430" y="3812654"/>
            <a:ext cx="1920240" cy="164592"/>
          </a:xfrm>
          <a:prstGeom prst="rect">
            <a:avLst/>
          </a:prstGeom>
          <a:noFill/>
        </p:spPr>
        <p:txBody>
          <a:bodyPr wrap="none" lIns="0" tIns="0" rIns="0" bIns="0" anchor="t">
            <a:spAutoFit/>
          </a:bodyPr>
          <a:lstStyle/>
          <a:p>
            <a:pPr algn="ctr">
              <a:lnSpc>
                <a:spcPct val="100000"/>
              </a:lnSpc>
              <a:spcAft>
                <a:spcPts val="0"/>
              </a:spcAft>
            </a:pPr>
            <a:r>
              <a:rPr sz="800" b="1" i="0">
                <a:solidFill>
                  <a:srgbClr val="DB0011"/>
                </a:solidFill>
                <a:latin typeface="Arial"/>
              </a:rPr>
              <a:t>worst window  19%</a:t>
            </a:r>
          </a:p>
        </p:txBody>
      </p:sp>
      <p:sp>
        <p:nvSpPr>
          <p:cNvPr id="450" name="TextBox 449"/>
          <p:cNvSpPr txBox="1"/>
          <p:nvPr/>
        </p:nvSpPr>
        <p:spPr>
          <a:xfrm>
            <a:off x="7863840" y="2176272"/>
            <a:ext cx="27432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diversification benefit, %</a:t>
            </a:r>
          </a:p>
        </p:txBody>
      </p:sp>
      <p:sp>
        <p:nvSpPr>
          <p:cNvPr id="451" name="TextBox 450"/>
          <p:cNvSpPr txBox="1"/>
          <p:nvPr/>
        </p:nvSpPr>
        <p:spPr>
          <a:xfrm>
            <a:off x="7863840" y="4901184"/>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rho -0.2</a:t>
            </a:r>
          </a:p>
        </p:txBody>
      </p:sp>
      <p:sp>
        <p:nvSpPr>
          <p:cNvPr id="452" name="TextBox 451"/>
          <p:cNvSpPr txBox="1"/>
          <p:nvPr/>
        </p:nvSpPr>
        <p:spPr>
          <a:xfrm>
            <a:off x="9875520" y="4901184"/>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+0.6</a:t>
            </a:r>
          </a:p>
        </p:txBody>
      </p:sp>
      <p:sp>
        <p:nvSpPr>
          <p:cNvPr id="453" name="TextBox 452"/>
          <p:cNvSpPr txBox="1"/>
          <p:nvPr/>
        </p:nvSpPr>
        <p:spPr>
          <a:xfrm>
            <a:off x="1097280" y="5120640"/>
            <a:ext cx="5669280" cy="329184"/>
          </a:xfrm>
          <a:prstGeom prst="rect">
            <a:avLst/>
          </a:prstGeom>
          <a:noFill/>
        </p:spPr>
        <p:txBody>
          <a:bodyPr wrap="square" lIns="0" tIns="0" rIns="0" bIns="0" anchor="t">
            <a:spAutoFit/>
          </a:bodyPr>
          <a:lstStyle/>
          <a:p>
            <a:pPr algn="l">
              <a:lnSpc>
                <a:spcPct val="118000"/>
              </a:lnSpc>
              <a:spcAft>
                <a:spcPts val="0"/>
              </a:spcAft>
            </a:pPr>
            <a:r>
              <a:rPr sz="850" b="1" i="0">
                <a:solidFill>
                  <a:srgbClr val="DB0011"/>
                </a:solidFill>
                <a:latin typeface="Arial"/>
              </a:rPr>
              <a:t>94% of windows cannot reject zero. </a:t>
            </a:r>
            <a:r>
              <a:rPr sz="850" b="0" i="0">
                <a:solidFill>
                  <a:srgbClr val="000000"/>
                </a:solidFill>
                <a:latin typeface="Arial"/>
              </a:rPr>
              <a:t>The band is wide because 52 weeks is a small sample.</a:t>
            </a:r>
          </a:p>
        </p:txBody>
      </p:sp>
      <p:sp>
        <p:nvSpPr>
          <p:cNvPr id="454" name="Rectangle 453"/>
          <p:cNvSpPr/>
          <p:nvPr/>
        </p:nvSpPr>
        <p:spPr>
          <a:xfrm>
            <a:off x="374904" y="5614416"/>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5" name="TextBox 454"/>
          <p:cNvSpPr txBox="1"/>
          <p:nvPr/>
        </p:nvSpPr>
        <p:spPr>
          <a:xfrm>
            <a:off x="594360" y="5742432"/>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Rho has never left -0.10 to +0.32 on a rolling year. The diversification holds, and at its worst it is worth 19% not 27%.</a:t>
            </a:r>
          </a:p>
        </p:txBody>
      </p:sp>
      <p:sp>
        <p:nvSpPr>
          <p:cNvPr id="456" name="TextBox 455"/>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Rolling 52-week Pearson correlation between CATL weekly returns on 300750 CH and the weekly change in 2s10s, 127 windows. The band is the 95% interval from Fisher's z transform, se = 1 / sqrt(n - 3). Full sample rho is +0.062 on n = 178, interval -0.086 to +0.207, so zero cannot be rejected and neither can +0.20. Diversification benefit is 1 - sqrt(2 + 2 rho) / 2, the two-sleeve case at equal standalone risk. Computed by data-puller/corr_stability.py.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The book, not the sleeves</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Weekly P&amp;L at risk parity, against a fitted normal.</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11</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both sleeves at 6% standalone vol · refresh before use</a:t>
            </a:r>
          </a:p>
        </p:txBody>
      </p:sp>
      <p:sp>
        <p:nvSpPr>
          <p:cNvPr id="16" name="TextBox 15"/>
          <p:cNvSpPr txBox="1"/>
          <p:nvPr/>
        </p:nvSpPr>
        <p:spPr>
          <a:xfrm>
            <a:off x="374904" y="2011680"/>
            <a:ext cx="640080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Weekly book P&amp;L, % of capital</a:t>
            </a:r>
          </a:p>
        </p:txBody>
      </p:sp>
      <p:sp>
        <p:nvSpPr>
          <p:cNvPr id="17" name="Rectangle 16"/>
          <p:cNvSpPr/>
          <p:nvPr/>
        </p:nvSpPr>
        <p:spPr>
          <a:xfrm>
            <a:off x="1097280" y="2377440"/>
            <a:ext cx="5303520" cy="237744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1504988"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709173"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1913359" y="4505498"/>
            <a:ext cx="204185" cy="24938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2116881"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2321067" y="4505498"/>
            <a:ext cx="204185" cy="24938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2525252"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2728775" y="4172989"/>
            <a:ext cx="204185" cy="58189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2932960" y="3757352"/>
            <a:ext cx="204185" cy="9975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3137146" y="4256116"/>
            <a:ext cx="204185" cy="49876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3340668" y="2676698"/>
            <a:ext cx="204185" cy="207818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3544854" y="3092334"/>
            <a:ext cx="204185" cy="166254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3749039" y="2593570"/>
            <a:ext cx="204185" cy="216130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3953225" y="3258589"/>
            <a:ext cx="204185" cy="149629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4156748" y="3591098"/>
            <a:ext cx="204185" cy="116378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4360933" y="3674225"/>
            <a:ext cx="204185" cy="108065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4565119" y="4256116"/>
            <a:ext cx="204185" cy="498763"/>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4768641" y="4089861"/>
            <a:ext cx="204185" cy="665018"/>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4972827" y="4422370"/>
            <a:ext cx="204185" cy="332509"/>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5177012" y="4505498"/>
            <a:ext cx="204185" cy="249381"/>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380535"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5584720" y="4588625"/>
            <a:ext cx="204185" cy="16625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5992428" y="4588625"/>
            <a:ext cx="204185" cy="166254"/>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6196614" y="4671752"/>
            <a:ext cx="204185" cy="83127"/>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76512" y="472703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1217349" y="472553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258186" y="472403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1299024" y="472254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1339861" y="472104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1380698" y="471955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1380698" y="471955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1421402" y="471672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1462107" y="471389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1502811" y="47110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1543516" y="470824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1584220" y="47054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1584220" y="47054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1625057" y="469993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1665895" y="469444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1706732" y="468896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1747569" y="46834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1788406" y="46779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1788406" y="46779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1829243" y="466851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1870080" y="465903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1910917" y="464955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1951754" y="46400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1992591" y="46306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1992591" y="46306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2033296" y="46149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2074000" y="45993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2114705" y="45837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2155409" y="456809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2196114" y="45524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2196114" y="45524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2236951" y="45290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2277788" y="45055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2318625" y="448213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2359462" y="445869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2400300" y="44352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2400300" y="44352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2441137" y="440300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2481974" y="43707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2522811" y="433849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2563648" y="430624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2604485" y="42739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2604485" y="42739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2645190" y="423325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2685894" y="41925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2726599" y="415179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2767303" y="41110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2808008" y="40703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2808008" y="40703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2848845" y="402377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2889682" y="397722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2930519" y="39306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2971356" y="388412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3012193" y="383757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3012193" y="383757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3053030" y="379035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3093867" y="37431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3134704" y="369592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3175542" y="364870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3216379" y="36014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3216379" y="36014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3257083" y="356025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3297788" y="35190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3338492" y="347779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3379197" y="343656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3419901" y="33953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3419901" y="33953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3460738" y="336723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3501575" y="333913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3542413" y="331104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3583250" y="328294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3624087" y="32548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3624087" y="32548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3664924" y="32447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3705761" y="32345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3746598" y="32244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3787435" y="321428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3828272" y="320414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3828272" y="320414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3869109" y="321428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3909946" y="32244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3950784" y="32345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3991621" y="32447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4032458" y="32548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4032458" y="325484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4073162" y="32831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4113867" y="331137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4154571" y="333963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4195276" y="33679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4235980" y="339616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4235980" y="339616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4276817" y="343739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4317655" y="34786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4358492" y="35198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4399329" y="35610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4440166" y="36023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4440166" y="36023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4481003" y="364953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4521840" y="36967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4562677" y="37439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4603514" y="379118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4644351" y="38384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4644351" y="38384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4685056" y="388495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4725760" y="39315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4766465" y="39780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4807169" y="40246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4847874" y="40711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4847874" y="40711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4888711" y="41118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4929548" y="415262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4970385" y="41933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5011222" y="42340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5052059" y="42748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5052059" y="42748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5092897" y="43070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5133734" y="43393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5174571" y="437158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5215408" y="44038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5256245" y="44360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5256245" y="44360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5296950" y="445952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5337654" y="448297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5378359" y="450641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5419063" y="452985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5459768" y="45532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5459768" y="45532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5500605" y="45687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5541442" y="45842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5582279" y="45996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5623116" y="461514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5663953" y="46306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5663953" y="46306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5704790" y="464024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5745627" y="46498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5786464" y="465953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5827302" y="466917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5868139" y="46788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5868139" y="46788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5908843" y="468413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5949548" y="46894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5990252" y="469477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6030957" y="470009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6071661" y="47054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6071661" y="47054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6112498" y="470824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6153335" y="47110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6194173" y="471389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6235010" y="471672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6275847" y="471955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91" name="Connector 190"/>
          <p:cNvCxnSpPr/>
          <p:nvPr/>
        </p:nvCxnSpPr>
        <p:spPr>
          <a:xfrm>
            <a:off x="2582265" y="2377440"/>
            <a:ext cx="0" cy="2377440"/>
          </a:xfrm>
          <a:prstGeom prst="line">
            <a:avLst/>
          </a:prstGeom>
          <a:ln w="12700">
            <a:solidFill>
              <a:srgbClr val="44546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2111578" y="2377440"/>
            <a:ext cx="0" cy="2377440"/>
          </a:xfrm>
          <a:prstGeom prst="line">
            <a:avLst/>
          </a:prstGeom>
          <a:ln w="12700">
            <a:solidFill>
              <a:srgbClr val="DB0011"/>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674037" y="2377440"/>
            <a:ext cx="0" cy="2377440"/>
          </a:xfrm>
          <a:prstGeom prst="line">
            <a:avLst/>
          </a:prstGeom>
          <a:ln w="6350">
            <a:solidFill>
              <a:srgbClr val="DB0011"/>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896465" y="2432304"/>
            <a:ext cx="1371600" cy="146304"/>
          </a:xfrm>
          <a:prstGeom prst="rect">
            <a:avLst/>
          </a:prstGeom>
          <a:noFill/>
        </p:spPr>
        <p:txBody>
          <a:bodyPr wrap="none" lIns="0" tIns="0" rIns="0" bIns="0" anchor="t">
            <a:spAutoFit/>
          </a:bodyPr>
          <a:lstStyle/>
          <a:p>
            <a:pPr algn="ctr">
              <a:lnSpc>
                <a:spcPct val="100000"/>
              </a:lnSpc>
              <a:spcAft>
                <a:spcPts val="0"/>
              </a:spcAft>
            </a:pPr>
            <a:r>
              <a:rPr sz="750" b="1" i="0">
                <a:solidFill>
                  <a:srgbClr val="44546A"/>
                </a:solidFill>
                <a:latin typeface="Arial"/>
              </a:rPr>
              <a:t>VaR95  -1.76%</a:t>
            </a:r>
          </a:p>
        </p:txBody>
      </p:sp>
      <p:sp>
        <p:nvSpPr>
          <p:cNvPr id="195" name="TextBox 194"/>
          <p:cNvSpPr txBox="1"/>
          <p:nvPr/>
        </p:nvSpPr>
        <p:spPr>
          <a:xfrm>
            <a:off x="1425778" y="2651760"/>
            <a:ext cx="1371600" cy="146304"/>
          </a:xfrm>
          <a:prstGeom prst="rect">
            <a:avLst/>
          </a:prstGeom>
          <a:noFill/>
        </p:spPr>
        <p:txBody>
          <a:bodyPr wrap="none" lIns="0" tIns="0" rIns="0" bIns="0" anchor="t">
            <a:spAutoFit/>
          </a:bodyPr>
          <a:lstStyle/>
          <a:p>
            <a:pPr algn="ctr">
              <a:lnSpc>
                <a:spcPct val="100000"/>
              </a:lnSpc>
              <a:spcAft>
                <a:spcPts val="0"/>
              </a:spcAft>
            </a:pPr>
            <a:r>
              <a:rPr sz="750" b="1" i="0">
                <a:solidFill>
                  <a:srgbClr val="DB0011"/>
                </a:solidFill>
                <a:latin typeface="Arial"/>
              </a:rPr>
              <a:t>ES95  -2.47%</a:t>
            </a:r>
          </a:p>
        </p:txBody>
      </p:sp>
      <p:sp>
        <p:nvSpPr>
          <p:cNvPr id="196" name="TextBox 195"/>
          <p:cNvSpPr txBox="1"/>
          <p:nvPr/>
        </p:nvSpPr>
        <p:spPr>
          <a:xfrm>
            <a:off x="988237" y="2871216"/>
            <a:ext cx="1371600" cy="146304"/>
          </a:xfrm>
          <a:prstGeom prst="rect">
            <a:avLst/>
          </a:prstGeom>
          <a:noFill/>
        </p:spPr>
        <p:txBody>
          <a:bodyPr wrap="none" lIns="0" tIns="0" rIns="0" bIns="0" anchor="t">
            <a:spAutoFit/>
          </a:bodyPr>
          <a:lstStyle/>
          <a:p>
            <a:pPr algn="ctr">
              <a:lnSpc>
                <a:spcPct val="100000"/>
              </a:lnSpc>
              <a:spcAft>
                <a:spcPts val="0"/>
              </a:spcAft>
            </a:pPr>
            <a:r>
              <a:rPr sz="750" b="1" i="0">
                <a:solidFill>
                  <a:srgbClr val="DB0011"/>
                </a:solidFill>
                <a:latin typeface="Arial"/>
              </a:rPr>
              <a:t>worst  -3.13%</a:t>
            </a:r>
          </a:p>
        </p:txBody>
      </p:sp>
      <p:sp>
        <p:nvSpPr>
          <p:cNvPr id="197" name="TextBox 196"/>
          <p:cNvSpPr txBox="1"/>
          <p:nvPr/>
        </p:nvSpPr>
        <p:spPr>
          <a:xfrm>
            <a:off x="1097280" y="4809744"/>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-4.0%</a:t>
            </a:r>
          </a:p>
        </p:txBody>
      </p:sp>
      <p:sp>
        <p:nvSpPr>
          <p:cNvPr id="198" name="TextBox 197"/>
          <p:cNvSpPr txBox="1"/>
          <p:nvPr/>
        </p:nvSpPr>
        <p:spPr>
          <a:xfrm>
            <a:off x="4572000" y="4809744"/>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+4.0%</a:t>
            </a:r>
          </a:p>
        </p:txBody>
      </p:sp>
      <p:sp>
        <p:nvSpPr>
          <p:cNvPr id="199" name="TextBox 198"/>
          <p:cNvSpPr txBox="1"/>
          <p:nvPr/>
        </p:nvSpPr>
        <p:spPr>
          <a:xfrm>
            <a:off x="7132320" y="2011680"/>
            <a:ext cx="466344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Against a normal</a:t>
            </a:r>
          </a:p>
        </p:txBody>
      </p:sp>
      <p:sp>
        <p:nvSpPr>
          <p:cNvPr id="200" name="Rectangle 199"/>
          <p:cNvSpPr/>
          <p:nvPr/>
        </p:nvSpPr>
        <p:spPr>
          <a:xfrm>
            <a:off x="7863840" y="2377440"/>
            <a:ext cx="2377440" cy="237744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7850123" y="474116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7897672" y="469361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7945221" y="464606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7992770" y="459851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8040319" y="455096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8087867" y="450342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8135416" y="445587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8182965" y="440832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8230514" y="436077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8278063" y="43132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8325611" y="426567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8373160" y="421812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8420709" y="417057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8468258" y="4123029"/>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8515807" y="407548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8563355" y="402793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8610904" y="398038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8658453" y="393283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8706002" y="388528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8753551" y="383773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8801100" y="379018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8848648" y="3742639"/>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8896197" y="369509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8943746" y="364754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8991295" y="359999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9038844" y="355244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9086392" y="350489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9133941" y="345734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9181490" y="340979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9229039" y="336224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9276588" y="331470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9324136" y="326715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9371685" y="321960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9419234" y="317205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9466783" y="312450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9514332" y="307695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9561880" y="3029407"/>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9609429" y="298185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9656978" y="2934309"/>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9704527" y="288676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9752076" y="283921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9799624" y="2791663"/>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9847173" y="274411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9894722" y="2696565"/>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9942271" y="2649016"/>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9989819" y="2601468"/>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10037368" y="2553919"/>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10084917" y="2506370"/>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10132466" y="2458821"/>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10180015" y="2411272"/>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10227563" y="2363724"/>
            <a:ext cx="27432" cy="27432"/>
          </a:xfrm>
          <a:prstGeom prst="ellipse">
            <a:avLst/>
          </a:prstGeom>
          <a:solidFill>
            <a:srgbClr val="7675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8099348" y="4472641"/>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8233049" y="4453532"/>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8301371" y="4326963"/>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8349038" y="4288716"/>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8386216" y="4280514"/>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8417033" y="4236858"/>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8443512" y="4163603"/>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8466841" y="4135758"/>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8487762" y="4130260"/>
            <a:ext cx="45720" cy="45720"/>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8506811" y="405644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8524315" y="39771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8540571" y="397694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8555757" y="396449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8570021" y="39537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8583513" y="394877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8596322" y="393385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8608536" y="39162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8620185" y="38969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8631389" y="388279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8642147" y="388053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8652519" y="38674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8662534" y="386487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8672222" y="384906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8681613" y="38428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8690766" y="383539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8699622" y="38310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8708270" y="38289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8716710" y="38236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8724941" y="38193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8732965" y="37854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8740841" y="37784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8748538" y="376267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8756086" y="37599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8763486" y="374882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8770767" y="37425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8777929" y="37171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8784942" y="371673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8791837" y="371670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8798642" y="371278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8805358" y="37121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8811956" y="37105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8818464" y="370502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8824913" y="369804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8831243" y="369786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8837513" y="369679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8843724" y="36965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8849846" y="369527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8855879" y="369429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8861882" y="36780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8867796" y="366591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8873680" y="36627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8879505" y="366145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8885270" y="366021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8890976" y="365902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8896652" y="365854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8902269" y="36560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8907826" y="364645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8913354" y="36443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8918851" y="363824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8924319" y="36371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8929728" y="36285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Oval 312"/>
          <p:cNvSpPr/>
          <p:nvPr/>
        </p:nvSpPr>
        <p:spPr>
          <a:xfrm>
            <a:off x="8935137" y="36280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4" name="Oval 313"/>
          <p:cNvSpPr/>
          <p:nvPr/>
        </p:nvSpPr>
        <p:spPr>
          <a:xfrm>
            <a:off x="8940486" y="361905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5" name="Oval 314"/>
          <p:cNvSpPr/>
          <p:nvPr/>
        </p:nvSpPr>
        <p:spPr>
          <a:xfrm>
            <a:off x="8945806" y="361703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6" name="Oval 315"/>
          <p:cNvSpPr/>
          <p:nvPr/>
        </p:nvSpPr>
        <p:spPr>
          <a:xfrm>
            <a:off x="8951095" y="36107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7" name="Oval 316"/>
          <p:cNvSpPr/>
          <p:nvPr/>
        </p:nvSpPr>
        <p:spPr>
          <a:xfrm>
            <a:off x="8956355" y="36103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8" name="Oval 317"/>
          <p:cNvSpPr/>
          <p:nvPr/>
        </p:nvSpPr>
        <p:spPr>
          <a:xfrm>
            <a:off x="8961616" y="36006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9" name="Oval 318"/>
          <p:cNvSpPr/>
          <p:nvPr/>
        </p:nvSpPr>
        <p:spPr>
          <a:xfrm>
            <a:off x="8966816" y="359768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0" name="Oval 319"/>
          <p:cNvSpPr/>
          <p:nvPr/>
        </p:nvSpPr>
        <p:spPr>
          <a:xfrm>
            <a:off x="8972017" y="358695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Oval 320"/>
          <p:cNvSpPr/>
          <p:nvPr/>
        </p:nvSpPr>
        <p:spPr>
          <a:xfrm>
            <a:off x="8977188" y="358312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Oval 321"/>
          <p:cNvSpPr/>
          <p:nvPr/>
        </p:nvSpPr>
        <p:spPr>
          <a:xfrm>
            <a:off x="8982329" y="357875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Oval 322"/>
          <p:cNvSpPr/>
          <p:nvPr/>
        </p:nvSpPr>
        <p:spPr>
          <a:xfrm>
            <a:off x="8987441" y="35749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4" name="Oval 323"/>
          <p:cNvSpPr/>
          <p:nvPr/>
        </p:nvSpPr>
        <p:spPr>
          <a:xfrm>
            <a:off x="8992552" y="357441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5" name="Oval 324"/>
          <p:cNvSpPr/>
          <p:nvPr/>
        </p:nvSpPr>
        <p:spPr>
          <a:xfrm>
            <a:off x="8997663" y="356903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6" name="Oval 325"/>
          <p:cNvSpPr/>
          <p:nvPr/>
        </p:nvSpPr>
        <p:spPr>
          <a:xfrm>
            <a:off x="9002745" y="35633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7" name="Oval 326"/>
          <p:cNvSpPr/>
          <p:nvPr/>
        </p:nvSpPr>
        <p:spPr>
          <a:xfrm>
            <a:off x="9007797" y="355593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8" name="Oval 327"/>
          <p:cNvSpPr/>
          <p:nvPr/>
        </p:nvSpPr>
        <p:spPr>
          <a:xfrm>
            <a:off x="9012849" y="355533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9" name="Oval 328"/>
          <p:cNvSpPr/>
          <p:nvPr/>
        </p:nvSpPr>
        <p:spPr>
          <a:xfrm>
            <a:off x="9017872" y="355292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0" name="Oval 329"/>
          <p:cNvSpPr/>
          <p:nvPr/>
        </p:nvSpPr>
        <p:spPr>
          <a:xfrm>
            <a:off x="9022894" y="35496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1" name="Oval 330"/>
          <p:cNvSpPr/>
          <p:nvPr/>
        </p:nvSpPr>
        <p:spPr>
          <a:xfrm>
            <a:off x="9027916" y="354442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2" name="Oval 331"/>
          <p:cNvSpPr/>
          <p:nvPr/>
        </p:nvSpPr>
        <p:spPr>
          <a:xfrm>
            <a:off x="9032909" y="354330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3" name="Oval 332"/>
          <p:cNvSpPr/>
          <p:nvPr/>
        </p:nvSpPr>
        <p:spPr>
          <a:xfrm>
            <a:off x="9037902" y="354133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4" name="Oval 333"/>
          <p:cNvSpPr/>
          <p:nvPr/>
        </p:nvSpPr>
        <p:spPr>
          <a:xfrm>
            <a:off x="9042894" y="35407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5" name="Oval 334"/>
          <p:cNvSpPr/>
          <p:nvPr/>
        </p:nvSpPr>
        <p:spPr>
          <a:xfrm>
            <a:off x="9047857" y="353628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6" name="Oval 335"/>
          <p:cNvSpPr/>
          <p:nvPr/>
        </p:nvSpPr>
        <p:spPr>
          <a:xfrm>
            <a:off x="9052850" y="35361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7" name="Oval 336"/>
          <p:cNvSpPr/>
          <p:nvPr/>
        </p:nvSpPr>
        <p:spPr>
          <a:xfrm>
            <a:off x="9057813" y="353500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8" name="Oval 337"/>
          <p:cNvSpPr/>
          <p:nvPr/>
        </p:nvSpPr>
        <p:spPr>
          <a:xfrm>
            <a:off x="9062776" y="352962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Oval 338"/>
          <p:cNvSpPr/>
          <p:nvPr/>
        </p:nvSpPr>
        <p:spPr>
          <a:xfrm>
            <a:off x="9067739" y="352734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0" name="Oval 339"/>
          <p:cNvSpPr/>
          <p:nvPr/>
        </p:nvSpPr>
        <p:spPr>
          <a:xfrm>
            <a:off x="9072701" y="352273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1" name="Oval 340"/>
          <p:cNvSpPr/>
          <p:nvPr/>
        </p:nvSpPr>
        <p:spPr>
          <a:xfrm>
            <a:off x="9077664" y="352118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2" name="Oval 341"/>
          <p:cNvSpPr/>
          <p:nvPr/>
        </p:nvSpPr>
        <p:spPr>
          <a:xfrm>
            <a:off x="9082627" y="351774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3" name="Oval 342"/>
          <p:cNvSpPr/>
          <p:nvPr/>
        </p:nvSpPr>
        <p:spPr>
          <a:xfrm>
            <a:off x="9087590" y="35141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4" name="Oval 343"/>
          <p:cNvSpPr/>
          <p:nvPr/>
        </p:nvSpPr>
        <p:spPr>
          <a:xfrm>
            <a:off x="9092553" y="350977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5" name="Oval 344"/>
          <p:cNvSpPr/>
          <p:nvPr/>
        </p:nvSpPr>
        <p:spPr>
          <a:xfrm>
            <a:off x="9097546" y="350582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6" name="Oval 345"/>
          <p:cNvSpPr/>
          <p:nvPr/>
        </p:nvSpPr>
        <p:spPr>
          <a:xfrm>
            <a:off x="9102509" y="350309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7" name="Oval 346"/>
          <p:cNvSpPr/>
          <p:nvPr/>
        </p:nvSpPr>
        <p:spPr>
          <a:xfrm>
            <a:off x="9107501" y="349274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8" name="Oval 347"/>
          <p:cNvSpPr/>
          <p:nvPr/>
        </p:nvSpPr>
        <p:spPr>
          <a:xfrm>
            <a:off x="9112464" y="34920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9" name="Oval 348"/>
          <p:cNvSpPr/>
          <p:nvPr/>
        </p:nvSpPr>
        <p:spPr>
          <a:xfrm>
            <a:off x="9117486" y="348879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0" name="Oval 349"/>
          <p:cNvSpPr/>
          <p:nvPr/>
        </p:nvSpPr>
        <p:spPr>
          <a:xfrm>
            <a:off x="9122479" y="34850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1" name="Oval 350"/>
          <p:cNvSpPr/>
          <p:nvPr/>
        </p:nvSpPr>
        <p:spPr>
          <a:xfrm>
            <a:off x="9127501" y="34776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2" name="Oval 351"/>
          <p:cNvSpPr/>
          <p:nvPr/>
        </p:nvSpPr>
        <p:spPr>
          <a:xfrm>
            <a:off x="9132524" y="34730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3" name="Oval 352"/>
          <p:cNvSpPr/>
          <p:nvPr/>
        </p:nvSpPr>
        <p:spPr>
          <a:xfrm>
            <a:off x="9137546" y="346918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4" name="Oval 353"/>
          <p:cNvSpPr/>
          <p:nvPr/>
        </p:nvSpPr>
        <p:spPr>
          <a:xfrm>
            <a:off x="9142598" y="346427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5" name="Oval 354"/>
          <p:cNvSpPr/>
          <p:nvPr/>
        </p:nvSpPr>
        <p:spPr>
          <a:xfrm>
            <a:off x="9147650" y="346199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6" name="Oval 355"/>
          <p:cNvSpPr/>
          <p:nvPr/>
        </p:nvSpPr>
        <p:spPr>
          <a:xfrm>
            <a:off x="9152732" y="346107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7" name="Oval 356"/>
          <p:cNvSpPr/>
          <p:nvPr/>
        </p:nvSpPr>
        <p:spPr>
          <a:xfrm>
            <a:off x="9157814" y="34579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8" name="Oval 357"/>
          <p:cNvSpPr/>
          <p:nvPr/>
        </p:nvSpPr>
        <p:spPr>
          <a:xfrm>
            <a:off x="9162925" y="344371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9" name="Oval 358"/>
          <p:cNvSpPr/>
          <p:nvPr/>
        </p:nvSpPr>
        <p:spPr>
          <a:xfrm>
            <a:off x="9168067" y="344320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0" name="Oval 359"/>
          <p:cNvSpPr/>
          <p:nvPr/>
        </p:nvSpPr>
        <p:spPr>
          <a:xfrm>
            <a:off x="9173208" y="342751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1" name="Oval 360"/>
          <p:cNvSpPr/>
          <p:nvPr/>
        </p:nvSpPr>
        <p:spPr>
          <a:xfrm>
            <a:off x="9178379" y="342630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2" name="Oval 361"/>
          <p:cNvSpPr/>
          <p:nvPr/>
        </p:nvSpPr>
        <p:spPr>
          <a:xfrm>
            <a:off x="9183579" y="342294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3" name="Oval 362"/>
          <p:cNvSpPr/>
          <p:nvPr/>
        </p:nvSpPr>
        <p:spPr>
          <a:xfrm>
            <a:off x="9188780" y="341301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4" name="Oval 363"/>
          <p:cNvSpPr/>
          <p:nvPr/>
        </p:nvSpPr>
        <p:spPr>
          <a:xfrm>
            <a:off x="9194010" y="340677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5" name="Oval 364"/>
          <p:cNvSpPr/>
          <p:nvPr/>
        </p:nvSpPr>
        <p:spPr>
          <a:xfrm>
            <a:off x="9199270" y="340312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6" name="Oval 365"/>
          <p:cNvSpPr/>
          <p:nvPr/>
        </p:nvSpPr>
        <p:spPr>
          <a:xfrm>
            <a:off x="9204590" y="340080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7" name="Oval 366"/>
          <p:cNvSpPr/>
          <p:nvPr/>
        </p:nvSpPr>
        <p:spPr>
          <a:xfrm>
            <a:off x="9209909" y="339488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8" name="Oval 367"/>
          <p:cNvSpPr/>
          <p:nvPr/>
        </p:nvSpPr>
        <p:spPr>
          <a:xfrm>
            <a:off x="9215259" y="33947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9" name="Oval 368"/>
          <p:cNvSpPr/>
          <p:nvPr/>
        </p:nvSpPr>
        <p:spPr>
          <a:xfrm>
            <a:off x="9220638" y="339453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0" name="Oval 369"/>
          <p:cNvSpPr/>
          <p:nvPr/>
        </p:nvSpPr>
        <p:spPr>
          <a:xfrm>
            <a:off x="9226076" y="33937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1" name="Oval 370"/>
          <p:cNvSpPr/>
          <p:nvPr/>
        </p:nvSpPr>
        <p:spPr>
          <a:xfrm>
            <a:off x="9231514" y="338781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2" name="Oval 371"/>
          <p:cNvSpPr/>
          <p:nvPr/>
        </p:nvSpPr>
        <p:spPr>
          <a:xfrm>
            <a:off x="9237012" y="33845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3" name="Oval 372"/>
          <p:cNvSpPr/>
          <p:nvPr/>
        </p:nvSpPr>
        <p:spPr>
          <a:xfrm>
            <a:off x="9242540" y="33716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4" name="Oval 373"/>
          <p:cNvSpPr/>
          <p:nvPr/>
        </p:nvSpPr>
        <p:spPr>
          <a:xfrm>
            <a:off x="9248127" y="336719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5" name="Oval 374"/>
          <p:cNvSpPr/>
          <p:nvPr/>
        </p:nvSpPr>
        <p:spPr>
          <a:xfrm>
            <a:off x="9253744" y="33623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6" name="Oval 375"/>
          <p:cNvSpPr/>
          <p:nvPr/>
        </p:nvSpPr>
        <p:spPr>
          <a:xfrm>
            <a:off x="9259420" y="335090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7" name="Oval 376"/>
          <p:cNvSpPr/>
          <p:nvPr/>
        </p:nvSpPr>
        <p:spPr>
          <a:xfrm>
            <a:off x="9265125" y="334953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8" name="Oval 377"/>
          <p:cNvSpPr/>
          <p:nvPr/>
        </p:nvSpPr>
        <p:spPr>
          <a:xfrm>
            <a:off x="9270891" y="334888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9" name="Oval 378"/>
          <p:cNvSpPr/>
          <p:nvPr/>
        </p:nvSpPr>
        <p:spPr>
          <a:xfrm>
            <a:off x="9276716" y="334772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0" name="Oval 379"/>
          <p:cNvSpPr/>
          <p:nvPr/>
        </p:nvSpPr>
        <p:spPr>
          <a:xfrm>
            <a:off x="9282570" y="333863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1" name="Oval 380"/>
          <p:cNvSpPr/>
          <p:nvPr/>
        </p:nvSpPr>
        <p:spPr>
          <a:xfrm>
            <a:off x="9288514" y="332817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2" name="Oval 381"/>
          <p:cNvSpPr/>
          <p:nvPr/>
        </p:nvSpPr>
        <p:spPr>
          <a:xfrm>
            <a:off x="9294487" y="332582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3" name="Oval 382"/>
          <p:cNvSpPr/>
          <p:nvPr/>
        </p:nvSpPr>
        <p:spPr>
          <a:xfrm>
            <a:off x="9300549" y="332249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4" name="Oval 383"/>
          <p:cNvSpPr/>
          <p:nvPr/>
        </p:nvSpPr>
        <p:spPr>
          <a:xfrm>
            <a:off x="9306671" y="332017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5" name="Oval 384"/>
          <p:cNvSpPr/>
          <p:nvPr/>
        </p:nvSpPr>
        <p:spPr>
          <a:xfrm>
            <a:off x="9312853" y="331355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6" name="Oval 385"/>
          <p:cNvSpPr/>
          <p:nvPr/>
        </p:nvSpPr>
        <p:spPr>
          <a:xfrm>
            <a:off x="9319123" y="33087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7" name="Oval 386"/>
          <p:cNvSpPr/>
          <p:nvPr/>
        </p:nvSpPr>
        <p:spPr>
          <a:xfrm>
            <a:off x="9325483" y="330609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8" name="Oval 387"/>
          <p:cNvSpPr/>
          <p:nvPr/>
        </p:nvSpPr>
        <p:spPr>
          <a:xfrm>
            <a:off x="9331902" y="329729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9" name="Oval 388"/>
          <p:cNvSpPr/>
          <p:nvPr/>
        </p:nvSpPr>
        <p:spPr>
          <a:xfrm>
            <a:off x="9338410" y="327360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0" name="Oval 389"/>
          <p:cNvSpPr/>
          <p:nvPr/>
        </p:nvSpPr>
        <p:spPr>
          <a:xfrm>
            <a:off x="9345037" y="3268200"/>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1" name="Oval 390"/>
          <p:cNvSpPr/>
          <p:nvPr/>
        </p:nvSpPr>
        <p:spPr>
          <a:xfrm>
            <a:off x="9351724" y="326567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2" name="Oval 391"/>
          <p:cNvSpPr/>
          <p:nvPr/>
        </p:nvSpPr>
        <p:spPr>
          <a:xfrm>
            <a:off x="9358529" y="326558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3" name="Oval 392"/>
          <p:cNvSpPr/>
          <p:nvPr/>
        </p:nvSpPr>
        <p:spPr>
          <a:xfrm>
            <a:off x="9365453" y="32640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4" name="Oval 393"/>
          <p:cNvSpPr/>
          <p:nvPr/>
        </p:nvSpPr>
        <p:spPr>
          <a:xfrm>
            <a:off x="9372467" y="324647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5" name="Oval 394"/>
          <p:cNvSpPr/>
          <p:nvPr/>
        </p:nvSpPr>
        <p:spPr>
          <a:xfrm>
            <a:off x="9379599" y="323782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6" name="Oval 395"/>
          <p:cNvSpPr/>
          <p:nvPr/>
        </p:nvSpPr>
        <p:spPr>
          <a:xfrm>
            <a:off x="9386880" y="322805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7" name="Oval 396"/>
          <p:cNvSpPr/>
          <p:nvPr/>
        </p:nvSpPr>
        <p:spPr>
          <a:xfrm>
            <a:off x="9394280" y="322454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8" name="Oval 397"/>
          <p:cNvSpPr/>
          <p:nvPr/>
        </p:nvSpPr>
        <p:spPr>
          <a:xfrm>
            <a:off x="9401828" y="321851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9" name="Oval 398"/>
          <p:cNvSpPr/>
          <p:nvPr/>
        </p:nvSpPr>
        <p:spPr>
          <a:xfrm>
            <a:off x="9409555" y="319105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0" name="Oval 399"/>
          <p:cNvSpPr/>
          <p:nvPr/>
        </p:nvSpPr>
        <p:spPr>
          <a:xfrm>
            <a:off x="9417401" y="318959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1" name="Oval 400"/>
          <p:cNvSpPr/>
          <p:nvPr/>
        </p:nvSpPr>
        <p:spPr>
          <a:xfrm>
            <a:off x="9425454" y="318103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2" name="Oval 401"/>
          <p:cNvSpPr/>
          <p:nvPr/>
        </p:nvSpPr>
        <p:spPr>
          <a:xfrm>
            <a:off x="9433686" y="318100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3" name="Oval 402"/>
          <p:cNvSpPr/>
          <p:nvPr/>
        </p:nvSpPr>
        <p:spPr>
          <a:xfrm>
            <a:off x="9442096" y="317488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4" name="Oval 403"/>
          <p:cNvSpPr/>
          <p:nvPr/>
        </p:nvSpPr>
        <p:spPr>
          <a:xfrm>
            <a:off x="9450744" y="316989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5" name="Oval 404"/>
          <p:cNvSpPr/>
          <p:nvPr/>
        </p:nvSpPr>
        <p:spPr>
          <a:xfrm>
            <a:off x="9459630" y="3162701"/>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6" name="Oval 405"/>
          <p:cNvSpPr/>
          <p:nvPr/>
        </p:nvSpPr>
        <p:spPr>
          <a:xfrm>
            <a:off x="9468753" y="3161928"/>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7" name="Oval 406"/>
          <p:cNvSpPr/>
          <p:nvPr/>
        </p:nvSpPr>
        <p:spPr>
          <a:xfrm>
            <a:off x="9478144" y="312076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8" name="Oval 407"/>
          <p:cNvSpPr/>
          <p:nvPr/>
        </p:nvSpPr>
        <p:spPr>
          <a:xfrm>
            <a:off x="9487862" y="312023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9" name="Oval 408"/>
          <p:cNvSpPr/>
          <p:nvPr/>
        </p:nvSpPr>
        <p:spPr>
          <a:xfrm>
            <a:off x="9497877" y="307271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0" name="Oval 409"/>
          <p:cNvSpPr/>
          <p:nvPr/>
        </p:nvSpPr>
        <p:spPr>
          <a:xfrm>
            <a:off x="9508248" y="306204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1" name="Oval 410"/>
          <p:cNvSpPr/>
          <p:nvPr/>
        </p:nvSpPr>
        <p:spPr>
          <a:xfrm>
            <a:off x="9519006" y="305494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2" name="Oval 411"/>
          <p:cNvSpPr/>
          <p:nvPr/>
        </p:nvSpPr>
        <p:spPr>
          <a:xfrm>
            <a:off x="9530180" y="304831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3" name="Oval 412"/>
          <p:cNvSpPr/>
          <p:nvPr/>
        </p:nvSpPr>
        <p:spPr>
          <a:xfrm>
            <a:off x="9541860" y="302772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4" name="Oval 413"/>
          <p:cNvSpPr/>
          <p:nvPr/>
        </p:nvSpPr>
        <p:spPr>
          <a:xfrm>
            <a:off x="9554074" y="301821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5" name="Oval 414"/>
          <p:cNvSpPr/>
          <p:nvPr/>
        </p:nvSpPr>
        <p:spPr>
          <a:xfrm>
            <a:off x="9566882" y="301143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6" name="Oval 415"/>
          <p:cNvSpPr/>
          <p:nvPr/>
        </p:nvSpPr>
        <p:spPr>
          <a:xfrm>
            <a:off x="9580374" y="300302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7" name="Oval 416"/>
          <p:cNvSpPr/>
          <p:nvPr/>
        </p:nvSpPr>
        <p:spPr>
          <a:xfrm>
            <a:off x="9594639" y="298876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8" name="Oval 417"/>
          <p:cNvSpPr/>
          <p:nvPr/>
        </p:nvSpPr>
        <p:spPr>
          <a:xfrm>
            <a:off x="9609825" y="2931287"/>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9" name="Oval 418"/>
          <p:cNvSpPr/>
          <p:nvPr/>
        </p:nvSpPr>
        <p:spPr>
          <a:xfrm>
            <a:off x="9626080" y="290605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0" name="Oval 419"/>
          <p:cNvSpPr/>
          <p:nvPr/>
        </p:nvSpPr>
        <p:spPr>
          <a:xfrm>
            <a:off x="9643584" y="2905492"/>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1" name="Oval 420"/>
          <p:cNvSpPr/>
          <p:nvPr/>
        </p:nvSpPr>
        <p:spPr>
          <a:xfrm>
            <a:off x="9662633" y="2876814"/>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2" name="Oval 421"/>
          <p:cNvSpPr/>
          <p:nvPr/>
        </p:nvSpPr>
        <p:spPr>
          <a:xfrm>
            <a:off x="9683555" y="28640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3" name="Oval 422"/>
          <p:cNvSpPr/>
          <p:nvPr/>
        </p:nvSpPr>
        <p:spPr>
          <a:xfrm>
            <a:off x="9706884" y="281621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4" name="Oval 423"/>
          <p:cNvSpPr/>
          <p:nvPr/>
        </p:nvSpPr>
        <p:spPr>
          <a:xfrm>
            <a:off x="9733333" y="27698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5" name="Oval 424"/>
          <p:cNvSpPr/>
          <p:nvPr/>
        </p:nvSpPr>
        <p:spPr>
          <a:xfrm>
            <a:off x="9764150" y="2705965"/>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6" name="Oval 425"/>
          <p:cNvSpPr/>
          <p:nvPr/>
        </p:nvSpPr>
        <p:spPr>
          <a:xfrm>
            <a:off x="9801357" y="269354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7" name="Oval 426"/>
          <p:cNvSpPr/>
          <p:nvPr/>
        </p:nvSpPr>
        <p:spPr>
          <a:xfrm>
            <a:off x="9849025" y="2528073"/>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8" name="Oval 427"/>
          <p:cNvSpPr/>
          <p:nvPr/>
        </p:nvSpPr>
        <p:spPr>
          <a:xfrm>
            <a:off x="9917346" y="2454759"/>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9" name="Oval 428"/>
          <p:cNvSpPr/>
          <p:nvPr/>
        </p:nvSpPr>
        <p:spPr>
          <a:xfrm>
            <a:off x="10051018" y="2363406"/>
            <a:ext cx="45720" cy="4572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0" name="TextBox 429"/>
          <p:cNvSpPr txBox="1"/>
          <p:nvPr/>
        </p:nvSpPr>
        <p:spPr>
          <a:xfrm>
            <a:off x="7863840" y="4809744"/>
            <a:ext cx="182880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normal -4%</a:t>
            </a:r>
          </a:p>
        </p:txBody>
      </p:sp>
      <p:sp>
        <p:nvSpPr>
          <p:cNvPr id="431" name="TextBox 430"/>
          <p:cNvSpPr txBox="1"/>
          <p:nvPr/>
        </p:nvSpPr>
        <p:spPr>
          <a:xfrm>
            <a:off x="8412480" y="4809744"/>
            <a:ext cx="182880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+4%</a:t>
            </a:r>
          </a:p>
        </p:txBody>
      </p:sp>
      <p:sp>
        <p:nvSpPr>
          <p:cNvPr id="432" name="TextBox 431"/>
          <p:cNvSpPr txBox="1"/>
          <p:nvPr/>
        </p:nvSpPr>
        <p:spPr>
          <a:xfrm>
            <a:off x="7863840" y="2176272"/>
            <a:ext cx="219456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actual +4%</a:t>
            </a:r>
          </a:p>
        </p:txBody>
      </p:sp>
      <p:sp>
        <p:nvSpPr>
          <p:cNvPr id="433" name="TextBox 432"/>
          <p:cNvSpPr txBox="1"/>
          <p:nvPr/>
        </p:nvSpPr>
        <p:spPr>
          <a:xfrm>
            <a:off x="1097280" y="4974336"/>
            <a:ext cx="3108960" cy="274320"/>
          </a:xfrm>
          <a:prstGeom prst="rect">
            <a:avLst/>
          </a:prstGeom>
          <a:noFill/>
        </p:spPr>
        <p:txBody>
          <a:bodyPr wrap="none" lIns="0" tIns="0" rIns="0" bIns="0" anchor="t">
            <a:spAutoFit/>
          </a:bodyPr>
          <a:lstStyle/>
          <a:p>
            <a:pPr algn="l">
              <a:lnSpc>
                <a:spcPct val="100000"/>
              </a:lnSpc>
              <a:spcAft>
                <a:spcPts val="0"/>
              </a:spcAft>
            </a:pPr>
            <a:r>
              <a:rPr sz="1900" b="1" i="0">
                <a:solidFill>
                  <a:srgbClr val="44546A"/>
                </a:solidFill>
                <a:latin typeface="Arial"/>
              </a:rPr>
              <a:t>8.6%</a:t>
            </a:r>
          </a:p>
        </p:txBody>
      </p:sp>
      <p:sp>
        <p:nvSpPr>
          <p:cNvPr id="434" name="TextBox 433"/>
          <p:cNvSpPr txBox="1"/>
          <p:nvPr/>
        </p:nvSpPr>
        <p:spPr>
          <a:xfrm>
            <a:off x="1097280" y="526694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book vol, annualised</a:t>
            </a:r>
          </a:p>
        </p:txBody>
      </p:sp>
      <p:sp>
        <p:nvSpPr>
          <p:cNvPr id="435" name="TextBox 434"/>
          <p:cNvSpPr txBox="1"/>
          <p:nvPr/>
        </p:nvSpPr>
        <p:spPr>
          <a:xfrm>
            <a:off x="4572000" y="4974336"/>
            <a:ext cx="3108960" cy="274320"/>
          </a:xfrm>
          <a:prstGeom prst="rect">
            <a:avLst/>
          </a:prstGeom>
          <a:noFill/>
        </p:spPr>
        <p:txBody>
          <a:bodyPr wrap="none" lIns="0" tIns="0" rIns="0" bIns="0" anchor="t">
            <a:spAutoFit/>
          </a:bodyPr>
          <a:lstStyle/>
          <a:p>
            <a:pPr algn="l">
              <a:lnSpc>
                <a:spcPct val="100000"/>
              </a:lnSpc>
              <a:spcAft>
                <a:spcPts val="0"/>
              </a:spcAft>
            </a:pPr>
            <a:r>
              <a:rPr sz="1900" b="1" i="0">
                <a:solidFill>
                  <a:srgbClr val="44546A"/>
                </a:solidFill>
                <a:latin typeface="Arial"/>
              </a:rPr>
              <a:t>1.08x</a:t>
            </a:r>
          </a:p>
        </p:txBody>
      </p:sp>
      <p:sp>
        <p:nvSpPr>
          <p:cNvPr id="436" name="TextBox 435"/>
          <p:cNvSpPr txBox="1"/>
          <p:nvPr/>
        </p:nvSpPr>
        <p:spPr>
          <a:xfrm>
            <a:off x="4572000" y="526694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ES95 against normal</a:t>
            </a:r>
          </a:p>
        </p:txBody>
      </p:sp>
      <p:sp>
        <p:nvSpPr>
          <p:cNvPr id="437" name="TextBox 436"/>
          <p:cNvSpPr txBox="1"/>
          <p:nvPr/>
        </p:nvSpPr>
        <p:spPr>
          <a:xfrm>
            <a:off x="7863840" y="4974336"/>
            <a:ext cx="3108960" cy="274320"/>
          </a:xfrm>
          <a:prstGeom prst="rect">
            <a:avLst/>
          </a:prstGeom>
          <a:noFill/>
        </p:spPr>
        <p:txBody>
          <a:bodyPr wrap="none" lIns="0" tIns="0" rIns="0" bIns="0" anchor="t">
            <a:spAutoFit/>
          </a:bodyPr>
          <a:lstStyle/>
          <a:p>
            <a:pPr algn="l">
              <a:lnSpc>
                <a:spcPct val="100000"/>
              </a:lnSpc>
              <a:spcAft>
                <a:spcPts val="0"/>
              </a:spcAft>
            </a:pPr>
            <a:r>
              <a:rPr sz="1900" b="1" i="0">
                <a:solidFill>
                  <a:srgbClr val="DB0011"/>
                </a:solidFill>
                <a:latin typeface="Arial"/>
              </a:rPr>
              <a:t>-2.6</a:t>
            </a:r>
          </a:p>
        </p:txBody>
      </p:sp>
      <p:sp>
        <p:nvSpPr>
          <p:cNvPr id="438" name="TextBox 437"/>
          <p:cNvSpPr txBox="1"/>
          <p:nvPr/>
        </p:nvSpPr>
        <p:spPr>
          <a:xfrm>
            <a:off x="7863840" y="5266944"/>
            <a:ext cx="3108960" cy="164592"/>
          </a:xfrm>
          <a:prstGeom prst="rect">
            <a:avLst/>
          </a:prstGeom>
          <a:noFill/>
        </p:spPr>
        <p:txBody>
          <a:bodyPr wrap="none" lIns="0" tIns="0" rIns="0" bIns="0" anchor="t">
            <a:spAutoFit/>
          </a:bodyPr>
          <a:lstStyle/>
          <a:p>
            <a:pPr algn="l">
              <a:lnSpc>
                <a:spcPct val="100000"/>
              </a:lnSpc>
              <a:spcAft>
                <a:spcPts val="0"/>
              </a:spcAft>
            </a:pPr>
            <a:r>
              <a:rPr sz="800" b="0" i="0">
                <a:solidFill>
                  <a:srgbClr val="000000"/>
                </a:solidFill>
                <a:latin typeface="Arial"/>
              </a:rPr>
              <a:t>sigma, the worst week</a:t>
            </a:r>
          </a:p>
        </p:txBody>
      </p:sp>
      <p:sp>
        <p:nvSpPr>
          <p:cNvPr id="439" name="Rectangle 438"/>
          <p:cNvSpPr/>
          <p:nvPr/>
        </p:nvSpPr>
        <p:spPr>
          <a:xfrm>
            <a:off x="374904" y="5577840"/>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0" name="TextBox 439"/>
          <p:cNvSpPr txBox="1"/>
          <p:nvPr/>
        </p:nvSpPr>
        <p:spPr>
          <a:xfrm>
            <a:off x="594360" y="5705856"/>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book's tail is within 8% of normal. That is the sample talking: it has never held a stressed CATL.</a:t>
            </a:r>
          </a:p>
        </p:txBody>
      </p:sp>
      <p:sp>
        <p:nvSpPr>
          <p:cNvPr id="441" name="TextBox 440"/>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Both sleeves scaled to 6% standalone annualised volatility, which puts CATL at 17.5% of capital, close to the 18% drawdown constraint in exhibit 7, and the steepener at 0.197% of capital per basis point. Book volatility is 8.6% against 11.7% for the sleeves summed, a 27% diversification benefit. The normal is fitted to the same mean and standard deviation. With n = 178 the 99th percentile rests on about two observations, so the tail estimate is weak; three weeks fall beyond the normal 99% VaR against 1.8 expected. Computed by data-puller/book_pnl.py.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74904" y="182880"/>
            <a:ext cx="3657600" cy="219456"/>
          </a:xfrm>
          <a:prstGeom prst="rect">
            <a:avLst/>
          </a:prstGeom>
          <a:noFill/>
        </p:spPr>
        <p:txBody>
          <a:bodyPr wrap="none" lIns="0" tIns="0" r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tIns="0" r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tIns="0" r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tIns="0" rIns="0" bIns="0" anchor="t">
            <a:spAutoFit/>
          </a:bodyPr>
          <a:lstStyle/>
          <a:p>
            <a:pPr algn="l">
              <a:lnSpc>
                <a:spcPct val="100000"/>
              </a:lnSpc>
              <a:spcAft>
                <a:spcPts val="0"/>
              </a:spcAft>
            </a:pPr>
            <a:r>
              <a:rPr sz="2600" b="0" i="0">
                <a:solidFill>
                  <a:srgbClr val="000000"/>
                </a:solidFill>
                <a:latin typeface="Arial"/>
              </a:rPr>
              <a:t>The worst episodes it has actually had</a:t>
            </a:r>
          </a:p>
        </p:txBody>
      </p:sp>
      <p:sp>
        <p:nvSpPr>
          <p:cNvPr id="13" name="TextBox 12"/>
          <p:cNvSpPr txBox="1"/>
          <p:nvPr/>
        </p:nvSpPr>
        <p:spPr>
          <a:xfrm>
            <a:off x="374904" y="1261872"/>
            <a:ext cx="11441887" cy="310896"/>
          </a:xfrm>
          <a:prstGeom prst="rect">
            <a:avLst/>
          </a:prstGeom>
          <a:noFill/>
        </p:spPr>
        <p:txBody>
          <a:bodyPr wrap="square" lIns="0" tIns="0" rIns="0" bIns="0" anchor="t">
            <a:spAutoFit/>
          </a:bodyPr>
          <a:lstStyle/>
          <a:p>
            <a:pPr algn="l">
              <a:lnSpc>
                <a:spcPct val="115000"/>
              </a:lnSpc>
              <a:spcAft>
                <a:spcPts val="0"/>
              </a:spcAft>
            </a:pPr>
            <a:r>
              <a:rPr sz="1300" b="0" i="0">
                <a:solidFill>
                  <a:srgbClr val="767576"/>
                </a:solidFill>
                <a:latin typeface="Arial"/>
              </a:rPr>
              <a:t>Eight-week windows, and what the other sleeve was doing.</a:t>
            </a:r>
          </a:p>
        </p:txBody>
      </p:sp>
      <p:sp>
        <p:nvSpPr>
          <p:cNvPr id="14" name="TextBox 13"/>
          <p:cNvSpPr txBox="1"/>
          <p:nvPr/>
        </p:nvSpPr>
        <p:spPr>
          <a:xfrm>
            <a:off x="11268151" y="6537960"/>
            <a:ext cx="548640" cy="201168"/>
          </a:xfrm>
          <a:prstGeom prst="rect">
            <a:avLst/>
          </a:prstGeom>
          <a:noFill/>
        </p:spPr>
        <p:txBody>
          <a:bodyPr wrap="none" lIns="0" tIns="0" rIns="0" bIns="0" anchor="t">
            <a:spAutoFit/>
          </a:bodyPr>
          <a:lstStyle/>
          <a:p>
            <a:pPr algn="r">
              <a:lnSpc>
                <a:spcPct val="100000"/>
              </a:lnSpc>
              <a:spcAft>
                <a:spcPts val="0"/>
              </a:spcAft>
            </a:pPr>
            <a:r>
              <a:rPr sz="800" b="0" i="0">
                <a:solidFill>
                  <a:srgbClr val="767576"/>
                </a:solidFill>
                <a:latin typeface="Arial"/>
              </a:rPr>
              <a:t>12</a:t>
            </a:r>
          </a:p>
        </p:txBody>
      </p:sp>
      <p:sp>
        <p:nvSpPr>
          <p:cNvPr id="15" name="TextBox 14"/>
          <p:cNvSpPr txBox="1"/>
          <p:nvPr/>
        </p:nvSpPr>
        <p:spPr>
          <a:xfrm>
            <a:off x="1563624" y="192024"/>
            <a:ext cx="5852160" cy="201168"/>
          </a:xfrm>
          <a:prstGeom prst="rect">
            <a:avLst/>
          </a:prstGeom>
          <a:noFill/>
        </p:spPr>
        <p:txBody>
          <a:bodyPr wrap="none" lIns="0" tIns="0" rIns="0" bIns="0" anchor="t">
            <a:spAutoFit/>
          </a:bodyPr>
          <a:lstStyle/>
          <a:p>
            <a:pPr algn="l">
              <a:lnSpc>
                <a:spcPct val="100000"/>
              </a:lnSpc>
              <a:spcAft>
                <a:spcPts val="0"/>
              </a:spcAft>
            </a:pPr>
            <a:r>
              <a:rPr sz="800" b="0" i="0">
                <a:solidFill>
                  <a:srgbClr val="767576"/>
                </a:solidFill>
                <a:latin typeface="Arial"/>
              </a:rPr>
              <a:t>Weekly 2023 to 31-Jul-26 · sizing as exhibit 11 · refresh before use</a:t>
            </a:r>
          </a:p>
        </p:txBody>
      </p:sp>
      <p:sp>
        <p:nvSpPr>
          <p:cNvPr id="16" name="TextBox 15"/>
          <p:cNvSpPr txBox="1"/>
          <p:nvPr/>
        </p:nvSpPr>
        <p:spPr>
          <a:xfrm>
            <a:off x="374904" y="1956816"/>
            <a:ext cx="402336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Every 8-week window</a:t>
            </a:r>
          </a:p>
        </p:txBody>
      </p:sp>
      <p:sp>
        <p:nvSpPr>
          <p:cNvPr id="17" name="Rectangle 16"/>
          <p:cNvSpPr/>
          <p:nvPr/>
        </p:nvSpPr>
        <p:spPr>
          <a:xfrm>
            <a:off x="1188720" y="2286000"/>
            <a:ext cx="2651760" cy="265176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1188720" y="3611880"/>
            <a:ext cx="1325880" cy="1325880"/>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9" name="Connector 18"/>
          <p:cNvCxnSpPr/>
          <p:nvPr/>
        </p:nvCxnSpPr>
        <p:spPr>
          <a:xfrm>
            <a:off x="1188720" y="3611880"/>
            <a:ext cx="2651760" cy="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14600" y="2286000"/>
            <a:ext cx="0" cy="265176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3385718" y="49249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3329056" y="486829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3272395" y="481163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3215733" y="475497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3159072" y="469831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3102410" y="464165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3045749" y="458498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2989087" y="452832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2932426" y="447166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2875764" y="441500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2819103" y="435834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2762441" y="430168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2705779" y="424501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2649118" y="41883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2592456" y="413169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2535795" y="407503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2479133" y="401837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2422472" y="396171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2365810" y="390505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2309149" y="384838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2252487" y="379172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2195826" y="373506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2139164" y="367840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2082503" y="362174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2025841" y="356508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1969179" y="350841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1912518" y="34517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1855856" y="339509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1799195" y="333843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1742533" y="328177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1685872" y="322511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1629210" y="316845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1572549" y="311178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1515887" y="305512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1459226" y="299846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Oval 55"/>
          <p:cNvSpPr/>
          <p:nvPr/>
        </p:nvSpPr>
        <p:spPr>
          <a:xfrm>
            <a:off x="1402564" y="294180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1345903" y="288514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1289241" y="282848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1232579" y="277181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Oval 59"/>
          <p:cNvSpPr/>
          <p:nvPr/>
        </p:nvSpPr>
        <p:spPr>
          <a:xfrm>
            <a:off x="1175918" y="27151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2943758" y="49249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p:cNvSpPr/>
          <p:nvPr/>
        </p:nvSpPr>
        <p:spPr>
          <a:xfrm>
            <a:off x="2898429" y="487962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Oval 62"/>
          <p:cNvSpPr/>
          <p:nvPr/>
        </p:nvSpPr>
        <p:spPr>
          <a:xfrm>
            <a:off x="2853099" y="483429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2807770" y="478897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Oval 64"/>
          <p:cNvSpPr/>
          <p:nvPr/>
        </p:nvSpPr>
        <p:spPr>
          <a:xfrm>
            <a:off x="2762441" y="474364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Oval 65"/>
          <p:cNvSpPr/>
          <p:nvPr/>
        </p:nvSpPr>
        <p:spPr>
          <a:xfrm>
            <a:off x="2717112" y="469831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2671783" y="465298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Oval 67"/>
          <p:cNvSpPr/>
          <p:nvPr/>
        </p:nvSpPr>
        <p:spPr>
          <a:xfrm>
            <a:off x="2626453" y="460765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p:cNvSpPr/>
          <p:nvPr/>
        </p:nvSpPr>
        <p:spPr>
          <a:xfrm>
            <a:off x="2581124" y="456232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2535795" y="451699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2490466" y="447166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2445136" y="442633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2399807" y="438100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2354478" y="433567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p:cNvSpPr/>
          <p:nvPr/>
        </p:nvSpPr>
        <p:spPr>
          <a:xfrm>
            <a:off x="2309149" y="429034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p:cNvSpPr/>
          <p:nvPr/>
        </p:nvSpPr>
        <p:spPr>
          <a:xfrm>
            <a:off x="2263819" y="424501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2218490" y="419969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p:cNvSpPr/>
          <p:nvPr/>
        </p:nvSpPr>
        <p:spPr>
          <a:xfrm>
            <a:off x="2173161" y="415436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p:cNvSpPr/>
          <p:nvPr/>
        </p:nvSpPr>
        <p:spPr>
          <a:xfrm>
            <a:off x="2127832" y="410903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p:cNvSpPr/>
          <p:nvPr/>
        </p:nvSpPr>
        <p:spPr>
          <a:xfrm>
            <a:off x="2082503" y="406370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2037173" y="401837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Oval 81"/>
          <p:cNvSpPr/>
          <p:nvPr/>
        </p:nvSpPr>
        <p:spPr>
          <a:xfrm>
            <a:off x="1991844" y="397304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1946515" y="392771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Oval 83"/>
          <p:cNvSpPr/>
          <p:nvPr/>
        </p:nvSpPr>
        <p:spPr>
          <a:xfrm>
            <a:off x="1901186" y="388238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Oval 84"/>
          <p:cNvSpPr/>
          <p:nvPr/>
        </p:nvSpPr>
        <p:spPr>
          <a:xfrm>
            <a:off x="1855856" y="383705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Oval 85"/>
          <p:cNvSpPr/>
          <p:nvPr/>
        </p:nvSpPr>
        <p:spPr>
          <a:xfrm>
            <a:off x="1810527" y="379172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Oval 86"/>
          <p:cNvSpPr/>
          <p:nvPr/>
        </p:nvSpPr>
        <p:spPr>
          <a:xfrm>
            <a:off x="1765198" y="374639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Oval 87"/>
          <p:cNvSpPr/>
          <p:nvPr/>
        </p:nvSpPr>
        <p:spPr>
          <a:xfrm>
            <a:off x="1719869" y="370106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9" name="Oval 88"/>
          <p:cNvSpPr/>
          <p:nvPr/>
        </p:nvSpPr>
        <p:spPr>
          <a:xfrm>
            <a:off x="1674539" y="365573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1629210" y="361041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Oval 90"/>
          <p:cNvSpPr/>
          <p:nvPr/>
        </p:nvSpPr>
        <p:spPr>
          <a:xfrm>
            <a:off x="1583881" y="356508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1538552" y="351975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Oval 92"/>
          <p:cNvSpPr/>
          <p:nvPr/>
        </p:nvSpPr>
        <p:spPr>
          <a:xfrm>
            <a:off x="1493223" y="347442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1447893" y="342909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1402564" y="338376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Oval 95"/>
          <p:cNvSpPr/>
          <p:nvPr/>
        </p:nvSpPr>
        <p:spPr>
          <a:xfrm>
            <a:off x="1357235" y="333843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Oval 96"/>
          <p:cNvSpPr/>
          <p:nvPr/>
        </p:nvSpPr>
        <p:spPr>
          <a:xfrm>
            <a:off x="1311906" y="329310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1266576" y="324777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1221247" y="320244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Oval 99"/>
          <p:cNvSpPr/>
          <p:nvPr/>
        </p:nvSpPr>
        <p:spPr>
          <a:xfrm>
            <a:off x="1175918" y="315711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2501798" y="492495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2467801" y="489096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3" name="Oval 102"/>
          <p:cNvSpPr/>
          <p:nvPr/>
        </p:nvSpPr>
        <p:spPr>
          <a:xfrm>
            <a:off x="2433804" y="485696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Oval 103"/>
          <p:cNvSpPr/>
          <p:nvPr/>
        </p:nvSpPr>
        <p:spPr>
          <a:xfrm>
            <a:off x="2399807" y="482296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Oval 104"/>
          <p:cNvSpPr/>
          <p:nvPr/>
        </p:nvSpPr>
        <p:spPr>
          <a:xfrm>
            <a:off x="2365810" y="478897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2331813" y="475497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Oval 106"/>
          <p:cNvSpPr/>
          <p:nvPr/>
        </p:nvSpPr>
        <p:spPr>
          <a:xfrm>
            <a:off x="2297816" y="472097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Oval 107"/>
          <p:cNvSpPr/>
          <p:nvPr/>
        </p:nvSpPr>
        <p:spPr>
          <a:xfrm>
            <a:off x="2263819" y="468697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2229823" y="465298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2195826" y="461898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2161829" y="458498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2127832" y="455099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2093835" y="451699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2059838" y="448299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Oval 114"/>
          <p:cNvSpPr/>
          <p:nvPr/>
        </p:nvSpPr>
        <p:spPr>
          <a:xfrm>
            <a:off x="2025841" y="444900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Oval 115"/>
          <p:cNvSpPr/>
          <p:nvPr/>
        </p:nvSpPr>
        <p:spPr>
          <a:xfrm>
            <a:off x="1991844" y="441500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1957847" y="438100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1923850" y="434701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1889853" y="431301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1855856" y="427901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1821859" y="424501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Oval 121"/>
          <p:cNvSpPr/>
          <p:nvPr/>
        </p:nvSpPr>
        <p:spPr>
          <a:xfrm>
            <a:off x="1787863" y="421102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Oval 122"/>
          <p:cNvSpPr/>
          <p:nvPr/>
        </p:nvSpPr>
        <p:spPr>
          <a:xfrm>
            <a:off x="1753866" y="417702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4" name="Oval 123"/>
          <p:cNvSpPr/>
          <p:nvPr/>
        </p:nvSpPr>
        <p:spPr>
          <a:xfrm>
            <a:off x="1719869" y="414302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5" name="Oval 124"/>
          <p:cNvSpPr/>
          <p:nvPr/>
        </p:nvSpPr>
        <p:spPr>
          <a:xfrm>
            <a:off x="1685872" y="410903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Oval 125"/>
          <p:cNvSpPr/>
          <p:nvPr/>
        </p:nvSpPr>
        <p:spPr>
          <a:xfrm>
            <a:off x="1651875" y="407503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7" name="Oval 126"/>
          <p:cNvSpPr/>
          <p:nvPr/>
        </p:nvSpPr>
        <p:spPr>
          <a:xfrm>
            <a:off x="1617878" y="404103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8" name="Oval 127"/>
          <p:cNvSpPr/>
          <p:nvPr/>
        </p:nvSpPr>
        <p:spPr>
          <a:xfrm>
            <a:off x="1583881" y="4007041"/>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Oval 128"/>
          <p:cNvSpPr/>
          <p:nvPr/>
        </p:nvSpPr>
        <p:spPr>
          <a:xfrm>
            <a:off x="1549884" y="3973044"/>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Oval 129"/>
          <p:cNvSpPr/>
          <p:nvPr/>
        </p:nvSpPr>
        <p:spPr>
          <a:xfrm>
            <a:off x="1515887" y="3939047"/>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Oval 130"/>
          <p:cNvSpPr/>
          <p:nvPr/>
        </p:nvSpPr>
        <p:spPr>
          <a:xfrm>
            <a:off x="1481890" y="3905050"/>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Oval 131"/>
          <p:cNvSpPr/>
          <p:nvPr/>
        </p:nvSpPr>
        <p:spPr>
          <a:xfrm>
            <a:off x="1447893" y="387105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 name="Oval 132"/>
          <p:cNvSpPr/>
          <p:nvPr/>
        </p:nvSpPr>
        <p:spPr>
          <a:xfrm>
            <a:off x="1413896" y="383705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4" name="Oval 133"/>
          <p:cNvSpPr/>
          <p:nvPr/>
        </p:nvSpPr>
        <p:spPr>
          <a:xfrm>
            <a:off x="1379899" y="380305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Oval 134"/>
          <p:cNvSpPr/>
          <p:nvPr/>
        </p:nvSpPr>
        <p:spPr>
          <a:xfrm>
            <a:off x="1345903" y="3769063"/>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6" name="Oval 135"/>
          <p:cNvSpPr/>
          <p:nvPr/>
        </p:nvSpPr>
        <p:spPr>
          <a:xfrm>
            <a:off x="1311906" y="3735066"/>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Oval 136"/>
          <p:cNvSpPr/>
          <p:nvPr/>
        </p:nvSpPr>
        <p:spPr>
          <a:xfrm>
            <a:off x="1277909" y="3701069"/>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Oval 137"/>
          <p:cNvSpPr/>
          <p:nvPr/>
        </p:nvSpPr>
        <p:spPr>
          <a:xfrm>
            <a:off x="1243912" y="3667072"/>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Oval 138"/>
          <p:cNvSpPr/>
          <p:nvPr/>
        </p:nvSpPr>
        <p:spPr>
          <a:xfrm>
            <a:off x="1209915" y="3633075"/>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Oval 139"/>
          <p:cNvSpPr/>
          <p:nvPr/>
        </p:nvSpPr>
        <p:spPr>
          <a:xfrm>
            <a:off x="1175918" y="3599078"/>
            <a:ext cx="25603" cy="25603"/>
          </a:xfrm>
          <a:prstGeom prst="ellipse">
            <a:avLst/>
          </a:prstGeom>
          <a:solidFill>
            <a:srgbClr val="D0C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Oval 140"/>
          <p:cNvSpPr/>
          <p:nvPr/>
        </p:nvSpPr>
        <p:spPr>
          <a:xfrm>
            <a:off x="2056333" y="4525899"/>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Oval 141"/>
          <p:cNvSpPr/>
          <p:nvPr/>
        </p:nvSpPr>
        <p:spPr>
          <a:xfrm>
            <a:off x="2027605" y="4450765"/>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3" name="Oval 142"/>
          <p:cNvSpPr/>
          <p:nvPr/>
        </p:nvSpPr>
        <p:spPr>
          <a:xfrm>
            <a:off x="2038654" y="394693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4" name="Oval 143"/>
          <p:cNvSpPr/>
          <p:nvPr/>
        </p:nvSpPr>
        <p:spPr>
          <a:xfrm>
            <a:off x="1976780" y="37480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Oval 144"/>
          <p:cNvSpPr/>
          <p:nvPr/>
        </p:nvSpPr>
        <p:spPr>
          <a:xfrm>
            <a:off x="2272893" y="389168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Oval 145"/>
          <p:cNvSpPr/>
          <p:nvPr/>
        </p:nvSpPr>
        <p:spPr>
          <a:xfrm>
            <a:off x="2485034" y="382097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7" name="Oval 146"/>
          <p:cNvSpPr/>
          <p:nvPr/>
        </p:nvSpPr>
        <p:spPr>
          <a:xfrm>
            <a:off x="2615412" y="410382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Oval 147"/>
          <p:cNvSpPr/>
          <p:nvPr/>
        </p:nvSpPr>
        <p:spPr>
          <a:xfrm>
            <a:off x="2515971" y="356463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Oval 148"/>
          <p:cNvSpPr/>
          <p:nvPr/>
        </p:nvSpPr>
        <p:spPr>
          <a:xfrm>
            <a:off x="2993288" y="333039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0" name="Oval 149"/>
          <p:cNvSpPr/>
          <p:nvPr/>
        </p:nvSpPr>
        <p:spPr>
          <a:xfrm>
            <a:off x="2686126" y="320443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1" name="Oval 150"/>
          <p:cNvSpPr/>
          <p:nvPr/>
        </p:nvSpPr>
        <p:spPr>
          <a:xfrm>
            <a:off x="2392222" y="337901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2" name="Oval 151"/>
          <p:cNvSpPr/>
          <p:nvPr/>
        </p:nvSpPr>
        <p:spPr>
          <a:xfrm>
            <a:off x="2688336" y="365965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 name="Oval 152"/>
          <p:cNvSpPr/>
          <p:nvPr/>
        </p:nvSpPr>
        <p:spPr>
          <a:xfrm>
            <a:off x="2334768" y="353811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4" name="Oval 153"/>
          <p:cNvSpPr/>
          <p:nvPr/>
        </p:nvSpPr>
        <p:spPr>
          <a:xfrm>
            <a:off x="2593314" y="36640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Oval 154"/>
          <p:cNvSpPr/>
          <p:nvPr/>
        </p:nvSpPr>
        <p:spPr>
          <a:xfrm>
            <a:off x="2387803" y="351823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6" name="Oval 155"/>
          <p:cNvSpPr/>
          <p:nvPr/>
        </p:nvSpPr>
        <p:spPr>
          <a:xfrm>
            <a:off x="2520391" y="342099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7" name="Oval 156"/>
          <p:cNvSpPr/>
          <p:nvPr/>
        </p:nvSpPr>
        <p:spPr>
          <a:xfrm>
            <a:off x="2224278" y="346961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Oval 157"/>
          <p:cNvSpPr/>
          <p:nvPr/>
        </p:nvSpPr>
        <p:spPr>
          <a:xfrm>
            <a:off x="2460726" y="340332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9" name="Oval 158"/>
          <p:cNvSpPr/>
          <p:nvPr/>
        </p:nvSpPr>
        <p:spPr>
          <a:xfrm>
            <a:off x="2518181" y="354695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Oval 159"/>
          <p:cNvSpPr/>
          <p:nvPr/>
        </p:nvSpPr>
        <p:spPr>
          <a:xfrm>
            <a:off x="2515971" y="332155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Oval 160"/>
          <p:cNvSpPr/>
          <p:nvPr/>
        </p:nvSpPr>
        <p:spPr>
          <a:xfrm>
            <a:off x="3055162" y="312488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2659608" y="31867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Oval 162"/>
          <p:cNvSpPr/>
          <p:nvPr/>
        </p:nvSpPr>
        <p:spPr>
          <a:xfrm>
            <a:off x="2672867" y="295252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4" name="Oval 163"/>
          <p:cNvSpPr/>
          <p:nvPr/>
        </p:nvSpPr>
        <p:spPr>
          <a:xfrm>
            <a:off x="2482824" y="292600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5" name="Oval 164"/>
          <p:cNvSpPr/>
          <p:nvPr/>
        </p:nvSpPr>
        <p:spPr>
          <a:xfrm>
            <a:off x="2728112" y="298787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2398852" y="300776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Oval 166"/>
          <p:cNvSpPr/>
          <p:nvPr/>
        </p:nvSpPr>
        <p:spPr>
          <a:xfrm>
            <a:off x="2239746" y="281330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Oval 167"/>
          <p:cNvSpPr/>
          <p:nvPr/>
        </p:nvSpPr>
        <p:spPr>
          <a:xfrm>
            <a:off x="2153564" y="292158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Oval 168"/>
          <p:cNvSpPr/>
          <p:nvPr/>
        </p:nvSpPr>
        <p:spPr>
          <a:xfrm>
            <a:off x="1755800" y="311825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1618792" y="273375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Oval 170"/>
          <p:cNvSpPr/>
          <p:nvPr/>
        </p:nvSpPr>
        <p:spPr>
          <a:xfrm>
            <a:off x="1788947" y="280446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2" name="Oval 171"/>
          <p:cNvSpPr/>
          <p:nvPr/>
        </p:nvSpPr>
        <p:spPr>
          <a:xfrm>
            <a:off x="1970151" y="297461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1868500" y="29613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Oval 173"/>
          <p:cNvSpPr/>
          <p:nvPr/>
        </p:nvSpPr>
        <p:spPr>
          <a:xfrm>
            <a:off x="1921535" y="325305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Oval 174"/>
          <p:cNvSpPr/>
          <p:nvPr/>
        </p:nvSpPr>
        <p:spPr>
          <a:xfrm>
            <a:off x="2069591" y="340332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1795576" y="371711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Oval 176"/>
          <p:cNvSpPr/>
          <p:nvPr/>
        </p:nvSpPr>
        <p:spPr>
          <a:xfrm>
            <a:off x="1899437" y="368175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8" name="Oval 177"/>
          <p:cNvSpPr/>
          <p:nvPr/>
        </p:nvSpPr>
        <p:spPr>
          <a:xfrm>
            <a:off x="1890598" y="4130344"/>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1844192" y="4351324"/>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Oval 179"/>
          <p:cNvSpPr/>
          <p:nvPr/>
        </p:nvSpPr>
        <p:spPr>
          <a:xfrm>
            <a:off x="1954682" y="4395520"/>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Oval 180"/>
          <p:cNvSpPr/>
          <p:nvPr/>
        </p:nvSpPr>
        <p:spPr>
          <a:xfrm>
            <a:off x="1618792" y="4247464"/>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1886178" y="4165701"/>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Oval 182"/>
          <p:cNvSpPr/>
          <p:nvPr/>
        </p:nvSpPr>
        <p:spPr>
          <a:xfrm>
            <a:off x="2016556" y="392483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Oval 183"/>
          <p:cNvSpPr/>
          <p:nvPr/>
        </p:nvSpPr>
        <p:spPr>
          <a:xfrm>
            <a:off x="2109368" y="36353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2049703" y="4161282"/>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Oval 185"/>
          <p:cNvSpPr/>
          <p:nvPr/>
        </p:nvSpPr>
        <p:spPr>
          <a:xfrm>
            <a:off x="2679496" y="369943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7" name="Oval 186"/>
          <p:cNvSpPr/>
          <p:nvPr/>
        </p:nvSpPr>
        <p:spPr>
          <a:xfrm>
            <a:off x="2743581" y="36353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2418740" y="362651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Oval 188"/>
          <p:cNvSpPr/>
          <p:nvPr/>
        </p:nvSpPr>
        <p:spPr>
          <a:xfrm>
            <a:off x="3249625" y="334365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0" name="Oval 189"/>
          <p:cNvSpPr/>
          <p:nvPr/>
        </p:nvSpPr>
        <p:spPr>
          <a:xfrm>
            <a:off x="3269513" y="351823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1" name="Oval 190"/>
          <p:cNvSpPr/>
          <p:nvPr/>
        </p:nvSpPr>
        <p:spPr>
          <a:xfrm>
            <a:off x="3338017" y="373037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Oval 191"/>
          <p:cNvSpPr/>
          <p:nvPr/>
        </p:nvSpPr>
        <p:spPr>
          <a:xfrm>
            <a:off x="3612032" y="38607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3" name="Oval 192"/>
          <p:cNvSpPr/>
          <p:nvPr/>
        </p:nvSpPr>
        <p:spPr>
          <a:xfrm>
            <a:off x="3530269" y="331713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Oval 193"/>
          <p:cNvSpPr/>
          <p:nvPr/>
        </p:nvSpPr>
        <p:spPr>
          <a:xfrm>
            <a:off x="3159023" y="356463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5" name="Oval 194"/>
          <p:cNvSpPr/>
          <p:nvPr/>
        </p:nvSpPr>
        <p:spPr>
          <a:xfrm>
            <a:off x="3214268" y="324421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6" name="Oval 195"/>
          <p:cNvSpPr/>
          <p:nvPr/>
        </p:nvSpPr>
        <p:spPr>
          <a:xfrm>
            <a:off x="3450716" y="326410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7" name="Oval 196"/>
          <p:cNvSpPr/>
          <p:nvPr/>
        </p:nvSpPr>
        <p:spPr>
          <a:xfrm>
            <a:off x="2942463" y="36353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8" name="Oval 197"/>
          <p:cNvSpPr/>
          <p:nvPr/>
        </p:nvSpPr>
        <p:spPr>
          <a:xfrm>
            <a:off x="2816504" y="330829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Oval 198"/>
          <p:cNvSpPr/>
          <p:nvPr/>
        </p:nvSpPr>
        <p:spPr>
          <a:xfrm>
            <a:off x="2703804" y="310941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0" name="Oval 199"/>
          <p:cNvSpPr/>
          <p:nvPr/>
        </p:nvSpPr>
        <p:spPr>
          <a:xfrm>
            <a:off x="2491663" y="306080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1" name="Oval 200"/>
          <p:cNvSpPr/>
          <p:nvPr/>
        </p:nvSpPr>
        <p:spPr>
          <a:xfrm>
            <a:off x="2586685" y="336133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2" name="Oval 201"/>
          <p:cNvSpPr/>
          <p:nvPr/>
        </p:nvSpPr>
        <p:spPr>
          <a:xfrm>
            <a:off x="2367915" y="326410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3" name="Oval 202"/>
          <p:cNvSpPr/>
          <p:nvPr/>
        </p:nvSpPr>
        <p:spPr>
          <a:xfrm>
            <a:off x="2219858" y="333039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4" name="Oval 203"/>
          <p:cNvSpPr/>
          <p:nvPr/>
        </p:nvSpPr>
        <p:spPr>
          <a:xfrm>
            <a:off x="2032025" y="319117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5" name="Oval 204"/>
          <p:cNvSpPr/>
          <p:nvPr/>
        </p:nvSpPr>
        <p:spPr>
          <a:xfrm>
            <a:off x="1963521" y="302986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Oval 205"/>
          <p:cNvSpPr/>
          <p:nvPr/>
        </p:nvSpPr>
        <p:spPr>
          <a:xfrm>
            <a:off x="2020976" y="314256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Oval 206"/>
          <p:cNvSpPr/>
          <p:nvPr/>
        </p:nvSpPr>
        <p:spPr>
          <a:xfrm>
            <a:off x="2261844" y="345635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8" name="Oval 207"/>
          <p:cNvSpPr/>
          <p:nvPr/>
        </p:nvSpPr>
        <p:spPr>
          <a:xfrm>
            <a:off x="2321509" y="367733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Oval 208"/>
          <p:cNvSpPr/>
          <p:nvPr/>
        </p:nvSpPr>
        <p:spPr>
          <a:xfrm>
            <a:off x="2153564" y="389610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0" name="Oval 209"/>
          <p:cNvSpPr/>
          <p:nvPr/>
        </p:nvSpPr>
        <p:spPr>
          <a:xfrm>
            <a:off x="2164613" y="388284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1" name="Oval 210"/>
          <p:cNvSpPr/>
          <p:nvPr/>
        </p:nvSpPr>
        <p:spPr>
          <a:xfrm>
            <a:off x="2239746" y="421652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2" name="Oval 211"/>
          <p:cNvSpPr/>
          <p:nvPr/>
        </p:nvSpPr>
        <p:spPr>
          <a:xfrm>
            <a:off x="2527020" y="42916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3" name="Oval 212"/>
          <p:cNvSpPr/>
          <p:nvPr/>
        </p:nvSpPr>
        <p:spPr>
          <a:xfrm>
            <a:off x="2633091" y="431154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4" name="Oval 213"/>
          <p:cNvSpPr/>
          <p:nvPr/>
        </p:nvSpPr>
        <p:spPr>
          <a:xfrm>
            <a:off x="2619832" y="455241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5" name="Oval 214"/>
          <p:cNvSpPr/>
          <p:nvPr/>
        </p:nvSpPr>
        <p:spPr>
          <a:xfrm>
            <a:off x="2365705" y="4521479"/>
            <a:ext cx="50292" cy="50292"/>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6" name="Oval 215"/>
          <p:cNvSpPr/>
          <p:nvPr/>
        </p:nvSpPr>
        <p:spPr>
          <a:xfrm>
            <a:off x="2412111" y="426956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7" name="Oval 216"/>
          <p:cNvSpPr/>
          <p:nvPr/>
        </p:nvSpPr>
        <p:spPr>
          <a:xfrm>
            <a:off x="3446297" y="375246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8" name="Oval 217"/>
          <p:cNvSpPr/>
          <p:nvPr/>
        </p:nvSpPr>
        <p:spPr>
          <a:xfrm>
            <a:off x="3815334" y="386516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9" name="Oval 218"/>
          <p:cNvSpPr/>
          <p:nvPr/>
        </p:nvSpPr>
        <p:spPr>
          <a:xfrm>
            <a:off x="3771138" y="359999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0" name="Oval 219"/>
          <p:cNvSpPr/>
          <p:nvPr/>
        </p:nvSpPr>
        <p:spPr>
          <a:xfrm>
            <a:off x="3720312" y="364418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1" name="Oval 220"/>
          <p:cNvSpPr/>
          <p:nvPr/>
        </p:nvSpPr>
        <p:spPr>
          <a:xfrm>
            <a:off x="3802075" y="381655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2" name="Oval 221"/>
          <p:cNvSpPr/>
          <p:nvPr/>
        </p:nvSpPr>
        <p:spPr>
          <a:xfrm>
            <a:off x="3574465" y="364418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3" name="Oval 222"/>
          <p:cNvSpPr/>
          <p:nvPr/>
        </p:nvSpPr>
        <p:spPr>
          <a:xfrm>
            <a:off x="3799865" y="348287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4" name="Oval 223"/>
          <p:cNvSpPr/>
          <p:nvPr/>
        </p:nvSpPr>
        <p:spPr>
          <a:xfrm>
            <a:off x="3815334" y="346961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5" name="Oval 224"/>
          <p:cNvSpPr/>
          <p:nvPr/>
        </p:nvSpPr>
        <p:spPr>
          <a:xfrm>
            <a:off x="3004337" y="369059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6" name="Oval 225"/>
          <p:cNvSpPr/>
          <p:nvPr/>
        </p:nvSpPr>
        <p:spPr>
          <a:xfrm>
            <a:off x="2630881" y="380771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7" name="Oval 226"/>
          <p:cNvSpPr/>
          <p:nvPr/>
        </p:nvSpPr>
        <p:spPr>
          <a:xfrm>
            <a:off x="2867329" y="384749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8" name="Oval 227"/>
          <p:cNvSpPr/>
          <p:nvPr/>
        </p:nvSpPr>
        <p:spPr>
          <a:xfrm>
            <a:off x="2745790" y="377456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9" name="Oval 228"/>
          <p:cNvSpPr/>
          <p:nvPr/>
        </p:nvSpPr>
        <p:spPr>
          <a:xfrm>
            <a:off x="2546908" y="363976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0" name="Oval 229"/>
          <p:cNvSpPr/>
          <p:nvPr/>
        </p:nvSpPr>
        <p:spPr>
          <a:xfrm>
            <a:off x="2730322" y="345635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1" name="Oval 230"/>
          <p:cNvSpPr/>
          <p:nvPr/>
        </p:nvSpPr>
        <p:spPr>
          <a:xfrm>
            <a:off x="2491663" y="357789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2" name="Oval 231"/>
          <p:cNvSpPr/>
          <p:nvPr/>
        </p:nvSpPr>
        <p:spPr>
          <a:xfrm>
            <a:off x="2193340" y="348729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3" name="Oval 232"/>
          <p:cNvSpPr/>
          <p:nvPr/>
        </p:nvSpPr>
        <p:spPr>
          <a:xfrm>
            <a:off x="2374544" y="353369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4" name="Oval 233"/>
          <p:cNvSpPr/>
          <p:nvPr/>
        </p:nvSpPr>
        <p:spPr>
          <a:xfrm>
            <a:off x="2480614" y="334807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5" name="Oval 234"/>
          <p:cNvSpPr/>
          <p:nvPr/>
        </p:nvSpPr>
        <p:spPr>
          <a:xfrm>
            <a:off x="2348026" y="339890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6" name="Oval 235"/>
          <p:cNvSpPr/>
          <p:nvPr/>
        </p:nvSpPr>
        <p:spPr>
          <a:xfrm>
            <a:off x="2405481" y="350939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7" name="Oval 236"/>
          <p:cNvSpPr/>
          <p:nvPr/>
        </p:nvSpPr>
        <p:spPr>
          <a:xfrm>
            <a:off x="2591104" y="328620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8" name="Oval 237"/>
          <p:cNvSpPr/>
          <p:nvPr/>
        </p:nvSpPr>
        <p:spPr>
          <a:xfrm>
            <a:off x="2683916" y="31867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Oval 238"/>
          <p:cNvSpPr/>
          <p:nvPr/>
        </p:nvSpPr>
        <p:spPr>
          <a:xfrm>
            <a:off x="2588895" y="33259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0" name="Oval 239"/>
          <p:cNvSpPr/>
          <p:nvPr/>
        </p:nvSpPr>
        <p:spPr>
          <a:xfrm>
            <a:off x="2714853" y="305638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1" name="Oval 240"/>
          <p:cNvSpPr/>
          <p:nvPr/>
        </p:nvSpPr>
        <p:spPr>
          <a:xfrm>
            <a:off x="2648559" y="285750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2" name="Oval 241"/>
          <p:cNvSpPr/>
          <p:nvPr/>
        </p:nvSpPr>
        <p:spPr>
          <a:xfrm>
            <a:off x="2420950" y="292158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3" name="Oval 242"/>
          <p:cNvSpPr/>
          <p:nvPr/>
        </p:nvSpPr>
        <p:spPr>
          <a:xfrm>
            <a:off x="2487244" y="292158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4" name="Oval 243"/>
          <p:cNvSpPr/>
          <p:nvPr/>
        </p:nvSpPr>
        <p:spPr>
          <a:xfrm>
            <a:off x="2211019" y="334807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5" name="Oval 244"/>
          <p:cNvSpPr/>
          <p:nvPr/>
        </p:nvSpPr>
        <p:spPr>
          <a:xfrm>
            <a:off x="1771269" y="279120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6" name="Oval 245"/>
          <p:cNvSpPr/>
          <p:nvPr/>
        </p:nvSpPr>
        <p:spPr>
          <a:xfrm>
            <a:off x="1713814" y="333923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7" name="Oval 246"/>
          <p:cNvSpPr/>
          <p:nvPr/>
        </p:nvSpPr>
        <p:spPr>
          <a:xfrm>
            <a:off x="2060752" y="32132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8" name="Oval 247"/>
          <p:cNvSpPr/>
          <p:nvPr/>
        </p:nvSpPr>
        <p:spPr>
          <a:xfrm>
            <a:off x="2029815" y="359115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9" name="Oval 248"/>
          <p:cNvSpPr/>
          <p:nvPr/>
        </p:nvSpPr>
        <p:spPr>
          <a:xfrm>
            <a:off x="2281732" y="335249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0" name="Oval 249"/>
          <p:cNvSpPr/>
          <p:nvPr/>
        </p:nvSpPr>
        <p:spPr>
          <a:xfrm>
            <a:off x="2540279" y="32132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1" name="Oval 250"/>
          <p:cNvSpPr/>
          <p:nvPr/>
        </p:nvSpPr>
        <p:spPr>
          <a:xfrm>
            <a:off x="2639720" y="291716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2" name="Oval 251"/>
          <p:cNvSpPr/>
          <p:nvPr/>
        </p:nvSpPr>
        <p:spPr>
          <a:xfrm>
            <a:off x="2597734" y="270060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3" name="Oval 252"/>
          <p:cNvSpPr/>
          <p:nvPr/>
        </p:nvSpPr>
        <p:spPr>
          <a:xfrm>
            <a:off x="2896057" y="371269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4" name="Oval 253"/>
          <p:cNvSpPr/>
          <p:nvPr/>
        </p:nvSpPr>
        <p:spPr>
          <a:xfrm>
            <a:off x="2860700" y="346961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5" name="Oval 254"/>
          <p:cNvSpPr/>
          <p:nvPr/>
        </p:nvSpPr>
        <p:spPr>
          <a:xfrm>
            <a:off x="2549118" y="342099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6" name="Oval 255"/>
          <p:cNvSpPr/>
          <p:nvPr/>
        </p:nvSpPr>
        <p:spPr>
          <a:xfrm>
            <a:off x="2801035" y="339006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7" name="Oval 256"/>
          <p:cNvSpPr/>
          <p:nvPr/>
        </p:nvSpPr>
        <p:spPr>
          <a:xfrm>
            <a:off x="2752420" y="370827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8" name="Oval 257"/>
          <p:cNvSpPr/>
          <p:nvPr/>
        </p:nvSpPr>
        <p:spPr>
          <a:xfrm>
            <a:off x="2666238" y="365523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9" name="Oval 258"/>
          <p:cNvSpPr/>
          <p:nvPr/>
        </p:nvSpPr>
        <p:spPr>
          <a:xfrm>
            <a:off x="2549118" y="390052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0" name="Oval 259"/>
          <p:cNvSpPr/>
          <p:nvPr/>
        </p:nvSpPr>
        <p:spPr>
          <a:xfrm>
            <a:off x="2966770" y="369943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1" name="Oval 260"/>
          <p:cNvSpPr/>
          <p:nvPr/>
        </p:nvSpPr>
        <p:spPr>
          <a:xfrm>
            <a:off x="2703804" y="346077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2" name="Oval 261"/>
          <p:cNvSpPr/>
          <p:nvPr/>
        </p:nvSpPr>
        <p:spPr>
          <a:xfrm>
            <a:off x="2721483" y="341657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3" name="Oval 262"/>
          <p:cNvSpPr/>
          <p:nvPr/>
        </p:nvSpPr>
        <p:spPr>
          <a:xfrm>
            <a:off x="3090519" y="336133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4" name="Oval 263"/>
          <p:cNvSpPr/>
          <p:nvPr/>
        </p:nvSpPr>
        <p:spPr>
          <a:xfrm>
            <a:off x="3010966" y="34386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5" name="Oval 264"/>
          <p:cNvSpPr/>
          <p:nvPr/>
        </p:nvSpPr>
        <p:spPr>
          <a:xfrm>
            <a:off x="3037484" y="343867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6" name="Oval 265"/>
          <p:cNvSpPr/>
          <p:nvPr/>
        </p:nvSpPr>
        <p:spPr>
          <a:xfrm>
            <a:off x="3185541" y="356021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7" name="Oval 266"/>
          <p:cNvSpPr/>
          <p:nvPr/>
        </p:nvSpPr>
        <p:spPr>
          <a:xfrm>
            <a:off x="3189960" y="365523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8" name="Oval 267"/>
          <p:cNvSpPr/>
          <p:nvPr/>
        </p:nvSpPr>
        <p:spPr>
          <a:xfrm>
            <a:off x="3512591" y="360883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9" name="Oval 268"/>
          <p:cNvSpPr/>
          <p:nvPr/>
        </p:nvSpPr>
        <p:spPr>
          <a:xfrm>
            <a:off x="3815334" y="362209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0" name="Oval 269"/>
          <p:cNvSpPr/>
          <p:nvPr/>
        </p:nvSpPr>
        <p:spPr>
          <a:xfrm>
            <a:off x="3815334" y="363093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1" name="Oval 270"/>
          <p:cNvSpPr/>
          <p:nvPr/>
        </p:nvSpPr>
        <p:spPr>
          <a:xfrm>
            <a:off x="3680536" y="348287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2" name="Oval 271"/>
          <p:cNvSpPr/>
          <p:nvPr/>
        </p:nvSpPr>
        <p:spPr>
          <a:xfrm>
            <a:off x="3342436" y="369059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3" name="Oval 272"/>
          <p:cNvSpPr/>
          <p:nvPr/>
        </p:nvSpPr>
        <p:spPr>
          <a:xfrm>
            <a:off x="3382213" y="361767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4" name="Oval 273"/>
          <p:cNvSpPr/>
          <p:nvPr/>
        </p:nvSpPr>
        <p:spPr>
          <a:xfrm>
            <a:off x="3181121" y="361767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5" name="Oval 274"/>
          <p:cNvSpPr/>
          <p:nvPr/>
        </p:nvSpPr>
        <p:spPr>
          <a:xfrm>
            <a:off x="3247415" y="355579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6" name="Oval 275"/>
          <p:cNvSpPr/>
          <p:nvPr/>
        </p:nvSpPr>
        <p:spPr>
          <a:xfrm>
            <a:off x="2847441" y="339006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7" name="Oval 276"/>
          <p:cNvSpPr/>
          <p:nvPr/>
        </p:nvSpPr>
        <p:spPr>
          <a:xfrm>
            <a:off x="2381173" y="317350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8" name="Oval 277"/>
          <p:cNvSpPr/>
          <p:nvPr/>
        </p:nvSpPr>
        <p:spPr>
          <a:xfrm>
            <a:off x="2202180" y="316024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9" name="Oval 278"/>
          <p:cNvSpPr/>
          <p:nvPr/>
        </p:nvSpPr>
        <p:spPr>
          <a:xfrm>
            <a:off x="2560167" y="303428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0" name="Oval 279"/>
          <p:cNvSpPr/>
          <p:nvPr/>
        </p:nvSpPr>
        <p:spPr>
          <a:xfrm>
            <a:off x="2836392" y="290390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1" name="Oval 280"/>
          <p:cNvSpPr/>
          <p:nvPr/>
        </p:nvSpPr>
        <p:spPr>
          <a:xfrm>
            <a:off x="2370124" y="278236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2" name="Oval 281"/>
          <p:cNvSpPr/>
          <p:nvPr/>
        </p:nvSpPr>
        <p:spPr>
          <a:xfrm>
            <a:off x="2343607" y="290832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3" name="Oval 282"/>
          <p:cNvSpPr/>
          <p:nvPr/>
        </p:nvSpPr>
        <p:spPr>
          <a:xfrm>
            <a:off x="2204389" y="292600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4" name="Oval 283"/>
          <p:cNvSpPr/>
          <p:nvPr/>
        </p:nvSpPr>
        <p:spPr>
          <a:xfrm>
            <a:off x="2140305" y="287738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5" name="Oval 284"/>
          <p:cNvSpPr/>
          <p:nvPr/>
        </p:nvSpPr>
        <p:spPr>
          <a:xfrm>
            <a:off x="2299411" y="29613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6" name="Oval 285"/>
          <p:cNvSpPr/>
          <p:nvPr/>
        </p:nvSpPr>
        <p:spPr>
          <a:xfrm>
            <a:off x="2208809" y="284424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7" name="Oval 286"/>
          <p:cNvSpPr/>
          <p:nvPr/>
        </p:nvSpPr>
        <p:spPr>
          <a:xfrm>
            <a:off x="2080641" y="316466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8" name="Oval 287"/>
          <p:cNvSpPr/>
          <p:nvPr/>
        </p:nvSpPr>
        <p:spPr>
          <a:xfrm>
            <a:off x="2259634" y="328620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9" name="Oval 288"/>
          <p:cNvSpPr/>
          <p:nvPr/>
        </p:nvSpPr>
        <p:spPr>
          <a:xfrm>
            <a:off x="2398852" y="354695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0" name="Oval 289"/>
          <p:cNvSpPr/>
          <p:nvPr/>
        </p:nvSpPr>
        <p:spPr>
          <a:xfrm>
            <a:off x="2535859" y="322653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1" name="Oval 290"/>
          <p:cNvSpPr/>
          <p:nvPr/>
        </p:nvSpPr>
        <p:spPr>
          <a:xfrm>
            <a:off x="3046323" y="309173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2" name="Oval 291"/>
          <p:cNvSpPr/>
          <p:nvPr/>
        </p:nvSpPr>
        <p:spPr>
          <a:xfrm>
            <a:off x="3178911" y="316024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3" name="Oval 292"/>
          <p:cNvSpPr/>
          <p:nvPr/>
        </p:nvSpPr>
        <p:spPr>
          <a:xfrm>
            <a:off x="3388842" y="3339236"/>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4" name="Oval 293"/>
          <p:cNvSpPr/>
          <p:nvPr/>
        </p:nvSpPr>
        <p:spPr>
          <a:xfrm>
            <a:off x="3161233" y="336575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5" name="Oval 294"/>
          <p:cNvSpPr/>
          <p:nvPr/>
        </p:nvSpPr>
        <p:spPr>
          <a:xfrm>
            <a:off x="3413150" y="3217697"/>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Oval 295"/>
          <p:cNvSpPr/>
          <p:nvPr/>
        </p:nvSpPr>
        <p:spPr>
          <a:xfrm>
            <a:off x="3461766" y="2943682"/>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7" name="Oval 296"/>
          <p:cNvSpPr/>
          <p:nvPr/>
        </p:nvSpPr>
        <p:spPr>
          <a:xfrm>
            <a:off x="3505962" y="272712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8" name="Oval 297"/>
          <p:cNvSpPr/>
          <p:nvPr/>
        </p:nvSpPr>
        <p:spPr>
          <a:xfrm>
            <a:off x="3287191" y="276910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9" name="Oval 298"/>
          <p:cNvSpPr/>
          <p:nvPr/>
        </p:nvSpPr>
        <p:spPr>
          <a:xfrm>
            <a:off x="2860700" y="297461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0" name="Oval 299"/>
          <p:cNvSpPr/>
          <p:nvPr/>
        </p:nvSpPr>
        <p:spPr>
          <a:xfrm>
            <a:off x="2586685" y="236029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1" name="Oval 300"/>
          <p:cNvSpPr/>
          <p:nvPr/>
        </p:nvSpPr>
        <p:spPr>
          <a:xfrm>
            <a:off x="2443048" y="2260854"/>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2" name="Oval 301"/>
          <p:cNvSpPr/>
          <p:nvPr/>
        </p:nvSpPr>
        <p:spPr>
          <a:xfrm>
            <a:off x="2847441" y="241774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3" name="Oval 302"/>
          <p:cNvSpPr/>
          <p:nvPr/>
        </p:nvSpPr>
        <p:spPr>
          <a:xfrm>
            <a:off x="2365705" y="261663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4" name="Oval 303"/>
          <p:cNvSpPr/>
          <p:nvPr/>
        </p:nvSpPr>
        <p:spPr>
          <a:xfrm>
            <a:off x="2034235" y="284866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Oval 304"/>
          <p:cNvSpPr/>
          <p:nvPr/>
        </p:nvSpPr>
        <p:spPr>
          <a:xfrm>
            <a:off x="1994458" y="2861919"/>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6" name="Oval 305"/>
          <p:cNvSpPr/>
          <p:nvPr/>
        </p:nvSpPr>
        <p:spPr>
          <a:xfrm>
            <a:off x="1967941" y="3239795"/>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7" name="Oval 306"/>
          <p:cNvSpPr/>
          <p:nvPr/>
        </p:nvSpPr>
        <p:spPr>
          <a:xfrm>
            <a:off x="1948053" y="2408910"/>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8" name="Oval 307"/>
          <p:cNvSpPr/>
          <p:nvPr/>
        </p:nvSpPr>
        <p:spPr>
          <a:xfrm>
            <a:off x="1738121" y="337459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 name="Oval 308"/>
          <p:cNvSpPr/>
          <p:nvPr/>
        </p:nvSpPr>
        <p:spPr>
          <a:xfrm>
            <a:off x="1974570" y="3703853"/>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 name="Oval 309"/>
          <p:cNvSpPr/>
          <p:nvPr/>
        </p:nvSpPr>
        <p:spPr>
          <a:xfrm>
            <a:off x="2096109" y="3500551"/>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 name="Oval 310"/>
          <p:cNvSpPr/>
          <p:nvPr/>
        </p:nvSpPr>
        <p:spPr>
          <a:xfrm>
            <a:off x="2414320" y="3425418"/>
            <a:ext cx="50292" cy="50292"/>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2" name="Oval 311"/>
          <p:cNvSpPr/>
          <p:nvPr/>
        </p:nvSpPr>
        <p:spPr>
          <a:xfrm>
            <a:off x="1570786" y="4199458"/>
            <a:ext cx="146304" cy="146304"/>
          </a:xfrm>
          <a:prstGeom prst="ellipse">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3" name="TextBox 312"/>
          <p:cNvSpPr txBox="1"/>
          <p:nvPr/>
        </p:nvSpPr>
        <p:spPr>
          <a:xfrm>
            <a:off x="455218" y="4400626"/>
            <a:ext cx="2377440" cy="164592"/>
          </a:xfrm>
          <a:prstGeom prst="rect">
            <a:avLst/>
          </a:prstGeom>
          <a:noFill/>
        </p:spPr>
        <p:txBody>
          <a:bodyPr wrap="none" lIns="0" tIns="0" rIns="0" bIns="0" anchor="t">
            <a:spAutoFit/>
          </a:bodyPr>
          <a:lstStyle/>
          <a:p>
            <a:pPr algn="ctr">
              <a:lnSpc>
                <a:spcPct val="100000"/>
              </a:lnSpc>
              <a:spcAft>
                <a:spcPts val="0"/>
              </a:spcAft>
            </a:pPr>
            <a:r>
              <a:rPr sz="800" b="1" i="0">
                <a:solidFill>
                  <a:srgbClr val="DB0011"/>
                </a:solidFill>
                <a:latin typeface="Arial"/>
              </a:rPr>
              <a:t>Nov 23  -6.9%</a:t>
            </a:r>
          </a:p>
        </p:txBody>
      </p:sp>
      <p:sp>
        <p:nvSpPr>
          <p:cNvPr id="314" name="TextBox 313"/>
          <p:cNvSpPr txBox="1"/>
          <p:nvPr/>
        </p:nvSpPr>
        <p:spPr>
          <a:xfrm>
            <a:off x="1188720" y="4992624"/>
            <a:ext cx="201168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CATL -6%</a:t>
            </a:r>
          </a:p>
        </p:txBody>
      </p:sp>
      <p:sp>
        <p:nvSpPr>
          <p:cNvPr id="315" name="TextBox 314"/>
          <p:cNvSpPr txBox="1"/>
          <p:nvPr/>
        </p:nvSpPr>
        <p:spPr>
          <a:xfrm>
            <a:off x="1828800" y="4992624"/>
            <a:ext cx="2011680" cy="146304"/>
          </a:xfrm>
          <a:prstGeom prst="rect">
            <a:avLst/>
          </a:prstGeom>
          <a:noFill/>
        </p:spPr>
        <p:txBody>
          <a:bodyPr wrap="none" lIns="0" tIns="0" rIns="0" bIns="0" anchor="t">
            <a:spAutoFit/>
          </a:bodyPr>
          <a:lstStyle/>
          <a:p>
            <a:pPr algn="r">
              <a:lnSpc>
                <a:spcPct val="100000"/>
              </a:lnSpc>
              <a:spcAft>
                <a:spcPts val="0"/>
              </a:spcAft>
            </a:pPr>
            <a:r>
              <a:rPr sz="650" b="0" i="0">
                <a:solidFill>
                  <a:srgbClr val="767576"/>
                </a:solidFill>
                <a:latin typeface="Arial"/>
              </a:rPr>
              <a:t>+6%</a:t>
            </a:r>
          </a:p>
        </p:txBody>
      </p:sp>
      <p:sp>
        <p:nvSpPr>
          <p:cNvPr id="316" name="TextBox 315"/>
          <p:cNvSpPr txBox="1"/>
          <p:nvPr/>
        </p:nvSpPr>
        <p:spPr>
          <a:xfrm>
            <a:off x="1188720" y="2084831"/>
            <a:ext cx="2377440" cy="146304"/>
          </a:xfrm>
          <a:prstGeom prst="rect">
            <a:avLst/>
          </a:prstGeom>
          <a:noFill/>
        </p:spPr>
        <p:txBody>
          <a:bodyPr wrap="none" lIns="0" tIns="0" rIns="0" bIns="0" anchor="t">
            <a:spAutoFit/>
          </a:bodyPr>
          <a:lstStyle/>
          <a:p>
            <a:pPr algn="l">
              <a:lnSpc>
                <a:spcPct val="100000"/>
              </a:lnSpc>
              <a:spcAft>
                <a:spcPts val="0"/>
              </a:spcAft>
            </a:pPr>
            <a:r>
              <a:rPr sz="650" b="0" i="0">
                <a:solidFill>
                  <a:srgbClr val="767576"/>
                </a:solidFill>
                <a:latin typeface="Arial"/>
              </a:rPr>
              <a:t>steepener +6%</a:t>
            </a:r>
          </a:p>
        </p:txBody>
      </p:sp>
      <p:sp>
        <p:nvSpPr>
          <p:cNvPr id="317" name="TextBox 316"/>
          <p:cNvSpPr txBox="1"/>
          <p:nvPr/>
        </p:nvSpPr>
        <p:spPr>
          <a:xfrm>
            <a:off x="4846320" y="1956816"/>
            <a:ext cx="329184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The worst one</a:t>
            </a:r>
          </a:p>
        </p:txBody>
      </p:sp>
      <p:sp>
        <p:nvSpPr>
          <p:cNvPr id="318" name="Rectangle 317"/>
          <p:cNvSpPr/>
          <p:nvPr/>
        </p:nvSpPr>
        <p:spPr>
          <a:xfrm>
            <a:off x="4937760" y="2286000"/>
            <a:ext cx="3017520" cy="265176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19" name="Connector 318"/>
          <p:cNvCxnSpPr/>
          <p:nvPr/>
        </p:nvCxnSpPr>
        <p:spPr>
          <a:xfrm>
            <a:off x="4937760" y="2286000"/>
            <a:ext cx="3017519" cy="0"/>
          </a:xfrm>
          <a:prstGeom prst="line">
            <a:avLst/>
          </a:prstGeom>
          <a:ln w="9525">
            <a:solidFill>
              <a:srgbClr val="767576"/>
            </a:solidFill>
          </a:ln>
        </p:spPr>
        <p:style>
          <a:lnRef idx="2">
            <a:schemeClr val="accent1"/>
          </a:lnRef>
          <a:fillRef idx="0">
            <a:schemeClr val="accent1"/>
          </a:fillRef>
          <a:effectRef idx="1">
            <a:schemeClr val="accent1"/>
          </a:effectRef>
          <a:fontRef idx="minor">
            <a:schemeClr val="tx1"/>
          </a:fontRef>
        </p:style>
      </p:cxnSp>
      <p:sp>
        <p:nvSpPr>
          <p:cNvPr id="320" name="Rectangle 319"/>
          <p:cNvSpPr/>
          <p:nvPr/>
        </p:nvSpPr>
        <p:spPr>
          <a:xfrm>
            <a:off x="5212080" y="2286000"/>
            <a:ext cx="566928" cy="1160881"/>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1" name="Rectangle 320"/>
          <p:cNvSpPr/>
          <p:nvPr/>
        </p:nvSpPr>
        <p:spPr>
          <a:xfrm>
            <a:off x="6035040" y="3446881"/>
            <a:ext cx="566928" cy="880973"/>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2" name="Rectangle 321"/>
          <p:cNvSpPr/>
          <p:nvPr/>
        </p:nvSpPr>
        <p:spPr>
          <a:xfrm>
            <a:off x="6858000" y="2286000"/>
            <a:ext cx="566928" cy="2041855"/>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3" name="TextBox 322"/>
          <p:cNvSpPr txBox="1"/>
          <p:nvPr/>
        </p:nvSpPr>
        <p:spPr>
          <a:xfrm>
            <a:off x="5084064" y="4992624"/>
            <a:ext cx="822960" cy="146304"/>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CATL</a:t>
            </a:r>
          </a:p>
        </p:txBody>
      </p:sp>
      <p:sp>
        <p:nvSpPr>
          <p:cNvPr id="324" name="TextBox 323"/>
          <p:cNvSpPr txBox="1"/>
          <p:nvPr/>
        </p:nvSpPr>
        <p:spPr>
          <a:xfrm>
            <a:off x="5907024" y="4992624"/>
            <a:ext cx="822960" cy="146304"/>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steepener</a:t>
            </a:r>
          </a:p>
        </p:txBody>
      </p:sp>
      <p:sp>
        <p:nvSpPr>
          <p:cNvPr id="325" name="TextBox 324"/>
          <p:cNvSpPr txBox="1"/>
          <p:nvPr/>
        </p:nvSpPr>
        <p:spPr>
          <a:xfrm>
            <a:off x="6729984" y="4992624"/>
            <a:ext cx="822960" cy="146304"/>
          </a:xfrm>
          <a:prstGeom prst="rect">
            <a:avLst/>
          </a:prstGeom>
          <a:noFill/>
        </p:spPr>
        <p:txBody>
          <a:bodyPr wrap="none" lIns="0" tIns="0" rIns="0" bIns="0" anchor="t">
            <a:spAutoFit/>
          </a:bodyPr>
          <a:lstStyle/>
          <a:p>
            <a:pPr algn="ctr">
              <a:lnSpc>
                <a:spcPct val="100000"/>
              </a:lnSpc>
              <a:spcAft>
                <a:spcPts val="0"/>
              </a:spcAft>
            </a:pPr>
            <a:r>
              <a:rPr sz="750" b="0" i="0">
                <a:solidFill>
                  <a:srgbClr val="767576"/>
                </a:solidFill>
                <a:latin typeface="Arial"/>
              </a:rPr>
              <a:t>book</a:t>
            </a:r>
          </a:p>
        </p:txBody>
      </p:sp>
      <p:sp>
        <p:nvSpPr>
          <p:cNvPr id="326" name="TextBox 325"/>
          <p:cNvSpPr txBox="1"/>
          <p:nvPr/>
        </p:nvSpPr>
        <p:spPr>
          <a:xfrm>
            <a:off x="5084064" y="3483457"/>
            <a:ext cx="822960" cy="146304"/>
          </a:xfrm>
          <a:prstGeom prst="rect">
            <a:avLst/>
          </a:prstGeom>
          <a:noFill/>
        </p:spPr>
        <p:txBody>
          <a:bodyPr wrap="none" lIns="0" tIns="0" rIns="0" bIns="0" anchor="t">
            <a:spAutoFit/>
          </a:bodyPr>
          <a:lstStyle/>
          <a:p>
            <a:pPr algn="ctr">
              <a:lnSpc>
                <a:spcPct val="100000"/>
              </a:lnSpc>
              <a:spcAft>
                <a:spcPts val="0"/>
              </a:spcAft>
            </a:pPr>
            <a:r>
              <a:rPr sz="800" b="1" i="0">
                <a:solidFill>
                  <a:srgbClr val="DB0011"/>
                </a:solidFill>
                <a:latin typeface="Arial"/>
              </a:rPr>
              <a:t>-3.9%</a:t>
            </a:r>
          </a:p>
        </p:txBody>
      </p:sp>
      <p:sp>
        <p:nvSpPr>
          <p:cNvPr id="327" name="TextBox 326"/>
          <p:cNvSpPr txBox="1"/>
          <p:nvPr/>
        </p:nvSpPr>
        <p:spPr>
          <a:xfrm>
            <a:off x="5907024" y="4364431"/>
            <a:ext cx="822960" cy="146304"/>
          </a:xfrm>
          <a:prstGeom prst="rect">
            <a:avLst/>
          </a:prstGeom>
          <a:noFill/>
        </p:spPr>
        <p:txBody>
          <a:bodyPr wrap="none" lIns="0" tIns="0" rIns="0" bIns="0" anchor="t">
            <a:spAutoFit/>
          </a:bodyPr>
          <a:lstStyle/>
          <a:p>
            <a:pPr algn="ctr">
              <a:lnSpc>
                <a:spcPct val="100000"/>
              </a:lnSpc>
              <a:spcAft>
                <a:spcPts val="0"/>
              </a:spcAft>
            </a:pPr>
            <a:r>
              <a:rPr sz="800" b="1" i="0">
                <a:solidFill>
                  <a:srgbClr val="44546A"/>
                </a:solidFill>
                <a:latin typeface="Arial"/>
              </a:rPr>
              <a:t>-3.0%</a:t>
            </a:r>
          </a:p>
        </p:txBody>
      </p:sp>
      <p:sp>
        <p:nvSpPr>
          <p:cNvPr id="328" name="TextBox 327"/>
          <p:cNvSpPr txBox="1"/>
          <p:nvPr/>
        </p:nvSpPr>
        <p:spPr>
          <a:xfrm>
            <a:off x="6729984" y="4364431"/>
            <a:ext cx="822960" cy="146304"/>
          </a:xfrm>
          <a:prstGeom prst="rect">
            <a:avLst/>
          </a:prstGeom>
          <a:noFill/>
        </p:spPr>
        <p:txBody>
          <a:bodyPr wrap="none" lIns="0" tIns="0" rIns="0" bIns="0" anchor="t">
            <a:spAutoFit/>
          </a:bodyPr>
          <a:lstStyle/>
          <a:p>
            <a:pPr algn="ctr">
              <a:lnSpc>
                <a:spcPct val="100000"/>
              </a:lnSpc>
              <a:spcAft>
                <a:spcPts val="0"/>
              </a:spcAft>
            </a:pPr>
            <a:r>
              <a:rPr sz="800" b="1" i="0">
                <a:solidFill>
                  <a:srgbClr val="000000"/>
                </a:solidFill>
                <a:latin typeface="Arial"/>
              </a:rPr>
              <a:t>-6.9%</a:t>
            </a:r>
          </a:p>
        </p:txBody>
      </p:sp>
      <p:cxnSp>
        <p:nvCxnSpPr>
          <p:cNvPr id="329" name="Connector 328"/>
          <p:cNvCxnSpPr/>
          <p:nvPr/>
        </p:nvCxnSpPr>
        <p:spPr>
          <a:xfrm>
            <a:off x="4937760" y="4734458"/>
            <a:ext cx="3017519"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330" name="TextBox 329"/>
          <p:cNvSpPr txBox="1"/>
          <p:nvPr/>
        </p:nvSpPr>
        <p:spPr>
          <a:xfrm>
            <a:off x="4992624" y="4771034"/>
            <a:ext cx="2834640" cy="146304"/>
          </a:xfrm>
          <a:prstGeom prst="rect">
            <a:avLst/>
          </a:prstGeom>
          <a:noFill/>
        </p:spPr>
        <p:txBody>
          <a:bodyPr wrap="none" lIns="0" tIns="0" rIns="0" bIns="0" anchor="t">
            <a:spAutoFit/>
          </a:bodyPr>
          <a:lstStyle/>
          <a:p>
            <a:pPr algn="l">
              <a:lnSpc>
                <a:spcPct val="100000"/>
              </a:lnSpc>
              <a:spcAft>
                <a:spcPts val="0"/>
              </a:spcAft>
            </a:pPr>
            <a:r>
              <a:rPr sz="650" b="0" i="0">
                <a:solidFill>
                  <a:srgbClr val="000000"/>
                </a:solidFill>
                <a:latin typeface="Arial"/>
              </a:rPr>
              <a:t>-8.3% if both worst had coincided</a:t>
            </a:r>
          </a:p>
        </p:txBody>
      </p:sp>
      <p:sp>
        <p:nvSpPr>
          <p:cNvPr id="331" name="TextBox 330"/>
          <p:cNvSpPr txBox="1"/>
          <p:nvPr/>
        </p:nvSpPr>
        <p:spPr>
          <a:xfrm>
            <a:off x="8503920" y="1956816"/>
            <a:ext cx="3291840" cy="219456"/>
          </a:xfrm>
          <a:prstGeom prst="rect">
            <a:avLst/>
          </a:prstGeom>
          <a:noFill/>
        </p:spPr>
        <p:txBody>
          <a:bodyPr wrap="none" lIns="0" tIns="0" rIns="0" bIns="0" anchor="t">
            <a:spAutoFit/>
          </a:bodyPr>
          <a:lstStyle/>
          <a:p>
            <a:pPr algn="l">
              <a:lnSpc>
                <a:spcPct val="100000"/>
              </a:lnSpc>
              <a:spcAft>
                <a:spcPts val="0"/>
              </a:spcAft>
            </a:pPr>
            <a:r>
              <a:rPr sz="1150" b="1" i="0">
                <a:solidFill>
                  <a:srgbClr val="000000"/>
                </a:solidFill>
                <a:latin typeface="Arial"/>
              </a:rPr>
              <a:t>Who cushions whom</a:t>
            </a:r>
          </a:p>
        </p:txBody>
      </p:sp>
      <p:sp>
        <p:nvSpPr>
          <p:cNvPr id="332" name="TextBox 331"/>
          <p:cNvSpPr txBox="1"/>
          <p:nvPr/>
        </p:nvSpPr>
        <p:spPr>
          <a:xfrm>
            <a:off x="8503920" y="2560320"/>
            <a:ext cx="3291840" cy="402336"/>
          </a:xfrm>
          <a:prstGeom prst="rect">
            <a:avLst/>
          </a:prstGeom>
          <a:noFill/>
        </p:spPr>
        <p:txBody>
          <a:bodyPr wrap="none" lIns="0" tIns="0" rIns="0" bIns="0" anchor="t">
            <a:spAutoFit/>
          </a:bodyPr>
          <a:lstStyle/>
          <a:p>
            <a:pPr algn="l">
              <a:lnSpc>
                <a:spcPct val="100000"/>
              </a:lnSpc>
              <a:spcAft>
                <a:spcPts val="0"/>
              </a:spcAft>
            </a:pPr>
            <a:r>
              <a:rPr sz="3000" b="1" i="0">
                <a:solidFill>
                  <a:srgbClr val="44546A"/>
                </a:solidFill>
                <a:latin typeface="Arial"/>
              </a:rPr>
              <a:t>+20%</a:t>
            </a:r>
          </a:p>
        </p:txBody>
      </p:sp>
      <p:sp>
        <p:nvSpPr>
          <p:cNvPr id="333" name="TextBox 332"/>
          <p:cNvSpPr txBox="1"/>
          <p:nvPr/>
        </p:nvSpPr>
        <p:spPr>
          <a:xfrm>
            <a:off x="8503920" y="2999232"/>
            <a:ext cx="3291840" cy="164592"/>
          </a:xfrm>
          <a:prstGeom prst="rect">
            <a:avLst/>
          </a:prstGeom>
          <a:noFill/>
        </p:spPr>
        <p:txBody>
          <a:bodyPr wrap="none" lIns="0" tIns="0" rIns="0" bIns="0" anchor="t">
            <a:spAutoFit/>
          </a:bodyPr>
          <a:lstStyle/>
          <a:p>
            <a:pPr algn="l">
              <a:lnSpc>
                <a:spcPct val="100000"/>
              </a:lnSpc>
              <a:spcAft>
                <a:spcPts val="0"/>
              </a:spcAft>
            </a:pPr>
            <a:r>
              <a:rPr sz="850" b="0" i="0">
                <a:solidFill>
                  <a:srgbClr val="000000"/>
                </a:solidFill>
                <a:latin typeface="Arial"/>
              </a:rPr>
              <a:t>the steepener offsets</a:t>
            </a:r>
          </a:p>
        </p:txBody>
      </p:sp>
      <p:sp>
        <p:nvSpPr>
          <p:cNvPr id="334" name="TextBox 333"/>
          <p:cNvSpPr txBox="1"/>
          <p:nvPr/>
        </p:nvSpPr>
        <p:spPr>
          <a:xfrm>
            <a:off x="8503920" y="3163824"/>
            <a:ext cx="3291840" cy="164592"/>
          </a:xfrm>
          <a:prstGeom prst="rect">
            <a:avLst/>
          </a:prstGeom>
          <a:noFill/>
        </p:spPr>
        <p:txBody>
          <a:bodyPr wrap="none" lIns="0" tIns="0" rIns="0" bIns="0" anchor="t">
            <a:spAutoFit/>
          </a:bodyPr>
          <a:lstStyle/>
          <a:p>
            <a:pPr algn="l">
              <a:lnSpc>
                <a:spcPct val="100000"/>
              </a:lnSpc>
              <a:spcAft>
                <a:spcPts val="0"/>
              </a:spcAft>
            </a:pPr>
            <a:r>
              <a:rPr sz="850" b="0" i="0">
                <a:solidFill>
                  <a:srgbClr val="767576"/>
                </a:solidFill>
                <a:latin typeface="Arial"/>
              </a:rPr>
              <a:t>in CATL's worst four</a:t>
            </a:r>
          </a:p>
        </p:txBody>
      </p:sp>
      <p:sp>
        <p:nvSpPr>
          <p:cNvPr id="335" name="TextBox 334"/>
          <p:cNvSpPr txBox="1"/>
          <p:nvPr/>
        </p:nvSpPr>
        <p:spPr>
          <a:xfrm>
            <a:off x="8503920" y="3749039"/>
            <a:ext cx="3291840" cy="402336"/>
          </a:xfrm>
          <a:prstGeom prst="rect">
            <a:avLst/>
          </a:prstGeom>
          <a:noFill/>
        </p:spPr>
        <p:txBody>
          <a:bodyPr wrap="none" lIns="0" tIns="0" rIns="0" bIns="0" anchor="t">
            <a:spAutoFit/>
          </a:bodyPr>
          <a:lstStyle/>
          <a:p>
            <a:pPr algn="l">
              <a:lnSpc>
                <a:spcPct val="100000"/>
              </a:lnSpc>
              <a:spcAft>
                <a:spcPts val="0"/>
              </a:spcAft>
            </a:pPr>
            <a:r>
              <a:rPr sz="3000" b="1" i="0">
                <a:solidFill>
                  <a:srgbClr val="DB0011"/>
                </a:solidFill>
                <a:latin typeface="Arial"/>
              </a:rPr>
              <a:t>-26%</a:t>
            </a:r>
          </a:p>
        </p:txBody>
      </p:sp>
      <p:sp>
        <p:nvSpPr>
          <p:cNvPr id="336" name="TextBox 335"/>
          <p:cNvSpPr txBox="1"/>
          <p:nvPr/>
        </p:nvSpPr>
        <p:spPr>
          <a:xfrm>
            <a:off x="8503920" y="4187952"/>
            <a:ext cx="3291840" cy="164592"/>
          </a:xfrm>
          <a:prstGeom prst="rect">
            <a:avLst/>
          </a:prstGeom>
          <a:noFill/>
        </p:spPr>
        <p:txBody>
          <a:bodyPr wrap="none" lIns="0" tIns="0" rIns="0" bIns="0" anchor="t">
            <a:spAutoFit/>
          </a:bodyPr>
          <a:lstStyle/>
          <a:p>
            <a:pPr algn="l">
              <a:lnSpc>
                <a:spcPct val="100000"/>
              </a:lnSpc>
              <a:spcAft>
                <a:spcPts val="0"/>
              </a:spcAft>
            </a:pPr>
            <a:r>
              <a:rPr sz="850" b="0" i="0">
                <a:solidFill>
                  <a:srgbClr val="000000"/>
                </a:solidFill>
                <a:latin typeface="Arial"/>
              </a:rPr>
              <a:t>CATL adds to the loss</a:t>
            </a:r>
          </a:p>
        </p:txBody>
      </p:sp>
      <p:sp>
        <p:nvSpPr>
          <p:cNvPr id="337" name="TextBox 336"/>
          <p:cNvSpPr txBox="1"/>
          <p:nvPr/>
        </p:nvSpPr>
        <p:spPr>
          <a:xfrm>
            <a:off x="8503920" y="4352544"/>
            <a:ext cx="3291840" cy="164592"/>
          </a:xfrm>
          <a:prstGeom prst="rect">
            <a:avLst/>
          </a:prstGeom>
          <a:noFill/>
        </p:spPr>
        <p:txBody>
          <a:bodyPr wrap="none" lIns="0" tIns="0" rIns="0" bIns="0" anchor="t">
            <a:spAutoFit/>
          </a:bodyPr>
          <a:lstStyle/>
          <a:p>
            <a:pPr algn="l">
              <a:lnSpc>
                <a:spcPct val="100000"/>
              </a:lnSpc>
              <a:spcAft>
                <a:spcPts val="0"/>
              </a:spcAft>
            </a:pPr>
            <a:r>
              <a:rPr sz="850" b="0" i="0">
                <a:solidFill>
                  <a:srgbClr val="767576"/>
                </a:solidFill>
                <a:latin typeface="Arial"/>
              </a:rPr>
              <a:t>in the steepener's worst four</a:t>
            </a:r>
          </a:p>
        </p:txBody>
      </p:sp>
      <p:sp>
        <p:nvSpPr>
          <p:cNvPr id="338" name="Rectangle 337"/>
          <p:cNvSpPr/>
          <p:nvPr/>
        </p:nvSpPr>
        <p:spPr>
          <a:xfrm>
            <a:off x="374904" y="5431536"/>
            <a:ext cx="11441887" cy="53035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9" name="TextBox 338"/>
          <p:cNvSpPr txBox="1"/>
          <p:nvPr/>
        </p:nvSpPr>
        <p:spPr>
          <a:xfrm>
            <a:off x="594360" y="5559552"/>
            <a:ext cx="11000232" cy="274320"/>
          </a:xfrm>
          <a:prstGeom prst="rect">
            <a:avLst/>
          </a:prstGeom>
          <a:noFill/>
        </p:spPr>
        <p:txBody>
          <a:bodyPr wrap="none" lIns="0" tIns="0" rIns="0" bIns="0" anchor="t">
            <a:spAutoFit/>
          </a:bodyPr>
          <a:lstStyle/>
          <a:p>
            <a:pPr algn="l">
              <a:lnSpc>
                <a:spcPct val="100000"/>
              </a:lnSpc>
              <a:spcAft>
                <a:spcPts val="0"/>
              </a:spcAft>
            </a:pPr>
            <a:r>
              <a:rPr sz="1250" b="1" i="0">
                <a:solidFill>
                  <a:srgbClr val="FFFFFF"/>
                </a:solidFill>
                <a:latin typeface="Arial"/>
              </a:rPr>
              <a:t>The steepener cushions CATL. CATL does not return the favour, and the worst episode reached 83% of what both losing together could cost.</a:t>
            </a:r>
          </a:p>
        </p:txBody>
      </p:sp>
      <p:sp>
        <p:nvSpPr>
          <p:cNvPr id="340" name="TextBox 339"/>
          <p:cNvSpPr txBox="1"/>
          <p:nvPr/>
        </p:nvSpPr>
        <p:spPr>
          <a:xfrm>
            <a:off x="374904" y="6455664"/>
            <a:ext cx="11441887" cy="274320"/>
          </a:xfrm>
          <a:prstGeom prst="rect">
            <a:avLst/>
          </a:prstGeom>
          <a:noFill/>
        </p:spPr>
        <p:txBody>
          <a:bodyPr wrap="square" lIns="0" tIns="0" rIns="0" bIns="0" anchor="t">
            <a:spAutoFit/>
          </a:bodyPr>
          <a:lstStyle/>
          <a:p>
            <a:pPr algn="l">
              <a:lnSpc>
                <a:spcPct val="110000"/>
              </a:lnSpc>
              <a:spcAft>
                <a:spcPts val="0"/>
              </a:spcAft>
            </a:pPr>
            <a:r>
              <a:rPr sz="800" b="0" i="0">
                <a:solidFill>
                  <a:srgbClr val="767576"/>
                </a:solidFill>
                <a:latin typeface="Arial"/>
              </a:rPr>
              <a:t>Rolling eight-week windows, 171 of them, at exhibit 11's sizing: CATL 17.5% of capital, steepener 0.197% per basis point. The worst four windows for each sleeve are picked greedily and constrained not to overlap. In CATL's worst four the steepener averaged +0.74% against CATL's -3.70%; in the steepener's worst four CATL averaged -0.88% against the steepener's -3.42%. The worst book window is Nov 2023 to Jan 2024 at -6.93%, against -8.31% had each sleeve's own worst window coincided. Computed by data-puller/episodes.py.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2376</Words>
  <Application>Microsoft Macintosh PowerPoint</Application>
  <PresentationFormat>Widescreen</PresentationFormat>
  <Paragraphs>338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永沛 李</cp:lastModifiedBy>
  <cp:revision>2</cp:revision>
  <dcterms:created xsi:type="dcterms:W3CDTF">2013-01-27T09:14:16Z</dcterms:created>
  <dcterms:modified xsi:type="dcterms:W3CDTF">2026-08-10T02:04:50Z</dcterms:modified>
  <cp:category/>
</cp:coreProperties>
</file>