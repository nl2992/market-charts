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Freeform 2"/>
          <p:cNvSpPr/>
          <p:nvPr/>
        </p:nvSpPr>
        <p:spPr>
          <a:xfrm>
            <a:off x="0" y="0"/>
            <a:ext cx="6095847" cy="6858000"/>
          </a:xfrm>
          <a:custGeom>
            <a:avLst/>
            <a:gdLst/>
            <a:ahLst/>
            <a:cxnLst/>
            <a:rect l="l" t="t" r="r" b="b"/>
            <a:pathLst>
              <a:path w="6095847" h="6858000">
                <a:moveTo>
                  <a:pt x="0" y="0"/>
                </a:moveTo>
                <a:lnTo>
                  <a:pt x="0" y="6858000"/>
                </a:lnTo>
                <a:lnTo>
                  <a:pt x="6095847" y="3429000"/>
                </a:lnTo>
                <a:close/>
              </a:path>
            </a:pathLst>
          </a:cu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095847" y="0"/>
            <a:ext cx="6095848" cy="6858000"/>
          </a:xfrm>
          <a:custGeom>
            <a:avLst/>
            <a:gdLst/>
            <a:ahLst/>
            <a:cxnLst/>
            <a:rect l="l" t="t" r="r" b="b"/>
            <a:pathLst>
              <a:path w="6095848" h="6858000">
                <a:moveTo>
                  <a:pt x="6095848" y="0"/>
                </a:moveTo>
                <a:lnTo>
                  <a:pt x="6095848" y="6858000"/>
                </a:lnTo>
                <a:lnTo>
                  <a:pt x="0" y="3429000"/>
                </a:lnTo>
                <a:close/>
              </a:path>
            </a:pathLst>
          </a:cu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74904" y="182880"/>
            <a:ext cx="36576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Risks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9863" y="265176"/>
            <a:ext cx="566927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Risks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249863" y="512064"/>
            <a:ext cx="566928" cy="0"/>
          </a:xfrm>
          <a:prstGeom prst="line">
            <a:avLst/>
          </a:prstGeom>
          <a:ln w="2540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401300" y="265176"/>
            <a:ext cx="647395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767576"/>
                </a:solidFill>
                <a:latin typeface="Arial"/>
              </a:rPr>
              <a:t>Trades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2269" y="265176"/>
            <a:ext cx="727862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767576"/>
                </a:solidFill>
                <a:latin typeface="Arial"/>
              </a:rPr>
              <a:t>Markets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04173" y="265176"/>
            <a:ext cx="566927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767576"/>
                </a:solidFill>
                <a:latin typeface="Arial"/>
              </a:rPr>
              <a:t>Macro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74904" y="640080"/>
            <a:ext cx="11441887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74904" y="786384"/>
            <a:ext cx="11441887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0" i="0">
                <a:solidFill>
                  <a:srgbClr val="000000"/>
                </a:solidFill>
                <a:latin typeface="Arial"/>
              </a:rPr>
              <a:t>Two risks that do not overlap, and the one that does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" y="1261872"/>
            <a:ext cx="1144188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767576"/>
                </a:solidFill>
                <a:latin typeface="Arial"/>
              </a:rPr>
              <a:t>The positions fail for unrelated reasons, and that is measured rather than claimed. One state takes both.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68151" y="6537960"/>
            <a:ext cx="54864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767576"/>
                </a:solidFill>
                <a:latin typeface="Arial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63624" y="192024"/>
            <a:ext cx="585216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767576"/>
                </a:solidFill>
                <a:latin typeface="Arial"/>
              </a:rPr>
              <a:t>Correlations weekly 2023–26 · rates figures at 31-Jul-26 · refresh before 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" y="1645920"/>
            <a:ext cx="50749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00000"/>
                </a:solidFill>
                <a:latin typeface="Arial"/>
              </a:rPr>
              <a:t>Long CATL · 3750 HK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9128" y="1645920"/>
            <a:ext cx="50749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00000"/>
                </a:solidFill>
                <a:latin typeface="Arial"/>
              </a:rPr>
              <a:t>JGB 2s10s bear steepener · receive 2y, pay 10y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74904" y="1956816"/>
            <a:ext cx="548640" cy="0"/>
          </a:xfrm>
          <a:prstGeom prst="line">
            <a:avLst/>
          </a:prstGeom>
          <a:ln w="2540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739128" y="1956816"/>
            <a:ext cx="548640" cy="0"/>
          </a:xfrm>
          <a:prstGeom prst="line">
            <a:avLst/>
          </a:prstGeom>
          <a:ln w="2540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577840" y="1591056"/>
            <a:ext cx="1033271" cy="420624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577840" y="1700784"/>
            <a:ext cx="1033271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ρ = +0.06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9824" y="2066543"/>
            <a:ext cx="1289304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767576"/>
                </a:solidFill>
                <a:latin typeface="Arial"/>
              </a:rPr>
              <a:t>independent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49824" y="2542032"/>
            <a:ext cx="1289304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 i="0">
                <a:solidFill>
                  <a:srgbClr val="767576"/>
                </a:solidFill>
                <a:latin typeface="Arial"/>
              </a:rPr>
              <a:t>PRINCIPAL RISK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4904" y="2377440"/>
            <a:ext cx="41148" cy="530352"/>
          </a:xfrm>
          <a:prstGeom prst="rect">
            <a:avLst/>
          </a:prstGeom>
          <a:solidFill>
            <a:srgbClr val="DB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21207" y="2359152"/>
            <a:ext cx="4818888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 b="1" i="0">
                <a:solidFill>
                  <a:srgbClr val="DB0011"/>
                </a:solidFill>
                <a:latin typeface="Arial"/>
              </a:rPr>
              <a:t>A Commerce Entity List designation. </a:t>
            </a:r>
            <a:r>
              <a:rPr sz="950" b="0" i="0">
                <a:solidFill>
                  <a:srgbClr val="000000"/>
                </a:solidFill>
                <a:latin typeface="Arial"/>
              </a:rPr>
              <a:t>1260H already feeds EAR action and it can land on any morning. Undated, which is why the position is scaled in rather than sized in one go.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39128" y="2377440"/>
            <a:ext cx="41148" cy="530352"/>
          </a:xfrm>
          <a:prstGeom prst="rect">
            <a:avLst/>
          </a:prstGeom>
          <a:solidFill>
            <a:srgbClr val="DB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885432" y="2359152"/>
            <a:ext cx="4818888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 b="1" i="0">
                <a:solidFill>
                  <a:srgbClr val="DB0011"/>
                </a:solidFill>
                <a:latin typeface="Arial"/>
              </a:rPr>
              <a:t>USD/JPY through 165. </a:t>
            </a:r>
            <a:r>
              <a:rPr sz="950" b="0" i="0">
                <a:solidFill>
                  <a:srgbClr val="000000"/>
                </a:solidFill>
                <a:latin typeface="Arial"/>
              </a:rPr>
              <a:t>MOF intervened on 30 July at 163, so the line is live. Through it and holding, the BoJ hikes to defend the currency and the curve bear-flattens.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49824" y="3182112"/>
            <a:ext cx="1289304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 i="0">
                <a:solidFill>
                  <a:srgbClr val="767576"/>
                </a:solidFill>
                <a:latin typeface="Arial"/>
              </a:rPr>
              <a:t>SIZED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4904" y="3017520"/>
            <a:ext cx="41148" cy="530352"/>
          </a:xfrm>
          <a:prstGeom prst="rect">
            <a:avLst/>
          </a:prstGeom>
          <a:solidFill>
            <a:srgbClr val="DB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21207" y="2999232"/>
            <a:ext cx="4818888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 b="1" i="0">
                <a:solidFill>
                  <a:srgbClr val="DB0011"/>
                </a:solidFill>
                <a:latin typeface="Arial"/>
              </a:rPr>
              <a:t>39.4% of gross profit, not 31.5% of revenue. </a:t>
            </a:r>
            <a:r>
              <a:rPr sz="950" b="0" i="0">
                <a:solidFill>
                  <a:srgbClr val="000000"/>
                </a:solidFill>
                <a:latin typeface="Arial"/>
              </a:rPr>
              <a:t>CNY 26bn, on the order of 60% of group net profit. Gross profit carries no allocated opex, so it is a ceiling on what is at stake.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39128" y="3017520"/>
            <a:ext cx="41148" cy="530352"/>
          </a:xfrm>
          <a:prstGeom prst="rect">
            <a:avLst/>
          </a:prstGeom>
          <a:solidFill>
            <a:srgbClr val="DB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885432" y="2999232"/>
            <a:ext cx="4818888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 b="1" i="0">
                <a:solidFill>
                  <a:srgbClr val="DB0011"/>
                </a:solidFill>
                <a:latin typeface="Arial"/>
              </a:rPr>
              <a:t>16bp stop is ¥14.1m per ¥1bn of back leg. </a:t>
            </a:r>
            <a:r>
              <a:rPr sz="950" b="0" i="0">
                <a:solidFill>
                  <a:srgbClr val="000000"/>
                </a:solidFill>
                <a:latin typeface="Arial"/>
              </a:rPr>
              <a:t>¥17.6m net of the round trip. The worst modelled state, a bear flattener, is −¥26.3m.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49824" y="3822191"/>
            <a:ext cx="1289304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 i="0">
                <a:solidFill>
                  <a:srgbClr val="767576"/>
                </a:solidFill>
                <a:latin typeface="Arial"/>
              </a:rPr>
              <a:t>DATED CATALYST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4904" y="3657600"/>
            <a:ext cx="41148" cy="530352"/>
          </a:xfrm>
          <a:prstGeom prst="rect">
            <a:avLst/>
          </a:prstGeom>
          <a:solidFill>
            <a:srgbClr val="DB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21207" y="3639312"/>
            <a:ext cx="4818888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 b="1" i="0">
                <a:solidFill>
                  <a:srgbClr val="DB0011"/>
                </a:solidFill>
                <a:latin typeface="Arial"/>
              </a:rPr>
              <a:t>30 June 2027. </a:t>
            </a:r>
            <a:r>
              <a:rPr sz="950" b="0" i="0">
                <a:solidFill>
                  <a:srgbClr val="000000"/>
                </a:solidFill>
                <a:latin typeface="Arial"/>
              </a:rPr>
              <a:t>The §805 indirect prohibition reaches customers. Statutory rather than forecast, and inside the position's horizon.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39128" y="3657600"/>
            <a:ext cx="41148" cy="530352"/>
          </a:xfrm>
          <a:prstGeom prst="rect">
            <a:avLst/>
          </a:prstGeom>
          <a:solidFill>
            <a:srgbClr val="DB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885432" y="3639312"/>
            <a:ext cx="4818888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 b="1" i="0">
                <a:solidFill>
                  <a:srgbClr val="DB0011"/>
                </a:solidFill>
                <a:latin typeface="Arial"/>
              </a:rPr>
              <a:t>18 September and 29 October. </a:t>
            </a:r>
            <a:r>
              <a:rPr sz="950" b="0" i="0">
                <a:solidFill>
                  <a:srgbClr val="000000"/>
                </a:solidFill>
                <a:latin typeface="Arial"/>
              </a:rPr>
              <a:t>Half the position goes on the day after a delivered BoJ hike. The 29 October FY27 CPI revision is the invalidation.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9824" y="4462272"/>
            <a:ext cx="1289304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 i="0">
                <a:solidFill>
                  <a:srgbClr val="767576"/>
                </a:solidFill>
                <a:latin typeface="Arial"/>
              </a:rPr>
              <a:t>OUT WHEN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74904" y="4297680"/>
            <a:ext cx="41148" cy="530352"/>
          </a:xfrm>
          <a:prstGeom prst="rect">
            <a:avLst/>
          </a:prstGeom>
          <a:solidFill>
            <a:srgbClr val="DB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521207" y="4279392"/>
            <a:ext cx="4818888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An Entity List designation, or a named Western OEM cancels a programme. Entry, target and stop are still to be set off the live price.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39128" y="4297680"/>
            <a:ext cx="41148" cy="530352"/>
          </a:xfrm>
          <a:prstGeom prst="rect">
            <a:avLst/>
          </a:prstGeom>
          <a:solidFill>
            <a:srgbClr val="DB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885432" y="4279392"/>
            <a:ext cx="4818888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Two core-core prints at or above 2.2% and rising, USD/JPY through 165, or 2s10s through 98bp.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374904" y="4956048"/>
            <a:ext cx="11441887" cy="0"/>
          </a:xfrm>
          <a:prstGeom prst="line">
            <a:avLst/>
          </a:prstGeom>
          <a:ln w="9525">
            <a:solidFill>
              <a:srgbClr val="D0C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Down Arrow 43"/>
          <p:cNvSpPr/>
          <p:nvPr/>
        </p:nvSpPr>
        <p:spPr>
          <a:xfrm>
            <a:off x="3840480" y="5047488"/>
            <a:ext cx="420624" cy="274320"/>
          </a:xfrm>
          <a:prstGeom prst="downArrow">
            <a:avLst/>
          </a:prstGeom>
          <a:solidFill>
            <a:srgbClr val="DB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Down Arrow 44"/>
          <p:cNvSpPr/>
          <p:nvPr/>
        </p:nvSpPr>
        <p:spPr>
          <a:xfrm>
            <a:off x="7918704" y="5047488"/>
            <a:ext cx="420624" cy="274320"/>
          </a:xfrm>
          <a:prstGeom prst="downArrow">
            <a:avLst/>
          </a:prstGeom>
          <a:solidFill>
            <a:srgbClr val="DB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374904" y="5413248"/>
            <a:ext cx="11441887" cy="841248"/>
          </a:xfrm>
          <a:prstGeom prst="rect">
            <a:avLst/>
          </a:prstGeom>
          <a:solidFill>
            <a:srgbClr val="DB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594359" y="5486400"/>
            <a:ext cx="1100023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The one state that takes both: a global flight to quality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59" y="5760720"/>
            <a:ext cx="110002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The JGB long end leads the rally, 2s10s flattens, and Asian growth equity de-rates in the same weeks. Measured rather than feared: </a:t>
            </a:r>
            <a:r>
              <a:rPr sz="950" b="1" i="0">
                <a:solidFill>
                  <a:srgbClr val="FFFFFF"/>
                </a:solidFill>
                <a:latin typeface="Arial"/>
              </a:rPr>
              <a:t>against the S&amp;P the steepener runs +0.13 across all weeks and +0.42 in the worst quintile, and a 10bp JGB rally costs ¥6.8m per ¥1bn. </a:t>
            </a:r>
            <a:r>
              <a:rPr sz="950" b="0" i="0">
                <a:solidFill>
                  <a:srgbClr val="FFFFFF"/>
                </a:solidFill>
                <a:latin typeface="Arial"/>
              </a:rPr>
              <a:t>The diversification benefit falls from 27% to 24%.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4904" y="6455664"/>
            <a:ext cx="114418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767576"/>
                </a:solidFill>
                <a:latin typeface="Arial"/>
              </a:rPr>
              <a:t>ρ and the risk-off correlations from data-puller/book_correlation.py, weekly 2023 to 2026, n = 178; CATL measured on 300750 CH because 3750 HK carries 62 weeks since listing. Rates figures from jgb_cashflow_risk.py on the MoF curve at 31-Jul-26, per ¥1bn of back leg. CATL gross profit and both shares are derived from reported revenue and regional gross margins, not reported directly.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