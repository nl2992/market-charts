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s</c:v>
                </c:pt>
              </c:strCache>
            </c:strRef>
          </c:tx>
          <c:spPr>
            <a:ln>
              <a:noFill/>
            </a:ln>
          </c:spPr>
          <c:dPt>
            <c:idx val="0"/>
            <c:spPr>
              <a:solidFill>
                <a:srgbClr val="DB0011"/>
              </a:solidFill>
            </c:spPr>
          </c:dPt>
          <c:dPt>
            <c:idx val="1"/>
            <c:spPr>
              <a:solidFill>
                <a:srgbClr val="D7D8D6"/>
              </a:solidFill>
            </c:spPr>
          </c:dPt>
          <c:dPt>
            <c:idx val="2"/>
            <c:spPr>
              <a:solidFill>
                <a:srgbClr val="DB0011"/>
              </a:solidFill>
            </c:spPr>
          </c:dPt>
          <c:cat>
            <c:strRef>
              <c:f>Sheet1!$A$2:$A$4</c:f>
              <c:strCache>
                <c:ptCount val="3"/>
                <c:pt idx="0">
                  <c:v>10y sold off
≥ 5bp</c:v>
                </c:pt>
                <c:pt idx="1">
                  <c:v>Any week</c:v>
                </c:pt>
                <c:pt idx="2">
                  <c:v>10y rallied
≥ 5bp</c:v>
                </c:pt>
              </c:strCache>
            </c:strRef>
          </c:cat>
          <c:val>
            <c:numRef>
              <c:f>Sheet1!$B$2:$B$4</c:f>
              <c:numCache>
                <c:formatCode>General</c:formatCode>
                <c:ptCount val="3"/>
                <c:pt idx="0">
                  <c:v>94</c:v>
                </c:pt>
                <c:pt idx="1">
                  <c:v>48</c:v>
                </c:pt>
                <c:pt idx="2">
                  <c:v>7</c:v>
                </c:pt>
              </c:numCache>
            </c:numRef>
          </c:val>
        </c:ser>
        <c:dLbls>
          <c:numFmt formatCode="0&quot;%&quot;" sourceLinked="0"/>
          <c:txPr>
            <a:bodyPr/>
            <a:lstStyle/>
            <a:p>
              <a:pPr>
                <a:defRPr sz="1000" b="1">
                  <a:solidFill>
                    <a:srgbClr val="000000"/>
                  </a:solidFill>
                  <a:latin typeface="Arial"/>
                </a:defRPr>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none"/>
        <c:minorTickMark val="none"/>
        <c:tickLblPos val="nextTo"/>
        <c:spPr>
          <a:ln w="9525">
            <a:solidFill>
              <a:srgbClr val="000000"/>
            </a:solidFill>
          </a:ln>
        </c:spPr>
        <c:txPr>
          <a:bodyPr/>
          <a:lstStyle/>
          <a:p>
            <a:pPr>
              <a:defRPr sz="950">
                <a:solidFill>
                  <a:srgbClr val="000000"/>
                </a:solidFill>
                <a:latin typeface="Arial"/>
              </a:defRPr>
            </a:pPr>
          </a:p>
        </c:txPr>
        <c:crossAx val="-2113994440"/>
        <c:crosses val="autoZero"/>
        <c:auto val="1"/>
        <c:lblAlgn val="ctr"/>
        <c:lblOffset val="100"/>
        <c:noMultiLvlLbl val="0"/>
      </c:catAx>
      <c:valAx>
        <c:axId val="-2113994440"/>
        <c:scaling>
          <c:max val="112.0"/>
          <c:min val="0.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s</c:v>
                </c:pt>
              </c:strCache>
            </c:strRef>
          </c:tx>
          <c:spPr>
            <a:ln>
              <a:noFill/>
            </a:ln>
          </c:spPr>
          <c:invertIfNegative val="0"/>
          <c:dPt>
            <c:idx val="0"/>
            <c:invertIfNegative val="0"/>
            <c:spPr>
              <a:solidFill>
                <a:srgbClr val="767576"/>
              </a:solidFill>
            </c:spPr>
          </c:dPt>
          <c:dPt>
            <c:idx val="1"/>
            <c:invertIfNegative val="0"/>
            <c:spPr>
              <a:solidFill>
                <a:srgbClr val="DB0011"/>
              </a:solidFill>
            </c:spPr>
          </c:dPt>
          <c:dPt>
            <c:idx val="2"/>
            <c:invertIfNegative val="0"/>
            <c:spPr>
              <a:solidFill>
                <a:srgbClr val="44546A"/>
              </a:solidFill>
            </c:spPr>
          </c:dPt>
          <c:dPt>
            <c:idx val="3"/>
            <c:invertIfNegative val="0"/>
            <c:spPr>
              <a:solidFill>
                <a:srgbClr val="DB0011"/>
              </a:solidFill>
            </c:spPr>
          </c:dPt>
          <c:dPt>
            <c:idx val="4"/>
            <c:invertIfNegative val="0"/>
            <c:spPr>
              <a:solidFill>
                <a:srgbClr val="767576"/>
              </a:solidFill>
            </c:spPr>
          </c:dPt>
          <c:dPt>
            <c:idx val="5"/>
            <c:invertIfNegative val="0"/>
            <c:spPr>
              <a:solidFill>
                <a:srgbClr val="767576"/>
              </a:solidFill>
            </c:spPr>
          </c:dPt>
          <c:cat>
            <c:strRef>
              <c:f>Sheet1!$A$2:$A$7</c:f>
              <c:strCache>
                <c:ptCount val="6"/>
                <c:pt idx="0">
                  <c:v>1y</c:v>
                </c:pt>
                <c:pt idx="1">
                  <c:v>2y</c:v>
                </c:pt>
                <c:pt idx="2">
                  <c:v>5y</c:v>
                </c:pt>
                <c:pt idx="3">
                  <c:v>10y</c:v>
                </c:pt>
                <c:pt idx="4">
                  <c:v>20y</c:v>
                </c:pt>
                <c:pt idx="5">
                  <c:v>30y</c:v>
                </c:pt>
              </c:strCache>
            </c:strRef>
          </c:cat>
          <c:val>
            <c:numRef>
              <c:f>Sheet1!$B$2:$B$7</c:f>
              <c:numCache>
                <c:formatCode>General</c:formatCode>
                <c:ptCount val="6"/>
                <c:pt idx="0">
                  <c:v>-0.4</c:v>
                </c:pt>
                <c:pt idx="1">
                  <c:v>-99.4</c:v>
                </c:pt>
                <c:pt idx="2">
                  <c:v>5.6</c:v>
                </c:pt>
                <c:pt idx="3">
                  <c:v>93.3</c:v>
                </c:pt>
                <c:pt idx="4">
                  <c:v>0.0</c:v>
                </c:pt>
                <c:pt idx="5">
                  <c:v>0.0</c:v>
                </c:pt>
              </c:numCache>
            </c:numRef>
          </c:val>
        </c:ser>
        <c:dLbls>
          <c:numFmt formatCode="0.0&quot;%&quot;" sourceLinked="0"/>
          <c:txPr>
            <a:bodyPr/>
            <a:lstStyle/>
            <a:p>
              <a:pPr>
                <a:defRPr sz="1000" b="1">
                  <a:solidFill>
                    <a:srgbClr val="000000"/>
                  </a:solidFill>
                  <a:latin typeface="Arial"/>
                </a:defRPr>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none"/>
        <c:minorTickMark val="none"/>
        <c:tickLblPos val="low"/>
        <c:spPr>
          <a:ln w="9525">
            <a:solidFill>
              <a:srgbClr val="000000"/>
            </a:solidFill>
          </a:ln>
        </c:spPr>
        <c:txPr>
          <a:bodyPr/>
          <a:lstStyle/>
          <a:p>
            <a:pPr>
              <a:defRPr sz="950">
                <a:solidFill>
                  <a:srgbClr val="000000"/>
                </a:solidFill>
                <a:latin typeface="Arial"/>
              </a:defRPr>
            </a:pPr>
          </a:p>
        </c:txPr>
        <c:crossAx val="-2113994440"/>
        <c:crosses val="autoZero"/>
        <c:auto val="1"/>
        <c:lblAlgn val="ctr"/>
        <c:lblOffset val="100"/>
        <c:noMultiLvlLbl val="0"/>
      </c:catAx>
      <c:valAx>
        <c:axId val="-2113994440"/>
        <c:scaling>
          <c:max val="115.0"/>
          <c:min val="-115.0"/>
        </c:scaling>
        <c:delete/>
        <c:axPos val="l"/>
        <c:majorTickMark val="none"/>
        <c:minorTickMark val="none"/>
        <c:tickLblPos val="nextTo"/>
        <c:spPr>
          <a:ln>
            <a:noFill/>
          </a:ln>
        </c:spPr>
        <c:txPr>
          <a:bodyPr/>
          <a:lstStyle/>
          <a:p>
            <a:pPr>
              <a:defRPr sz="100">
                <a:solidFill>
                  <a:srgbClr val="FFFFFF"/>
                </a:solidFill>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s</c:v>
                </c:pt>
              </c:strCache>
            </c:strRef>
          </c:tx>
          <c:spPr>
            <a:ln>
              <a:noFill/>
            </a:ln>
          </c:spPr>
          <c:dPt>
            <c:idx val="0"/>
            <c:spPr>
              <a:solidFill>
                <a:srgbClr val="44546A"/>
              </a:solidFill>
            </c:spPr>
          </c:dPt>
          <c:dPt>
            <c:idx val="1"/>
            <c:spPr>
              <a:solidFill>
                <a:srgbClr val="DB0011"/>
              </a:solidFill>
            </c:spPr>
          </c:dPt>
          <c:cat>
            <c:strRef>
              <c:f>Sheet1!$A$2:$A$3</c:f>
              <c:strCache>
                <c:ptCount val="2"/>
                <c:pt idx="0">
                  <c:v>Share of revenue</c:v>
                </c:pt>
                <c:pt idx="1">
                  <c:v>Share of gross profit</c:v>
                </c:pt>
              </c:strCache>
            </c:strRef>
          </c:cat>
          <c:val>
            <c:numRef>
              <c:f>Sheet1!$B$2:$B$3</c:f>
              <c:numCache>
                <c:formatCode>General</c:formatCode>
                <c:ptCount val="2"/>
                <c:pt idx="0">
                  <c:v>31.5</c:v>
                </c:pt>
                <c:pt idx="1">
                  <c:v>39.4</c:v>
                </c:pt>
              </c:numCache>
            </c:numRef>
          </c:val>
        </c:ser>
        <c:dLbls>
          <c:numFmt formatCode="0.0&quot;%&quot;" sourceLinked="0"/>
          <c:txPr>
            <a:bodyPr/>
            <a:lstStyle/>
            <a:p>
              <a:pPr>
                <a:defRPr sz="1000" b="1">
                  <a:solidFill>
                    <a:srgbClr val="000000"/>
                  </a:solidFill>
                  <a:latin typeface="Arial"/>
                </a:defRPr>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none"/>
        <c:minorTickMark val="none"/>
        <c:tickLblPos val="nextTo"/>
        <c:spPr>
          <a:ln w="9525">
            <a:solidFill>
              <a:srgbClr val="000000"/>
            </a:solidFill>
          </a:ln>
        </c:spPr>
        <c:txPr>
          <a:bodyPr/>
          <a:lstStyle/>
          <a:p>
            <a:pPr>
              <a:defRPr sz="1000">
                <a:solidFill>
                  <a:srgbClr val="000000"/>
                </a:solidFill>
                <a:latin typeface="Arial"/>
              </a:defRPr>
            </a:pPr>
          </a:p>
        </c:txPr>
        <c:crossAx val="-2113994440"/>
        <c:crosses val="autoZero"/>
        <c:auto val="1"/>
        <c:lblAlgn val="ctr"/>
        <c:lblOffset val="100"/>
        <c:noMultiLvlLbl val="0"/>
      </c:catAx>
      <c:valAx>
        <c:axId val="-2113994440"/>
        <c:scaling>
          <c:max val="48.0"/>
          <c:min val="0.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Freeform 2"/>
          <p:cNvSpPr/>
          <p:nvPr/>
        </p:nvSpPr>
        <p:spPr>
          <a:xfrm>
            <a:off x="0" y="0"/>
            <a:ext cx="6095847" cy="6858000"/>
          </a:xfrm>
          <a:custGeom>
            <a:avLst/>
            <a:gdLst/>
            <a:ahLst/>
            <a:cxnLst/>
            <a:rect l="l" t="t" r="r" b="b"/>
            <a:pathLst>
              <a:path w="6095847" h="6858000">
                <a:moveTo>
                  <a:pt x="0" y="0"/>
                </a:moveTo>
                <a:lnTo>
                  <a:pt x="0" y="6858000"/>
                </a:lnTo>
                <a:lnTo>
                  <a:pt x="6095847" y="3429000"/>
                </a:lnTo>
                <a:close/>
              </a:path>
            </a:pathLst>
          </a:cu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6095847" y="0"/>
            <a:ext cx="6095848" cy="6858000"/>
          </a:xfrm>
          <a:custGeom>
            <a:avLst/>
            <a:gdLst/>
            <a:ahLst/>
            <a:cxnLst/>
            <a:rect l="l" t="t" r="r" b="b"/>
            <a:pathLst>
              <a:path w="6095848" h="6858000">
                <a:moveTo>
                  <a:pt x="6095848" y="0"/>
                </a:moveTo>
                <a:lnTo>
                  <a:pt x="6095848" y="6858000"/>
                </a:lnTo>
                <a:lnTo>
                  <a:pt x="0" y="3429000"/>
                </a:lnTo>
                <a:close/>
              </a:path>
            </a:pathLst>
          </a:cu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74904" y="182880"/>
            <a:ext cx="3657600" cy="219456"/>
          </a:xfrm>
          <a:prstGeom prst="rect">
            <a:avLst/>
          </a:prstGeom>
          <a:noFill/>
        </p:spPr>
        <p:txBody>
          <a:bodyPr wrap="none" lIns="0" rIns="0" tIns="0" bIns="0" anchor="t">
            <a:spAutoFit/>
          </a:bodyPr>
          <a:lstStyle/>
          <a:p>
            <a:pPr algn="l">
              <a:lnSpc>
                <a:spcPct val="100000"/>
              </a:lnSpc>
              <a:spcAft>
                <a:spcPts val="0"/>
              </a:spcAft>
            </a:pPr>
            <a:r>
              <a:rPr sz="1050" b="1" i="0">
                <a:solidFill>
                  <a:srgbClr val="000000"/>
                </a:solidFill>
                <a:latin typeface="Arial"/>
              </a:rPr>
              <a:t>Risks</a:t>
            </a:r>
          </a:p>
        </p:txBody>
      </p:sp>
      <p:sp>
        <p:nvSpPr>
          <p:cNvPr id="6" name="TextBox 5"/>
          <p:cNvSpPr txBox="1"/>
          <p:nvPr/>
        </p:nvSpPr>
        <p:spPr>
          <a:xfrm>
            <a:off x="11249863" y="265176"/>
            <a:ext cx="566927" cy="219456"/>
          </a:xfrm>
          <a:prstGeom prst="rect">
            <a:avLst/>
          </a:prstGeom>
          <a:noFill/>
        </p:spPr>
        <p:txBody>
          <a:bodyPr wrap="none" lIns="0" rIns="0" tIns="0" bIns="0" anchor="t">
            <a:spAutoFit/>
          </a:bodyPr>
          <a:lstStyle/>
          <a:p>
            <a:pPr algn="ctr">
              <a:lnSpc>
                <a:spcPct val="100000"/>
              </a:lnSpc>
              <a:spcAft>
                <a:spcPts val="0"/>
              </a:spcAft>
            </a:pPr>
            <a:r>
              <a:rPr sz="1050" b="1" i="0">
                <a:solidFill>
                  <a:srgbClr val="000000"/>
                </a:solidFill>
                <a:latin typeface="Arial"/>
              </a:rPr>
              <a:t>Risks</a:t>
            </a:r>
          </a:p>
        </p:txBody>
      </p:sp>
      <p:cxnSp>
        <p:nvCxnSpPr>
          <p:cNvPr id="7" name="Connector 6"/>
          <p:cNvCxnSpPr/>
          <p:nvPr/>
        </p:nvCxnSpPr>
        <p:spPr>
          <a:xfrm>
            <a:off x="11249863" y="512064"/>
            <a:ext cx="566928" cy="0"/>
          </a:xfrm>
          <a:prstGeom prst="line">
            <a:avLst/>
          </a:prstGeom>
          <a:ln w="25400">
            <a:solidFill>
              <a:srgbClr val="DB0011"/>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0401300" y="265176"/>
            <a:ext cx="647395" cy="219456"/>
          </a:xfrm>
          <a:prstGeom prst="rect">
            <a:avLst/>
          </a:prstGeom>
          <a:noFill/>
        </p:spPr>
        <p:txBody>
          <a:bodyPr wrap="none" lIns="0" rIns="0" tIns="0" bIns="0" anchor="t">
            <a:spAutoFit/>
          </a:bodyPr>
          <a:lstStyle/>
          <a:p>
            <a:pPr algn="ctr">
              <a:lnSpc>
                <a:spcPct val="100000"/>
              </a:lnSpc>
              <a:spcAft>
                <a:spcPts val="0"/>
              </a:spcAft>
            </a:pPr>
            <a:r>
              <a:rPr sz="1050" b="0" i="0">
                <a:solidFill>
                  <a:srgbClr val="767576"/>
                </a:solidFill>
                <a:latin typeface="Arial"/>
              </a:rPr>
              <a:t>Trades</a:t>
            </a:r>
          </a:p>
        </p:txBody>
      </p:sp>
      <p:sp>
        <p:nvSpPr>
          <p:cNvPr id="9" name="TextBox 8"/>
          <p:cNvSpPr txBox="1"/>
          <p:nvPr/>
        </p:nvSpPr>
        <p:spPr>
          <a:xfrm>
            <a:off x="9472269" y="265176"/>
            <a:ext cx="727862" cy="219456"/>
          </a:xfrm>
          <a:prstGeom prst="rect">
            <a:avLst/>
          </a:prstGeom>
          <a:noFill/>
        </p:spPr>
        <p:txBody>
          <a:bodyPr wrap="none" lIns="0" rIns="0" tIns="0" bIns="0" anchor="t">
            <a:spAutoFit/>
          </a:bodyPr>
          <a:lstStyle/>
          <a:p>
            <a:pPr algn="ctr">
              <a:lnSpc>
                <a:spcPct val="100000"/>
              </a:lnSpc>
              <a:spcAft>
                <a:spcPts val="0"/>
              </a:spcAft>
            </a:pPr>
            <a:r>
              <a:rPr sz="1050" b="0" i="0">
                <a:solidFill>
                  <a:srgbClr val="767576"/>
                </a:solidFill>
                <a:latin typeface="Arial"/>
              </a:rPr>
              <a:t>Markets</a:t>
            </a:r>
          </a:p>
        </p:txBody>
      </p:sp>
      <p:sp>
        <p:nvSpPr>
          <p:cNvPr id="10" name="TextBox 9"/>
          <p:cNvSpPr txBox="1"/>
          <p:nvPr/>
        </p:nvSpPr>
        <p:spPr>
          <a:xfrm>
            <a:off x="8704173" y="265176"/>
            <a:ext cx="566927" cy="219456"/>
          </a:xfrm>
          <a:prstGeom prst="rect">
            <a:avLst/>
          </a:prstGeom>
          <a:noFill/>
        </p:spPr>
        <p:txBody>
          <a:bodyPr wrap="none" lIns="0" rIns="0" tIns="0" bIns="0" anchor="t">
            <a:spAutoFit/>
          </a:bodyPr>
          <a:lstStyle/>
          <a:p>
            <a:pPr algn="ctr">
              <a:lnSpc>
                <a:spcPct val="100000"/>
              </a:lnSpc>
              <a:spcAft>
                <a:spcPts val="0"/>
              </a:spcAft>
            </a:pPr>
            <a:r>
              <a:rPr sz="1050" b="0" i="0">
                <a:solidFill>
                  <a:srgbClr val="767576"/>
                </a:solidFill>
                <a:latin typeface="Arial"/>
              </a:rPr>
              <a:t>Macro</a:t>
            </a:r>
          </a:p>
        </p:txBody>
      </p:sp>
      <p:cxnSp>
        <p:nvCxnSpPr>
          <p:cNvPr id="11" name="Connector 10"/>
          <p:cNvCxnSpPr/>
          <p:nvPr/>
        </p:nvCxnSpPr>
        <p:spPr>
          <a:xfrm>
            <a:off x="374904" y="640080"/>
            <a:ext cx="11441887" cy="0"/>
          </a:xfrm>
          <a:prstGeom prst="line">
            <a:avLst/>
          </a:prstGeom>
          <a:ln w="9525">
            <a:solidFill>
              <a:srgbClr val="00000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374904" y="786384"/>
            <a:ext cx="11441887" cy="457200"/>
          </a:xfrm>
          <a:prstGeom prst="rect">
            <a:avLst/>
          </a:prstGeom>
          <a:noFill/>
        </p:spPr>
        <p:txBody>
          <a:bodyPr wrap="none" lIns="0" rIns="0" tIns="0" bIns="0" anchor="t">
            <a:spAutoFit/>
          </a:bodyPr>
          <a:lstStyle/>
          <a:p>
            <a:pPr algn="l">
              <a:lnSpc>
                <a:spcPct val="100000"/>
              </a:lnSpc>
              <a:spcAft>
                <a:spcPts val="0"/>
              </a:spcAft>
            </a:pPr>
            <a:r>
              <a:rPr sz="2600" b="0" i="0">
                <a:solidFill>
                  <a:srgbClr val="000000"/>
                </a:solidFill>
                <a:latin typeface="Arial"/>
              </a:rPr>
              <a:t>The curve does not move both ways the same</a:t>
            </a:r>
          </a:p>
        </p:txBody>
      </p:sp>
      <p:sp>
        <p:nvSpPr>
          <p:cNvPr id="13" name="TextBox 12"/>
          <p:cNvSpPr txBox="1"/>
          <p:nvPr/>
        </p:nvSpPr>
        <p:spPr>
          <a:xfrm>
            <a:off x="374904" y="1261872"/>
            <a:ext cx="11441887" cy="310896"/>
          </a:xfrm>
          <a:prstGeom prst="rect">
            <a:avLst/>
          </a:prstGeom>
          <a:noFill/>
        </p:spPr>
        <p:txBody>
          <a:bodyPr wrap="square" lIns="0" rIns="0" tIns="0" bIns="0" anchor="t">
            <a:spAutoFit/>
          </a:bodyPr>
          <a:lstStyle/>
          <a:p>
            <a:pPr algn="l">
              <a:lnSpc>
                <a:spcPct val="115000"/>
              </a:lnSpc>
              <a:spcAft>
                <a:spcPts val="0"/>
              </a:spcAft>
            </a:pPr>
            <a:r>
              <a:rPr sz="1300" b="0" i="0">
                <a:solidFill>
                  <a:srgbClr val="767576"/>
                </a:solidFill>
                <a:latin typeface="Arial"/>
              </a:rPr>
              <a:t>DV01-neutral removes the level risk. It does not make the slope non-directional, and the history says which way it leans.</a:t>
            </a:r>
          </a:p>
        </p:txBody>
      </p:sp>
      <p:sp>
        <p:nvSpPr>
          <p:cNvPr id="14" name="TextBox 13"/>
          <p:cNvSpPr txBox="1"/>
          <p:nvPr/>
        </p:nvSpPr>
        <p:spPr>
          <a:xfrm>
            <a:off x="11268151" y="6537960"/>
            <a:ext cx="548640" cy="201168"/>
          </a:xfrm>
          <a:prstGeom prst="rect">
            <a:avLst/>
          </a:prstGeom>
          <a:noFill/>
        </p:spPr>
        <p:txBody>
          <a:bodyPr wrap="none" lIns="0" rIns="0" tIns="0" bIns="0" anchor="t">
            <a:spAutoFit/>
          </a:bodyPr>
          <a:lstStyle/>
          <a:p>
            <a:pPr algn="r">
              <a:lnSpc>
                <a:spcPct val="100000"/>
              </a:lnSpc>
              <a:spcAft>
                <a:spcPts val="0"/>
              </a:spcAft>
            </a:pPr>
            <a:r>
              <a:rPr sz="800" b="0" i="0">
                <a:solidFill>
                  <a:srgbClr val="767576"/>
                </a:solidFill>
                <a:latin typeface="Arial"/>
              </a:rPr>
              <a:t>1</a:t>
            </a:r>
          </a:p>
        </p:txBody>
      </p:sp>
      <p:sp>
        <p:nvSpPr>
          <p:cNvPr id="15" name="TextBox 14"/>
          <p:cNvSpPr txBox="1"/>
          <p:nvPr/>
        </p:nvSpPr>
        <p:spPr>
          <a:xfrm>
            <a:off x="1563624" y="192024"/>
            <a:ext cx="5852160" cy="201168"/>
          </a:xfrm>
          <a:prstGeom prst="rect">
            <a:avLst/>
          </a:prstGeom>
          <a:noFill/>
        </p:spPr>
        <p:txBody>
          <a:bodyPr wrap="none" lIns="0" rIns="0" tIns="0" bIns="0" anchor="t">
            <a:spAutoFit/>
          </a:bodyPr>
          <a:lstStyle/>
          <a:p>
            <a:pPr algn="l">
              <a:lnSpc>
                <a:spcPct val="100000"/>
              </a:lnSpc>
              <a:spcAft>
                <a:spcPts val="0"/>
              </a:spcAft>
            </a:pPr>
            <a:r>
              <a:rPr sz="800" b="0" i="0">
                <a:solidFill>
                  <a:srgbClr val="767576"/>
                </a:solidFill>
                <a:latin typeface="Arial"/>
              </a:rPr>
              <a:t>Prototype — MoF curve to 31-Jul-26 · trade figures from the slide 8 model · not for the room</a:t>
            </a:r>
          </a:p>
        </p:txBody>
      </p:sp>
      <p:sp>
        <p:nvSpPr>
          <p:cNvPr id="16" name="TextBox 15"/>
          <p:cNvSpPr txBox="1"/>
          <p:nvPr/>
        </p:nvSpPr>
        <p:spPr>
          <a:xfrm>
            <a:off x="374904" y="1700784"/>
            <a:ext cx="5532120" cy="237744"/>
          </a:xfrm>
          <a:prstGeom prst="rect">
            <a:avLst/>
          </a:prstGeom>
          <a:noFill/>
        </p:spPr>
        <p:txBody>
          <a:bodyPr wrap="none" lIns="0" rIns="0" tIns="0" bIns="0" anchor="t">
            <a:spAutoFit/>
          </a:bodyPr>
          <a:lstStyle/>
          <a:p>
            <a:pPr algn="l">
              <a:lnSpc>
                <a:spcPct val="100000"/>
              </a:lnSpc>
              <a:spcAft>
                <a:spcPts val="0"/>
              </a:spcAft>
            </a:pPr>
            <a:r>
              <a:rPr sz="1150" b="1" i="0">
                <a:solidFill>
                  <a:srgbClr val="000000"/>
                </a:solidFill>
                <a:latin typeface="Arial"/>
              </a:rPr>
              <a:t>Share of weeks 2s10s steepened, by what the 10-year did</a:t>
            </a:r>
          </a:p>
        </p:txBody>
      </p:sp>
      <p:sp>
        <p:nvSpPr>
          <p:cNvPr id="17" name="TextBox 16"/>
          <p:cNvSpPr txBox="1"/>
          <p:nvPr/>
        </p:nvSpPr>
        <p:spPr>
          <a:xfrm>
            <a:off x="374904" y="1938528"/>
            <a:ext cx="5532120" cy="402336"/>
          </a:xfrm>
          <a:prstGeom prst="rect">
            <a:avLst/>
          </a:prstGeom>
          <a:noFill/>
        </p:spPr>
        <p:txBody>
          <a:bodyPr wrap="square" lIns="0" rIns="0" tIns="0" bIns="0" anchor="t">
            <a:spAutoFit/>
          </a:bodyPr>
          <a:lstStyle/>
          <a:p>
            <a:pPr algn="l">
              <a:lnSpc>
                <a:spcPct val="115000"/>
              </a:lnSpc>
              <a:spcAft>
                <a:spcPts val="0"/>
              </a:spcAft>
            </a:pPr>
            <a:r>
              <a:rPr sz="900" b="0" i="0">
                <a:solidFill>
                  <a:srgbClr val="767576"/>
                </a:solidFill>
                <a:latin typeface="Arial"/>
              </a:rPr>
              <a:t>Weekly, January 2000 to 31 July 2026, n = 1386. The 94% is the figure already on slide 8; it reproducing here is the check.</a:t>
            </a:r>
          </a:p>
        </p:txBody>
      </p:sp>
      <p:graphicFrame>
        <p:nvGraphicFramePr>
          <p:cNvPr id="18" name="Chart 17"/>
          <p:cNvGraphicFramePr>
            <a:graphicFrameLocks noGrp="1"/>
          </p:cNvGraphicFramePr>
          <p:nvPr/>
        </p:nvGraphicFramePr>
        <p:xfrm>
          <a:off x="374904" y="2377440"/>
          <a:ext cx="5532120" cy="2029968"/>
        </p:xfrm>
        <a:graphic>
          <a:graphicData uri="http://schemas.openxmlformats.org/drawingml/2006/chart">
            <c:chart xmlns:c="http://schemas.openxmlformats.org/drawingml/2006/chart" r:id="rId2"/>
          </a:graphicData>
        </a:graphic>
      </p:graphicFrame>
      <p:sp>
        <p:nvSpPr>
          <p:cNvPr id="19" name="TextBox 18"/>
          <p:cNvSpPr txBox="1"/>
          <p:nvPr/>
        </p:nvSpPr>
        <p:spPr>
          <a:xfrm>
            <a:off x="374904" y="4517136"/>
            <a:ext cx="1844040" cy="219456"/>
          </a:xfrm>
          <a:prstGeom prst="rect">
            <a:avLst/>
          </a:prstGeom>
          <a:noFill/>
        </p:spPr>
        <p:txBody>
          <a:bodyPr wrap="none" lIns="0" rIns="0" tIns="0" bIns="0" anchor="t">
            <a:spAutoFit/>
          </a:bodyPr>
          <a:lstStyle/>
          <a:p>
            <a:pPr algn="ctr">
              <a:lnSpc>
                <a:spcPct val="100000"/>
              </a:lnSpc>
              <a:spcAft>
                <a:spcPts val="0"/>
              </a:spcAft>
            </a:pPr>
            <a:r>
              <a:rPr sz="850" b="1" i="0">
                <a:solidFill>
                  <a:srgbClr val="767576"/>
                </a:solidFill>
                <a:latin typeface="Arial"/>
              </a:rPr>
              <a:t>n = 172</a:t>
            </a:r>
          </a:p>
        </p:txBody>
      </p:sp>
      <p:sp>
        <p:nvSpPr>
          <p:cNvPr id="20" name="TextBox 19"/>
          <p:cNvSpPr txBox="1"/>
          <p:nvPr/>
        </p:nvSpPr>
        <p:spPr>
          <a:xfrm>
            <a:off x="2218944" y="4517136"/>
            <a:ext cx="1844040" cy="219456"/>
          </a:xfrm>
          <a:prstGeom prst="rect">
            <a:avLst/>
          </a:prstGeom>
          <a:noFill/>
        </p:spPr>
        <p:txBody>
          <a:bodyPr wrap="none" lIns="0" rIns="0" tIns="0" bIns="0" anchor="t">
            <a:spAutoFit/>
          </a:bodyPr>
          <a:lstStyle/>
          <a:p>
            <a:pPr algn="ctr">
              <a:lnSpc>
                <a:spcPct val="100000"/>
              </a:lnSpc>
              <a:spcAft>
                <a:spcPts val="0"/>
              </a:spcAft>
            </a:pPr>
            <a:r>
              <a:rPr sz="850" b="1" i="0">
                <a:solidFill>
                  <a:srgbClr val="767576"/>
                </a:solidFill>
                <a:latin typeface="Arial"/>
              </a:rPr>
              <a:t>n = 1386</a:t>
            </a:r>
          </a:p>
        </p:txBody>
      </p:sp>
      <p:sp>
        <p:nvSpPr>
          <p:cNvPr id="21" name="TextBox 20"/>
          <p:cNvSpPr txBox="1"/>
          <p:nvPr/>
        </p:nvSpPr>
        <p:spPr>
          <a:xfrm>
            <a:off x="4062984" y="4517136"/>
            <a:ext cx="1844040" cy="219456"/>
          </a:xfrm>
          <a:prstGeom prst="rect">
            <a:avLst/>
          </a:prstGeom>
          <a:noFill/>
        </p:spPr>
        <p:txBody>
          <a:bodyPr wrap="none" lIns="0" rIns="0" tIns="0" bIns="0" anchor="t">
            <a:spAutoFit/>
          </a:bodyPr>
          <a:lstStyle/>
          <a:p>
            <a:pPr algn="ctr">
              <a:lnSpc>
                <a:spcPct val="100000"/>
              </a:lnSpc>
              <a:spcAft>
                <a:spcPts val="0"/>
              </a:spcAft>
            </a:pPr>
            <a:r>
              <a:rPr sz="850" b="1" i="0">
                <a:solidFill>
                  <a:srgbClr val="767576"/>
                </a:solidFill>
                <a:latin typeface="Arial"/>
              </a:rPr>
              <a:t>n = 143</a:t>
            </a:r>
          </a:p>
        </p:txBody>
      </p:sp>
      <p:sp>
        <p:nvSpPr>
          <p:cNvPr id="22" name="TextBox 21"/>
          <p:cNvSpPr txBox="1"/>
          <p:nvPr/>
        </p:nvSpPr>
        <p:spPr>
          <a:xfrm>
            <a:off x="374904" y="4809744"/>
            <a:ext cx="5532120" cy="566928"/>
          </a:xfrm>
          <a:prstGeom prst="rect">
            <a:avLst/>
          </a:prstGeom>
          <a:noFill/>
        </p:spPr>
        <p:txBody>
          <a:bodyPr wrap="square" lIns="0" rIns="0" tIns="0" bIns="0" anchor="t">
            <a:spAutoFit/>
          </a:bodyPr>
          <a:lstStyle/>
          <a:p>
            <a:pPr algn="l">
              <a:lnSpc>
                <a:spcPct val="120000"/>
              </a:lnSpc>
              <a:spcAft>
                <a:spcPts val="0"/>
              </a:spcAft>
            </a:pPr>
            <a:r>
              <a:rPr sz="950" b="1" i="0">
                <a:solidFill>
                  <a:srgbClr val="DB0011"/>
                </a:solidFill>
                <a:latin typeface="Arial"/>
              </a:rPr>
              <a:t>It does not symmetrise. </a:t>
            </a:r>
            <a:r>
              <a:rPr sz="950" b="0" i="0">
                <a:solidFill>
                  <a:srgbClr val="000000"/>
                </a:solidFill>
                <a:latin typeface="Arial"/>
              </a:rPr>
              <a:t>The curve steepens in 94% of sell-off weeks and flattens in 93% of rally weeks. The back end leads in both directions, which is the whole position and also the whole risk.</a:t>
            </a:r>
          </a:p>
        </p:txBody>
      </p:sp>
      <p:cxnSp>
        <p:nvCxnSpPr>
          <p:cNvPr id="23" name="Connector 22"/>
          <p:cNvCxnSpPr/>
          <p:nvPr/>
        </p:nvCxnSpPr>
        <p:spPr>
          <a:xfrm>
            <a:off x="6163056" y="1700784"/>
            <a:ext cx="0" cy="4572000"/>
          </a:xfrm>
          <a:prstGeom prst="line">
            <a:avLst/>
          </a:prstGeom>
          <a:ln w="15875">
            <a:solidFill>
              <a:srgbClr val="DB0011"/>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6419088" y="1645920"/>
            <a:ext cx="2468880" cy="457200"/>
          </a:xfrm>
          <a:prstGeom prst="rect">
            <a:avLst/>
          </a:prstGeom>
          <a:noFill/>
        </p:spPr>
        <p:txBody>
          <a:bodyPr wrap="none" lIns="0" rIns="0" tIns="0" bIns="0" anchor="t">
            <a:spAutoFit/>
          </a:bodyPr>
          <a:lstStyle/>
          <a:p>
            <a:pPr algn="l">
              <a:lnSpc>
                <a:spcPct val="100000"/>
              </a:lnSpc>
              <a:spcAft>
                <a:spcPts val="0"/>
              </a:spcAft>
            </a:pPr>
            <a:r>
              <a:rPr sz="2800" b="1" i="0">
                <a:solidFill>
                  <a:srgbClr val="DB0011"/>
                </a:solidFill>
                <a:latin typeface="Arial"/>
              </a:rPr>
              <a:t>0.40</a:t>
            </a:r>
          </a:p>
        </p:txBody>
      </p:sp>
      <p:sp>
        <p:nvSpPr>
          <p:cNvPr id="25" name="TextBox 24"/>
          <p:cNvSpPr txBox="1"/>
          <p:nvPr/>
        </p:nvSpPr>
        <p:spPr>
          <a:xfrm>
            <a:off x="6419088" y="2103120"/>
            <a:ext cx="2468880" cy="219456"/>
          </a:xfrm>
          <a:prstGeom prst="rect">
            <a:avLst/>
          </a:prstGeom>
          <a:noFill/>
        </p:spPr>
        <p:txBody>
          <a:bodyPr wrap="none" lIns="0" rIns="0" tIns="0" bIns="0" anchor="t">
            <a:spAutoFit/>
          </a:bodyPr>
          <a:lstStyle/>
          <a:p>
            <a:pPr algn="l">
              <a:lnSpc>
                <a:spcPct val="100000"/>
              </a:lnSpc>
              <a:spcAft>
                <a:spcPts val="0"/>
              </a:spcAft>
            </a:pPr>
            <a:r>
              <a:rPr sz="1200" b="1" i="0">
                <a:solidFill>
                  <a:srgbClr val="000000"/>
                </a:solidFill>
                <a:latin typeface="Arial"/>
              </a:rPr>
              <a:t>Front-leg beta</a:t>
            </a:r>
          </a:p>
        </p:txBody>
      </p:sp>
      <p:sp>
        <p:nvSpPr>
          <p:cNvPr id="26" name="TextBox 25"/>
          <p:cNvSpPr txBox="1"/>
          <p:nvPr/>
        </p:nvSpPr>
        <p:spPr>
          <a:xfrm>
            <a:off x="6419088" y="2322576"/>
            <a:ext cx="2468880" cy="457200"/>
          </a:xfrm>
          <a:prstGeom prst="rect">
            <a:avLst/>
          </a:prstGeom>
          <a:noFill/>
        </p:spPr>
        <p:txBody>
          <a:bodyPr wrap="square" lIns="0" rIns="0" tIns="0" bIns="0" anchor="t">
            <a:spAutoFit/>
          </a:bodyPr>
          <a:lstStyle/>
          <a:p>
            <a:pPr algn="l">
              <a:lnSpc>
                <a:spcPct val="115000"/>
              </a:lnSpc>
              <a:spcAft>
                <a:spcPts val="0"/>
              </a:spcAft>
            </a:pPr>
            <a:r>
              <a:rPr sz="800" b="0" i="0">
                <a:solidFill>
                  <a:srgbClr val="767576"/>
                </a:solidFill>
                <a:latin typeface="Arial"/>
              </a:rPr>
              <a:t>Change in the 2-year per 1bp of 10-year, in rally weeks. Under half, so the long end leads.</a:t>
            </a:r>
          </a:p>
        </p:txBody>
      </p:sp>
      <p:sp>
        <p:nvSpPr>
          <p:cNvPr id="27" name="TextBox 26"/>
          <p:cNvSpPr txBox="1"/>
          <p:nvPr/>
        </p:nvSpPr>
        <p:spPr>
          <a:xfrm>
            <a:off x="9162288" y="1645920"/>
            <a:ext cx="2468880" cy="457200"/>
          </a:xfrm>
          <a:prstGeom prst="rect">
            <a:avLst/>
          </a:prstGeom>
          <a:noFill/>
        </p:spPr>
        <p:txBody>
          <a:bodyPr wrap="none" lIns="0" rIns="0" tIns="0" bIns="0" anchor="t">
            <a:spAutoFit/>
          </a:bodyPr>
          <a:lstStyle/>
          <a:p>
            <a:pPr algn="l">
              <a:lnSpc>
                <a:spcPct val="100000"/>
              </a:lnSpc>
              <a:spcAft>
                <a:spcPts val="0"/>
              </a:spcAft>
            </a:pPr>
            <a:r>
              <a:rPr sz="2800" b="1" i="0">
                <a:solidFill>
                  <a:srgbClr val="DB0011"/>
                </a:solidFill>
                <a:latin typeface="Arial"/>
              </a:rPr>
              <a:t>¥6.8m</a:t>
            </a:r>
          </a:p>
        </p:txBody>
      </p:sp>
      <p:sp>
        <p:nvSpPr>
          <p:cNvPr id="28" name="TextBox 27"/>
          <p:cNvSpPr txBox="1"/>
          <p:nvPr/>
        </p:nvSpPr>
        <p:spPr>
          <a:xfrm>
            <a:off x="9162288" y="2103120"/>
            <a:ext cx="2468880" cy="219456"/>
          </a:xfrm>
          <a:prstGeom prst="rect">
            <a:avLst/>
          </a:prstGeom>
          <a:noFill/>
        </p:spPr>
        <p:txBody>
          <a:bodyPr wrap="none" lIns="0" rIns="0" tIns="0" bIns="0" anchor="t">
            <a:spAutoFit/>
          </a:bodyPr>
          <a:lstStyle/>
          <a:p>
            <a:pPr algn="l">
              <a:lnSpc>
                <a:spcPct val="100000"/>
              </a:lnSpc>
              <a:spcAft>
                <a:spcPts val="0"/>
              </a:spcAft>
            </a:pPr>
            <a:r>
              <a:rPr sz="1200" b="1" i="0">
                <a:solidFill>
                  <a:srgbClr val="000000"/>
                </a:solidFill>
                <a:latin typeface="Arial"/>
              </a:rPr>
              <a:t>Per 10bp rally</a:t>
            </a:r>
          </a:p>
        </p:txBody>
      </p:sp>
      <p:sp>
        <p:nvSpPr>
          <p:cNvPr id="29" name="TextBox 28"/>
          <p:cNvSpPr txBox="1"/>
          <p:nvPr/>
        </p:nvSpPr>
        <p:spPr>
          <a:xfrm>
            <a:off x="9162288" y="2322576"/>
            <a:ext cx="2468880" cy="457200"/>
          </a:xfrm>
          <a:prstGeom prst="rect">
            <a:avLst/>
          </a:prstGeom>
          <a:noFill/>
        </p:spPr>
        <p:txBody>
          <a:bodyPr wrap="square" lIns="0" rIns="0" tIns="0" bIns="0" anchor="t">
            <a:spAutoFit/>
          </a:bodyPr>
          <a:lstStyle/>
          <a:p>
            <a:pPr algn="l">
              <a:lnSpc>
                <a:spcPct val="115000"/>
              </a:lnSpc>
              <a:spcAft>
                <a:spcPts val="0"/>
              </a:spcAft>
            </a:pPr>
            <a:r>
              <a:rPr sz="800" b="0" i="0">
                <a:solidFill>
                  <a:srgbClr val="767576"/>
                </a:solidFill>
                <a:latin typeface="Arial"/>
              </a:rPr>
              <a:t>Per ¥1bn of back leg. The 16bp stop is ¥14.1m, so about two such weeks.</a:t>
            </a:r>
          </a:p>
        </p:txBody>
      </p:sp>
      <p:sp>
        <p:nvSpPr>
          <p:cNvPr id="30" name="TextBox 29"/>
          <p:cNvSpPr txBox="1"/>
          <p:nvPr/>
        </p:nvSpPr>
        <p:spPr>
          <a:xfrm>
            <a:off x="6419088" y="2962656"/>
            <a:ext cx="5394960" cy="219456"/>
          </a:xfrm>
          <a:prstGeom prst="rect">
            <a:avLst/>
          </a:prstGeom>
          <a:noFill/>
        </p:spPr>
        <p:txBody>
          <a:bodyPr wrap="none" lIns="0" rIns="0" tIns="0" bIns="0" anchor="t">
            <a:spAutoFit/>
          </a:bodyPr>
          <a:lstStyle/>
          <a:p>
            <a:pPr algn="l">
              <a:lnSpc>
                <a:spcPct val="100000"/>
              </a:lnSpc>
              <a:spcAft>
                <a:spcPts val="0"/>
              </a:spcAft>
            </a:pPr>
            <a:r>
              <a:rPr sz="1200" b="1" i="0">
                <a:solidFill>
                  <a:srgbClr val="000000"/>
                </a:solidFill>
                <a:latin typeface="Arial"/>
              </a:rPr>
              <a:t>The same cut, four ways</a:t>
            </a:r>
          </a:p>
        </p:txBody>
      </p:sp>
      <p:cxnSp>
        <p:nvCxnSpPr>
          <p:cNvPr id="31" name="Connector 30"/>
          <p:cNvCxnSpPr/>
          <p:nvPr/>
        </p:nvCxnSpPr>
        <p:spPr>
          <a:xfrm>
            <a:off x="6419088" y="3200400"/>
            <a:ext cx="384048" cy="0"/>
          </a:xfrm>
          <a:prstGeom prst="line">
            <a:avLst/>
          </a:prstGeom>
          <a:ln w="25400">
            <a:solidFill>
              <a:srgbClr val="DB0011"/>
            </a:solidFill>
          </a:ln>
        </p:spPr>
        <p:style>
          <a:lnRef idx="2">
            <a:schemeClr val="accent1"/>
          </a:lnRef>
          <a:fillRef idx="0">
            <a:schemeClr val="accent1"/>
          </a:fillRef>
          <a:effectRef idx="1">
            <a:schemeClr val="accent1"/>
          </a:effectRef>
          <a:fontRef idx="minor">
            <a:schemeClr val="tx1"/>
          </a:fontRef>
        </p:style>
      </p:cxnSp>
      <p:sp>
        <p:nvSpPr>
          <p:cNvPr id="32" name="Rectangle 31"/>
          <p:cNvSpPr/>
          <p:nvPr/>
        </p:nvSpPr>
        <p:spPr>
          <a:xfrm>
            <a:off x="6419088" y="3291840"/>
            <a:ext cx="5394960" cy="246888"/>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464807" y="3319272"/>
            <a:ext cx="2286000" cy="246888"/>
          </a:xfrm>
          <a:prstGeom prst="rect">
            <a:avLst/>
          </a:prstGeom>
          <a:noFill/>
        </p:spPr>
        <p:txBody>
          <a:bodyPr wrap="none" lIns="0" rIns="0" tIns="0" bIns="0" anchor="t">
            <a:spAutoFit/>
          </a:bodyPr>
          <a:lstStyle/>
          <a:p>
            <a:pPr algn="l">
              <a:lnSpc>
                <a:spcPct val="100000"/>
              </a:lnSpc>
              <a:spcAft>
                <a:spcPts val="0"/>
              </a:spcAft>
            </a:pPr>
            <a:r>
              <a:rPr sz="950" b="1" i="0">
                <a:solidFill>
                  <a:srgbClr val="FFFFFF"/>
                </a:solidFill>
                <a:latin typeface="Arial"/>
              </a:rPr>
              <a:t>Conditional on</a:t>
            </a:r>
          </a:p>
        </p:txBody>
      </p:sp>
      <p:sp>
        <p:nvSpPr>
          <p:cNvPr id="34" name="TextBox 33"/>
          <p:cNvSpPr txBox="1"/>
          <p:nvPr/>
        </p:nvSpPr>
        <p:spPr>
          <a:xfrm>
            <a:off x="8842248" y="3319272"/>
            <a:ext cx="475488" cy="246888"/>
          </a:xfrm>
          <a:prstGeom prst="rect">
            <a:avLst/>
          </a:prstGeom>
          <a:noFill/>
        </p:spPr>
        <p:txBody>
          <a:bodyPr wrap="none" lIns="0" rIns="0" tIns="0" bIns="0" anchor="t">
            <a:spAutoFit/>
          </a:bodyPr>
          <a:lstStyle/>
          <a:p>
            <a:pPr algn="r">
              <a:lnSpc>
                <a:spcPct val="100000"/>
              </a:lnSpc>
              <a:spcAft>
                <a:spcPts val="0"/>
              </a:spcAft>
            </a:pPr>
            <a:r>
              <a:rPr sz="950" b="1" i="0">
                <a:solidFill>
                  <a:srgbClr val="FFFFFF"/>
                </a:solidFill>
                <a:latin typeface="Arial"/>
              </a:rPr>
              <a:t>n</a:t>
            </a:r>
          </a:p>
        </p:txBody>
      </p:sp>
      <p:sp>
        <p:nvSpPr>
          <p:cNvPr id="35" name="TextBox 34"/>
          <p:cNvSpPr txBox="1"/>
          <p:nvPr/>
        </p:nvSpPr>
        <p:spPr>
          <a:xfrm>
            <a:off x="9409176" y="3319272"/>
            <a:ext cx="932688" cy="246888"/>
          </a:xfrm>
          <a:prstGeom prst="rect">
            <a:avLst/>
          </a:prstGeom>
          <a:noFill/>
        </p:spPr>
        <p:txBody>
          <a:bodyPr wrap="none" lIns="0" rIns="0" tIns="0" bIns="0" anchor="t">
            <a:spAutoFit/>
          </a:bodyPr>
          <a:lstStyle/>
          <a:p>
            <a:pPr algn="r">
              <a:lnSpc>
                <a:spcPct val="100000"/>
              </a:lnSpc>
              <a:spcAft>
                <a:spcPts val="0"/>
              </a:spcAft>
            </a:pPr>
            <a:r>
              <a:rPr sz="950" b="1" i="0">
                <a:solidFill>
                  <a:srgbClr val="FFFFFF"/>
                </a:solidFill>
                <a:latin typeface="Arial"/>
              </a:rPr>
              <a:t>Mean Δ</a:t>
            </a:r>
          </a:p>
        </p:txBody>
      </p:sp>
      <p:sp>
        <p:nvSpPr>
          <p:cNvPr id="36" name="TextBox 35"/>
          <p:cNvSpPr txBox="1"/>
          <p:nvPr/>
        </p:nvSpPr>
        <p:spPr>
          <a:xfrm>
            <a:off x="10433304" y="3319272"/>
            <a:ext cx="1335024" cy="246888"/>
          </a:xfrm>
          <a:prstGeom prst="rect">
            <a:avLst/>
          </a:prstGeom>
          <a:noFill/>
        </p:spPr>
        <p:txBody>
          <a:bodyPr wrap="none" lIns="0" rIns="0" tIns="0" bIns="0" anchor="t">
            <a:spAutoFit/>
          </a:bodyPr>
          <a:lstStyle/>
          <a:p>
            <a:pPr algn="r">
              <a:lnSpc>
                <a:spcPct val="100000"/>
              </a:lnSpc>
              <a:spcAft>
                <a:spcPts val="0"/>
              </a:spcAft>
            </a:pPr>
            <a:r>
              <a:rPr sz="950" b="1" i="0">
                <a:solidFill>
                  <a:srgbClr val="FFFFFF"/>
                </a:solidFill>
                <a:latin typeface="Arial"/>
              </a:rPr>
              <a:t>Steepened</a:t>
            </a:r>
          </a:p>
        </p:txBody>
      </p:sp>
      <p:sp>
        <p:nvSpPr>
          <p:cNvPr id="37" name="TextBox 36"/>
          <p:cNvSpPr txBox="1"/>
          <p:nvPr/>
        </p:nvSpPr>
        <p:spPr>
          <a:xfrm>
            <a:off x="6464807" y="3558844"/>
            <a:ext cx="2286000" cy="233172"/>
          </a:xfrm>
          <a:prstGeom prst="rect">
            <a:avLst/>
          </a:prstGeom>
          <a:noFill/>
        </p:spPr>
        <p:txBody>
          <a:bodyPr wrap="none" lIns="0" rIns="0" tIns="0" bIns="0" anchor="t">
            <a:spAutoFit/>
          </a:bodyPr>
          <a:lstStyle/>
          <a:p>
            <a:pPr algn="l">
              <a:lnSpc>
                <a:spcPct val="100000"/>
              </a:lnSpc>
              <a:spcAft>
                <a:spcPts val="0"/>
              </a:spcAft>
            </a:pPr>
            <a:r>
              <a:rPr sz="950" b="1" i="0">
                <a:solidFill>
                  <a:srgbClr val="000000"/>
                </a:solidFill>
                <a:latin typeface="Arial"/>
              </a:rPr>
              <a:t>JGB 10y sold off ≥ 5bp</a:t>
            </a:r>
          </a:p>
        </p:txBody>
      </p:sp>
      <p:sp>
        <p:nvSpPr>
          <p:cNvPr id="38" name="TextBox 37"/>
          <p:cNvSpPr txBox="1"/>
          <p:nvPr/>
        </p:nvSpPr>
        <p:spPr>
          <a:xfrm>
            <a:off x="8842248" y="3558844"/>
            <a:ext cx="475488" cy="233172"/>
          </a:xfrm>
          <a:prstGeom prst="rect">
            <a:avLst/>
          </a:prstGeom>
          <a:noFill/>
        </p:spPr>
        <p:txBody>
          <a:bodyPr wrap="none" lIns="0" rIns="0" tIns="0" bIns="0" anchor="t">
            <a:spAutoFit/>
          </a:bodyPr>
          <a:lstStyle/>
          <a:p>
            <a:pPr algn="r">
              <a:lnSpc>
                <a:spcPct val="100000"/>
              </a:lnSpc>
              <a:spcAft>
                <a:spcPts val="0"/>
              </a:spcAft>
            </a:pPr>
            <a:r>
              <a:rPr sz="950" b="1" i="0">
                <a:solidFill>
                  <a:srgbClr val="000000"/>
                </a:solidFill>
                <a:latin typeface="Arial"/>
              </a:rPr>
              <a:t>172</a:t>
            </a:r>
          </a:p>
        </p:txBody>
      </p:sp>
      <p:sp>
        <p:nvSpPr>
          <p:cNvPr id="39" name="TextBox 38"/>
          <p:cNvSpPr txBox="1"/>
          <p:nvPr/>
        </p:nvSpPr>
        <p:spPr>
          <a:xfrm>
            <a:off x="9409176" y="3558844"/>
            <a:ext cx="932688" cy="233172"/>
          </a:xfrm>
          <a:prstGeom prst="rect">
            <a:avLst/>
          </a:prstGeom>
          <a:noFill/>
        </p:spPr>
        <p:txBody>
          <a:bodyPr wrap="none" lIns="0" rIns="0" tIns="0" bIns="0" anchor="t">
            <a:spAutoFit/>
          </a:bodyPr>
          <a:lstStyle/>
          <a:p>
            <a:pPr algn="r">
              <a:lnSpc>
                <a:spcPct val="100000"/>
              </a:lnSpc>
              <a:spcAft>
                <a:spcPts val="0"/>
              </a:spcAft>
            </a:pPr>
            <a:r>
              <a:rPr sz="950" b="1" i="0">
                <a:solidFill>
                  <a:srgbClr val="00847F"/>
                </a:solidFill>
                <a:latin typeface="Arial"/>
              </a:rPr>
              <a:t>+5.42bp</a:t>
            </a:r>
          </a:p>
        </p:txBody>
      </p:sp>
      <p:sp>
        <p:nvSpPr>
          <p:cNvPr id="40" name="TextBox 39"/>
          <p:cNvSpPr txBox="1"/>
          <p:nvPr/>
        </p:nvSpPr>
        <p:spPr>
          <a:xfrm>
            <a:off x="10433304" y="3558844"/>
            <a:ext cx="1335024" cy="233172"/>
          </a:xfrm>
          <a:prstGeom prst="rect">
            <a:avLst/>
          </a:prstGeom>
          <a:noFill/>
        </p:spPr>
        <p:txBody>
          <a:bodyPr wrap="none" lIns="0" rIns="0" tIns="0" bIns="0" anchor="t">
            <a:spAutoFit/>
          </a:bodyPr>
          <a:lstStyle/>
          <a:p>
            <a:pPr algn="r">
              <a:lnSpc>
                <a:spcPct val="100000"/>
              </a:lnSpc>
              <a:spcAft>
                <a:spcPts val="0"/>
              </a:spcAft>
            </a:pPr>
            <a:r>
              <a:rPr sz="950" b="1" i="0">
                <a:solidFill>
                  <a:srgbClr val="000000"/>
                </a:solidFill>
                <a:latin typeface="Arial"/>
              </a:rPr>
              <a:t>94%</a:t>
            </a:r>
          </a:p>
        </p:txBody>
      </p:sp>
      <p:cxnSp>
        <p:nvCxnSpPr>
          <p:cNvPr id="41" name="Connector 40"/>
          <p:cNvCxnSpPr/>
          <p:nvPr/>
        </p:nvCxnSpPr>
        <p:spPr>
          <a:xfrm>
            <a:off x="6419088" y="3771900"/>
            <a:ext cx="5394960" cy="0"/>
          </a:xfrm>
          <a:prstGeom prst="line">
            <a:avLst/>
          </a:prstGeom>
          <a:ln w="9525">
            <a:solidFill>
              <a:srgbClr val="000000"/>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6464807" y="3792016"/>
            <a:ext cx="2286000" cy="233172"/>
          </a:xfrm>
          <a:prstGeom prst="rect">
            <a:avLst/>
          </a:prstGeom>
          <a:noFill/>
        </p:spPr>
        <p:txBody>
          <a:bodyPr wrap="none" lIns="0" rIns="0" tIns="0" bIns="0" anchor="t">
            <a:spAutoFit/>
          </a:bodyPr>
          <a:lstStyle/>
          <a:p>
            <a:pPr algn="l">
              <a:lnSpc>
                <a:spcPct val="100000"/>
              </a:lnSpc>
              <a:spcAft>
                <a:spcPts val="0"/>
              </a:spcAft>
            </a:pPr>
            <a:r>
              <a:rPr sz="950" b="0" i="0">
                <a:solidFill>
                  <a:srgbClr val="000000"/>
                </a:solidFill>
                <a:latin typeface="Arial"/>
              </a:rPr>
              <a:t>Any week</a:t>
            </a:r>
          </a:p>
        </p:txBody>
      </p:sp>
      <p:sp>
        <p:nvSpPr>
          <p:cNvPr id="43" name="TextBox 42"/>
          <p:cNvSpPr txBox="1"/>
          <p:nvPr/>
        </p:nvSpPr>
        <p:spPr>
          <a:xfrm>
            <a:off x="8842248" y="3792016"/>
            <a:ext cx="475488" cy="233172"/>
          </a:xfrm>
          <a:prstGeom prst="rect">
            <a:avLst/>
          </a:prstGeom>
          <a:noFill/>
        </p:spPr>
        <p:txBody>
          <a:bodyPr wrap="none" lIns="0" rIns="0" tIns="0" bIns="0" anchor="t">
            <a:spAutoFit/>
          </a:bodyPr>
          <a:lstStyle/>
          <a:p>
            <a:pPr algn="r">
              <a:lnSpc>
                <a:spcPct val="100000"/>
              </a:lnSpc>
              <a:spcAft>
                <a:spcPts val="0"/>
              </a:spcAft>
            </a:pPr>
            <a:r>
              <a:rPr sz="950" b="0" i="0">
                <a:solidFill>
                  <a:srgbClr val="000000"/>
                </a:solidFill>
                <a:latin typeface="Arial"/>
              </a:rPr>
              <a:t>1386</a:t>
            </a:r>
          </a:p>
        </p:txBody>
      </p:sp>
      <p:sp>
        <p:nvSpPr>
          <p:cNvPr id="44" name="TextBox 43"/>
          <p:cNvSpPr txBox="1"/>
          <p:nvPr/>
        </p:nvSpPr>
        <p:spPr>
          <a:xfrm>
            <a:off x="9409176" y="3792016"/>
            <a:ext cx="932688" cy="233172"/>
          </a:xfrm>
          <a:prstGeom prst="rect">
            <a:avLst/>
          </a:prstGeom>
          <a:noFill/>
        </p:spPr>
        <p:txBody>
          <a:bodyPr wrap="none" lIns="0" rIns="0" tIns="0" bIns="0" anchor="t">
            <a:spAutoFit/>
          </a:bodyPr>
          <a:lstStyle/>
          <a:p>
            <a:pPr algn="r">
              <a:lnSpc>
                <a:spcPct val="100000"/>
              </a:lnSpc>
              <a:spcAft>
                <a:spcPts val="0"/>
              </a:spcAft>
            </a:pPr>
            <a:r>
              <a:rPr sz="950" b="0" i="0">
                <a:solidFill>
                  <a:srgbClr val="000000"/>
                </a:solidFill>
                <a:latin typeface="Arial"/>
              </a:rPr>
              <a:t>0.00bp</a:t>
            </a:r>
          </a:p>
        </p:txBody>
      </p:sp>
      <p:sp>
        <p:nvSpPr>
          <p:cNvPr id="45" name="TextBox 44"/>
          <p:cNvSpPr txBox="1"/>
          <p:nvPr/>
        </p:nvSpPr>
        <p:spPr>
          <a:xfrm>
            <a:off x="10433304" y="3792016"/>
            <a:ext cx="1335024" cy="233172"/>
          </a:xfrm>
          <a:prstGeom prst="rect">
            <a:avLst/>
          </a:prstGeom>
          <a:noFill/>
        </p:spPr>
        <p:txBody>
          <a:bodyPr wrap="none" lIns="0" rIns="0" tIns="0" bIns="0" anchor="t">
            <a:spAutoFit/>
          </a:bodyPr>
          <a:lstStyle/>
          <a:p>
            <a:pPr algn="r">
              <a:lnSpc>
                <a:spcPct val="100000"/>
              </a:lnSpc>
              <a:spcAft>
                <a:spcPts val="0"/>
              </a:spcAft>
            </a:pPr>
            <a:r>
              <a:rPr sz="950" b="0" i="0">
                <a:solidFill>
                  <a:srgbClr val="000000"/>
                </a:solidFill>
                <a:latin typeface="Arial"/>
              </a:rPr>
              <a:t>48%</a:t>
            </a:r>
          </a:p>
        </p:txBody>
      </p:sp>
      <p:cxnSp>
        <p:nvCxnSpPr>
          <p:cNvPr id="46" name="Connector 45"/>
          <p:cNvCxnSpPr/>
          <p:nvPr/>
        </p:nvCxnSpPr>
        <p:spPr>
          <a:xfrm>
            <a:off x="6419088" y="4005072"/>
            <a:ext cx="5394960" cy="0"/>
          </a:xfrm>
          <a:prstGeom prst="line">
            <a:avLst/>
          </a:prstGeom>
          <a:ln w="6350">
            <a:solidFill>
              <a:srgbClr val="D0CECE"/>
            </a:solidFill>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6464807" y="4025188"/>
            <a:ext cx="2286000" cy="233172"/>
          </a:xfrm>
          <a:prstGeom prst="rect">
            <a:avLst/>
          </a:prstGeom>
          <a:noFill/>
        </p:spPr>
        <p:txBody>
          <a:bodyPr wrap="none" lIns="0" rIns="0" tIns="0" bIns="0" anchor="t">
            <a:spAutoFit/>
          </a:bodyPr>
          <a:lstStyle/>
          <a:p>
            <a:pPr algn="l">
              <a:lnSpc>
                <a:spcPct val="100000"/>
              </a:lnSpc>
              <a:spcAft>
                <a:spcPts val="0"/>
              </a:spcAft>
            </a:pPr>
            <a:r>
              <a:rPr sz="950" b="1" i="0">
                <a:solidFill>
                  <a:srgbClr val="000000"/>
                </a:solidFill>
                <a:latin typeface="Arial"/>
              </a:rPr>
              <a:t>JGB 10y rallied ≥ 5bp</a:t>
            </a:r>
          </a:p>
        </p:txBody>
      </p:sp>
      <p:sp>
        <p:nvSpPr>
          <p:cNvPr id="48" name="TextBox 47"/>
          <p:cNvSpPr txBox="1"/>
          <p:nvPr/>
        </p:nvSpPr>
        <p:spPr>
          <a:xfrm>
            <a:off x="8842248" y="4025188"/>
            <a:ext cx="475488" cy="233172"/>
          </a:xfrm>
          <a:prstGeom prst="rect">
            <a:avLst/>
          </a:prstGeom>
          <a:noFill/>
        </p:spPr>
        <p:txBody>
          <a:bodyPr wrap="none" lIns="0" rIns="0" tIns="0" bIns="0" anchor="t">
            <a:spAutoFit/>
          </a:bodyPr>
          <a:lstStyle/>
          <a:p>
            <a:pPr algn="r">
              <a:lnSpc>
                <a:spcPct val="100000"/>
              </a:lnSpc>
              <a:spcAft>
                <a:spcPts val="0"/>
              </a:spcAft>
            </a:pPr>
            <a:r>
              <a:rPr sz="950" b="1" i="0">
                <a:solidFill>
                  <a:srgbClr val="000000"/>
                </a:solidFill>
                <a:latin typeface="Arial"/>
              </a:rPr>
              <a:t>143</a:t>
            </a:r>
          </a:p>
        </p:txBody>
      </p:sp>
      <p:sp>
        <p:nvSpPr>
          <p:cNvPr id="49" name="TextBox 48"/>
          <p:cNvSpPr txBox="1"/>
          <p:nvPr/>
        </p:nvSpPr>
        <p:spPr>
          <a:xfrm>
            <a:off x="9409176" y="4025188"/>
            <a:ext cx="932688" cy="233172"/>
          </a:xfrm>
          <a:prstGeom prst="rect">
            <a:avLst/>
          </a:prstGeom>
          <a:noFill/>
        </p:spPr>
        <p:txBody>
          <a:bodyPr wrap="none" lIns="0" rIns="0" tIns="0" bIns="0" anchor="t">
            <a:spAutoFit/>
          </a:bodyPr>
          <a:lstStyle/>
          <a:p>
            <a:pPr algn="r">
              <a:lnSpc>
                <a:spcPct val="100000"/>
              </a:lnSpc>
              <a:spcAft>
                <a:spcPts val="0"/>
              </a:spcAft>
            </a:pPr>
            <a:r>
              <a:rPr sz="950" b="1" i="0">
                <a:solidFill>
                  <a:srgbClr val="DB0011"/>
                </a:solidFill>
                <a:latin typeface="Arial"/>
              </a:rPr>
              <a:t>-5.23bp</a:t>
            </a:r>
          </a:p>
        </p:txBody>
      </p:sp>
      <p:sp>
        <p:nvSpPr>
          <p:cNvPr id="50" name="TextBox 49"/>
          <p:cNvSpPr txBox="1"/>
          <p:nvPr/>
        </p:nvSpPr>
        <p:spPr>
          <a:xfrm>
            <a:off x="10433304" y="4025188"/>
            <a:ext cx="1335024" cy="233172"/>
          </a:xfrm>
          <a:prstGeom prst="rect">
            <a:avLst/>
          </a:prstGeom>
          <a:noFill/>
        </p:spPr>
        <p:txBody>
          <a:bodyPr wrap="none" lIns="0" rIns="0" tIns="0" bIns="0" anchor="t">
            <a:spAutoFit/>
          </a:bodyPr>
          <a:lstStyle/>
          <a:p>
            <a:pPr algn="r">
              <a:lnSpc>
                <a:spcPct val="100000"/>
              </a:lnSpc>
              <a:spcAft>
                <a:spcPts val="0"/>
              </a:spcAft>
            </a:pPr>
            <a:r>
              <a:rPr sz="950" b="1" i="0">
                <a:solidFill>
                  <a:srgbClr val="000000"/>
                </a:solidFill>
                <a:latin typeface="Arial"/>
              </a:rPr>
              <a:t>7%</a:t>
            </a:r>
          </a:p>
        </p:txBody>
      </p:sp>
      <p:cxnSp>
        <p:nvCxnSpPr>
          <p:cNvPr id="51" name="Connector 50"/>
          <p:cNvCxnSpPr/>
          <p:nvPr/>
        </p:nvCxnSpPr>
        <p:spPr>
          <a:xfrm>
            <a:off x="6419088" y="4238244"/>
            <a:ext cx="5394960" cy="0"/>
          </a:xfrm>
          <a:prstGeom prst="line">
            <a:avLst/>
          </a:prstGeom>
          <a:ln w="9525">
            <a:solidFill>
              <a:srgbClr val="000000"/>
            </a:solidFill>
          </a:ln>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6464807" y="4258360"/>
            <a:ext cx="2286000" cy="233172"/>
          </a:xfrm>
          <a:prstGeom prst="rect">
            <a:avLst/>
          </a:prstGeom>
          <a:noFill/>
        </p:spPr>
        <p:txBody>
          <a:bodyPr wrap="none" lIns="0" rIns="0" tIns="0" bIns="0" anchor="t">
            <a:spAutoFit/>
          </a:bodyPr>
          <a:lstStyle/>
          <a:p>
            <a:pPr algn="l">
              <a:lnSpc>
                <a:spcPct val="100000"/>
              </a:lnSpc>
              <a:spcAft>
                <a:spcPts val="0"/>
              </a:spcAft>
            </a:pPr>
            <a:r>
              <a:rPr sz="950" b="0" i="0">
                <a:solidFill>
                  <a:srgbClr val="000000"/>
                </a:solidFill>
                <a:latin typeface="Arial"/>
              </a:rPr>
              <a:t>UST 10y rallied ≥ 15bp</a:t>
            </a:r>
          </a:p>
        </p:txBody>
      </p:sp>
      <p:sp>
        <p:nvSpPr>
          <p:cNvPr id="53" name="TextBox 52"/>
          <p:cNvSpPr txBox="1"/>
          <p:nvPr/>
        </p:nvSpPr>
        <p:spPr>
          <a:xfrm>
            <a:off x="8842248" y="4258360"/>
            <a:ext cx="475488" cy="233172"/>
          </a:xfrm>
          <a:prstGeom prst="rect">
            <a:avLst/>
          </a:prstGeom>
          <a:noFill/>
        </p:spPr>
        <p:txBody>
          <a:bodyPr wrap="none" lIns="0" rIns="0" tIns="0" bIns="0" anchor="t">
            <a:spAutoFit/>
          </a:bodyPr>
          <a:lstStyle/>
          <a:p>
            <a:pPr algn="r">
              <a:lnSpc>
                <a:spcPct val="100000"/>
              </a:lnSpc>
              <a:spcAft>
                <a:spcPts val="0"/>
              </a:spcAft>
            </a:pPr>
            <a:r>
              <a:rPr sz="950" b="0" i="0">
                <a:solidFill>
                  <a:srgbClr val="000000"/>
                </a:solidFill>
                <a:latin typeface="Arial"/>
              </a:rPr>
              <a:t>125</a:t>
            </a:r>
          </a:p>
        </p:txBody>
      </p:sp>
      <p:sp>
        <p:nvSpPr>
          <p:cNvPr id="54" name="TextBox 53"/>
          <p:cNvSpPr txBox="1"/>
          <p:nvPr/>
        </p:nvSpPr>
        <p:spPr>
          <a:xfrm>
            <a:off x="9409176" y="4258360"/>
            <a:ext cx="932688" cy="233172"/>
          </a:xfrm>
          <a:prstGeom prst="rect">
            <a:avLst/>
          </a:prstGeom>
          <a:noFill/>
        </p:spPr>
        <p:txBody>
          <a:bodyPr wrap="none" lIns="0" rIns="0" tIns="0" bIns="0" anchor="t">
            <a:spAutoFit/>
          </a:bodyPr>
          <a:lstStyle/>
          <a:p>
            <a:pPr algn="r">
              <a:lnSpc>
                <a:spcPct val="100000"/>
              </a:lnSpc>
              <a:spcAft>
                <a:spcPts val="0"/>
              </a:spcAft>
            </a:pPr>
            <a:r>
              <a:rPr sz="950" b="0" i="0">
                <a:solidFill>
                  <a:srgbClr val="DB0011"/>
                </a:solidFill>
                <a:latin typeface="Arial"/>
              </a:rPr>
              <a:t>-2.05bp</a:t>
            </a:r>
          </a:p>
        </p:txBody>
      </p:sp>
      <p:sp>
        <p:nvSpPr>
          <p:cNvPr id="55" name="TextBox 54"/>
          <p:cNvSpPr txBox="1"/>
          <p:nvPr/>
        </p:nvSpPr>
        <p:spPr>
          <a:xfrm>
            <a:off x="10433304" y="4258360"/>
            <a:ext cx="1335024" cy="233172"/>
          </a:xfrm>
          <a:prstGeom prst="rect">
            <a:avLst/>
          </a:prstGeom>
          <a:noFill/>
        </p:spPr>
        <p:txBody>
          <a:bodyPr wrap="none" lIns="0" rIns="0" tIns="0" bIns="0" anchor="t">
            <a:spAutoFit/>
          </a:bodyPr>
          <a:lstStyle/>
          <a:p>
            <a:pPr algn="r">
              <a:lnSpc>
                <a:spcPct val="100000"/>
              </a:lnSpc>
              <a:spcAft>
                <a:spcPts val="0"/>
              </a:spcAft>
            </a:pPr>
            <a:r>
              <a:rPr sz="950" b="0" i="0">
                <a:solidFill>
                  <a:srgbClr val="000000"/>
                </a:solidFill>
                <a:latin typeface="Arial"/>
              </a:rPr>
              <a:t>30%</a:t>
            </a:r>
          </a:p>
        </p:txBody>
      </p:sp>
      <p:cxnSp>
        <p:nvCxnSpPr>
          <p:cNvPr id="56" name="Connector 55"/>
          <p:cNvCxnSpPr/>
          <p:nvPr/>
        </p:nvCxnSpPr>
        <p:spPr>
          <a:xfrm>
            <a:off x="6419088" y="4471416"/>
            <a:ext cx="5394960" cy="0"/>
          </a:xfrm>
          <a:prstGeom prst="line">
            <a:avLst/>
          </a:prstGeom>
          <a:ln w="6350">
            <a:solidFill>
              <a:srgbClr val="D0CECE"/>
            </a:solidFill>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6464807" y="4491532"/>
            <a:ext cx="2286000" cy="233172"/>
          </a:xfrm>
          <a:prstGeom prst="rect">
            <a:avLst/>
          </a:prstGeom>
          <a:noFill/>
        </p:spPr>
        <p:txBody>
          <a:bodyPr wrap="none" lIns="0" rIns="0" tIns="0" bIns="0" anchor="t">
            <a:spAutoFit/>
          </a:bodyPr>
          <a:lstStyle/>
          <a:p>
            <a:pPr algn="l">
              <a:lnSpc>
                <a:spcPct val="100000"/>
              </a:lnSpc>
              <a:spcAft>
                <a:spcPts val="0"/>
              </a:spcAft>
            </a:pPr>
            <a:r>
              <a:rPr sz="950" b="0" i="0">
                <a:solidFill>
                  <a:srgbClr val="000000"/>
                </a:solidFill>
                <a:latin typeface="Arial"/>
              </a:rPr>
              <a:t>Sell-off, 2y off the floor</a:t>
            </a:r>
          </a:p>
        </p:txBody>
      </p:sp>
      <p:sp>
        <p:nvSpPr>
          <p:cNvPr id="58" name="TextBox 57"/>
          <p:cNvSpPr txBox="1"/>
          <p:nvPr/>
        </p:nvSpPr>
        <p:spPr>
          <a:xfrm>
            <a:off x="8842248" y="4491532"/>
            <a:ext cx="475488" cy="233172"/>
          </a:xfrm>
          <a:prstGeom prst="rect">
            <a:avLst/>
          </a:prstGeom>
          <a:noFill/>
        </p:spPr>
        <p:txBody>
          <a:bodyPr wrap="none" lIns="0" rIns="0" tIns="0" bIns="0" anchor="t">
            <a:spAutoFit/>
          </a:bodyPr>
          <a:lstStyle/>
          <a:p>
            <a:pPr algn="r">
              <a:lnSpc>
                <a:spcPct val="100000"/>
              </a:lnSpc>
              <a:spcAft>
                <a:spcPts val="0"/>
              </a:spcAft>
            </a:pPr>
            <a:r>
              <a:rPr sz="950" b="0" i="0">
                <a:solidFill>
                  <a:srgbClr val="000000"/>
                </a:solidFill>
                <a:latin typeface="Arial"/>
              </a:rPr>
              <a:t>80</a:t>
            </a:r>
          </a:p>
        </p:txBody>
      </p:sp>
      <p:sp>
        <p:nvSpPr>
          <p:cNvPr id="59" name="TextBox 58"/>
          <p:cNvSpPr txBox="1"/>
          <p:nvPr/>
        </p:nvSpPr>
        <p:spPr>
          <a:xfrm>
            <a:off x="9409176" y="4491532"/>
            <a:ext cx="932688" cy="233172"/>
          </a:xfrm>
          <a:prstGeom prst="rect">
            <a:avLst/>
          </a:prstGeom>
          <a:noFill/>
        </p:spPr>
        <p:txBody>
          <a:bodyPr wrap="none" lIns="0" rIns="0" tIns="0" bIns="0" anchor="t">
            <a:spAutoFit/>
          </a:bodyPr>
          <a:lstStyle/>
          <a:p>
            <a:pPr algn="r">
              <a:lnSpc>
                <a:spcPct val="100000"/>
              </a:lnSpc>
              <a:spcAft>
                <a:spcPts val="0"/>
              </a:spcAft>
            </a:pPr>
            <a:r>
              <a:rPr sz="950" b="0" i="0">
                <a:solidFill>
                  <a:srgbClr val="00847F"/>
                </a:solidFill>
                <a:latin typeface="Arial"/>
              </a:rPr>
              <a:t>+4.12bp</a:t>
            </a:r>
          </a:p>
        </p:txBody>
      </p:sp>
      <p:sp>
        <p:nvSpPr>
          <p:cNvPr id="60" name="TextBox 59"/>
          <p:cNvSpPr txBox="1"/>
          <p:nvPr/>
        </p:nvSpPr>
        <p:spPr>
          <a:xfrm>
            <a:off x="10433304" y="4491532"/>
            <a:ext cx="1335024" cy="233172"/>
          </a:xfrm>
          <a:prstGeom prst="rect">
            <a:avLst/>
          </a:prstGeom>
          <a:noFill/>
        </p:spPr>
        <p:txBody>
          <a:bodyPr wrap="none" lIns="0" rIns="0" tIns="0" bIns="0" anchor="t">
            <a:spAutoFit/>
          </a:bodyPr>
          <a:lstStyle/>
          <a:p>
            <a:pPr algn="r">
              <a:lnSpc>
                <a:spcPct val="100000"/>
              </a:lnSpc>
              <a:spcAft>
                <a:spcPts val="0"/>
              </a:spcAft>
            </a:pPr>
            <a:r>
              <a:rPr sz="950" b="0" i="0">
                <a:solidFill>
                  <a:srgbClr val="000000"/>
                </a:solidFill>
                <a:latin typeface="Arial"/>
              </a:rPr>
              <a:t>89%</a:t>
            </a:r>
          </a:p>
        </p:txBody>
      </p:sp>
      <p:cxnSp>
        <p:nvCxnSpPr>
          <p:cNvPr id="61" name="Connector 60"/>
          <p:cNvCxnSpPr/>
          <p:nvPr/>
        </p:nvCxnSpPr>
        <p:spPr>
          <a:xfrm>
            <a:off x="6419088" y="4704588"/>
            <a:ext cx="5394960" cy="0"/>
          </a:xfrm>
          <a:prstGeom prst="line">
            <a:avLst/>
          </a:prstGeom>
          <a:ln w="6350">
            <a:solidFill>
              <a:srgbClr val="D0CECE"/>
            </a:solidFill>
          </a:ln>
        </p:spPr>
        <p:style>
          <a:lnRef idx="2">
            <a:schemeClr val="accent1"/>
          </a:lnRef>
          <a:fillRef idx="0">
            <a:schemeClr val="accent1"/>
          </a:fillRef>
          <a:effectRef idx="1">
            <a:schemeClr val="accent1"/>
          </a:effectRef>
          <a:fontRef idx="minor">
            <a:schemeClr val="tx1"/>
          </a:fontRef>
        </p:style>
      </p:cxnSp>
      <p:sp>
        <p:nvSpPr>
          <p:cNvPr id="62" name="Rectangle 61"/>
          <p:cNvSpPr/>
          <p:nvPr/>
        </p:nvSpPr>
        <p:spPr>
          <a:xfrm>
            <a:off x="6419088" y="4864608"/>
            <a:ext cx="5394960" cy="1042415"/>
          </a:xfrm>
          <a:prstGeom prst="rect">
            <a:avLst/>
          </a:prstGeom>
          <a:solidFill>
            <a:srgbClr val="FADF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Rectangle 62"/>
          <p:cNvSpPr/>
          <p:nvPr/>
        </p:nvSpPr>
        <p:spPr>
          <a:xfrm>
            <a:off x="6419088" y="4864608"/>
            <a:ext cx="41148" cy="1042415"/>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TextBox 63"/>
          <p:cNvSpPr txBox="1"/>
          <p:nvPr/>
        </p:nvSpPr>
        <p:spPr>
          <a:xfrm>
            <a:off x="6638544" y="4956048"/>
            <a:ext cx="4992624" cy="914400"/>
          </a:xfrm>
          <a:prstGeom prst="rect">
            <a:avLst/>
          </a:prstGeom>
          <a:noFill/>
        </p:spPr>
        <p:txBody>
          <a:bodyPr wrap="square" lIns="0" rIns="0" tIns="0" bIns="0" anchor="t">
            <a:spAutoFit/>
          </a:bodyPr>
          <a:lstStyle/>
          <a:p>
            <a:pPr algn="l">
              <a:lnSpc>
                <a:spcPct val="118000"/>
              </a:lnSpc>
              <a:spcAft>
                <a:spcPts val="0"/>
              </a:spcAft>
            </a:pPr>
            <a:r>
              <a:rPr sz="900" b="1" i="0">
                <a:solidFill>
                  <a:srgbClr val="000000"/>
                </a:solidFill>
                <a:latin typeface="Arial"/>
              </a:rPr>
              <a:t>Volunteer the last row. </a:t>
            </a:r>
            <a:r>
              <a:rPr sz="900" b="0" i="0">
                <a:solidFill>
                  <a:srgbClr val="000000"/>
                </a:solidFill>
                <a:latin typeface="Arial"/>
              </a:rPr>
              <a:t>Restricted to weeks with the 2-year off the floor the sell-off figure is 89%, not 94%, on n = 80, and the rally beta rises to 0.51. If anyone asks whether the statistic is carried by the zero-rate years, that is the answer, and it is better given than extracted.</a:t>
            </a:r>
          </a:p>
        </p:txBody>
      </p:sp>
      <p:sp>
        <p:nvSpPr>
          <p:cNvPr id="65" name="TextBox 64"/>
          <p:cNvSpPr txBox="1"/>
          <p:nvPr/>
        </p:nvSpPr>
        <p:spPr>
          <a:xfrm>
            <a:off x="374904" y="6455664"/>
            <a:ext cx="11441887" cy="274320"/>
          </a:xfrm>
          <a:prstGeom prst="rect">
            <a:avLst/>
          </a:prstGeom>
          <a:noFill/>
        </p:spPr>
        <p:txBody>
          <a:bodyPr wrap="square" lIns="0" rIns="0" tIns="0" bIns="0" anchor="t">
            <a:spAutoFit/>
          </a:bodyPr>
          <a:lstStyle/>
          <a:p>
            <a:pPr algn="l">
              <a:lnSpc>
                <a:spcPct val="110000"/>
              </a:lnSpc>
              <a:spcAft>
                <a:spcPts val="0"/>
              </a:spcAft>
            </a:pPr>
            <a:r>
              <a:rPr sz="800" b="0" i="0">
                <a:solidFill>
                  <a:srgbClr val="767576"/>
                </a:solidFill>
                <a:latin typeface="Arial"/>
              </a:rPr>
              <a:t>Ministry of Finance jgbcme_all.csv, weekly. Δ2s10s is the change in the 10-year less the change in the 2-year over the week. Beta is the 2-year regressed on the 10-year through the origin, rally weeks only. Yen figures at ¥879,095 per bp per ¥1bn of back leg.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Freeform 2"/>
          <p:cNvSpPr/>
          <p:nvPr/>
        </p:nvSpPr>
        <p:spPr>
          <a:xfrm>
            <a:off x="0" y="0"/>
            <a:ext cx="6095847" cy="6858000"/>
          </a:xfrm>
          <a:custGeom>
            <a:avLst/>
            <a:gdLst/>
            <a:ahLst/>
            <a:cxnLst/>
            <a:rect l="l" t="t" r="r" b="b"/>
            <a:pathLst>
              <a:path w="6095847" h="6858000">
                <a:moveTo>
                  <a:pt x="0" y="0"/>
                </a:moveTo>
                <a:lnTo>
                  <a:pt x="0" y="6858000"/>
                </a:lnTo>
                <a:lnTo>
                  <a:pt x="6095847" y="3429000"/>
                </a:lnTo>
                <a:close/>
              </a:path>
            </a:pathLst>
          </a:cu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6095847" y="0"/>
            <a:ext cx="6095848" cy="6858000"/>
          </a:xfrm>
          <a:custGeom>
            <a:avLst/>
            <a:gdLst/>
            <a:ahLst/>
            <a:cxnLst/>
            <a:rect l="l" t="t" r="r" b="b"/>
            <a:pathLst>
              <a:path w="6095848" h="6858000">
                <a:moveTo>
                  <a:pt x="6095848" y="0"/>
                </a:moveTo>
                <a:lnTo>
                  <a:pt x="6095848" y="6858000"/>
                </a:lnTo>
                <a:lnTo>
                  <a:pt x="0" y="3429000"/>
                </a:lnTo>
                <a:close/>
              </a:path>
            </a:pathLst>
          </a:cu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74904" y="182880"/>
            <a:ext cx="3657600" cy="219456"/>
          </a:xfrm>
          <a:prstGeom prst="rect">
            <a:avLst/>
          </a:prstGeom>
          <a:noFill/>
        </p:spPr>
        <p:txBody>
          <a:bodyPr wrap="none" lIns="0" rIns="0" tIns="0" bIns="0" anchor="t">
            <a:spAutoFit/>
          </a:bodyPr>
          <a:lstStyle/>
          <a:p>
            <a:pPr algn="l">
              <a:lnSpc>
                <a:spcPct val="100000"/>
              </a:lnSpc>
              <a:spcAft>
                <a:spcPts val="0"/>
              </a:spcAft>
            </a:pPr>
            <a:r>
              <a:rPr sz="1050" b="1" i="0">
                <a:solidFill>
                  <a:srgbClr val="000000"/>
                </a:solidFill>
                <a:latin typeface="Arial"/>
              </a:rPr>
              <a:t>Risks</a:t>
            </a:r>
          </a:p>
        </p:txBody>
      </p:sp>
      <p:sp>
        <p:nvSpPr>
          <p:cNvPr id="6" name="TextBox 5"/>
          <p:cNvSpPr txBox="1"/>
          <p:nvPr/>
        </p:nvSpPr>
        <p:spPr>
          <a:xfrm>
            <a:off x="11249863" y="265176"/>
            <a:ext cx="566927" cy="219456"/>
          </a:xfrm>
          <a:prstGeom prst="rect">
            <a:avLst/>
          </a:prstGeom>
          <a:noFill/>
        </p:spPr>
        <p:txBody>
          <a:bodyPr wrap="none" lIns="0" rIns="0" tIns="0" bIns="0" anchor="t">
            <a:spAutoFit/>
          </a:bodyPr>
          <a:lstStyle/>
          <a:p>
            <a:pPr algn="ctr">
              <a:lnSpc>
                <a:spcPct val="100000"/>
              </a:lnSpc>
              <a:spcAft>
                <a:spcPts val="0"/>
              </a:spcAft>
            </a:pPr>
            <a:r>
              <a:rPr sz="1050" b="1" i="0">
                <a:solidFill>
                  <a:srgbClr val="000000"/>
                </a:solidFill>
                <a:latin typeface="Arial"/>
              </a:rPr>
              <a:t>Risks</a:t>
            </a:r>
          </a:p>
        </p:txBody>
      </p:sp>
      <p:cxnSp>
        <p:nvCxnSpPr>
          <p:cNvPr id="7" name="Connector 6"/>
          <p:cNvCxnSpPr/>
          <p:nvPr/>
        </p:nvCxnSpPr>
        <p:spPr>
          <a:xfrm>
            <a:off x="11249863" y="512064"/>
            <a:ext cx="566928" cy="0"/>
          </a:xfrm>
          <a:prstGeom prst="line">
            <a:avLst/>
          </a:prstGeom>
          <a:ln w="25400">
            <a:solidFill>
              <a:srgbClr val="DB0011"/>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0401300" y="265176"/>
            <a:ext cx="647395" cy="219456"/>
          </a:xfrm>
          <a:prstGeom prst="rect">
            <a:avLst/>
          </a:prstGeom>
          <a:noFill/>
        </p:spPr>
        <p:txBody>
          <a:bodyPr wrap="none" lIns="0" rIns="0" tIns="0" bIns="0" anchor="t">
            <a:spAutoFit/>
          </a:bodyPr>
          <a:lstStyle/>
          <a:p>
            <a:pPr algn="ctr">
              <a:lnSpc>
                <a:spcPct val="100000"/>
              </a:lnSpc>
              <a:spcAft>
                <a:spcPts val="0"/>
              </a:spcAft>
            </a:pPr>
            <a:r>
              <a:rPr sz="1050" b="0" i="0">
                <a:solidFill>
                  <a:srgbClr val="767576"/>
                </a:solidFill>
                <a:latin typeface="Arial"/>
              </a:rPr>
              <a:t>Trades</a:t>
            </a:r>
          </a:p>
        </p:txBody>
      </p:sp>
      <p:sp>
        <p:nvSpPr>
          <p:cNvPr id="9" name="TextBox 8"/>
          <p:cNvSpPr txBox="1"/>
          <p:nvPr/>
        </p:nvSpPr>
        <p:spPr>
          <a:xfrm>
            <a:off x="9472269" y="265176"/>
            <a:ext cx="727862" cy="219456"/>
          </a:xfrm>
          <a:prstGeom prst="rect">
            <a:avLst/>
          </a:prstGeom>
          <a:noFill/>
        </p:spPr>
        <p:txBody>
          <a:bodyPr wrap="none" lIns="0" rIns="0" tIns="0" bIns="0" anchor="t">
            <a:spAutoFit/>
          </a:bodyPr>
          <a:lstStyle/>
          <a:p>
            <a:pPr algn="ctr">
              <a:lnSpc>
                <a:spcPct val="100000"/>
              </a:lnSpc>
              <a:spcAft>
                <a:spcPts val="0"/>
              </a:spcAft>
            </a:pPr>
            <a:r>
              <a:rPr sz="1050" b="0" i="0">
                <a:solidFill>
                  <a:srgbClr val="767576"/>
                </a:solidFill>
                <a:latin typeface="Arial"/>
              </a:rPr>
              <a:t>Markets</a:t>
            </a:r>
          </a:p>
        </p:txBody>
      </p:sp>
      <p:sp>
        <p:nvSpPr>
          <p:cNvPr id="10" name="TextBox 9"/>
          <p:cNvSpPr txBox="1"/>
          <p:nvPr/>
        </p:nvSpPr>
        <p:spPr>
          <a:xfrm>
            <a:off x="8704173" y="265176"/>
            <a:ext cx="566927" cy="219456"/>
          </a:xfrm>
          <a:prstGeom prst="rect">
            <a:avLst/>
          </a:prstGeom>
          <a:noFill/>
        </p:spPr>
        <p:txBody>
          <a:bodyPr wrap="none" lIns="0" rIns="0" tIns="0" bIns="0" anchor="t">
            <a:spAutoFit/>
          </a:bodyPr>
          <a:lstStyle/>
          <a:p>
            <a:pPr algn="ctr">
              <a:lnSpc>
                <a:spcPct val="100000"/>
              </a:lnSpc>
              <a:spcAft>
                <a:spcPts val="0"/>
              </a:spcAft>
            </a:pPr>
            <a:r>
              <a:rPr sz="1050" b="0" i="0">
                <a:solidFill>
                  <a:srgbClr val="767576"/>
                </a:solidFill>
                <a:latin typeface="Arial"/>
              </a:rPr>
              <a:t>Macro</a:t>
            </a:r>
          </a:p>
        </p:txBody>
      </p:sp>
      <p:cxnSp>
        <p:nvCxnSpPr>
          <p:cNvPr id="11" name="Connector 10"/>
          <p:cNvCxnSpPr/>
          <p:nvPr/>
        </p:nvCxnSpPr>
        <p:spPr>
          <a:xfrm>
            <a:off x="374904" y="640080"/>
            <a:ext cx="11441887" cy="0"/>
          </a:xfrm>
          <a:prstGeom prst="line">
            <a:avLst/>
          </a:prstGeom>
          <a:ln w="9525">
            <a:solidFill>
              <a:srgbClr val="00000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374904" y="786384"/>
            <a:ext cx="11441887" cy="457200"/>
          </a:xfrm>
          <a:prstGeom prst="rect">
            <a:avLst/>
          </a:prstGeom>
          <a:noFill/>
        </p:spPr>
        <p:txBody>
          <a:bodyPr wrap="none" lIns="0" rIns="0" tIns="0" bIns="0" anchor="t">
            <a:spAutoFit/>
          </a:bodyPr>
          <a:lstStyle/>
          <a:p>
            <a:pPr algn="l">
              <a:lnSpc>
                <a:spcPct val="100000"/>
              </a:lnSpc>
              <a:spcAft>
                <a:spcPts val="0"/>
              </a:spcAft>
            </a:pPr>
            <a:r>
              <a:rPr sz="2600" b="0" i="0">
                <a:solidFill>
                  <a:srgbClr val="000000"/>
                </a:solidFill>
                <a:latin typeface="Arial"/>
              </a:rPr>
              <a:t>Two positions, six states, one shared failure</a:t>
            </a:r>
          </a:p>
        </p:txBody>
      </p:sp>
      <p:sp>
        <p:nvSpPr>
          <p:cNvPr id="13" name="TextBox 12"/>
          <p:cNvSpPr txBox="1"/>
          <p:nvPr/>
        </p:nvSpPr>
        <p:spPr>
          <a:xfrm>
            <a:off x="374904" y="1261872"/>
            <a:ext cx="11441887" cy="310896"/>
          </a:xfrm>
          <a:prstGeom prst="rect">
            <a:avLst/>
          </a:prstGeom>
          <a:noFill/>
        </p:spPr>
        <p:txBody>
          <a:bodyPr wrap="square" lIns="0" rIns="0" tIns="0" bIns="0" anchor="t">
            <a:spAutoFit/>
          </a:bodyPr>
          <a:lstStyle/>
          <a:p>
            <a:pPr algn="l">
              <a:lnSpc>
                <a:spcPct val="115000"/>
              </a:lnSpc>
              <a:spcAft>
                <a:spcPts val="0"/>
              </a:spcAft>
            </a:pPr>
            <a:r>
              <a:rPr sz="1300" b="0" i="0">
                <a:solidFill>
                  <a:srgbClr val="767576"/>
                </a:solidFill>
                <a:latin typeface="Arial"/>
              </a:rPr>
              <a:t>The policy drivers are independent. The risk-appetite exposure is not, and the last row is the one to say out loud.</a:t>
            </a:r>
          </a:p>
        </p:txBody>
      </p:sp>
      <p:sp>
        <p:nvSpPr>
          <p:cNvPr id="14" name="TextBox 13"/>
          <p:cNvSpPr txBox="1"/>
          <p:nvPr/>
        </p:nvSpPr>
        <p:spPr>
          <a:xfrm>
            <a:off x="11268151" y="6537960"/>
            <a:ext cx="548640" cy="201168"/>
          </a:xfrm>
          <a:prstGeom prst="rect">
            <a:avLst/>
          </a:prstGeom>
          <a:noFill/>
        </p:spPr>
        <p:txBody>
          <a:bodyPr wrap="none" lIns="0" rIns="0" tIns="0" bIns="0" anchor="t">
            <a:spAutoFit/>
          </a:bodyPr>
          <a:lstStyle/>
          <a:p>
            <a:pPr algn="r">
              <a:lnSpc>
                <a:spcPct val="100000"/>
              </a:lnSpc>
              <a:spcAft>
                <a:spcPts val="0"/>
              </a:spcAft>
            </a:pPr>
            <a:r>
              <a:rPr sz="800" b="0" i="0">
                <a:solidFill>
                  <a:srgbClr val="767576"/>
                </a:solidFill>
                <a:latin typeface="Arial"/>
              </a:rPr>
              <a:t>2</a:t>
            </a:r>
          </a:p>
        </p:txBody>
      </p:sp>
      <p:sp>
        <p:nvSpPr>
          <p:cNvPr id="15" name="TextBox 14"/>
          <p:cNvSpPr txBox="1"/>
          <p:nvPr/>
        </p:nvSpPr>
        <p:spPr>
          <a:xfrm>
            <a:off x="1563624" y="192024"/>
            <a:ext cx="5852160" cy="201168"/>
          </a:xfrm>
          <a:prstGeom prst="rect">
            <a:avLst/>
          </a:prstGeom>
          <a:noFill/>
        </p:spPr>
        <p:txBody>
          <a:bodyPr wrap="none" lIns="0" rIns="0" tIns="0" bIns="0" anchor="t">
            <a:spAutoFit/>
          </a:bodyPr>
          <a:lstStyle/>
          <a:p>
            <a:pPr algn="l">
              <a:lnSpc>
                <a:spcPct val="100000"/>
              </a:lnSpc>
              <a:spcAft>
                <a:spcPts val="0"/>
              </a:spcAft>
            </a:pPr>
            <a:r>
              <a:rPr sz="800" b="0" i="0">
                <a:solidFill>
                  <a:srgbClr val="767576"/>
                </a:solidFill>
                <a:latin typeface="Arial"/>
              </a:rPr>
              <a:t>Prototype — MoF curve to 31-Jul-26 · trade figures from the slide 8 model · not for the room</a:t>
            </a:r>
          </a:p>
        </p:txBody>
      </p:sp>
      <p:sp>
        <p:nvSpPr>
          <p:cNvPr id="16" name="Rectangle 15"/>
          <p:cNvSpPr/>
          <p:nvPr/>
        </p:nvSpPr>
        <p:spPr>
          <a:xfrm>
            <a:off x="374904" y="1700784"/>
            <a:ext cx="11441887" cy="274320"/>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66344" y="1746504"/>
            <a:ext cx="4937759" cy="219456"/>
          </a:xfrm>
          <a:prstGeom prst="rect">
            <a:avLst/>
          </a:prstGeom>
          <a:noFill/>
        </p:spPr>
        <p:txBody>
          <a:bodyPr wrap="none" lIns="0" rIns="0" tIns="0" bIns="0" anchor="t">
            <a:spAutoFit/>
          </a:bodyPr>
          <a:lstStyle/>
          <a:p>
            <a:pPr algn="l">
              <a:lnSpc>
                <a:spcPct val="100000"/>
              </a:lnSpc>
              <a:spcAft>
                <a:spcPts val="0"/>
              </a:spcAft>
            </a:pPr>
            <a:r>
              <a:rPr sz="1000" b="1" i="0">
                <a:solidFill>
                  <a:srgbClr val="FFFFFF"/>
                </a:solidFill>
                <a:latin typeface="Arial"/>
              </a:rPr>
              <a:t>State</a:t>
            </a:r>
          </a:p>
        </p:txBody>
      </p:sp>
      <p:sp>
        <p:nvSpPr>
          <p:cNvPr id="18" name="TextBox 17"/>
          <p:cNvSpPr txBox="1"/>
          <p:nvPr/>
        </p:nvSpPr>
        <p:spPr>
          <a:xfrm>
            <a:off x="5495544" y="1746504"/>
            <a:ext cx="2011680" cy="219456"/>
          </a:xfrm>
          <a:prstGeom prst="rect">
            <a:avLst/>
          </a:prstGeom>
          <a:noFill/>
        </p:spPr>
        <p:txBody>
          <a:bodyPr wrap="none" lIns="0" rIns="0" tIns="0" bIns="0" anchor="t">
            <a:spAutoFit/>
          </a:bodyPr>
          <a:lstStyle/>
          <a:p>
            <a:pPr algn="ctr">
              <a:lnSpc>
                <a:spcPct val="100000"/>
              </a:lnSpc>
              <a:spcAft>
                <a:spcPts val="0"/>
              </a:spcAft>
            </a:pPr>
            <a:r>
              <a:rPr sz="1000" b="1" i="0">
                <a:solidFill>
                  <a:srgbClr val="FFFFFF"/>
                </a:solidFill>
                <a:latin typeface="Arial"/>
              </a:rPr>
              <a:t>Long CATL, 3750 HK</a:t>
            </a:r>
          </a:p>
        </p:txBody>
      </p:sp>
      <p:sp>
        <p:nvSpPr>
          <p:cNvPr id="19" name="TextBox 18"/>
          <p:cNvSpPr txBox="1"/>
          <p:nvPr/>
        </p:nvSpPr>
        <p:spPr>
          <a:xfrm>
            <a:off x="7735824" y="1746504"/>
            <a:ext cx="3989527" cy="219456"/>
          </a:xfrm>
          <a:prstGeom prst="rect">
            <a:avLst/>
          </a:prstGeom>
          <a:noFill/>
        </p:spPr>
        <p:txBody>
          <a:bodyPr wrap="none" lIns="0" rIns="0" tIns="0" bIns="0" anchor="t">
            <a:spAutoFit/>
          </a:bodyPr>
          <a:lstStyle/>
          <a:p>
            <a:pPr algn="l">
              <a:lnSpc>
                <a:spcPct val="100000"/>
              </a:lnSpc>
              <a:spcAft>
                <a:spcPts val="0"/>
              </a:spcAft>
            </a:pPr>
            <a:r>
              <a:rPr sz="1000" b="1" i="0">
                <a:solidFill>
                  <a:srgbClr val="FFFFFF"/>
                </a:solidFill>
                <a:latin typeface="Arial"/>
              </a:rPr>
              <a:t>JGB 2s10s bear steepener</a:t>
            </a:r>
          </a:p>
        </p:txBody>
      </p:sp>
      <p:sp>
        <p:nvSpPr>
          <p:cNvPr id="20" name="TextBox 19"/>
          <p:cNvSpPr txBox="1"/>
          <p:nvPr/>
        </p:nvSpPr>
        <p:spPr>
          <a:xfrm>
            <a:off x="466344" y="2048256"/>
            <a:ext cx="4901183" cy="384048"/>
          </a:xfrm>
          <a:prstGeom prst="rect">
            <a:avLst/>
          </a:prstGeom>
          <a:noFill/>
        </p:spPr>
        <p:txBody>
          <a:bodyPr wrap="square" lIns="0" rIns="0" tIns="0" bIns="0" anchor="t">
            <a:spAutoFit/>
          </a:bodyPr>
          <a:lstStyle/>
          <a:p>
            <a:pPr algn="l">
              <a:lnSpc>
                <a:spcPct val="114000"/>
              </a:lnSpc>
              <a:spcAft>
                <a:spcPts val="0"/>
              </a:spcAft>
            </a:pPr>
            <a:r>
              <a:rPr sz="1050" b="0" i="0">
                <a:solidFill>
                  <a:srgbClr val="000000"/>
                </a:solidFill>
                <a:latin typeface="Arial"/>
              </a:rPr>
              <a:t>BoJ delivers September and December, long-end supply persists</a:t>
            </a:r>
          </a:p>
        </p:txBody>
      </p:sp>
      <p:sp>
        <p:nvSpPr>
          <p:cNvPr id="21" name="Rectangle 20"/>
          <p:cNvSpPr/>
          <p:nvPr/>
        </p:nvSpPr>
        <p:spPr>
          <a:xfrm>
            <a:off x="6021324" y="2093976"/>
            <a:ext cx="960120" cy="256032"/>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021324" y="2130552"/>
            <a:ext cx="960120" cy="219456"/>
          </a:xfrm>
          <a:prstGeom prst="rect">
            <a:avLst/>
          </a:prstGeom>
          <a:noFill/>
        </p:spPr>
        <p:txBody>
          <a:bodyPr wrap="none" lIns="0" rIns="0" tIns="0" bIns="0" anchor="t">
            <a:spAutoFit/>
          </a:bodyPr>
          <a:lstStyle/>
          <a:p>
            <a:pPr algn="ctr">
              <a:lnSpc>
                <a:spcPct val="100000"/>
              </a:lnSpc>
              <a:spcAft>
                <a:spcPts val="0"/>
              </a:spcAft>
            </a:pPr>
            <a:r>
              <a:rPr sz="950" b="1" i="0">
                <a:solidFill>
                  <a:srgbClr val="000000"/>
                </a:solidFill>
                <a:latin typeface="Arial"/>
              </a:rPr>
              <a:t>Neutral</a:t>
            </a:r>
          </a:p>
        </p:txBody>
      </p:sp>
      <p:sp>
        <p:nvSpPr>
          <p:cNvPr id="23" name="Rectangle 22"/>
          <p:cNvSpPr/>
          <p:nvPr/>
        </p:nvSpPr>
        <p:spPr>
          <a:xfrm>
            <a:off x="7735824" y="2093976"/>
            <a:ext cx="960120" cy="256032"/>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735824" y="2130552"/>
            <a:ext cx="960120" cy="219456"/>
          </a:xfrm>
          <a:prstGeom prst="rect">
            <a:avLst/>
          </a:prstGeom>
          <a:noFill/>
        </p:spPr>
        <p:txBody>
          <a:bodyPr wrap="none" lIns="0" rIns="0" tIns="0" bIns="0" anchor="t">
            <a:spAutoFit/>
          </a:bodyPr>
          <a:lstStyle/>
          <a:p>
            <a:pPr algn="ctr">
              <a:lnSpc>
                <a:spcPct val="100000"/>
              </a:lnSpc>
              <a:spcAft>
                <a:spcPts val="0"/>
              </a:spcAft>
            </a:pPr>
            <a:r>
              <a:rPr sz="950" b="1" i="0">
                <a:solidFill>
                  <a:srgbClr val="FFFFFF"/>
                </a:solidFill>
                <a:latin typeface="Arial"/>
              </a:rPr>
              <a:t>Pays</a:t>
            </a:r>
          </a:p>
        </p:txBody>
      </p:sp>
      <p:sp>
        <p:nvSpPr>
          <p:cNvPr id="25" name="TextBox 24"/>
          <p:cNvSpPr txBox="1"/>
          <p:nvPr/>
        </p:nvSpPr>
        <p:spPr>
          <a:xfrm>
            <a:off x="8796528" y="2130552"/>
            <a:ext cx="2928823" cy="219456"/>
          </a:xfrm>
          <a:prstGeom prst="rect">
            <a:avLst/>
          </a:prstGeom>
          <a:noFill/>
        </p:spPr>
        <p:txBody>
          <a:bodyPr wrap="none" lIns="0" rIns="0" tIns="0" bIns="0" anchor="t">
            <a:spAutoFit/>
          </a:bodyPr>
          <a:lstStyle/>
          <a:p>
            <a:pPr algn="l">
              <a:lnSpc>
                <a:spcPct val="100000"/>
              </a:lnSpc>
              <a:spcAft>
                <a:spcPts val="0"/>
              </a:spcAft>
            </a:pPr>
            <a:r>
              <a:rPr sz="900" b="0" i="0">
                <a:solidFill>
                  <a:srgbClr val="767576"/>
                </a:solidFill>
                <a:latin typeface="Arial"/>
              </a:rPr>
              <a:t>bear steepening</a:t>
            </a:r>
          </a:p>
        </p:txBody>
      </p:sp>
      <p:cxnSp>
        <p:nvCxnSpPr>
          <p:cNvPr id="26" name="Connector 25"/>
          <p:cNvCxnSpPr/>
          <p:nvPr/>
        </p:nvCxnSpPr>
        <p:spPr>
          <a:xfrm>
            <a:off x="374904" y="2487168"/>
            <a:ext cx="11441887" cy="0"/>
          </a:xfrm>
          <a:prstGeom prst="line">
            <a:avLst/>
          </a:prstGeom>
          <a:ln w="6350">
            <a:solidFill>
              <a:srgbClr val="D0CECE"/>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466344" y="2560320"/>
            <a:ext cx="4901183" cy="384048"/>
          </a:xfrm>
          <a:prstGeom prst="rect">
            <a:avLst/>
          </a:prstGeom>
          <a:noFill/>
        </p:spPr>
        <p:txBody>
          <a:bodyPr wrap="square" lIns="0" rIns="0" tIns="0" bIns="0" anchor="t">
            <a:spAutoFit/>
          </a:bodyPr>
          <a:lstStyle/>
          <a:p>
            <a:pPr algn="l">
              <a:lnSpc>
                <a:spcPct val="114000"/>
              </a:lnSpc>
              <a:spcAft>
                <a:spcPts val="0"/>
              </a:spcAft>
            </a:pPr>
            <a:r>
              <a:rPr sz="1050" b="0" i="0">
                <a:solidFill>
                  <a:srgbClr val="000000"/>
                </a:solidFill>
                <a:latin typeface="Arial"/>
              </a:rPr>
              <a:t>BoJ pauses on the terms-of-trade squeeze</a:t>
            </a:r>
          </a:p>
        </p:txBody>
      </p:sp>
      <p:sp>
        <p:nvSpPr>
          <p:cNvPr id="28" name="Rectangle 27"/>
          <p:cNvSpPr/>
          <p:nvPr/>
        </p:nvSpPr>
        <p:spPr>
          <a:xfrm>
            <a:off x="6021324" y="2606040"/>
            <a:ext cx="960120" cy="256032"/>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021324" y="2642616"/>
            <a:ext cx="960120" cy="219456"/>
          </a:xfrm>
          <a:prstGeom prst="rect">
            <a:avLst/>
          </a:prstGeom>
          <a:noFill/>
        </p:spPr>
        <p:txBody>
          <a:bodyPr wrap="none" lIns="0" rIns="0" tIns="0" bIns="0" anchor="t">
            <a:spAutoFit/>
          </a:bodyPr>
          <a:lstStyle/>
          <a:p>
            <a:pPr algn="ctr">
              <a:lnSpc>
                <a:spcPct val="100000"/>
              </a:lnSpc>
              <a:spcAft>
                <a:spcPts val="0"/>
              </a:spcAft>
            </a:pPr>
            <a:r>
              <a:rPr sz="950" b="1" i="0">
                <a:solidFill>
                  <a:srgbClr val="000000"/>
                </a:solidFill>
                <a:latin typeface="Arial"/>
              </a:rPr>
              <a:t>Neutral</a:t>
            </a:r>
          </a:p>
        </p:txBody>
      </p:sp>
      <p:sp>
        <p:nvSpPr>
          <p:cNvPr id="30" name="Rectangle 29"/>
          <p:cNvSpPr/>
          <p:nvPr/>
        </p:nvSpPr>
        <p:spPr>
          <a:xfrm>
            <a:off x="7735824" y="2606040"/>
            <a:ext cx="960120" cy="256032"/>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735824" y="2642616"/>
            <a:ext cx="960120" cy="219456"/>
          </a:xfrm>
          <a:prstGeom prst="rect">
            <a:avLst/>
          </a:prstGeom>
          <a:noFill/>
        </p:spPr>
        <p:txBody>
          <a:bodyPr wrap="none" lIns="0" rIns="0" tIns="0" bIns="0" anchor="t">
            <a:spAutoFit/>
          </a:bodyPr>
          <a:lstStyle/>
          <a:p>
            <a:pPr algn="ctr">
              <a:lnSpc>
                <a:spcPct val="100000"/>
              </a:lnSpc>
              <a:spcAft>
                <a:spcPts val="0"/>
              </a:spcAft>
            </a:pPr>
            <a:r>
              <a:rPr sz="950" b="1" i="0">
                <a:solidFill>
                  <a:srgbClr val="FFFFFF"/>
                </a:solidFill>
                <a:latin typeface="Arial"/>
              </a:rPr>
              <a:t>Pays</a:t>
            </a:r>
          </a:p>
        </p:txBody>
      </p:sp>
      <p:sp>
        <p:nvSpPr>
          <p:cNvPr id="32" name="TextBox 31"/>
          <p:cNvSpPr txBox="1"/>
          <p:nvPr/>
        </p:nvSpPr>
        <p:spPr>
          <a:xfrm>
            <a:off x="8796528" y="2642616"/>
            <a:ext cx="2928823" cy="219456"/>
          </a:xfrm>
          <a:prstGeom prst="rect">
            <a:avLst/>
          </a:prstGeom>
          <a:noFill/>
        </p:spPr>
        <p:txBody>
          <a:bodyPr wrap="none" lIns="0" rIns="0" tIns="0" bIns="0" anchor="t">
            <a:spAutoFit/>
          </a:bodyPr>
          <a:lstStyle/>
          <a:p>
            <a:pPr algn="l">
              <a:lnSpc>
                <a:spcPct val="100000"/>
              </a:lnSpc>
              <a:spcAft>
                <a:spcPts val="0"/>
              </a:spcAft>
            </a:pPr>
            <a:r>
              <a:rPr sz="900" b="0" i="0">
                <a:solidFill>
                  <a:srgbClr val="767576"/>
                </a:solidFill>
                <a:latin typeface="Arial"/>
              </a:rPr>
              <a:t>bull steepening, a 7% state</a:t>
            </a:r>
          </a:p>
        </p:txBody>
      </p:sp>
      <p:cxnSp>
        <p:nvCxnSpPr>
          <p:cNvPr id="33" name="Connector 32"/>
          <p:cNvCxnSpPr/>
          <p:nvPr/>
        </p:nvCxnSpPr>
        <p:spPr>
          <a:xfrm>
            <a:off x="374904" y="2999232"/>
            <a:ext cx="11441887" cy="0"/>
          </a:xfrm>
          <a:prstGeom prst="line">
            <a:avLst/>
          </a:prstGeom>
          <a:ln w="6350">
            <a:solidFill>
              <a:srgbClr val="D0CECE"/>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466344" y="3072384"/>
            <a:ext cx="4901183" cy="384048"/>
          </a:xfrm>
          <a:prstGeom prst="rect">
            <a:avLst/>
          </a:prstGeom>
          <a:noFill/>
        </p:spPr>
        <p:txBody>
          <a:bodyPr wrap="square" lIns="0" rIns="0" tIns="0" bIns="0" anchor="t">
            <a:spAutoFit/>
          </a:bodyPr>
          <a:lstStyle/>
          <a:p>
            <a:pPr algn="l">
              <a:lnSpc>
                <a:spcPct val="114000"/>
              </a:lnSpc>
              <a:spcAft>
                <a:spcPts val="0"/>
              </a:spcAft>
            </a:pPr>
            <a:r>
              <a:rPr sz="1050" b="0" i="0">
                <a:solidFill>
                  <a:srgbClr val="000000"/>
                </a:solidFill>
                <a:latin typeface="Arial"/>
              </a:rPr>
              <a:t>USD/JPY through 165, BoJ hikes to defend it</a:t>
            </a:r>
          </a:p>
        </p:txBody>
      </p:sp>
      <p:sp>
        <p:nvSpPr>
          <p:cNvPr id="35" name="Rectangle 34"/>
          <p:cNvSpPr/>
          <p:nvPr/>
        </p:nvSpPr>
        <p:spPr>
          <a:xfrm>
            <a:off x="6021324" y="3118104"/>
            <a:ext cx="960120" cy="256032"/>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021324" y="3154680"/>
            <a:ext cx="960120" cy="219456"/>
          </a:xfrm>
          <a:prstGeom prst="rect">
            <a:avLst/>
          </a:prstGeom>
          <a:noFill/>
        </p:spPr>
        <p:txBody>
          <a:bodyPr wrap="none" lIns="0" rIns="0" tIns="0" bIns="0" anchor="t">
            <a:spAutoFit/>
          </a:bodyPr>
          <a:lstStyle/>
          <a:p>
            <a:pPr algn="ctr">
              <a:lnSpc>
                <a:spcPct val="100000"/>
              </a:lnSpc>
              <a:spcAft>
                <a:spcPts val="0"/>
              </a:spcAft>
            </a:pPr>
            <a:r>
              <a:rPr sz="950" b="1" i="0">
                <a:solidFill>
                  <a:srgbClr val="000000"/>
                </a:solidFill>
                <a:latin typeface="Arial"/>
              </a:rPr>
              <a:t>Neutral</a:t>
            </a:r>
          </a:p>
        </p:txBody>
      </p:sp>
      <p:sp>
        <p:nvSpPr>
          <p:cNvPr id="37" name="Rectangle 36"/>
          <p:cNvSpPr/>
          <p:nvPr/>
        </p:nvSpPr>
        <p:spPr>
          <a:xfrm>
            <a:off x="7735824" y="3118104"/>
            <a:ext cx="960120" cy="256032"/>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7735824" y="3154680"/>
            <a:ext cx="960120" cy="219456"/>
          </a:xfrm>
          <a:prstGeom prst="rect">
            <a:avLst/>
          </a:prstGeom>
          <a:noFill/>
        </p:spPr>
        <p:txBody>
          <a:bodyPr wrap="none" lIns="0" rIns="0" tIns="0" bIns="0" anchor="t">
            <a:spAutoFit/>
          </a:bodyPr>
          <a:lstStyle/>
          <a:p>
            <a:pPr algn="ctr">
              <a:lnSpc>
                <a:spcPct val="100000"/>
              </a:lnSpc>
              <a:spcAft>
                <a:spcPts val="0"/>
              </a:spcAft>
            </a:pPr>
            <a:r>
              <a:rPr sz="950" b="1" i="0">
                <a:solidFill>
                  <a:srgbClr val="FFFFFF"/>
                </a:solidFill>
                <a:latin typeface="Arial"/>
              </a:rPr>
              <a:t>Loses</a:t>
            </a:r>
          </a:p>
        </p:txBody>
      </p:sp>
      <p:sp>
        <p:nvSpPr>
          <p:cNvPr id="39" name="TextBox 38"/>
          <p:cNvSpPr txBox="1"/>
          <p:nvPr/>
        </p:nvSpPr>
        <p:spPr>
          <a:xfrm>
            <a:off x="8796528" y="3154680"/>
            <a:ext cx="2928823" cy="219456"/>
          </a:xfrm>
          <a:prstGeom prst="rect">
            <a:avLst/>
          </a:prstGeom>
          <a:noFill/>
        </p:spPr>
        <p:txBody>
          <a:bodyPr wrap="none" lIns="0" rIns="0" tIns="0" bIns="0" anchor="t">
            <a:spAutoFit/>
          </a:bodyPr>
          <a:lstStyle/>
          <a:p>
            <a:pPr algn="l">
              <a:lnSpc>
                <a:spcPct val="100000"/>
              </a:lnSpc>
              <a:spcAft>
                <a:spcPts val="0"/>
              </a:spcAft>
            </a:pPr>
            <a:r>
              <a:rPr sz="900" b="0" i="0">
                <a:solidFill>
                  <a:srgbClr val="767576"/>
                </a:solidFill>
                <a:latin typeface="Arial"/>
              </a:rPr>
              <a:t>bear flattener, −¥26.3m</a:t>
            </a:r>
          </a:p>
        </p:txBody>
      </p:sp>
      <p:cxnSp>
        <p:nvCxnSpPr>
          <p:cNvPr id="40" name="Connector 39"/>
          <p:cNvCxnSpPr/>
          <p:nvPr/>
        </p:nvCxnSpPr>
        <p:spPr>
          <a:xfrm>
            <a:off x="374904" y="3511296"/>
            <a:ext cx="11441887" cy="0"/>
          </a:xfrm>
          <a:prstGeom prst="line">
            <a:avLst/>
          </a:prstGeom>
          <a:ln w="6350">
            <a:solidFill>
              <a:srgbClr val="D0CECE"/>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466344" y="3584448"/>
            <a:ext cx="4901183" cy="384048"/>
          </a:xfrm>
          <a:prstGeom prst="rect">
            <a:avLst/>
          </a:prstGeom>
          <a:noFill/>
        </p:spPr>
        <p:txBody>
          <a:bodyPr wrap="square" lIns="0" rIns="0" tIns="0" bIns="0" anchor="t">
            <a:spAutoFit/>
          </a:bodyPr>
          <a:lstStyle/>
          <a:p>
            <a:pPr algn="l">
              <a:lnSpc>
                <a:spcPct val="114000"/>
              </a:lnSpc>
              <a:spcAft>
                <a:spcPts val="0"/>
              </a:spcAft>
            </a:pPr>
            <a:r>
              <a:rPr sz="1050" b="0" i="0">
                <a:solidFill>
                  <a:srgbClr val="000000"/>
                </a:solidFill>
                <a:latin typeface="Arial"/>
              </a:rPr>
              <a:t>Commerce Entity List designation</a:t>
            </a:r>
          </a:p>
        </p:txBody>
      </p:sp>
      <p:sp>
        <p:nvSpPr>
          <p:cNvPr id="42" name="Rectangle 41"/>
          <p:cNvSpPr/>
          <p:nvPr/>
        </p:nvSpPr>
        <p:spPr>
          <a:xfrm>
            <a:off x="6021324" y="3630168"/>
            <a:ext cx="960120" cy="256032"/>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6021324" y="3666744"/>
            <a:ext cx="960120" cy="219456"/>
          </a:xfrm>
          <a:prstGeom prst="rect">
            <a:avLst/>
          </a:prstGeom>
          <a:noFill/>
        </p:spPr>
        <p:txBody>
          <a:bodyPr wrap="none" lIns="0" rIns="0" tIns="0" bIns="0" anchor="t">
            <a:spAutoFit/>
          </a:bodyPr>
          <a:lstStyle/>
          <a:p>
            <a:pPr algn="ctr">
              <a:lnSpc>
                <a:spcPct val="100000"/>
              </a:lnSpc>
              <a:spcAft>
                <a:spcPts val="0"/>
              </a:spcAft>
            </a:pPr>
            <a:r>
              <a:rPr sz="950" b="1" i="0">
                <a:solidFill>
                  <a:srgbClr val="FFFFFF"/>
                </a:solidFill>
                <a:latin typeface="Arial"/>
              </a:rPr>
              <a:t>Loses</a:t>
            </a:r>
          </a:p>
        </p:txBody>
      </p:sp>
      <p:sp>
        <p:nvSpPr>
          <p:cNvPr id="44" name="Rectangle 43"/>
          <p:cNvSpPr/>
          <p:nvPr/>
        </p:nvSpPr>
        <p:spPr>
          <a:xfrm>
            <a:off x="7735824" y="3630168"/>
            <a:ext cx="960120" cy="256032"/>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7735824" y="3666744"/>
            <a:ext cx="960120" cy="219456"/>
          </a:xfrm>
          <a:prstGeom prst="rect">
            <a:avLst/>
          </a:prstGeom>
          <a:noFill/>
        </p:spPr>
        <p:txBody>
          <a:bodyPr wrap="none" lIns="0" rIns="0" tIns="0" bIns="0" anchor="t">
            <a:spAutoFit/>
          </a:bodyPr>
          <a:lstStyle/>
          <a:p>
            <a:pPr algn="ctr">
              <a:lnSpc>
                <a:spcPct val="100000"/>
              </a:lnSpc>
              <a:spcAft>
                <a:spcPts val="0"/>
              </a:spcAft>
            </a:pPr>
            <a:r>
              <a:rPr sz="950" b="1" i="0">
                <a:solidFill>
                  <a:srgbClr val="000000"/>
                </a:solidFill>
                <a:latin typeface="Arial"/>
              </a:rPr>
              <a:t>Neutral</a:t>
            </a:r>
          </a:p>
        </p:txBody>
      </p:sp>
      <p:cxnSp>
        <p:nvCxnSpPr>
          <p:cNvPr id="46" name="Connector 45"/>
          <p:cNvCxnSpPr/>
          <p:nvPr/>
        </p:nvCxnSpPr>
        <p:spPr>
          <a:xfrm>
            <a:off x="374904" y="4023360"/>
            <a:ext cx="11441887" cy="0"/>
          </a:xfrm>
          <a:prstGeom prst="line">
            <a:avLst/>
          </a:prstGeom>
          <a:ln w="6350">
            <a:solidFill>
              <a:srgbClr val="D0CECE"/>
            </a:solidFill>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466344" y="4096512"/>
            <a:ext cx="4901183" cy="384048"/>
          </a:xfrm>
          <a:prstGeom prst="rect">
            <a:avLst/>
          </a:prstGeom>
          <a:noFill/>
        </p:spPr>
        <p:txBody>
          <a:bodyPr wrap="square" lIns="0" rIns="0" tIns="0" bIns="0" anchor="t">
            <a:spAutoFit/>
          </a:bodyPr>
          <a:lstStyle/>
          <a:p>
            <a:pPr algn="l">
              <a:lnSpc>
                <a:spcPct val="114000"/>
              </a:lnSpc>
              <a:spcAft>
                <a:spcPts val="0"/>
              </a:spcAft>
            </a:pPr>
            <a:r>
              <a:rPr sz="1050" b="0" i="0">
                <a:solidFill>
                  <a:srgbClr val="000000"/>
                </a:solidFill>
                <a:latin typeface="Arial"/>
              </a:rPr>
              <a:t>Storage order book confirms, Western OEM programme lands</a:t>
            </a:r>
          </a:p>
        </p:txBody>
      </p:sp>
      <p:sp>
        <p:nvSpPr>
          <p:cNvPr id="48" name="Rectangle 47"/>
          <p:cNvSpPr/>
          <p:nvPr/>
        </p:nvSpPr>
        <p:spPr>
          <a:xfrm>
            <a:off x="6021324" y="4142232"/>
            <a:ext cx="960120" cy="256032"/>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6021324" y="4178808"/>
            <a:ext cx="960120" cy="219456"/>
          </a:xfrm>
          <a:prstGeom prst="rect">
            <a:avLst/>
          </a:prstGeom>
          <a:noFill/>
        </p:spPr>
        <p:txBody>
          <a:bodyPr wrap="none" lIns="0" rIns="0" tIns="0" bIns="0" anchor="t">
            <a:spAutoFit/>
          </a:bodyPr>
          <a:lstStyle/>
          <a:p>
            <a:pPr algn="ctr">
              <a:lnSpc>
                <a:spcPct val="100000"/>
              </a:lnSpc>
              <a:spcAft>
                <a:spcPts val="0"/>
              </a:spcAft>
            </a:pPr>
            <a:r>
              <a:rPr sz="950" b="1" i="0">
                <a:solidFill>
                  <a:srgbClr val="FFFFFF"/>
                </a:solidFill>
                <a:latin typeface="Arial"/>
              </a:rPr>
              <a:t>Pays</a:t>
            </a:r>
          </a:p>
        </p:txBody>
      </p:sp>
      <p:sp>
        <p:nvSpPr>
          <p:cNvPr id="50" name="Rectangle 49"/>
          <p:cNvSpPr/>
          <p:nvPr/>
        </p:nvSpPr>
        <p:spPr>
          <a:xfrm>
            <a:off x="7735824" y="4142232"/>
            <a:ext cx="960120" cy="256032"/>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7735824" y="4178808"/>
            <a:ext cx="960120" cy="219456"/>
          </a:xfrm>
          <a:prstGeom prst="rect">
            <a:avLst/>
          </a:prstGeom>
          <a:noFill/>
        </p:spPr>
        <p:txBody>
          <a:bodyPr wrap="none" lIns="0" rIns="0" tIns="0" bIns="0" anchor="t">
            <a:spAutoFit/>
          </a:bodyPr>
          <a:lstStyle/>
          <a:p>
            <a:pPr algn="ctr">
              <a:lnSpc>
                <a:spcPct val="100000"/>
              </a:lnSpc>
              <a:spcAft>
                <a:spcPts val="0"/>
              </a:spcAft>
            </a:pPr>
            <a:r>
              <a:rPr sz="950" b="1" i="0">
                <a:solidFill>
                  <a:srgbClr val="000000"/>
                </a:solidFill>
                <a:latin typeface="Arial"/>
              </a:rPr>
              <a:t>Neutral</a:t>
            </a:r>
          </a:p>
        </p:txBody>
      </p:sp>
      <p:cxnSp>
        <p:nvCxnSpPr>
          <p:cNvPr id="52" name="Connector 51"/>
          <p:cNvCxnSpPr/>
          <p:nvPr/>
        </p:nvCxnSpPr>
        <p:spPr>
          <a:xfrm>
            <a:off x="374904" y="4535424"/>
            <a:ext cx="11441887" cy="0"/>
          </a:xfrm>
          <a:prstGeom prst="line">
            <a:avLst/>
          </a:prstGeom>
          <a:ln w="6350">
            <a:solidFill>
              <a:srgbClr val="D0CECE"/>
            </a:solidFill>
          </a:ln>
        </p:spPr>
        <p:style>
          <a:lnRef idx="2">
            <a:schemeClr val="accent1"/>
          </a:lnRef>
          <a:fillRef idx="0">
            <a:schemeClr val="accent1"/>
          </a:fillRef>
          <a:effectRef idx="1">
            <a:schemeClr val="accent1"/>
          </a:effectRef>
          <a:fontRef idx="minor">
            <a:schemeClr val="tx1"/>
          </a:fontRef>
        </p:style>
      </p:cxnSp>
      <p:sp>
        <p:nvSpPr>
          <p:cNvPr id="53" name="Rectangle 52"/>
          <p:cNvSpPr/>
          <p:nvPr/>
        </p:nvSpPr>
        <p:spPr>
          <a:xfrm>
            <a:off x="374904" y="4535424"/>
            <a:ext cx="11441887" cy="512064"/>
          </a:xfrm>
          <a:prstGeom prst="rect">
            <a:avLst/>
          </a:prstGeom>
          <a:solidFill>
            <a:srgbClr val="FADF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Box 53"/>
          <p:cNvSpPr txBox="1"/>
          <p:nvPr/>
        </p:nvSpPr>
        <p:spPr>
          <a:xfrm>
            <a:off x="466344" y="4608576"/>
            <a:ext cx="4901183" cy="384048"/>
          </a:xfrm>
          <a:prstGeom prst="rect">
            <a:avLst/>
          </a:prstGeom>
          <a:noFill/>
        </p:spPr>
        <p:txBody>
          <a:bodyPr wrap="square" lIns="0" rIns="0" tIns="0" bIns="0" anchor="t">
            <a:spAutoFit/>
          </a:bodyPr>
          <a:lstStyle/>
          <a:p>
            <a:pPr algn="l">
              <a:lnSpc>
                <a:spcPct val="114000"/>
              </a:lnSpc>
              <a:spcAft>
                <a:spcPts val="0"/>
              </a:spcAft>
            </a:pPr>
            <a:r>
              <a:rPr sz="1050" b="1" i="0">
                <a:solidFill>
                  <a:srgbClr val="000000"/>
                </a:solidFill>
                <a:latin typeface="Arial"/>
              </a:rPr>
              <a:t>Global flight to quality</a:t>
            </a:r>
          </a:p>
        </p:txBody>
      </p:sp>
      <p:sp>
        <p:nvSpPr>
          <p:cNvPr id="55" name="Rectangle 54"/>
          <p:cNvSpPr/>
          <p:nvPr/>
        </p:nvSpPr>
        <p:spPr>
          <a:xfrm>
            <a:off x="6021324" y="4654296"/>
            <a:ext cx="960120" cy="256032"/>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6021324" y="4690872"/>
            <a:ext cx="960120" cy="219456"/>
          </a:xfrm>
          <a:prstGeom prst="rect">
            <a:avLst/>
          </a:prstGeom>
          <a:noFill/>
        </p:spPr>
        <p:txBody>
          <a:bodyPr wrap="none" lIns="0" rIns="0" tIns="0" bIns="0" anchor="t">
            <a:spAutoFit/>
          </a:bodyPr>
          <a:lstStyle/>
          <a:p>
            <a:pPr algn="ctr">
              <a:lnSpc>
                <a:spcPct val="100000"/>
              </a:lnSpc>
              <a:spcAft>
                <a:spcPts val="0"/>
              </a:spcAft>
            </a:pPr>
            <a:r>
              <a:rPr sz="950" b="1" i="0">
                <a:solidFill>
                  <a:srgbClr val="FFFFFF"/>
                </a:solidFill>
                <a:latin typeface="Arial"/>
              </a:rPr>
              <a:t>Loses</a:t>
            </a:r>
          </a:p>
        </p:txBody>
      </p:sp>
      <p:sp>
        <p:nvSpPr>
          <p:cNvPr id="57" name="Rectangle 56"/>
          <p:cNvSpPr/>
          <p:nvPr/>
        </p:nvSpPr>
        <p:spPr>
          <a:xfrm>
            <a:off x="7735824" y="4654296"/>
            <a:ext cx="960120" cy="256032"/>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Box 57"/>
          <p:cNvSpPr txBox="1"/>
          <p:nvPr/>
        </p:nvSpPr>
        <p:spPr>
          <a:xfrm>
            <a:off x="7735824" y="4690872"/>
            <a:ext cx="960120" cy="219456"/>
          </a:xfrm>
          <a:prstGeom prst="rect">
            <a:avLst/>
          </a:prstGeom>
          <a:noFill/>
        </p:spPr>
        <p:txBody>
          <a:bodyPr wrap="none" lIns="0" rIns="0" tIns="0" bIns="0" anchor="t">
            <a:spAutoFit/>
          </a:bodyPr>
          <a:lstStyle/>
          <a:p>
            <a:pPr algn="ctr">
              <a:lnSpc>
                <a:spcPct val="100000"/>
              </a:lnSpc>
              <a:spcAft>
                <a:spcPts val="0"/>
              </a:spcAft>
            </a:pPr>
            <a:r>
              <a:rPr sz="950" b="1" i="0">
                <a:solidFill>
                  <a:srgbClr val="FFFFFF"/>
                </a:solidFill>
                <a:latin typeface="Arial"/>
              </a:rPr>
              <a:t>Loses</a:t>
            </a:r>
          </a:p>
        </p:txBody>
      </p:sp>
      <p:sp>
        <p:nvSpPr>
          <p:cNvPr id="59" name="TextBox 58"/>
          <p:cNvSpPr txBox="1"/>
          <p:nvPr/>
        </p:nvSpPr>
        <p:spPr>
          <a:xfrm>
            <a:off x="8796528" y="4690872"/>
            <a:ext cx="2928823" cy="219456"/>
          </a:xfrm>
          <a:prstGeom prst="rect">
            <a:avLst/>
          </a:prstGeom>
          <a:noFill/>
        </p:spPr>
        <p:txBody>
          <a:bodyPr wrap="none" lIns="0" rIns="0" tIns="0" bIns="0" anchor="t">
            <a:spAutoFit/>
          </a:bodyPr>
          <a:lstStyle/>
          <a:p>
            <a:pPr algn="l">
              <a:lnSpc>
                <a:spcPct val="100000"/>
              </a:lnSpc>
              <a:spcAft>
                <a:spcPts val="0"/>
              </a:spcAft>
            </a:pPr>
            <a:r>
              <a:rPr sz="900" b="0" i="0">
                <a:solidFill>
                  <a:srgbClr val="767576"/>
                </a:solidFill>
                <a:latin typeface="Arial"/>
              </a:rPr>
              <a:t>¥6.8m per 10bp of rally</a:t>
            </a:r>
          </a:p>
        </p:txBody>
      </p:sp>
      <p:cxnSp>
        <p:nvCxnSpPr>
          <p:cNvPr id="60" name="Connector 59"/>
          <p:cNvCxnSpPr/>
          <p:nvPr/>
        </p:nvCxnSpPr>
        <p:spPr>
          <a:xfrm>
            <a:off x="374904" y="5047488"/>
            <a:ext cx="11441887" cy="0"/>
          </a:xfrm>
          <a:prstGeom prst="line">
            <a:avLst/>
          </a:prstGeom>
          <a:ln w="9525">
            <a:solidFill>
              <a:srgbClr val="000000"/>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374904" y="5266944"/>
            <a:ext cx="7589520" cy="658368"/>
          </a:xfrm>
          <a:prstGeom prst="rect">
            <a:avLst/>
          </a:prstGeom>
          <a:noFill/>
        </p:spPr>
        <p:txBody>
          <a:bodyPr wrap="square" lIns="0" rIns="0" tIns="0" bIns="0" anchor="t">
            <a:spAutoFit/>
          </a:bodyPr>
          <a:lstStyle/>
          <a:p>
            <a:pPr algn="l">
              <a:lnSpc>
                <a:spcPct val="120000"/>
              </a:lnSpc>
              <a:spcAft>
                <a:spcPts val="0"/>
              </a:spcAft>
            </a:pPr>
            <a:r>
              <a:rPr sz="1000" b="1" i="0">
                <a:solidFill>
                  <a:srgbClr val="DB0011"/>
                </a:solidFill>
                <a:latin typeface="Arial"/>
              </a:rPr>
              <a:t>Five of six states hit one position and not the other. </a:t>
            </a:r>
            <a:r>
              <a:rPr sz="1000" b="0" i="0">
                <a:solidFill>
                  <a:srgbClr val="000000"/>
                </a:solidFill>
                <a:latin typeface="Arial"/>
              </a:rPr>
              <a:t>The column of neutrals is the argument, and it means the diversification does not have to be taken on trust. The sixth row is the one that is genuinely shared, and it is on the slide rather than in the answer to a question.</a:t>
            </a:r>
          </a:p>
        </p:txBody>
      </p:sp>
      <p:sp>
        <p:nvSpPr>
          <p:cNvPr id="62" name="Rectangle 61"/>
          <p:cNvSpPr/>
          <p:nvPr/>
        </p:nvSpPr>
        <p:spPr>
          <a:xfrm>
            <a:off x="8247888" y="5212080"/>
            <a:ext cx="3566160" cy="950976"/>
          </a:xfrm>
          <a:prstGeom prst="rect">
            <a:avLst/>
          </a:pr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Rectangle 62"/>
          <p:cNvSpPr/>
          <p:nvPr/>
        </p:nvSpPr>
        <p:spPr>
          <a:xfrm>
            <a:off x="8247888" y="5212080"/>
            <a:ext cx="41148" cy="950976"/>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TextBox 63"/>
          <p:cNvSpPr txBox="1"/>
          <p:nvPr/>
        </p:nvSpPr>
        <p:spPr>
          <a:xfrm>
            <a:off x="8467344" y="5285232"/>
            <a:ext cx="3218688" cy="804672"/>
          </a:xfrm>
          <a:prstGeom prst="rect">
            <a:avLst/>
          </a:prstGeom>
          <a:noFill/>
        </p:spPr>
        <p:txBody>
          <a:bodyPr wrap="square" lIns="0" rIns="0" tIns="0" bIns="0" anchor="t">
            <a:spAutoFit/>
          </a:bodyPr>
          <a:lstStyle/>
          <a:p>
            <a:pPr algn="l">
              <a:lnSpc>
                <a:spcPct val="118000"/>
              </a:lnSpc>
              <a:spcAft>
                <a:spcPts val="0"/>
              </a:spcAft>
            </a:pPr>
            <a:r>
              <a:rPr sz="900" b="1" i="0">
                <a:solidFill>
                  <a:srgbClr val="000000"/>
                </a:solidFill>
                <a:latin typeface="Arial"/>
              </a:rPr>
              <a:t>What replaces “no shared failure mode”: </a:t>
            </a:r>
            <a:r>
              <a:rPr sz="900" b="0" i="0">
                <a:solidFill>
                  <a:srgbClr val="000000"/>
                </a:solidFill>
                <a:latin typeface="Arial"/>
              </a:rPr>
              <a:t>the policy drivers are independent, and that is real diversification. The risk-appetite exposure is not, and slide 4 measures it.</a:t>
            </a:r>
          </a:p>
        </p:txBody>
      </p:sp>
      <p:sp>
        <p:nvSpPr>
          <p:cNvPr id="65" name="TextBox 64"/>
          <p:cNvSpPr txBox="1"/>
          <p:nvPr/>
        </p:nvSpPr>
        <p:spPr>
          <a:xfrm>
            <a:off x="374904" y="6455664"/>
            <a:ext cx="11441887" cy="274320"/>
          </a:xfrm>
          <a:prstGeom prst="rect">
            <a:avLst/>
          </a:prstGeom>
          <a:noFill/>
        </p:spPr>
        <p:txBody>
          <a:bodyPr wrap="square" lIns="0" rIns="0" tIns="0" bIns="0" anchor="t">
            <a:spAutoFit/>
          </a:bodyPr>
          <a:lstStyle/>
          <a:p>
            <a:pPr algn="l">
              <a:lnSpc>
                <a:spcPct val="110000"/>
              </a:lnSpc>
              <a:spcAft>
                <a:spcPts val="0"/>
              </a:spcAft>
            </a:pPr>
            <a:r>
              <a:rPr sz="800" b="0" i="0">
                <a:solidFill>
                  <a:srgbClr val="767576"/>
                </a:solidFill>
                <a:latin typeface="Arial"/>
              </a:rPr>
              <a:t>Rates states priced off the bootstrapped MoF curve at 31-Jul-26, per ¥1bn of back leg; the flight-to-quality figure is the mean rally-week move. CATL states are the §805 ladder on slide 5. Neutral means the position has no mechanical exposure to that state, not that the price cannot move.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Freeform 2"/>
          <p:cNvSpPr/>
          <p:nvPr/>
        </p:nvSpPr>
        <p:spPr>
          <a:xfrm>
            <a:off x="0" y="0"/>
            <a:ext cx="6095847" cy="6858000"/>
          </a:xfrm>
          <a:custGeom>
            <a:avLst/>
            <a:gdLst/>
            <a:ahLst/>
            <a:cxnLst/>
            <a:rect l="l" t="t" r="r" b="b"/>
            <a:pathLst>
              <a:path w="6095847" h="6858000">
                <a:moveTo>
                  <a:pt x="0" y="0"/>
                </a:moveTo>
                <a:lnTo>
                  <a:pt x="0" y="6858000"/>
                </a:lnTo>
                <a:lnTo>
                  <a:pt x="6095847" y="3429000"/>
                </a:lnTo>
                <a:close/>
              </a:path>
            </a:pathLst>
          </a:cu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6095847" y="0"/>
            <a:ext cx="6095848" cy="6858000"/>
          </a:xfrm>
          <a:custGeom>
            <a:avLst/>
            <a:gdLst/>
            <a:ahLst/>
            <a:cxnLst/>
            <a:rect l="l" t="t" r="r" b="b"/>
            <a:pathLst>
              <a:path w="6095848" h="6858000">
                <a:moveTo>
                  <a:pt x="6095848" y="0"/>
                </a:moveTo>
                <a:lnTo>
                  <a:pt x="6095848" y="6858000"/>
                </a:lnTo>
                <a:lnTo>
                  <a:pt x="0" y="3429000"/>
                </a:lnTo>
                <a:close/>
              </a:path>
            </a:pathLst>
          </a:cu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74904" y="182880"/>
            <a:ext cx="3657600" cy="219456"/>
          </a:xfrm>
          <a:prstGeom prst="rect">
            <a:avLst/>
          </a:prstGeom>
          <a:noFill/>
        </p:spPr>
        <p:txBody>
          <a:bodyPr wrap="none" lIns="0" rIns="0" tIns="0" bIns="0" anchor="t">
            <a:spAutoFit/>
          </a:bodyPr>
          <a:lstStyle/>
          <a:p>
            <a:pPr algn="l">
              <a:lnSpc>
                <a:spcPct val="100000"/>
              </a:lnSpc>
              <a:spcAft>
                <a:spcPts val="0"/>
              </a:spcAft>
            </a:pPr>
            <a:r>
              <a:rPr sz="1050" b="1" i="0">
                <a:solidFill>
                  <a:srgbClr val="000000"/>
                </a:solidFill>
                <a:latin typeface="Arial"/>
              </a:rPr>
              <a:t>Risks</a:t>
            </a:r>
          </a:p>
        </p:txBody>
      </p:sp>
      <p:sp>
        <p:nvSpPr>
          <p:cNvPr id="6" name="TextBox 5"/>
          <p:cNvSpPr txBox="1"/>
          <p:nvPr/>
        </p:nvSpPr>
        <p:spPr>
          <a:xfrm>
            <a:off x="11249863" y="265176"/>
            <a:ext cx="566927" cy="219456"/>
          </a:xfrm>
          <a:prstGeom prst="rect">
            <a:avLst/>
          </a:prstGeom>
          <a:noFill/>
        </p:spPr>
        <p:txBody>
          <a:bodyPr wrap="none" lIns="0" rIns="0" tIns="0" bIns="0" anchor="t">
            <a:spAutoFit/>
          </a:bodyPr>
          <a:lstStyle/>
          <a:p>
            <a:pPr algn="ctr">
              <a:lnSpc>
                <a:spcPct val="100000"/>
              </a:lnSpc>
              <a:spcAft>
                <a:spcPts val="0"/>
              </a:spcAft>
            </a:pPr>
            <a:r>
              <a:rPr sz="1050" b="1" i="0">
                <a:solidFill>
                  <a:srgbClr val="000000"/>
                </a:solidFill>
                <a:latin typeface="Arial"/>
              </a:rPr>
              <a:t>Risks</a:t>
            </a:r>
          </a:p>
        </p:txBody>
      </p:sp>
      <p:cxnSp>
        <p:nvCxnSpPr>
          <p:cNvPr id="7" name="Connector 6"/>
          <p:cNvCxnSpPr/>
          <p:nvPr/>
        </p:nvCxnSpPr>
        <p:spPr>
          <a:xfrm>
            <a:off x="11249863" y="512064"/>
            <a:ext cx="566928" cy="0"/>
          </a:xfrm>
          <a:prstGeom prst="line">
            <a:avLst/>
          </a:prstGeom>
          <a:ln w="25400">
            <a:solidFill>
              <a:srgbClr val="DB0011"/>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0401300" y="265176"/>
            <a:ext cx="647395" cy="219456"/>
          </a:xfrm>
          <a:prstGeom prst="rect">
            <a:avLst/>
          </a:prstGeom>
          <a:noFill/>
        </p:spPr>
        <p:txBody>
          <a:bodyPr wrap="none" lIns="0" rIns="0" tIns="0" bIns="0" anchor="t">
            <a:spAutoFit/>
          </a:bodyPr>
          <a:lstStyle/>
          <a:p>
            <a:pPr algn="ctr">
              <a:lnSpc>
                <a:spcPct val="100000"/>
              </a:lnSpc>
              <a:spcAft>
                <a:spcPts val="0"/>
              </a:spcAft>
            </a:pPr>
            <a:r>
              <a:rPr sz="1050" b="0" i="0">
                <a:solidFill>
                  <a:srgbClr val="767576"/>
                </a:solidFill>
                <a:latin typeface="Arial"/>
              </a:rPr>
              <a:t>Trades</a:t>
            </a:r>
          </a:p>
        </p:txBody>
      </p:sp>
      <p:sp>
        <p:nvSpPr>
          <p:cNvPr id="9" name="TextBox 8"/>
          <p:cNvSpPr txBox="1"/>
          <p:nvPr/>
        </p:nvSpPr>
        <p:spPr>
          <a:xfrm>
            <a:off x="9472269" y="265176"/>
            <a:ext cx="727862" cy="219456"/>
          </a:xfrm>
          <a:prstGeom prst="rect">
            <a:avLst/>
          </a:prstGeom>
          <a:noFill/>
        </p:spPr>
        <p:txBody>
          <a:bodyPr wrap="none" lIns="0" rIns="0" tIns="0" bIns="0" anchor="t">
            <a:spAutoFit/>
          </a:bodyPr>
          <a:lstStyle/>
          <a:p>
            <a:pPr algn="ctr">
              <a:lnSpc>
                <a:spcPct val="100000"/>
              </a:lnSpc>
              <a:spcAft>
                <a:spcPts val="0"/>
              </a:spcAft>
            </a:pPr>
            <a:r>
              <a:rPr sz="1050" b="0" i="0">
                <a:solidFill>
                  <a:srgbClr val="767576"/>
                </a:solidFill>
                <a:latin typeface="Arial"/>
              </a:rPr>
              <a:t>Markets</a:t>
            </a:r>
          </a:p>
        </p:txBody>
      </p:sp>
      <p:sp>
        <p:nvSpPr>
          <p:cNvPr id="10" name="TextBox 9"/>
          <p:cNvSpPr txBox="1"/>
          <p:nvPr/>
        </p:nvSpPr>
        <p:spPr>
          <a:xfrm>
            <a:off x="8704173" y="265176"/>
            <a:ext cx="566927" cy="219456"/>
          </a:xfrm>
          <a:prstGeom prst="rect">
            <a:avLst/>
          </a:prstGeom>
          <a:noFill/>
        </p:spPr>
        <p:txBody>
          <a:bodyPr wrap="none" lIns="0" rIns="0" tIns="0" bIns="0" anchor="t">
            <a:spAutoFit/>
          </a:bodyPr>
          <a:lstStyle/>
          <a:p>
            <a:pPr algn="ctr">
              <a:lnSpc>
                <a:spcPct val="100000"/>
              </a:lnSpc>
              <a:spcAft>
                <a:spcPts val="0"/>
              </a:spcAft>
            </a:pPr>
            <a:r>
              <a:rPr sz="1050" b="0" i="0">
                <a:solidFill>
                  <a:srgbClr val="767576"/>
                </a:solidFill>
                <a:latin typeface="Arial"/>
              </a:rPr>
              <a:t>Macro</a:t>
            </a:r>
          </a:p>
        </p:txBody>
      </p:sp>
      <p:cxnSp>
        <p:nvCxnSpPr>
          <p:cNvPr id="11" name="Connector 10"/>
          <p:cNvCxnSpPr/>
          <p:nvPr/>
        </p:nvCxnSpPr>
        <p:spPr>
          <a:xfrm>
            <a:off x="374904" y="640080"/>
            <a:ext cx="11441887" cy="0"/>
          </a:xfrm>
          <a:prstGeom prst="line">
            <a:avLst/>
          </a:prstGeom>
          <a:ln w="9525">
            <a:solidFill>
              <a:srgbClr val="00000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374904" y="786384"/>
            <a:ext cx="11441887" cy="457200"/>
          </a:xfrm>
          <a:prstGeom prst="rect">
            <a:avLst/>
          </a:prstGeom>
          <a:noFill/>
        </p:spPr>
        <p:txBody>
          <a:bodyPr wrap="none" lIns="0" rIns="0" tIns="0" bIns="0" anchor="t">
            <a:spAutoFit/>
          </a:bodyPr>
          <a:lstStyle/>
          <a:p>
            <a:pPr algn="l">
              <a:lnSpc>
                <a:spcPct val="100000"/>
              </a:lnSpc>
              <a:spcAft>
                <a:spcPts val="0"/>
              </a:spcAft>
            </a:pPr>
            <a:r>
              <a:rPr sz="2600" b="0" i="0">
                <a:solidFill>
                  <a:srgbClr val="000000"/>
                </a:solidFill>
                <a:latin typeface="Arial"/>
              </a:rPr>
              <a:t>Where the risk sits, and what the entry is worth</a:t>
            </a:r>
          </a:p>
        </p:txBody>
      </p:sp>
      <p:sp>
        <p:nvSpPr>
          <p:cNvPr id="13" name="TextBox 12"/>
          <p:cNvSpPr txBox="1"/>
          <p:nvPr/>
        </p:nvSpPr>
        <p:spPr>
          <a:xfrm>
            <a:off x="374904" y="1261872"/>
            <a:ext cx="11441887" cy="310896"/>
          </a:xfrm>
          <a:prstGeom prst="rect">
            <a:avLst/>
          </a:prstGeom>
          <a:noFill/>
        </p:spPr>
        <p:txBody>
          <a:bodyPr wrap="square" lIns="0" rIns="0" tIns="0" bIns="0" anchor="t">
            <a:spAutoFit/>
          </a:bodyPr>
          <a:lstStyle/>
          <a:p>
            <a:pPr algn="l">
              <a:lnSpc>
                <a:spcPct val="115000"/>
              </a:lnSpc>
              <a:spcAft>
                <a:spcPts val="0"/>
              </a:spcAft>
            </a:pPr>
            <a:r>
              <a:rPr sz="1300" b="0" i="0">
                <a:solidFill>
                  <a:srgbClr val="767576"/>
                </a:solidFill>
                <a:latin typeface="Arial"/>
              </a:rPr>
              <a:t>The position is slope, not duration. The largest single determinant of what it returns is not the rates view, it is the entry.</a:t>
            </a:r>
          </a:p>
        </p:txBody>
      </p:sp>
      <p:sp>
        <p:nvSpPr>
          <p:cNvPr id="14" name="TextBox 13"/>
          <p:cNvSpPr txBox="1"/>
          <p:nvPr/>
        </p:nvSpPr>
        <p:spPr>
          <a:xfrm>
            <a:off x="11268151" y="6537960"/>
            <a:ext cx="548640" cy="201168"/>
          </a:xfrm>
          <a:prstGeom prst="rect">
            <a:avLst/>
          </a:prstGeom>
          <a:noFill/>
        </p:spPr>
        <p:txBody>
          <a:bodyPr wrap="none" lIns="0" rIns="0" tIns="0" bIns="0" anchor="t">
            <a:spAutoFit/>
          </a:bodyPr>
          <a:lstStyle/>
          <a:p>
            <a:pPr algn="r">
              <a:lnSpc>
                <a:spcPct val="100000"/>
              </a:lnSpc>
              <a:spcAft>
                <a:spcPts val="0"/>
              </a:spcAft>
            </a:pPr>
            <a:r>
              <a:rPr sz="800" b="0" i="0">
                <a:solidFill>
                  <a:srgbClr val="767576"/>
                </a:solidFill>
                <a:latin typeface="Arial"/>
              </a:rPr>
              <a:t>3</a:t>
            </a:r>
          </a:p>
        </p:txBody>
      </p:sp>
      <p:sp>
        <p:nvSpPr>
          <p:cNvPr id="15" name="TextBox 14"/>
          <p:cNvSpPr txBox="1"/>
          <p:nvPr/>
        </p:nvSpPr>
        <p:spPr>
          <a:xfrm>
            <a:off x="1563624" y="192024"/>
            <a:ext cx="5852160" cy="201168"/>
          </a:xfrm>
          <a:prstGeom prst="rect">
            <a:avLst/>
          </a:prstGeom>
          <a:noFill/>
        </p:spPr>
        <p:txBody>
          <a:bodyPr wrap="none" lIns="0" rIns="0" tIns="0" bIns="0" anchor="t">
            <a:spAutoFit/>
          </a:bodyPr>
          <a:lstStyle/>
          <a:p>
            <a:pPr algn="l">
              <a:lnSpc>
                <a:spcPct val="100000"/>
              </a:lnSpc>
              <a:spcAft>
                <a:spcPts val="0"/>
              </a:spcAft>
            </a:pPr>
            <a:r>
              <a:rPr sz="800" b="0" i="0">
                <a:solidFill>
                  <a:srgbClr val="767576"/>
                </a:solidFill>
                <a:latin typeface="Arial"/>
              </a:rPr>
              <a:t>Prototype — MoF curve to 31-Jul-26 · trade figures from the slide 8 model · not for the room</a:t>
            </a:r>
          </a:p>
        </p:txBody>
      </p:sp>
      <p:sp>
        <p:nvSpPr>
          <p:cNvPr id="16" name="TextBox 15"/>
          <p:cNvSpPr txBox="1"/>
          <p:nvPr/>
        </p:nvSpPr>
        <p:spPr>
          <a:xfrm>
            <a:off x="374904" y="1700784"/>
            <a:ext cx="5532120" cy="237744"/>
          </a:xfrm>
          <a:prstGeom prst="rect">
            <a:avLst/>
          </a:prstGeom>
          <a:noFill/>
        </p:spPr>
        <p:txBody>
          <a:bodyPr wrap="none" lIns="0" rIns="0" tIns="0" bIns="0" anchor="t">
            <a:spAutoFit/>
          </a:bodyPr>
          <a:lstStyle/>
          <a:p>
            <a:pPr algn="l">
              <a:lnSpc>
                <a:spcPct val="100000"/>
              </a:lnSpc>
              <a:spcAft>
                <a:spcPts val="0"/>
              </a:spcAft>
            </a:pPr>
            <a:r>
              <a:rPr sz="1150" b="1" i="0">
                <a:solidFill>
                  <a:srgbClr val="000000"/>
                </a:solidFill>
                <a:latin typeface="Arial"/>
              </a:rPr>
              <a:t>Bucketed risk, % of the position's own DV01</a:t>
            </a:r>
          </a:p>
        </p:txBody>
      </p:sp>
      <p:sp>
        <p:nvSpPr>
          <p:cNvPr id="17" name="TextBox 16"/>
          <p:cNvSpPr txBox="1"/>
          <p:nvPr/>
        </p:nvSpPr>
        <p:spPr>
          <a:xfrm>
            <a:off x="374904" y="1938528"/>
            <a:ext cx="5532120" cy="402336"/>
          </a:xfrm>
          <a:prstGeom prst="rect">
            <a:avLst/>
          </a:prstGeom>
          <a:noFill/>
        </p:spPr>
        <p:txBody>
          <a:bodyPr wrap="square" lIns="0" rIns="0" tIns="0" bIns="0" anchor="t">
            <a:spAutoFit/>
          </a:bodyPr>
          <a:lstStyle/>
          <a:p>
            <a:pPr algn="l">
              <a:lnSpc>
                <a:spcPct val="115000"/>
              </a:lnSpc>
              <a:spcAft>
                <a:spcPts val="0"/>
              </a:spcAft>
            </a:pPr>
            <a:r>
              <a:rPr sz="900" b="0" i="0">
                <a:solidFill>
                  <a:srgbClr val="767576"/>
                </a:solidFill>
                <a:latin typeface="Arial"/>
              </a:rPr>
              <a:t>Each node's zero rate bumped 1bp on its own, every cashflow of both legs revalued, then divided by the position's DV01.</a:t>
            </a:r>
          </a:p>
        </p:txBody>
      </p:sp>
      <p:graphicFrame>
        <p:nvGraphicFramePr>
          <p:cNvPr id="18" name="Chart 17"/>
          <p:cNvGraphicFramePr>
            <a:graphicFrameLocks noGrp="1"/>
          </p:cNvGraphicFramePr>
          <p:nvPr/>
        </p:nvGraphicFramePr>
        <p:xfrm>
          <a:off x="374904" y="2377440"/>
          <a:ext cx="5532120" cy="2103120"/>
        </p:xfrm>
        <a:graphic>
          <a:graphicData uri="http://schemas.openxmlformats.org/drawingml/2006/chart">
            <c:chart xmlns:c="http://schemas.openxmlformats.org/drawingml/2006/chart" r:id="rId2"/>
          </a:graphicData>
        </a:graphic>
      </p:graphicFrame>
      <p:sp>
        <p:nvSpPr>
          <p:cNvPr id="19" name="TextBox 18"/>
          <p:cNvSpPr txBox="1"/>
          <p:nvPr/>
        </p:nvSpPr>
        <p:spPr>
          <a:xfrm>
            <a:off x="374904" y="4572000"/>
            <a:ext cx="5532120" cy="786384"/>
          </a:xfrm>
          <a:prstGeom prst="rect">
            <a:avLst/>
          </a:prstGeom>
          <a:noFill/>
        </p:spPr>
        <p:txBody>
          <a:bodyPr wrap="square" lIns="0" rIns="0" tIns="0" bIns="0" anchor="t">
            <a:spAutoFit/>
          </a:bodyPr>
          <a:lstStyle/>
          <a:p>
            <a:pPr algn="l">
              <a:lnSpc>
                <a:spcPct val="120000"/>
              </a:lnSpc>
              <a:spcAft>
                <a:spcPts val="0"/>
              </a:spcAft>
            </a:pPr>
            <a:r>
              <a:rPr sz="950" b="1" i="0">
                <a:solidFill>
                  <a:srgbClr val="DB0011"/>
                </a:solidFill>
                <a:latin typeface="Arial"/>
              </a:rPr>
              <a:t>The residual is short convexity, not a sizing error. </a:t>
            </a:r>
            <a:r>
              <a:rPr sz="950" b="0" i="0">
                <a:solidFill>
                  <a:srgbClr val="000000"/>
                </a:solidFill>
                <a:latin typeface="Arial"/>
              </a:rPr>
              <a:t>0.97% of DV01 survives a parallel move, and it loses in either direction: ¥0.80m on +50bp and ¥0.84m on −50bp, against the ¥25.8m the trade is asking for. We are short the longer and more convex leg. It cannot be sized away in advance because it only appears once the curve has moved.</a:t>
            </a:r>
          </a:p>
        </p:txBody>
      </p:sp>
      <p:cxnSp>
        <p:nvCxnSpPr>
          <p:cNvPr id="20" name="Connector 19"/>
          <p:cNvCxnSpPr/>
          <p:nvPr/>
        </p:nvCxnSpPr>
        <p:spPr>
          <a:xfrm>
            <a:off x="6163056" y="1700784"/>
            <a:ext cx="0" cy="4572000"/>
          </a:xfrm>
          <a:prstGeom prst="line">
            <a:avLst/>
          </a:prstGeom>
          <a:ln w="15875">
            <a:solidFill>
              <a:srgbClr val="DB0011"/>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419088" y="1700784"/>
            <a:ext cx="5394960" cy="219456"/>
          </a:xfrm>
          <a:prstGeom prst="rect">
            <a:avLst/>
          </a:prstGeom>
          <a:noFill/>
        </p:spPr>
        <p:txBody>
          <a:bodyPr wrap="none" lIns="0" rIns="0" tIns="0" bIns="0" anchor="t">
            <a:spAutoFit/>
          </a:bodyPr>
          <a:lstStyle/>
          <a:p>
            <a:pPr algn="l">
              <a:lnSpc>
                <a:spcPct val="100000"/>
              </a:lnSpc>
              <a:spcAft>
                <a:spcPts val="0"/>
              </a:spcAft>
            </a:pPr>
            <a:r>
              <a:rPr sz="1200" b="1" i="0">
                <a:solidFill>
                  <a:srgbClr val="000000"/>
                </a:solidFill>
                <a:latin typeface="Arial"/>
              </a:rPr>
              <a:t>What the entry is worth</a:t>
            </a:r>
          </a:p>
        </p:txBody>
      </p:sp>
      <p:cxnSp>
        <p:nvCxnSpPr>
          <p:cNvPr id="22" name="Connector 21"/>
          <p:cNvCxnSpPr/>
          <p:nvPr/>
        </p:nvCxnSpPr>
        <p:spPr>
          <a:xfrm>
            <a:off x="6419088" y="1938528"/>
            <a:ext cx="384048" cy="0"/>
          </a:xfrm>
          <a:prstGeom prst="line">
            <a:avLst/>
          </a:prstGeom>
          <a:ln w="25400">
            <a:solidFill>
              <a:srgbClr val="DB0011"/>
            </a:solidFill>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6419088" y="2048256"/>
            <a:ext cx="5394960" cy="256032"/>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4807" y="2075688"/>
            <a:ext cx="2103120" cy="256032"/>
          </a:xfrm>
          <a:prstGeom prst="rect">
            <a:avLst/>
          </a:prstGeom>
          <a:noFill/>
        </p:spPr>
        <p:txBody>
          <a:bodyPr wrap="none" lIns="0" rIns="0" tIns="0" bIns="0" anchor="t">
            <a:spAutoFit/>
          </a:bodyPr>
          <a:lstStyle/>
          <a:p>
            <a:pPr algn="l">
              <a:lnSpc>
                <a:spcPct val="100000"/>
              </a:lnSpc>
              <a:spcAft>
                <a:spcPts val="0"/>
              </a:spcAft>
            </a:pPr>
            <a:r>
              <a:rPr sz="1000" b="1" i="0">
                <a:solidFill>
                  <a:srgbClr val="FFFFFF"/>
                </a:solidFill>
                <a:latin typeface="Arial"/>
              </a:rPr>
              <a:t>Entry</a:t>
            </a:r>
          </a:p>
        </p:txBody>
      </p:sp>
      <p:sp>
        <p:nvSpPr>
          <p:cNvPr id="25" name="TextBox 24"/>
          <p:cNvSpPr txBox="1"/>
          <p:nvPr/>
        </p:nvSpPr>
        <p:spPr>
          <a:xfrm>
            <a:off x="8659368" y="2075688"/>
            <a:ext cx="1325880" cy="256032"/>
          </a:xfrm>
          <a:prstGeom prst="rect">
            <a:avLst/>
          </a:prstGeom>
          <a:noFill/>
        </p:spPr>
        <p:txBody>
          <a:bodyPr wrap="none" lIns="0" rIns="0" tIns="0" bIns="0" anchor="t">
            <a:spAutoFit/>
          </a:bodyPr>
          <a:lstStyle/>
          <a:p>
            <a:pPr algn="r">
              <a:lnSpc>
                <a:spcPct val="100000"/>
              </a:lnSpc>
              <a:spcAft>
                <a:spcPts val="0"/>
              </a:spcAft>
            </a:pPr>
            <a:r>
              <a:rPr sz="1000" b="1" i="0">
                <a:solidFill>
                  <a:srgbClr val="FFFFFF"/>
                </a:solidFill>
                <a:latin typeface="Arial"/>
              </a:rPr>
              <a:t>Gross R:R</a:t>
            </a:r>
          </a:p>
        </p:txBody>
      </p:sp>
      <p:sp>
        <p:nvSpPr>
          <p:cNvPr id="26" name="TextBox 25"/>
          <p:cNvSpPr txBox="1"/>
          <p:nvPr/>
        </p:nvSpPr>
        <p:spPr>
          <a:xfrm>
            <a:off x="10076688" y="2075688"/>
            <a:ext cx="1691639" cy="256032"/>
          </a:xfrm>
          <a:prstGeom prst="rect">
            <a:avLst/>
          </a:prstGeom>
          <a:noFill/>
        </p:spPr>
        <p:txBody>
          <a:bodyPr wrap="none" lIns="0" rIns="0" tIns="0" bIns="0" anchor="t">
            <a:spAutoFit/>
          </a:bodyPr>
          <a:lstStyle/>
          <a:p>
            <a:pPr algn="r">
              <a:lnSpc>
                <a:spcPct val="100000"/>
              </a:lnSpc>
              <a:spcAft>
                <a:spcPts val="0"/>
              </a:spcAft>
            </a:pPr>
            <a:r>
              <a:rPr sz="1000" b="1" i="0">
                <a:solidFill>
                  <a:srgbClr val="FFFFFF"/>
                </a:solidFill>
                <a:latin typeface="Arial"/>
              </a:rPr>
              <a:t>Net of 4bp round trip</a:t>
            </a:r>
          </a:p>
        </p:txBody>
      </p:sp>
      <p:sp>
        <p:nvSpPr>
          <p:cNvPr id="27" name="TextBox 26"/>
          <p:cNvSpPr txBox="1"/>
          <p:nvPr/>
        </p:nvSpPr>
        <p:spPr>
          <a:xfrm>
            <a:off x="6464807" y="2324404"/>
            <a:ext cx="2103120" cy="256032"/>
          </a:xfrm>
          <a:prstGeom prst="rect">
            <a:avLst/>
          </a:prstGeom>
          <a:noFill/>
        </p:spPr>
        <p:txBody>
          <a:bodyPr wrap="none" lIns="0" rIns="0" tIns="0" bIns="0" anchor="t">
            <a:spAutoFit/>
          </a:bodyPr>
          <a:lstStyle/>
          <a:p>
            <a:pPr algn="l">
              <a:lnSpc>
                <a:spcPct val="100000"/>
              </a:lnSpc>
              <a:spcAft>
                <a:spcPts val="0"/>
              </a:spcAft>
            </a:pPr>
            <a:r>
              <a:rPr sz="1000" b="0" i="0">
                <a:solidFill>
                  <a:srgbClr val="000000"/>
                </a:solidFill>
                <a:latin typeface="Arial"/>
              </a:rPr>
              <a:t>129bp, spot</a:t>
            </a:r>
          </a:p>
        </p:txBody>
      </p:sp>
      <p:sp>
        <p:nvSpPr>
          <p:cNvPr id="28" name="TextBox 27"/>
          <p:cNvSpPr txBox="1"/>
          <p:nvPr/>
        </p:nvSpPr>
        <p:spPr>
          <a:xfrm>
            <a:off x="8659368" y="2324404"/>
            <a:ext cx="1325880" cy="256032"/>
          </a:xfrm>
          <a:prstGeom prst="rect">
            <a:avLst/>
          </a:prstGeom>
          <a:noFill/>
        </p:spPr>
        <p:txBody>
          <a:bodyPr wrap="none" lIns="0" rIns="0" tIns="0" bIns="0" anchor="t">
            <a:spAutoFit/>
          </a:bodyPr>
          <a:lstStyle/>
          <a:p>
            <a:pPr algn="r">
              <a:lnSpc>
                <a:spcPct val="100000"/>
              </a:lnSpc>
              <a:spcAft>
                <a:spcPts val="0"/>
              </a:spcAft>
            </a:pPr>
            <a:r>
              <a:rPr sz="1000" b="0" i="0">
                <a:solidFill>
                  <a:srgbClr val="000000"/>
                </a:solidFill>
                <a:latin typeface="Arial"/>
              </a:rPr>
              <a:t>1.00</a:t>
            </a:r>
          </a:p>
        </p:txBody>
      </p:sp>
      <p:sp>
        <p:nvSpPr>
          <p:cNvPr id="29" name="TextBox 28"/>
          <p:cNvSpPr txBox="1"/>
          <p:nvPr/>
        </p:nvSpPr>
        <p:spPr>
          <a:xfrm>
            <a:off x="10076688" y="2324404"/>
            <a:ext cx="1691639" cy="256032"/>
          </a:xfrm>
          <a:prstGeom prst="rect">
            <a:avLst/>
          </a:prstGeom>
          <a:noFill/>
        </p:spPr>
        <p:txBody>
          <a:bodyPr wrap="none" lIns="0" rIns="0" tIns="0" bIns="0" anchor="t">
            <a:spAutoFit/>
          </a:bodyPr>
          <a:lstStyle/>
          <a:p>
            <a:pPr algn="r">
              <a:lnSpc>
                <a:spcPct val="100000"/>
              </a:lnSpc>
              <a:spcAft>
                <a:spcPts val="0"/>
              </a:spcAft>
            </a:pPr>
            <a:r>
              <a:rPr sz="1000" b="0" i="0">
                <a:solidFill>
                  <a:srgbClr val="000000"/>
                </a:solidFill>
                <a:latin typeface="Arial"/>
              </a:rPr>
              <a:t>0.75 : 1</a:t>
            </a:r>
          </a:p>
        </p:txBody>
      </p:sp>
      <p:cxnSp>
        <p:nvCxnSpPr>
          <p:cNvPr id="30" name="Connector 29"/>
          <p:cNvCxnSpPr/>
          <p:nvPr/>
        </p:nvCxnSpPr>
        <p:spPr>
          <a:xfrm>
            <a:off x="6419088" y="2560320"/>
            <a:ext cx="5394960" cy="0"/>
          </a:xfrm>
          <a:prstGeom prst="line">
            <a:avLst/>
          </a:prstGeom>
          <a:ln w="6350">
            <a:solidFill>
              <a:srgbClr val="D0CECE"/>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464807" y="2580436"/>
            <a:ext cx="2103120" cy="256032"/>
          </a:xfrm>
          <a:prstGeom prst="rect">
            <a:avLst/>
          </a:prstGeom>
          <a:noFill/>
        </p:spPr>
        <p:txBody>
          <a:bodyPr wrap="none" lIns="0" rIns="0" tIns="0" bIns="0" anchor="t">
            <a:spAutoFit/>
          </a:bodyPr>
          <a:lstStyle/>
          <a:p>
            <a:pPr algn="l">
              <a:lnSpc>
                <a:spcPct val="100000"/>
              </a:lnSpc>
              <a:spcAft>
                <a:spcPts val="0"/>
              </a:spcAft>
            </a:pPr>
            <a:r>
              <a:rPr sz="1000" b="1" i="0">
                <a:solidFill>
                  <a:srgbClr val="000000"/>
                </a:solidFill>
                <a:latin typeface="Arial"/>
              </a:rPr>
              <a:t>114bp, on the trigger</a:t>
            </a:r>
          </a:p>
        </p:txBody>
      </p:sp>
      <p:sp>
        <p:nvSpPr>
          <p:cNvPr id="32" name="TextBox 31"/>
          <p:cNvSpPr txBox="1"/>
          <p:nvPr/>
        </p:nvSpPr>
        <p:spPr>
          <a:xfrm>
            <a:off x="8659368" y="2580436"/>
            <a:ext cx="1325880" cy="256032"/>
          </a:xfrm>
          <a:prstGeom prst="rect">
            <a:avLst/>
          </a:prstGeom>
          <a:noFill/>
        </p:spPr>
        <p:txBody>
          <a:bodyPr wrap="none" lIns="0" rIns="0" tIns="0" bIns="0" anchor="t">
            <a:spAutoFit/>
          </a:bodyPr>
          <a:lstStyle/>
          <a:p>
            <a:pPr algn="r">
              <a:lnSpc>
                <a:spcPct val="100000"/>
              </a:lnSpc>
              <a:spcAft>
                <a:spcPts val="0"/>
              </a:spcAft>
            </a:pPr>
            <a:r>
              <a:rPr sz="1000" b="1" i="0">
                <a:solidFill>
                  <a:srgbClr val="000000"/>
                </a:solidFill>
                <a:latin typeface="Arial"/>
              </a:rPr>
              <a:t>2.88</a:t>
            </a:r>
          </a:p>
        </p:txBody>
      </p:sp>
      <p:sp>
        <p:nvSpPr>
          <p:cNvPr id="33" name="TextBox 32"/>
          <p:cNvSpPr txBox="1"/>
          <p:nvPr/>
        </p:nvSpPr>
        <p:spPr>
          <a:xfrm>
            <a:off x="10076688" y="2580436"/>
            <a:ext cx="1691639" cy="256032"/>
          </a:xfrm>
          <a:prstGeom prst="rect">
            <a:avLst/>
          </a:prstGeom>
          <a:noFill/>
        </p:spPr>
        <p:txBody>
          <a:bodyPr wrap="none" lIns="0" rIns="0" tIns="0" bIns="0" anchor="t">
            <a:spAutoFit/>
          </a:bodyPr>
          <a:lstStyle/>
          <a:p>
            <a:pPr algn="r">
              <a:lnSpc>
                <a:spcPct val="100000"/>
              </a:lnSpc>
              <a:spcAft>
                <a:spcPts val="0"/>
              </a:spcAft>
            </a:pPr>
            <a:r>
              <a:rPr sz="1000" b="1" i="0">
                <a:solidFill>
                  <a:srgbClr val="000000"/>
                </a:solidFill>
                <a:latin typeface="Arial"/>
              </a:rPr>
              <a:t>2.10 : 1</a:t>
            </a:r>
          </a:p>
        </p:txBody>
      </p:sp>
      <p:cxnSp>
        <p:nvCxnSpPr>
          <p:cNvPr id="34" name="Connector 33"/>
          <p:cNvCxnSpPr/>
          <p:nvPr/>
        </p:nvCxnSpPr>
        <p:spPr>
          <a:xfrm>
            <a:off x="6419088" y="2816352"/>
            <a:ext cx="5394960" cy="0"/>
          </a:xfrm>
          <a:prstGeom prst="line">
            <a:avLst/>
          </a:prstGeom>
          <a:ln w="9525">
            <a:solidFill>
              <a:srgbClr val="000000"/>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6419088" y="2761488"/>
            <a:ext cx="5394960" cy="512064"/>
          </a:xfrm>
          <a:prstGeom prst="rect">
            <a:avLst/>
          </a:prstGeom>
          <a:noFill/>
        </p:spPr>
        <p:txBody>
          <a:bodyPr wrap="square" lIns="0" rIns="0" tIns="0" bIns="0" anchor="t">
            <a:spAutoFit/>
          </a:bodyPr>
          <a:lstStyle/>
          <a:p>
            <a:pPr algn="l">
              <a:lnSpc>
                <a:spcPct val="120000"/>
              </a:lnSpc>
              <a:spcAft>
                <a:spcPts val="0"/>
              </a:spcAft>
            </a:pPr>
            <a:r>
              <a:rPr sz="950" b="1" i="0">
                <a:solidFill>
                  <a:srgbClr val="DB0011"/>
                </a:solidFill>
                <a:latin typeface="Arial"/>
              </a:rPr>
              <a:t>The level is fine. The entry is not. </a:t>
            </a:r>
            <a:r>
              <a:rPr sz="950" b="0" i="0">
                <a:solidFill>
                  <a:srgbClr val="000000"/>
                </a:solidFill>
                <a:latin typeface="Arial"/>
              </a:rPr>
              <a:t>The trigger is not caution, it is the only thing that makes the arithmetic work.</a:t>
            </a:r>
          </a:p>
        </p:txBody>
      </p:sp>
      <p:sp>
        <p:nvSpPr>
          <p:cNvPr id="36" name="TextBox 35"/>
          <p:cNvSpPr txBox="1"/>
          <p:nvPr/>
        </p:nvSpPr>
        <p:spPr>
          <a:xfrm>
            <a:off x="6419088" y="3346704"/>
            <a:ext cx="5394960" cy="219456"/>
          </a:xfrm>
          <a:prstGeom prst="rect">
            <a:avLst/>
          </a:prstGeom>
          <a:noFill/>
        </p:spPr>
        <p:txBody>
          <a:bodyPr wrap="none" lIns="0" rIns="0" tIns="0" bIns="0" anchor="t">
            <a:spAutoFit/>
          </a:bodyPr>
          <a:lstStyle/>
          <a:p>
            <a:pPr algn="l">
              <a:lnSpc>
                <a:spcPct val="100000"/>
              </a:lnSpc>
              <a:spcAft>
                <a:spcPts val="0"/>
              </a:spcAft>
            </a:pPr>
            <a:r>
              <a:rPr sz="1200" b="1" i="0">
                <a:solidFill>
                  <a:srgbClr val="000000"/>
                </a:solidFill>
                <a:latin typeface="Arial"/>
              </a:rPr>
              <a:t>And why not 2s30s</a:t>
            </a:r>
          </a:p>
        </p:txBody>
      </p:sp>
      <p:cxnSp>
        <p:nvCxnSpPr>
          <p:cNvPr id="37" name="Connector 36"/>
          <p:cNvCxnSpPr/>
          <p:nvPr/>
        </p:nvCxnSpPr>
        <p:spPr>
          <a:xfrm>
            <a:off x="6419088" y="3584448"/>
            <a:ext cx="384048" cy="0"/>
          </a:xfrm>
          <a:prstGeom prst="line">
            <a:avLst/>
          </a:prstGeom>
          <a:ln w="25400">
            <a:solidFill>
              <a:srgbClr val="DB0011"/>
            </a:solidFill>
          </a:ln>
        </p:spPr>
        <p:style>
          <a:lnRef idx="2">
            <a:schemeClr val="accent1"/>
          </a:lnRef>
          <a:fillRef idx="0">
            <a:schemeClr val="accent1"/>
          </a:fillRef>
          <a:effectRef idx="1">
            <a:schemeClr val="accent1"/>
          </a:effectRef>
          <a:fontRef idx="minor">
            <a:schemeClr val="tx1"/>
          </a:fontRef>
        </p:style>
      </p:cxnSp>
      <p:sp>
        <p:nvSpPr>
          <p:cNvPr id="38" name="Rectangle 37"/>
          <p:cNvSpPr/>
          <p:nvPr/>
        </p:nvSpPr>
        <p:spPr>
          <a:xfrm>
            <a:off x="6419088" y="3675887"/>
            <a:ext cx="5394960" cy="246888"/>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6464807" y="3703320"/>
            <a:ext cx="2377440" cy="246888"/>
          </a:xfrm>
          <a:prstGeom prst="rect">
            <a:avLst/>
          </a:prstGeom>
          <a:noFill/>
        </p:spPr>
        <p:txBody>
          <a:bodyPr wrap="none" lIns="0" rIns="0" tIns="0" bIns="0" anchor="t">
            <a:spAutoFit/>
          </a:bodyPr>
          <a:lstStyle/>
          <a:p>
            <a:pPr algn="l">
              <a:lnSpc>
                <a:spcPct val="100000"/>
              </a:lnSpc>
              <a:spcAft>
                <a:spcPts val="0"/>
              </a:spcAft>
            </a:pPr>
            <a:r>
              <a:rPr sz="950" b="1" i="0">
                <a:solidFill>
                  <a:srgbClr val="FFFFFF"/>
                </a:solidFill>
                <a:latin typeface="Arial"/>
              </a:rPr>
              <a:t/>
            </a:r>
          </a:p>
        </p:txBody>
      </p:sp>
      <p:sp>
        <p:nvSpPr>
          <p:cNvPr id="40" name="TextBox 39"/>
          <p:cNvSpPr txBox="1"/>
          <p:nvPr/>
        </p:nvSpPr>
        <p:spPr>
          <a:xfrm>
            <a:off x="8933688" y="3703320"/>
            <a:ext cx="1371600" cy="246888"/>
          </a:xfrm>
          <a:prstGeom prst="rect">
            <a:avLst/>
          </a:prstGeom>
          <a:noFill/>
        </p:spPr>
        <p:txBody>
          <a:bodyPr wrap="none" lIns="0" rIns="0" tIns="0" bIns="0" anchor="t">
            <a:spAutoFit/>
          </a:bodyPr>
          <a:lstStyle/>
          <a:p>
            <a:pPr algn="r">
              <a:lnSpc>
                <a:spcPct val="100000"/>
              </a:lnSpc>
              <a:spcAft>
                <a:spcPts val="0"/>
              </a:spcAft>
            </a:pPr>
            <a:r>
              <a:rPr sz="950" b="1" i="0">
                <a:solidFill>
                  <a:srgbClr val="FFFFFF"/>
                </a:solidFill>
                <a:latin typeface="Arial"/>
              </a:rPr>
              <a:t>2s10s</a:t>
            </a:r>
          </a:p>
        </p:txBody>
      </p:sp>
      <p:sp>
        <p:nvSpPr>
          <p:cNvPr id="41" name="TextBox 40"/>
          <p:cNvSpPr txBox="1"/>
          <p:nvPr/>
        </p:nvSpPr>
        <p:spPr>
          <a:xfrm>
            <a:off x="10396728" y="3703320"/>
            <a:ext cx="1371600" cy="246888"/>
          </a:xfrm>
          <a:prstGeom prst="rect">
            <a:avLst/>
          </a:prstGeom>
          <a:noFill/>
        </p:spPr>
        <p:txBody>
          <a:bodyPr wrap="none" lIns="0" rIns="0" tIns="0" bIns="0" anchor="t">
            <a:spAutoFit/>
          </a:bodyPr>
          <a:lstStyle/>
          <a:p>
            <a:pPr algn="r">
              <a:lnSpc>
                <a:spcPct val="100000"/>
              </a:lnSpc>
              <a:spcAft>
                <a:spcPts val="0"/>
              </a:spcAft>
            </a:pPr>
            <a:r>
              <a:rPr sz="950" b="1" i="0">
                <a:solidFill>
                  <a:srgbClr val="FFFFFF"/>
                </a:solidFill>
                <a:latin typeface="Arial"/>
              </a:rPr>
              <a:t>2s30s</a:t>
            </a:r>
          </a:p>
        </p:txBody>
      </p:sp>
      <p:sp>
        <p:nvSpPr>
          <p:cNvPr id="42" name="TextBox 41"/>
          <p:cNvSpPr txBox="1"/>
          <p:nvPr/>
        </p:nvSpPr>
        <p:spPr>
          <a:xfrm>
            <a:off x="6464807" y="3942892"/>
            <a:ext cx="2377440" cy="233172"/>
          </a:xfrm>
          <a:prstGeom prst="rect">
            <a:avLst/>
          </a:prstGeom>
          <a:noFill/>
        </p:spPr>
        <p:txBody>
          <a:bodyPr wrap="none" lIns="0" rIns="0" tIns="0" bIns="0" anchor="t">
            <a:spAutoFit/>
          </a:bodyPr>
          <a:lstStyle/>
          <a:p>
            <a:pPr algn="l">
              <a:lnSpc>
                <a:spcPct val="100000"/>
              </a:lnSpc>
              <a:spcAft>
                <a:spcPts val="0"/>
              </a:spcAft>
            </a:pPr>
            <a:r>
              <a:rPr sz="950" b="0" i="0">
                <a:solidFill>
                  <a:srgbClr val="000000"/>
                </a:solidFill>
                <a:latin typeface="Arial"/>
              </a:rPr>
              <a:t>Percentile since 2000</a:t>
            </a:r>
          </a:p>
        </p:txBody>
      </p:sp>
      <p:sp>
        <p:nvSpPr>
          <p:cNvPr id="43" name="TextBox 42"/>
          <p:cNvSpPr txBox="1"/>
          <p:nvPr/>
        </p:nvSpPr>
        <p:spPr>
          <a:xfrm>
            <a:off x="8933688" y="3942892"/>
            <a:ext cx="1371600" cy="233172"/>
          </a:xfrm>
          <a:prstGeom prst="rect">
            <a:avLst/>
          </a:prstGeom>
          <a:noFill/>
        </p:spPr>
        <p:txBody>
          <a:bodyPr wrap="none" lIns="0" rIns="0" tIns="0" bIns="0" anchor="t">
            <a:spAutoFit/>
          </a:bodyPr>
          <a:lstStyle/>
          <a:p>
            <a:pPr algn="r">
              <a:lnSpc>
                <a:spcPct val="100000"/>
              </a:lnSpc>
              <a:spcAft>
                <a:spcPts val="0"/>
              </a:spcAft>
            </a:pPr>
            <a:r>
              <a:rPr sz="950" b="0" i="0">
                <a:solidFill>
                  <a:srgbClr val="000000"/>
                </a:solidFill>
                <a:latin typeface="Arial"/>
              </a:rPr>
              <a:t>93rd</a:t>
            </a:r>
          </a:p>
        </p:txBody>
      </p:sp>
      <p:sp>
        <p:nvSpPr>
          <p:cNvPr id="44" name="TextBox 43"/>
          <p:cNvSpPr txBox="1"/>
          <p:nvPr/>
        </p:nvSpPr>
        <p:spPr>
          <a:xfrm>
            <a:off x="10396728" y="3942892"/>
            <a:ext cx="1371600" cy="233172"/>
          </a:xfrm>
          <a:prstGeom prst="rect">
            <a:avLst/>
          </a:prstGeom>
          <a:noFill/>
        </p:spPr>
        <p:txBody>
          <a:bodyPr wrap="none" lIns="0" rIns="0" tIns="0" bIns="0" anchor="t">
            <a:spAutoFit/>
          </a:bodyPr>
          <a:lstStyle/>
          <a:p>
            <a:pPr algn="r">
              <a:lnSpc>
                <a:spcPct val="100000"/>
              </a:lnSpc>
              <a:spcAft>
                <a:spcPts val="0"/>
              </a:spcAft>
            </a:pPr>
            <a:r>
              <a:rPr sz="950" b="0" i="0">
                <a:solidFill>
                  <a:srgbClr val="000000"/>
                </a:solidFill>
                <a:latin typeface="Arial"/>
              </a:rPr>
              <a:t>99th</a:t>
            </a:r>
          </a:p>
        </p:txBody>
      </p:sp>
      <p:cxnSp>
        <p:nvCxnSpPr>
          <p:cNvPr id="45" name="Connector 44"/>
          <p:cNvCxnSpPr/>
          <p:nvPr/>
        </p:nvCxnSpPr>
        <p:spPr>
          <a:xfrm>
            <a:off x="6419088" y="4155947"/>
            <a:ext cx="5394960" cy="0"/>
          </a:xfrm>
          <a:prstGeom prst="line">
            <a:avLst/>
          </a:prstGeom>
          <a:ln w="6350">
            <a:solidFill>
              <a:srgbClr val="D0CECE"/>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6464807" y="4176064"/>
            <a:ext cx="2377440" cy="233172"/>
          </a:xfrm>
          <a:prstGeom prst="rect">
            <a:avLst/>
          </a:prstGeom>
          <a:noFill/>
        </p:spPr>
        <p:txBody>
          <a:bodyPr wrap="none" lIns="0" rIns="0" tIns="0" bIns="0" anchor="t">
            <a:spAutoFit/>
          </a:bodyPr>
          <a:lstStyle/>
          <a:p>
            <a:pPr algn="l">
              <a:lnSpc>
                <a:spcPct val="100000"/>
              </a:lnSpc>
              <a:spcAft>
                <a:spcPts val="0"/>
              </a:spcAft>
            </a:pPr>
            <a:r>
              <a:rPr sz="950" b="0" i="0">
                <a:solidFill>
                  <a:srgbClr val="000000"/>
                </a:solidFill>
                <a:latin typeface="Arial"/>
              </a:rPr>
              <a:t>Headroom to the high</a:t>
            </a:r>
          </a:p>
        </p:txBody>
      </p:sp>
      <p:sp>
        <p:nvSpPr>
          <p:cNvPr id="47" name="TextBox 46"/>
          <p:cNvSpPr txBox="1"/>
          <p:nvPr/>
        </p:nvSpPr>
        <p:spPr>
          <a:xfrm>
            <a:off x="8933688" y="4176064"/>
            <a:ext cx="1371600" cy="233172"/>
          </a:xfrm>
          <a:prstGeom prst="rect">
            <a:avLst/>
          </a:prstGeom>
          <a:noFill/>
        </p:spPr>
        <p:txBody>
          <a:bodyPr wrap="none" lIns="0" rIns="0" tIns="0" bIns="0" anchor="t">
            <a:spAutoFit/>
          </a:bodyPr>
          <a:lstStyle/>
          <a:p>
            <a:pPr algn="r">
              <a:lnSpc>
                <a:spcPct val="100000"/>
              </a:lnSpc>
              <a:spcAft>
                <a:spcPts val="0"/>
              </a:spcAft>
            </a:pPr>
            <a:r>
              <a:rPr sz="950" b="0" i="0">
                <a:solidFill>
                  <a:srgbClr val="000000"/>
                </a:solidFill>
                <a:latin typeface="Arial"/>
              </a:rPr>
              <a:t>35.5bp</a:t>
            </a:r>
          </a:p>
        </p:txBody>
      </p:sp>
      <p:sp>
        <p:nvSpPr>
          <p:cNvPr id="48" name="TextBox 47"/>
          <p:cNvSpPr txBox="1"/>
          <p:nvPr/>
        </p:nvSpPr>
        <p:spPr>
          <a:xfrm>
            <a:off x="10396728" y="4176064"/>
            <a:ext cx="1371600" cy="233172"/>
          </a:xfrm>
          <a:prstGeom prst="rect">
            <a:avLst/>
          </a:prstGeom>
          <a:noFill/>
        </p:spPr>
        <p:txBody>
          <a:bodyPr wrap="none" lIns="0" rIns="0" tIns="0" bIns="0" anchor="t">
            <a:spAutoFit/>
          </a:bodyPr>
          <a:lstStyle/>
          <a:p>
            <a:pPr algn="r">
              <a:lnSpc>
                <a:spcPct val="100000"/>
              </a:lnSpc>
              <a:spcAft>
                <a:spcPts val="0"/>
              </a:spcAft>
            </a:pPr>
            <a:r>
              <a:rPr sz="950" b="0" i="0">
                <a:solidFill>
                  <a:srgbClr val="000000"/>
                </a:solidFill>
                <a:latin typeface="Arial"/>
              </a:rPr>
              <a:t>12.3bp</a:t>
            </a:r>
          </a:p>
        </p:txBody>
      </p:sp>
      <p:cxnSp>
        <p:nvCxnSpPr>
          <p:cNvPr id="49" name="Connector 48"/>
          <p:cNvCxnSpPr/>
          <p:nvPr/>
        </p:nvCxnSpPr>
        <p:spPr>
          <a:xfrm>
            <a:off x="6419088" y="4389119"/>
            <a:ext cx="5394960" cy="0"/>
          </a:xfrm>
          <a:prstGeom prst="line">
            <a:avLst/>
          </a:prstGeom>
          <a:ln w="6350">
            <a:solidFill>
              <a:srgbClr val="D0CECE"/>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6464807" y="4409236"/>
            <a:ext cx="2377440" cy="233172"/>
          </a:xfrm>
          <a:prstGeom prst="rect">
            <a:avLst/>
          </a:prstGeom>
          <a:noFill/>
        </p:spPr>
        <p:txBody>
          <a:bodyPr wrap="none" lIns="0" rIns="0" tIns="0" bIns="0" anchor="t">
            <a:spAutoFit/>
          </a:bodyPr>
          <a:lstStyle/>
          <a:p>
            <a:pPr algn="l">
              <a:lnSpc>
                <a:spcPct val="100000"/>
              </a:lnSpc>
              <a:spcAft>
                <a:spcPts val="0"/>
              </a:spcAft>
            </a:pPr>
            <a:r>
              <a:rPr sz="950" b="1" i="0">
                <a:solidFill>
                  <a:srgbClr val="000000"/>
                </a:solidFill>
                <a:latin typeface="Arial"/>
              </a:rPr>
              <a:t>Round trip, as a share of it</a:t>
            </a:r>
          </a:p>
        </p:txBody>
      </p:sp>
      <p:sp>
        <p:nvSpPr>
          <p:cNvPr id="51" name="TextBox 50"/>
          <p:cNvSpPr txBox="1"/>
          <p:nvPr/>
        </p:nvSpPr>
        <p:spPr>
          <a:xfrm>
            <a:off x="8933688" y="4409236"/>
            <a:ext cx="1371600" cy="233172"/>
          </a:xfrm>
          <a:prstGeom prst="rect">
            <a:avLst/>
          </a:prstGeom>
          <a:noFill/>
        </p:spPr>
        <p:txBody>
          <a:bodyPr wrap="none" lIns="0" rIns="0" tIns="0" bIns="0" anchor="t">
            <a:spAutoFit/>
          </a:bodyPr>
          <a:lstStyle/>
          <a:p>
            <a:pPr algn="r">
              <a:lnSpc>
                <a:spcPct val="100000"/>
              </a:lnSpc>
              <a:spcAft>
                <a:spcPts val="0"/>
              </a:spcAft>
            </a:pPr>
            <a:r>
              <a:rPr sz="950" b="1" i="0">
                <a:solidFill>
                  <a:srgbClr val="000000"/>
                </a:solidFill>
                <a:latin typeface="Arial"/>
              </a:rPr>
              <a:t>11%</a:t>
            </a:r>
          </a:p>
        </p:txBody>
      </p:sp>
      <p:sp>
        <p:nvSpPr>
          <p:cNvPr id="52" name="TextBox 51"/>
          <p:cNvSpPr txBox="1"/>
          <p:nvPr/>
        </p:nvSpPr>
        <p:spPr>
          <a:xfrm>
            <a:off x="10396728" y="4409236"/>
            <a:ext cx="1371600" cy="233172"/>
          </a:xfrm>
          <a:prstGeom prst="rect">
            <a:avLst/>
          </a:prstGeom>
          <a:noFill/>
        </p:spPr>
        <p:txBody>
          <a:bodyPr wrap="none" lIns="0" rIns="0" tIns="0" bIns="0" anchor="t">
            <a:spAutoFit/>
          </a:bodyPr>
          <a:lstStyle/>
          <a:p>
            <a:pPr algn="r">
              <a:lnSpc>
                <a:spcPct val="100000"/>
              </a:lnSpc>
              <a:spcAft>
                <a:spcPts val="0"/>
              </a:spcAft>
            </a:pPr>
            <a:r>
              <a:rPr sz="950" b="1" i="0">
                <a:solidFill>
                  <a:srgbClr val="000000"/>
                </a:solidFill>
                <a:latin typeface="Arial"/>
              </a:rPr>
              <a:t>33%</a:t>
            </a:r>
          </a:p>
        </p:txBody>
      </p:sp>
      <p:cxnSp>
        <p:nvCxnSpPr>
          <p:cNvPr id="53" name="Connector 52"/>
          <p:cNvCxnSpPr/>
          <p:nvPr/>
        </p:nvCxnSpPr>
        <p:spPr>
          <a:xfrm>
            <a:off x="6419088" y="4622291"/>
            <a:ext cx="5394960" cy="0"/>
          </a:xfrm>
          <a:prstGeom prst="line">
            <a:avLst/>
          </a:prstGeom>
          <a:ln w="9525">
            <a:solidFill>
              <a:srgbClr val="000000"/>
            </a:solidFill>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6464807" y="4642408"/>
            <a:ext cx="2377440" cy="233172"/>
          </a:xfrm>
          <a:prstGeom prst="rect">
            <a:avLst/>
          </a:prstGeom>
          <a:noFill/>
        </p:spPr>
        <p:txBody>
          <a:bodyPr wrap="none" lIns="0" rIns="0" tIns="0" bIns="0" anchor="t">
            <a:spAutoFit/>
          </a:bodyPr>
          <a:lstStyle/>
          <a:p>
            <a:pPr algn="l">
              <a:lnSpc>
                <a:spcPct val="100000"/>
              </a:lnSpc>
              <a:spcAft>
                <a:spcPts val="0"/>
              </a:spcAft>
            </a:pPr>
            <a:r>
              <a:rPr sz="950" b="0" i="0">
                <a:solidFill>
                  <a:srgbClr val="000000"/>
                </a:solidFill>
                <a:latin typeface="Arial"/>
              </a:rPr>
              <a:t>Best net risk-reward</a:t>
            </a:r>
          </a:p>
        </p:txBody>
      </p:sp>
      <p:sp>
        <p:nvSpPr>
          <p:cNvPr id="55" name="TextBox 54"/>
          <p:cNvSpPr txBox="1"/>
          <p:nvPr/>
        </p:nvSpPr>
        <p:spPr>
          <a:xfrm>
            <a:off x="8933688" y="4642408"/>
            <a:ext cx="1371600" cy="233172"/>
          </a:xfrm>
          <a:prstGeom prst="rect">
            <a:avLst/>
          </a:prstGeom>
          <a:noFill/>
        </p:spPr>
        <p:txBody>
          <a:bodyPr wrap="none" lIns="0" rIns="0" tIns="0" bIns="0" anchor="t">
            <a:spAutoFit/>
          </a:bodyPr>
          <a:lstStyle/>
          <a:p>
            <a:pPr algn="r">
              <a:lnSpc>
                <a:spcPct val="100000"/>
              </a:lnSpc>
              <a:spcAft>
                <a:spcPts val="0"/>
              </a:spcAft>
            </a:pPr>
            <a:r>
              <a:rPr sz="950" b="0" i="0">
                <a:solidFill>
                  <a:srgbClr val="000000"/>
                </a:solidFill>
                <a:latin typeface="Arial"/>
              </a:rPr>
              <a:t>2.10 : 1</a:t>
            </a:r>
          </a:p>
        </p:txBody>
      </p:sp>
      <p:sp>
        <p:nvSpPr>
          <p:cNvPr id="56" name="TextBox 55"/>
          <p:cNvSpPr txBox="1"/>
          <p:nvPr/>
        </p:nvSpPr>
        <p:spPr>
          <a:xfrm>
            <a:off x="10396728" y="4642408"/>
            <a:ext cx="1371600" cy="233172"/>
          </a:xfrm>
          <a:prstGeom prst="rect">
            <a:avLst/>
          </a:prstGeom>
          <a:noFill/>
        </p:spPr>
        <p:txBody>
          <a:bodyPr wrap="none" lIns="0" rIns="0" tIns="0" bIns="0" anchor="t">
            <a:spAutoFit/>
          </a:bodyPr>
          <a:lstStyle/>
          <a:p>
            <a:pPr algn="r">
              <a:lnSpc>
                <a:spcPct val="100000"/>
              </a:lnSpc>
              <a:spcAft>
                <a:spcPts val="0"/>
              </a:spcAft>
            </a:pPr>
            <a:r>
              <a:rPr sz="950" b="0" i="0">
                <a:solidFill>
                  <a:srgbClr val="000000"/>
                </a:solidFill>
                <a:latin typeface="Arial"/>
              </a:rPr>
              <a:t>1.12 : 1</a:t>
            </a:r>
          </a:p>
        </p:txBody>
      </p:sp>
      <p:cxnSp>
        <p:nvCxnSpPr>
          <p:cNvPr id="57" name="Connector 56"/>
          <p:cNvCxnSpPr/>
          <p:nvPr/>
        </p:nvCxnSpPr>
        <p:spPr>
          <a:xfrm>
            <a:off x="6419088" y="4855463"/>
            <a:ext cx="5394960" cy="0"/>
          </a:xfrm>
          <a:prstGeom prst="line">
            <a:avLst/>
          </a:prstGeom>
          <a:ln w="6350">
            <a:solidFill>
              <a:srgbClr val="D0CECE"/>
            </a:solidFill>
          </a:ln>
        </p:spPr>
        <p:style>
          <a:lnRef idx="2">
            <a:schemeClr val="accent1"/>
          </a:lnRef>
          <a:fillRef idx="0">
            <a:schemeClr val="accent1"/>
          </a:fillRef>
          <a:effectRef idx="1">
            <a:schemeClr val="accent1"/>
          </a:effectRef>
          <a:fontRef idx="minor">
            <a:schemeClr val="tx1"/>
          </a:fontRef>
        </p:style>
      </p:cxnSp>
      <p:sp>
        <p:nvSpPr>
          <p:cNvPr id="58" name="Rectangle 57"/>
          <p:cNvSpPr/>
          <p:nvPr/>
        </p:nvSpPr>
        <p:spPr>
          <a:xfrm>
            <a:off x="6419088" y="4956048"/>
            <a:ext cx="5394960" cy="950976"/>
          </a:xfrm>
          <a:prstGeom prst="rect">
            <a:avLst/>
          </a:prstGeom>
          <a:solidFill>
            <a:srgbClr val="FADF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Rectangle 58"/>
          <p:cNvSpPr/>
          <p:nvPr/>
        </p:nvSpPr>
        <p:spPr>
          <a:xfrm>
            <a:off x="6419088" y="4956048"/>
            <a:ext cx="41148" cy="950976"/>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Box 59"/>
          <p:cNvSpPr txBox="1"/>
          <p:nvPr/>
        </p:nvSpPr>
        <p:spPr>
          <a:xfrm>
            <a:off x="6638544" y="5047488"/>
            <a:ext cx="4992624" cy="841248"/>
          </a:xfrm>
          <a:prstGeom prst="rect">
            <a:avLst/>
          </a:prstGeom>
          <a:noFill/>
        </p:spPr>
        <p:txBody>
          <a:bodyPr wrap="square" lIns="0" rIns="0" tIns="0" bIns="0" anchor="t">
            <a:spAutoFit/>
          </a:bodyPr>
          <a:lstStyle/>
          <a:p>
            <a:pPr algn="l">
              <a:lnSpc>
                <a:spcPct val="118000"/>
              </a:lnSpc>
              <a:spcAft>
                <a:spcPts val="0"/>
              </a:spcAft>
            </a:pPr>
            <a:r>
              <a:rPr sz="900" b="1" i="0">
                <a:solidFill>
                  <a:srgbClr val="000000"/>
                </a:solidFill>
                <a:latin typeface="Arial"/>
              </a:rPr>
              <a:t>Crossing half of a 2bp spread on each leg costs 2bp of slope to get in and 4bp round trip</a:t>
            </a:r>
            <a:r>
              <a:rPr sz="900" b="0" i="0">
                <a:solidFill>
                  <a:srgbClr val="000000"/>
                </a:solidFill>
                <a:latin typeface="Arial"/>
              </a:rPr>
              <a:t>, whatever the tenors, because the legs are DV01-matched. What differs is what 4bp is worth against the move available.</a:t>
            </a:r>
          </a:p>
        </p:txBody>
      </p:sp>
      <p:sp>
        <p:nvSpPr>
          <p:cNvPr id="61" name="TextBox 60"/>
          <p:cNvSpPr txBox="1"/>
          <p:nvPr/>
        </p:nvSpPr>
        <p:spPr>
          <a:xfrm>
            <a:off x="374904" y="6455664"/>
            <a:ext cx="11441887" cy="274320"/>
          </a:xfrm>
          <a:prstGeom prst="rect">
            <a:avLst/>
          </a:prstGeom>
          <a:noFill/>
        </p:spPr>
        <p:txBody>
          <a:bodyPr wrap="square" lIns="0" rIns="0" tIns="0" bIns="0" anchor="t">
            <a:spAutoFit/>
          </a:bodyPr>
          <a:lstStyle/>
          <a:p>
            <a:pPr algn="l">
              <a:lnSpc>
                <a:spcPct val="110000"/>
              </a:lnSpc>
              <a:spcAft>
                <a:spcPts val="0"/>
              </a:spcAft>
            </a:pPr>
            <a:r>
              <a:rPr sz="800" b="0" i="0">
                <a:solidFill>
                  <a:srgbClr val="767576"/>
                </a:solidFill>
                <a:latin typeface="Arial"/>
              </a:rPr>
              <a:t>Buckets from jgb_cashflow_risk.py: annual fixed, Act/365F, log-linear in discount factor. Risk-reward is (target − entry − 4bp) ÷ (entry − stop + 4bp) to a 160bp target and a 98bp stop. Percentiles weekly since 2000.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Freeform 2"/>
          <p:cNvSpPr/>
          <p:nvPr/>
        </p:nvSpPr>
        <p:spPr>
          <a:xfrm>
            <a:off x="0" y="0"/>
            <a:ext cx="6095847" cy="6858000"/>
          </a:xfrm>
          <a:custGeom>
            <a:avLst/>
            <a:gdLst/>
            <a:ahLst/>
            <a:cxnLst/>
            <a:rect l="l" t="t" r="r" b="b"/>
            <a:pathLst>
              <a:path w="6095847" h="6858000">
                <a:moveTo>
                  <a:pt x="0" y="0"/>
                </a:moveTo>
                <a:lnTo>
                  <a:pt x="0" y="6858000"/>
                </a:lnTo>
                <a:lnTo>
                  <a:pt x="6095847" y="3429000"/>
                </a:lnTo>
                <a:close/>
              </a:path>
            </a:pathLst>
          </a:cu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6095847" y="0"/>
            <a:ext cx="6095848" cy="6858000"/>
          </a:xfrm>
          <a:custGeom>
            <a:avLst/>
            <a:gdLst/>
            <a:ahLst/>
            <a:cxnLst/>
            <a:rect l="l" t="t" r="r" b="b"/>
            <a:pathLst>
              <a:path w="6095848" h="6858000">
                <a:moveTo>
                  <a:pt x="6095848" y="0"/>
                </a:moveTo>
                <a:lnTo>
                  <a:pt x="6095848" y="6858000"/>
                </a:lnTo>
                <a:lnTo>
                  <a:pt x="0" y="3429000"/>
                </a:lnTo>
                <a:close/>
              </a:path>
            </a:pathLst>
          </a:cu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74904" y="182880"/>
            <a:ext cx="3657600" cy="219456"/>
          </a:xfrm>
          <a:prstGeom prst="rect">
            <a:avLst/>
          </a:prstGeom>
          <a:noFill/>
        </p:spPr>
        <p:txBody>
          <a:bodyPr wrap="none" lIns="0" rIns="0" tIns="0" bIns="0" anchor="t">
            <a:spAutoFit/>
          </a:bodyPr>
          <a:lstStyle/>
          <a:p>
            <a:pPr algn="l">
              <a:lnSpc>
                <a:spcPct val="100000"/>
              </a:lnSpc>
              <a:spcAft>
                <a:spcPts val="0"/>
              </a:spcAft>
            </a:pPr>
            <a:r>
              <a:rPr sz="1050" b="1" i="0">
                <a:solidFill>
                  <a:srgbClr val="000000"/>
                </a:solidFill>
                <a:latin typeface="Arial"/>
              </a:rPr>
              <a:t>Risks</a:t>
            </a:r>
          </a:p>
        </p:txBody>
      </p:sp>
      <p:sp>
        <p:nvSpPr>
          <p:cNvPr id="6" name="TextBox 5"/>
          <p:cNvSpPr txBox="1"/>
          <p:nvPr/>
        </p:nvSpPr>
        <p:spPr>
          <a:xfrm>
            <a:off x="11249863" y="265176"/>
            <a:ext cx="566927" cy="219456"/>
          </a:xfrm>
          <a:prstGeom prst="rect">
            <a:avLst/>
          </a:prstGeom>
          <a:noFill/>
        </p:spPr>
        <p:txBody>
          <a:bodyPr wrap="none" lIns="0" rIns="0" tIns="0" bIns="0" anchor="t">
            <a:spAutoFit/>
          </a:bodyPr>
          <a:lstStyle/>
          <a:p>
            <a:pPr algn="ctr">
              <a:lnSpc>
                <a:spcPct val="100000"/>
              </a:lnSpc>
              <a:spcAft>
                <a:spcPts val="0"/>
              </a:spcAft>
            </a:pPr>
            <a:r>
              <a:rPr sz="1050" b="1" i="0">
                <a:solidFill>
                  <a:srgbClr val="000000"/>
                </a:solidFill>
                <a:latin typeface="Arial"/>
              </a:rPr>
              <a:t>Risks</a:t>
            </a:r>
          </a:p>
        </p:txBody>
      </p:sp>
      <p:cxnSp>
        <p:nvCxnSpPr>
          <p:cNvPr id="7" name="Connector 6"/>
          <p:cNvCxnSpPr/>
          <p:nvPr/>
        </p:nvCxnSpPr>
        <p:spPr>
          <a:xfrm>
            <a:off x="11249863" y="512064"/>
            <a:ext cx="566928" cy="0"/>
          </a:xfrm>
          <a:prstGeom prst="line">
            <a:avLst/>
          </a:prstGeom>
          <a:ln w="25400">
            <a:solidFill>
              <a:srgbClr val="DB0011"/>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0401300" y="265176"/>
            <a:ext cx="647395" cy="219456"/>
          </a:xfrm>
          <a:prstGeom prst="rect">
            <a:avLst/>
          </a:prstGeom>
          <a:noFill/>
        </p:spPr>
        <p:txBody>
          <a:bodyPr wrap="none" lIns="0" rIns="0" tIns="0" bIns="0" anchor="t">
            <a:spAutoFit/>
          </a:bodyPr>
          <a:lstStyle/>
          <a:p>
            <a:pPr algn="ctr">
              <a:lnSpc>
                <a:spcPct val="100000"/>
              </a:lnSpc>
              <a:spcAft>
                <a:spcPts val="0"/>
              </a:spcAft>
            </a:pPr>
            <a:r>
              <a:rPr sz="1050" b="0" i="0">
                <a:solidFill>
                  <a:srgbClr val="767576"/>
                </a:solidFill>
                <a:latin typeface="Arial"/>
              </a:rPr>
              <a:t>Trades</a:t>
            </a:r>
          </a:p>
        </p:txBody>
      </p:sp>
      <p:sp>
        <p:nvSpPr>
          <p:cNvPr id="9" name="TextBox 8"/>
          <p:cNvSpPr txBox="1"/>
          <p:nvPr/>
        </p:nvSpPr>
        <p:spPr>
          <a:xfrm>
            <a:off x="9472269" y="265176"/>
            <a:ext cx="727862" cy="219456"/>
          </a:xfrm>
          <a:prstGeom prst="rect">
            <a:avLst/>
          </a:prstGeom>
          <a:noFill/>
        </p:spPr>
        <p:txBody>
          <a:bodyPr wrap="none" lIns="0" rIns="0" tIns="0" bIns="0" anchor="t">
            <a:spAutoFit/>
          </a:bodyPr>
          <a:lstStyle/>
          <a:p>
            <a:pPr algn="ctr">
              <a:lnSpc>
                <a:spcPct val="100000"/>
              </a:lnSpc>
              <a:spcAft>
                <a:spcPts val="0"/>
              </a:spcAft>
            </a:pPr>
            <a:r>
              <a:rPr sz="1050" b="0" i="0">
                <a:solidFill>
                  <a:srgbClr val="767576"/>
                </a:solidFill>
                <a:latin typeface="Arial"/>
              </a:rPr>
              <a:t>Markets</a:t>
            </a:r>
          </a:p>
        </p:txBody>
      </p:sp>
      <p:sp>
        <p:nvSpPr>
          <p:cNvPr id="10" name="TextBox 9"/>
          <p:cNvSpPr txBox="1"/>
          <p:nvPr/>
        </p:nvSpPr>
        <p:spPr>
          <a:xfrm>
            <a:off x="8704173" y="265176"/>
            <a:ext cx="566927" cy="219456"/>
          </a:xfrm>
          <a:prstGeom prst="rect">
            <a:avLst/>
          </a:prstGeom>
          <a:noFill/>
        </p:spPr>
        <p:txBody>
          <a:bodyPr wrap="none" lIns="0" rIns="0" tIns="0" bIns="0" anchor="t">
            <a:spAutoFit/>
          </a:bodyPr>
          <a:lstStyle/>
          <a:p>
            <a:pPr algn="ctr">
              <a:lnSpc>
                <a:spcPct val="100000"/>
              </a:lnSpc>
              <a:spcAft>
                <a:spcPts val="0"/>
              </a:spcAft>
            </a:pPr>
            <a:r>
              <a:rPr sz="1050" b="0" i="0">
                <a:solidFill>
                  <a:srgbClr val="767576"/>
                </a:solidFill>
                <a:latin typeface="Arial"/>
              </a:rPr>
              <a:t>Macro</a:t>
            </a:r>
          </a:p>
        </p:txBody>
      </p:sp>
      <p:cxnSp>
        <p:nvCxnSpPr>
          <p:cNvPr id="11" name="Connector 10"/>
          <p:cNvCxnSpPr/>
          <p:nvPr/>
        </p:nvCxnSpPr>
        <p:spPr>
          <a:xfrm>
            <a:off x="374904" y="640080"/>
            <a:ext cx="11441887" cy="0"/>
          </a:xfrm>
          <a:prstGeom prst="line">
            <a:avLst/>
          </a:prstGeom>
          <a:ln w="9525">
            <a:solidFill>
              <a:srgbClr val="00000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374904" y="786384"/>
            <a:ext cx="11441887" cy="457200"/>
          </a:xfrm>
          <a:prstGeom prst="rect">
            <a:avLst/>
          </a:prstGeom>
          <a:noFill/>
        </p:spPr>
        <p:txBody>
          <a:bodyPr wrap="none" lIns="0" rIns="0" tIns="0" bIns="0" anchor="t">
            <a:spAutoFit/>
          </a:bodyPr>
          <a:lstStyle/>
          <a:p>
            <a:pPr algn="l">
              <a:lnSpc>
                <a:spcPct val="100000"/>
              </a:lnSpc>
              <a:spcAft>
                <a:spcPts val="0"/>
              </a:spcAft>
            </a:pPr>
            <a:r>
              <a:rPr sz="2600" b="0" i="0">
                <a:solidFill>
                  <a:srgbClr val="000000"/>
                </a:solidFill>
                <a:latin typeface="Arial"/>
              </a:rPr>
              <a:t>What the book is exposed to, measured</a:t>
            </a:r>
          </a:p>
        </p:txBody>
      </p:sp>
      <p:sp>
        <p:nvSpPr>
          <p:cNvPr id="13" name="TextBox 12"/>
          <p:cNvSpPr txBox="1"/>
          <p:nvPr/>
        </p:nvSpPr>
        <p:spPr>
          <a:xfrm>
            <a:off x="374904" y="1261872"/>
            <a:ext cx="11441887" cy="310896"/>
          </a:xfrm>
          <a:prstGeom prst="rect">
            <a:avLst/>
          </a:prstGeom>
          <a:noFill/>
        </p:spPr>
        <p:txBody>
          <a:bodyPr wrap="square" lIns="0" rIns="0" tIns="0" bIns="0" anchor="t">
            <a:spAutoFit/>
          </a:bodyPr>
          <a:lstStyle/>
          <a:p>
            <a:pPr algn="l">
              <a:lnSpc>
                <a:spcPct val="115000"/>
              </a:lnSpc>
              <a:spcAft>
                <a:spcPts val="0"/>
              </a:spcAft>
            </a:pPr>
            <a:r>
              <a:rPr sz="1300" b="0" i="0">
                <a:solidFill>
                  <a:srgbClr val="767576"/>
                </a:solidFill>
                <a:latin typeface="Arial"/>
              </a:rPr>
              <a:t>Weekly, Jan-23 to Jul-26, n = 178. The two sleeves are uncorrelated to each other. The steepener's largest exposure is not the BoJ.</a:t>
            </a:r>
          </a:p>
        </p:txBody>
      </p:sp>
      <p:sp>
        <p:nvSpPr>
          <p:cNvPr id="14" name="TextBox 13"/>
          <p:cNvSpPr txBox="1"/>
          <p:nvPr/>
        </p:nvSpPr>
        <p:spPr>
          <a:xfrm>
            <a:off x="11268151" y="6537960"/>
            <a:ext cx="548640" cy="201168"/>
          </a:xfrm>
          <a:prstGeom prst="rect">
            <a:avLst/>
          </a:prstGeom>
          <a:noFill/>
        </p:spPr>
        <p:txBody>
          <a:bodyPr wrap="none" lIns="0" rIns="0" tIns="0" bIns="0" anchor="t">
            <a:spAutoFit/>
          </a:bodyPr>
          <a:lstStyle/>
          <a:p>
            <a:pPr algn="r">
              <a:lnSpc>
                <a:spcPct val="100000"/>
              </a:lnSpc>
              <a:spcAft>
                <a:spcPts val="0"/>
              </a:spcAft>
            </a:pPr>
            <a:r>
              <a:rPr sz="800" b="0" i="0">
                <a:solidFill>
                  <a:srgbClr val="767576"/>
                </a:solidFill>
                <a:latin typeface="Arial"/>
              </a:rPr>
              <a:t>4</a:t>
            </a:r>
          </a:p>
        </p:txBody>
      </p:sp>
      <p:sp>
        <p:nvSpPr>
          <p:cNvPr id="15" name="TextBox 14"/>
          <p:cNvSpPr txBox="1"/>
          <p:nvPr/>
        </p:nvSpPr>
        <p:spPr>
          <a:xfrm>
            <a:off x="1563624" y="192024"/>
            <a:ext cx="5852160" cy="201168"/>
          </a:xfrm>
          <a:prstGeom prst="rect">
            <a:avLst/>
          </a:prstGeom>
          <a:noFill/>
        </p:spPr>
        <p:txBody>
          <a:bodyPr wrap="none" lIns="0" rIns="0" tIns="0" bIns="0" anchor="t">
            <a:spAutoFit/>
          </a:bodyPr>
          <a:lstStyle/>
          <a:p>
            <a:pPr algn="l">
              <a:lnSpc>
                <a:spcPct val="100000"/>
              </a:lnSpc>
              <a:spcAft>
                <a:spcPts val="0"/>
              </a:spcAft>
            </a:pPr>
            <a:r>
              <a:rPr sz="800" b="0" i="0">
                <a:solidFill>
                  <a:srgbClr val="767576"/>
                </a:solidFill>
                <a:latin typeface="Arial"/>
              </a:rPr>
              <a:t>Prototype — MoF curve to 31-Jul-26 · trade figures from the slide 8 model · not for the room</a:t>
            </a:r>
          </a:p>
        </p:txBody>
      </p:sp>
      <p:sp>
        <p:nvSpPr>
          <p:cNvPr id="16" name="TextBox 15"/>
          <p:cNvSpPr txBox="1"/>
          <p:nvPr/>
        </p:nvSpPr>
        <p:spPr>
          <a:xfrm>
            <a:off x="374904" y="1609344"/>
            <a:ext cx="3840480" cy="219456"/>
          </a:xfrm>
          <a:prstGeom prst="rect">
            <a:avLst/>
          </a:prstGeom>
          <a:noFill/>
        </p:spPr>
        <p:txBody>
          <a:bodyPr wrap="none" lIns="0" rIns="0" tIns="0" bIns="0" anchor="t">
            <a:spAutoFit/>
          </a:bodyPr>
          <a:lstStyle/>
          <a:p>
            <a:pPr algn="l">
              <a:lnSpc>
                <a:spcPct val="100000"/>
              </a:lnSpc>
              <a:spcAft>
                <a:spcPts val="0"/>
              </a:spcAft>
            </a:pPr>
            <a:r>
              <a:rPr sz="1200" b="1" i="0">
                <a:solidFill>
                  <a:srgbClr val="000000"/>
                </a:solidFill>
                <a:latin typeface="Arial"/>
              </a:rPr>
              <a:t>Correlation of weekly P&amp;L</a:t>
            </a:r>
          </a:p>
        </p:txBody>
      </p:sp>
      <p:cxnSp>
        <p:nvCxnSpPr>
          <p:cNvPr id="17" name="Connector 16"/>
          <p:cNvCxnSpPr/>
          <p:nvPr/>
        </p:nvCxnSpPr>
        <p:spPr>
          <a:xfrm>
            <a:off x="374904" y="1847088"/>
            <a:ext cx="384048" cy="0"/>
          </a:xfrm>
          <a:prstGeom prst="line">
            <a:avLst/>
          </a:prstGeom>
          <a:ln w="25400">
            <a:solidFill>
              <a:srgbClr val="DB0011"/>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2423160" y="1920240"/>
            <a:ext cx="914400" cy="182880"/>
          </a:xfrm>
          <a:prstGeom prst="rect">
            <a:avLst/>
          </a:prstGeom>
          <a:noFill/>
        </p:spPr>
        <p:txBody>
          <a:bodyPr wrap="none" lIns="0" rIns="0" tIns="0" bIns="0" anchor="t">
            <a:spAutoFit/>
          </a:bodyPr>
          <a:lstStyle/>
          <a:p>
            <a:pPr algn="ctr">
              <a:lnSpc>
                <a:spcPct val="100000"/>
              </a:lnSpc>
              <a:spcAft>
                <a:spcPts val="0"/>
              </a:spcAft>
            </a:pPr>
            <a:r>
              <a:rPr sz="850" b="1" i="0">
                <a:solidFill>
                  <a:srgbClr val="000000"/>
                </a:solidFill>
                <a:latin typeface="Arial"/>
              </a:rPr>
              <a:t>Steepener</a:t>
            </a:r>
          </a:p>
        </p:txBody>
      </p:sp>
      <p:sp>
        <p:nvSpPr>
          <p:cNvPr id="19" name="TextBox 18"/>
          <p:cNvSpPr txBox="1"/>
          <p:nvPr/>
        </p:nvSpPr>
        <p:spPr>
          <a:xfrm>
            <a:off x="3337560" y="1920240"/>
            <a:ext cx="914400" cy="182880"/>
          </a:xfrm>
          <a:prstGeom prst="rect">
            <a:avLst/>
          </a:prstGeom>
          <a:noFill/>
        </p:spPr>
        <p:txBody>
          <a:bodyPr wrap="none" lIns="0" rIns="0" tIns="0" bIns="0" anchor="t">
            <a:spAutoFit/>
          </a:bodyPr>
          <a:lstStyle/>
          <a:p>
            <a:pPr algn="ctr">
              <a:lnSpc>
                <a:spcPct val="100000"/>
              </a:lnSpc>
              <a:spcAft>
                <a:spcPts val="0"/>
              </a:spcAft>
            </a:pPr>
            <a:r>
              <a:rPr sz="850" b="1" i="0">
                <a:solidFill>
                  <a:srgbClr val="000000"/>
                </a:solidFill>
                <a:latin typeface="Arial"/>
              </a:rPr>
              <a:t>CATL</a:t>
            </a:r>
          </a:p>
        </p:txBody>
      </p:sp>
      <p:sp>
        <p:nvSpPr>
          <p:cNvPr id="20" name="TextBox 19"/>
          <p:cNvSpPr txBox="1"/>
          <p:nvPr/>
        </p:nvSpPr>
        <p:spPr>
          <a:xfrm>
            <a:off x="374904" y="2130552"/>
            <a:ext cx="3877056" cy="155448"/>
          </a:xfrm>
          <a:prstGeom prst="rect">
            <a:avLst/>
          </a:prstGeom>
          <a:noFill/>
        </p:spPr>
        <p:txBody>
          <a:bodyPr wrap="none" lIns="0" rIns="0" tIns="0" bIns="0" anchor="t">
            <a:spAutoFit/>
          </a:bodyPr>
          <a:lstStyle/>
          <a:p>
            <a:pPr algn="l">
              <a:lnSpc>
                <a:spcPct val="100000"/>
              </a:lnSpc>
              <a:spcAft>
                <a:spcPts val="0"/>
              </a:spcAft>
            </a:pPr>
            <a:r>
              <a:rPr sz="700" b="1" i="0">
                <a:solidFill>
                  <a:srgbClr val="767576"/>
                </a:solidFill>
                <a:latin typeface="Arial"/>
              </a:rPr>
              <a:t>EQUITY</a:t>
            </a:r>
          </a:p>
        </p:txBody>
      </p:sp>
      <p:sp>
        <p:nvSpPr>
          <p:cNvPr id="21" name="TextBox 20"/>
          <p:cNvSpPr txBox="1"/>
          <p:nvPr/>
        </p:nvSpPr>
        <p:spPr>
          <a:xfrm>
            <a:off x="374904" y="2324404"/>
            <a:ext cx="1956816" cy="150875"/>
          </a:xfrm>
          <a:prstGeom prst="rect">
            <a:avLst/>
          </a:prstGeom>
          <a:noFill/>
        </p:spPr>
        <p:txBody>
          <a:bodyPr wrap="none" lIns="0" rIns="0" tIns="0" bIns="0" anchor="t">
            <a:spAutoFit/>
          </a:bodyPr>
          <a:lstStyle/>
          <a:p>
            <a:pPr algn="l">
              <a:lnSpc>
                <a:spcPct val="100000"/>
              </a:lnSpc>
              <a:spcAft>
                <a:spcPts val="0"/>
              </a:spcAft>
            </a:pPr>
            <a:r>
              <a:rPr sz="850" b="0" i="0">
                <a:solidFill>
                  <a:srgbClr val="000000"/>
                </a:solidFill>
                <a:latin typeface="Arial"/>
              </a:rPr>
              <a:t>S&amp;P 500</a:t>
            </a:r>
          </a:p>
        </p:txBody>
      </p:sp>
      <p:sp>
        <p:nvSpPr>
          <p:cNvPr id="22" name="Rectangle 21"/>
          <p:cNvSpPr/>
          <p:nvPr/>
        </p:nvSpPr>
        <p:spPr>
          <a:xfrm>
            <a:off x="2450592" y="2295144"/>
            <a:ext cx="859536" cy="164592"/>
          </a:xfrm>
          <a:prstGeom prst="rect">
            <a:avLst/>
          </a:prstGeom>
          <a:solidFill>
            <a:srgbClr val="F7C9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2450592" y="2324404"/>
            <a:ext cx="859536" cy="150875"/>
          </a:xfrm>
          <a:prstGeom prst="rect">
            <a:avLst/>
          </a:prstGeom>
          <a:noFill/>
        </p:spPr>
        <p:txBody>
          <a:bodyPr wrap="none" lIns="0" rIns="0" tIns="0" bIns="0" anchor="t">
            <a:spAutoFit/>
          </a:bodyPr>
          <a:lstStyle/>
          <a:p>
            <a:pPr algn="ctr">
              <a:lnSpc>
                <a:spcPct val="100000"/>
              </a:lnSpc>
              <a:spcAft>
                <a:spcPts val="0"/>
              </a:spcAft>
            </a:pPr>
            <a:r>
              <a:rPr sz="850" b="0" i="0">
                <a:solidFill>
                  <a:srgbClr val="000000"/>
                </a:solidFill>
                <a:latin typeface="Arial"/>
              </a:rPr>
              <a:t>+0.13</a:t>
            </a:r>
          </a:p>
        </p:txBody>
      </p:sp>
      <p:sp>
        <p:nvSpPr>
          <p:cNvPr id="24" name="Rectangle 23"/>
          <p:cNvSpPr/>
          <p:nvPr/>
        </p:nvSpPr>
        <p:spPr>
          <a:xfrm>
            <a:off x="3364992" y="2295144"/>
            <a:ext cx="859536" cy="164592"/>
          </a:xfrm>
          <a:prstGeom prst="rect">
            <a:avLst/>
          </a:prstGeom>
          <a:solidFill>
            <a:srgbClr val="F4B4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3364992" y="2324404"/>
            <a:ext cx="859536" cy="150875"/>
          </a:xfrm>
          <a:prstGeom prst="rect">
            <a:avLst/>
          </a:prstGeom>
          <a:noFill/>
        </p:spPr>
        <p:txBody>
          <a:bodyPr wrap="none" lIns="0" rIns="0" tIns="0" bIns="0" anchor="t">
            <a:spAutoFit/>
          </a:bodyPr>
          <a:lstStyle/>
          <a:p>
            <a:pPr algn="ctr">
              <a:lnSpc>
                <a:spcPct val="100000"/>
              </a:lnSpc>
              <a:spcAft>
                <a:spcPts val="0"/>
              </a:spcAft>
            </a:pPr>
            <a:r>
              <a:rPr sz="850" b="0" i="0">
                <a:solidFill>
                  <a:srgbClr val="000000"/>
                </a:solidFill>
                <a:latin typeface="Arial"/>
              </a:rPr>
              <a:t>+0.17</a:t>
            </a:r>
          </a:p>
        </p:txBody>
      </p:sp>
      <p:sp>
        <p:nvSpPr>
          <p:cNvPr id="26" name="TextBox 25"/>
          <p:cNvSpPr txBox="1"/>
          <p:nvPr/>
        </p:nvSpPr>
        <p:spPr>
          <a:xfrm>
            <a:off x="374904" y="2511856"/>
            <a:ext cx="1956816" cy="150875"/>
          </a:xfrm>
          <a:prstGeom prst="rect">
            <a:avLst/>
          </a:prstGeom>
          <a:noFill/>
        </p:spPr>
        <p:txBody>
          <a:bodyPr wrap="none" lIns="0" rIns="0" tIns="0" bIns="0" anchor="t">
            <a:spAutoFit/>
          </a:bodyPr>
          <a:lstStyle/>
          <a:p>
            <a:pPr algn="l">
              <a:lnSpc>
                <a:spcPct val="100000"/>
              </a:lnSpc>
              <a:spcAft>
                <a:spcPts val="0"/>
              </a:spcAft>
            </a:pPr>
            <a:r>
              <a:rPr sz="850" b="0" i="0">
                <a:solidFill>
                  <a:srgbClr val="000000"/>
                </a:solidFill>
                <a:latin typeface="Arial"/>
              </a:rPr>
              <a:t>Nikkei 225</a:t>
            </a:r>
          </a:p>
        </p:txBody>
      </p:sp>
      <p:sp>
        <p:nvSpPr>
          <p:cNvPr id="27" name="Rectangle 26"/>
          <p:cNvSpPr/>
          <p:nvPr/>
        </p:nvSpPr>
        <p:spPr>
          <a:xfrm>
            <a:off x="2450592" y="2482596"/>
            <a:ext cx="859536" cy="164592"/>
          </a:xfrm>
          <a:prstGeom prst="rect">
            <a:avLst/>
          </a:prstGeom>
          <a:solidFill>
            <a:srgbClr val="FCEA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2450592" y="2511856"/>
            <a:ext cx="859536" cy="150875"/>
          </a:xfrm>
          <a:prstGeom prst="rect">
            <a:avLst/>
          </a:prstGeom>
          <a:noFill/>
        </p:spPr>
        <p:txBody>
          <a:bodyPr wrap="none" lIns="0" rIns="0" tIns="0" bIns="0" anchor="t">
            <a:spAutoFit/>
          </a:bodyPr>
          <a:lstStyle/>
          <a:p>
            <a:pPr algn="ctr">
              <a:lnSpc>
                <a:spcPct val="100000"/>
              </a:lnSpc>
              <a:spcAft>
                <a:spcPts val="0"/>
              </a:spcAft>
            </a:pPr>
            <a:r>
              <a:rPr sz="850" b="0" i="0">
                <a:solidFill>
                  <a:srgbClr val="000000"/>
                </a:solidFill>
                <a:latin typeface="Arial"/>
              </a:rPr>
              <a:t>+0.05</a:t>
            </a:r>
          </a:p>
        </p:txBody>
      </p:sp>
      <p:sp>
        <p:nvSpPr>
          <p:cNvPr id="29" name="Rectangle 28"/>
          <p:cNvSpPr/>
          <p:nvPr/>
        </p:nvSpPr>
        <p:spPr>
          <a:xfrm>
            <a:off x="3364992" y="2482596"/>
            <a:ext cx="859536" cy="164592"/>
          </a:xfrm>
          <a:prstGeom prst="rect">
            <a:avLst/>
          </a:prstGeom>
          <a:solidFill>
            <a:srgbClr val="F3B0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3364992" y="2511856"/>
            <a:ext cx="859536" cy="150875"/>
          </a:xfrm>
          <a:prstGeom prst="rect">
            <a:avLst/>
          </a:prstGeom>
          <a:noFill/>
        </p:spPr>
        <p:txBody>
          <a:bodyPr wrap="none" lIns="0" rIns="0" tIns="0" bIns="0" anchor="t">
            <a:spAutoFit/>
          </a:bodyPr>
          <a:lstStyle/>
          <a:p>
            <a:pPr algn="ctr">
              <a:lnSpc>
                <a:spcPct val="100000"/>
              </a:lnSpc>
              <a:spcAft>
                <a:spcPts val="0"/>
              </a:spcAft>
            </a:pPr>
            <a:r>
              <a:rPr sz="850" b="0" i="0">
                <a:solidFill>
                  <a:srgbClr val="000000"/>
                </a:solidFill>
                <a:latin typeface="Arial"/>
              </a:rPr>
              <a:t>+0.18</a:t>
            </a:r>
          </a:p>
        </p:txBody>
      </p:sp>
      <p:sp>
        <p:nvSpPr>
          <p:cNvPr id="31" name="TextBox 30"/>
          <p:cNvSpPr txBox="1"/>
          <p:nvPr/>
        </p:nvSpPr>
        <p:spPr>
          <a:xfrm>
            <a:off x="374904" y="2699308"/>
            <a:ext cx="1956816" cy="150875"/>
          </a:xfrm>
          <a:prstGeom prst="rect">
            <a:avLst/>
          </a:prstGeom>
          <a:noFill/>
        </p:spPr>
        <p:txBody>
          <a:bodyPr wrap="none" lIns="0" rIns="0" tIns="0" bIns="0" anchor="t">
            <a:spAutoFit/>
          </a:bodyPr>
          <a:lstStyle/>
          <a:p>
            <a:pPr algn="l">
              <a:lnSpc>
                <a:spcPct val="100000"/>
              </a:lnSpc>
              <a:spcAft>
                <a:spcPts val="0"/>
              </a:spcAft>
            </a:pPr>
            <a:r>
              <a:rPr sz="850" b="0" i="0">
                <a:solidFill>
                  <a:srgbClr val="000000"/>
                </a:solidFill>
                <a:latin typeface="Arial"/>
              </a:rPr>
              <a:t>Hang Seng</a:t>
            </a:r>
          </a:p>
        </p:txBody>
      </p:sp>
      <p:sp>
        <p:nvSpPr>
          <p:cNvPr id="32" name="Rectangle 31"/>
          <p:cNvSpPr/>
          <p:nvPr/>
        </p:nvSpPr>
        <p:spPr>
          <a:xfrm>
            <a:off x="2450592" y="2670048"/>
            <a:ext cx="859536" cy="164592"/>
          </a:xfrm>
          <a:prstGeom prst="rect">
            <a:avLst/>
          </a:prstGeom>
          <a:solidFill>
            <a:srgbClr val="FBE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2450592" y="2699308"/>
            <a:ext cx="859536" cy="150875"/>
          </a:xfrm>
          <a:prstGeom prst="rect">
            <a:avLst/>
          </a:prstGeom>
          <a:noFill/>
        </p:spPr>
        <p:txBody>
          <a:bodyPr wrap="none" lIns="0" rIns="0" tIns="0" bIns="0" anchor="t">
            <a:spAutoFit/>
          </a:bodyPr>
          <a:lstStyle/>
          <a:p>
            <a:pPr algn="ctr">
              <a:lnSpc>
                <a:spcPct val="100000"/>
              </a:lnSpc>
              <a:spcAft>
                <a:spcPts val="0"/>
              </a:spcAft>
            </a:pPr>
            <a:r>
              <a:rPr sz="850" b="0" i="0">
                <a:solidFill>
                  <a:srgbClr val="000000"/>
                </a:solidFill>
                <a:latin typeface="Arial"/>
              </a:rPr>
              <a:t>+0.06</a:t>
            </a:r>
          </a:p>
        </p:txBody>
      </p:sp>
      <p:sp>
        <p:nvSpPr>
          <p:cNvPr id="34" name="Rectangle 33"/>
          <p:cNvSpPr/>
          <p:nvPr/>
        </p:nvSpPr>
        <p:spPr>
          <a:xfrm>
            <a:off x="3364992" y="2670048"/>
            <a:ext cx="859536" cy="164592"/>
          </a:xfrm>
          <a:prstGeom prst="rect">
            <a:avLst/>
          </a:prstGeom>
          <a:solidFill>
            <a:srgbClr val="E44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3364992" y="2699308"/>
            <a:ext cx="859536" cy="150875"/>
          </a:xfrm>
          <a:prstGeom prst="rect">
            <a:avLst/>
          </a:prstGeom>
          <a:noFill/>
        </p:spPr>
        <p:txBody>
          <a:bodyPr wrap="none" lIns="0" rIns="0" tIns="0" bIns="0" anchor="t">
            <a:spAutoFit/>
          </a:bodyPr>
          <a:lstStyle/>
          <a:p>
            <a:pPr algn="ctr">
              <a:lnSpc>
                <a:spcPct val="100000"/>
              </a:lnSpc>
              <a:spcAft>
                <a:spcPts val="0"/>
              </a:spcAft>
            </a:pPr>
            <a:r>
              <a:rPr sz="850" b="1" i="0">
                <a:solidFill>
                  <a:srgbClr val="FFFFFF"/>
                </a:solidFill>
                <a:latin typeface="Arial"/>
              </a:rPr>
              <a:t>+0.44</a:t>
            </a:r>
          </a:p>
        </p:txBody>
      </p:sp>
      <p:sp>
        <p:nvSpPr>
          <p:cNvPr id="36" name="TextBox 35"/>
          <p:cNvSpPr txBox="1"/>
          <p:nvPr/>
        </p:nvSpPr>
        <p:spPr>
          <a:xfrm>
            <a:off x="374904" y="2886760"/>
            <a:ext cx="1956816" cy="150875"/>
          </a:xfrm>
          <a:prstGeom prst="rect">
            <a:avLst/>
          </a:prstGeom>
          <a:noFill/>
        </p:spPr>
        <p:txBody>
          <a:bodyPr wrap="none" lIns="0" rIns="0" tIns="0" bIns="0" anchor="t">
            <a:spAutoFit/>
          </a:bodyPr>
          <a:lstStyle/>
          <a:p>
            <a:pPr algn="l">
              <a:lnSpc>
                <a:spcPct val="100000"/>
              </a:lnSpc>
              <a:spcAft>
                <a:spcPts val="0"/>
              </a:spcAft>
            </a:pPr>
            <a:r>
              <a:rPr sz="850" b="0" i="0">
                <a:solidFill>
                  <a:srgbClr val="000000"/>
                </a:solidFill>
                <a:latin typeface="Arial"/>
              </a:rPr>
              <a:t>KOSPI</a:t>
            </a:r>
          </a:p>
        </p:txBody>
      </p:sp>
      <p:sp>
        <p:nvSpPr>
          <p:cNvPr id="37" name="Rectangle 36"/>
          <p:cNvSpPr/>
          <p:nvPr/>
        </p:nvSpPr>
        <p:spPr>
          <a:xfrm>
            <a:off x="2450592" y="2857500"/>
            <a:ext cx="859536" cy="164592"/>
          </a:xfrm>
          <a:prstGeom prst="rect">
            <a:avLst/>
          </a:prstGeom>
          <a:solidFill>
            <a:srgbClr val="FEFE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2450592" y="2886760"/>
            <a:ext cx="859536" cy="150875"/>
          </a:xfrm>
          <a:prstGeom prst="rect">
            <a:avLst/>
          </a:prstGeom>
          <a:noFill/>
        </p:spPr>
        <p:txBody>
          <a:bodyPr wrap="none" lIns="0" rIns="0" tIns="0" bIns="0" anchor="t">
            <a:spAutoFit/>
          </a:bodyPr>
          <a:lstStyle/>
          <a:p>
            <a:pPr algn="ctr">
              <a:lnSpc>
                <a:spcPct val="100000"/>
              </a:lnSpc>
              <a:spcAft>
                <a:spcPts val="0"/>
              </a:spcAft>
            </a:pPr>
            <a:r>
              <a:rPr sz="850" b="0" i="0">
                <a:solidFill>
                  <a:srgbClr val="000000"/>
                </a:solidFill>
                <a:latin typeface="Arial"/>
              </a:rPr>
              <a:t>-0.00</a:t>
            </a:r>
          </a:p>
        </p:txBody>
      </p:sp>
      <p:sp>
        <p:nvSpPr>
          <p:cNvPr id="39" name="Rectangle 38"/>
          <p:cNvSpPr/>
          <p:nvPr/>
        </p:nvSpPr>
        <p:spPr>
          <a:xfrm>
            <a:off x="3364992" y="2857500"/>
            <a:ext cx="859536" cy="164592"/>
          </a:xfrm>
          <a:prstGeom prst="rect">
            <a:avLst/>
          </a:prstGeom>
          <a:solidFill>
            <a:srgbClr val="F9D5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3364992" y="2886760"/>
            <a:ext cx="859536" cy="150875"/>
          </a:xfrm>
          <a:prstGeom prst="rect">
            <a:avLst/>
          </a:prstGeom>
          <a:noFill/>
        </p:spPr>
        <p:txBody>
          <a:bodyPr wrap="none" lIns="0" rIns="0" tIns="0" bIns="0" anchor="t">
            <a:spAutoFit/>
          </a:bodyPr>
          <a:lstStyle/>
          <a:p>
            <a:pPr algn="ctr">
              <a:lnSpc>
                <a:spcPct val="100000"/>
              </a:lnSpc>
              <a:spcAft>
                <a:spcPts val="0"/>
              </a:spcAft>
            </a:pPr>
            <a:r>
              <a:rPr sz="850" b="0" i="0">
                <a:solidFill>
                  <a:srgbClr val="000000"/>
                </a:solidFill>
                <a:latin typeface="Arial"/>
              </a:rPr>
              <a:t>+0.10</a:t>
            </a:r>
          </a:p>
        </p:txBody>
      </p:sp>
      <p:sp>
        <p:nvSpPr>
          <p:cNvPr id="41" name="TextBox 40"/>
          <p:cNvSpPr txBox="1"/>
          <p:nvPr/>
        </p:nvSpPr>
        <p:spPr>
          <a:xfrm>
            <a:off x="374904" y="3074212"/>
            <a:ext cx="1956816" cy="150875"/>
          </a:xfrm>
          <a:prstGeom prst="rect">
            <a:avLst/>
          </a:prstGeom>
          <a:noFill/>
        </p:spPr>
        <p:txBody>
          <a:bodyPr wrap="none" lIns="0" rIns="0" tIns="0" bIns="0" anchor="t">
            <a:spAutoFit/>
          </a:bodyPr>
          <a:lstStyle/>
          <a:p>
            <a:pPr algn="l">
              <a:lnSpc>
                <a:spcPct val="100000"/>
              </a:lnSpc>
              <a:spcAft>
                <a:spcPts val="0"/>
              </a:spcAft>
            </a:pPr>
            <a:r>
              <a:rPr sz="850" b="0" i="0">
                <a:solidFill>
                  <a:srgbClr val="000000"/>
                </a:solidFill>
                <a:latin typeface="Arial"/>
              </a:rPr>
              <a:t>MSCI Asia ex-Japan</a:t>
            </a:r>
          </a:p>
        </p:txBody>
      </p:sp>
      <p:sp>
        <p:nvSpPr>
          <p:cNvPr id="42" name="Rectangle 41"/>
          <p:cNvSpPr/>
          <p:nvPr/>
        </p:nvSpPr>
        <p:spPr>
          <a:xfrm>
            <a:off x="2450592" y="3044952"/>
            <a:ext cx="859536" cy="164592"/>
          </a:xfrm>
          <a:prstGeom prst="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2450592" y="3074212"/>
            <a:ext cx="859536" cy="150875"/>
          </a:xfrm>
          <a:prstGeom prst="rect">
            <a:avLst/>
          </a:prstGeom>
          <a:noFill/>
        </p:spPr>
        <p:txBody>
          <a:bodyPr wrap="none" lIns="0" rIns="0" tIns="0" bIns="0" anchor="t">
            <a:spAutoFit/>
          </a:bodyPr>
          <a:lstStyle/>
          <a:p>
            <a:pPr algn="ctr">
              <a:lnSpc>
                <a:spcPct val="100000"/>
              </a:lnSpc>
              <a:spcAft>
                <a:spcPts val="0"/>
              </a:spcAft>
            </a:pPr>
            <a:r>
              <a:rPr sz="850" b="0" i="0">
                <a:solidFill>
                  <a:srgbClr val="000000"/>
                </a:solidFill>
                <a:latin typeface="Arial"/>
              </a:rPr>
              <a:t>+0.04</a:t>
            </a:r>
          </a:p>
        </p:txBody>
      </p:sp>
      <p:sp>
        <p:nvSpPr>
          <p:cNvPr id="44" name="Rectangle 43"/>
          <p:cNvSpPr/>
          <p:nvPr/>
        </p:nvSpPr>
        <p:spPr>
          <a:xfrm>
            <a:off x="3364992" y="3044952"/>
            <a:ext cx="859536" cy="164592"/>
          </a:xfrm>
          <a:prstGeom prst="rect">
            <a:avLst/>
          </a:prstGeom>
          <a:solidFill>
            <a:srgbClr val="EE88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3364992" y="3074212"/>
            <a:ext cx="859536" cy="150875"/>
          </a:xfrm>
          <a:prstGeom prst="rect">
            <a:avLst/>
          </a:prstGeom>
          <a:noFill/>
        </p:spPr>
        <p:txBody>
          <a:bodyPr wrap="none" lIns="0" rIns="0" tIns="0" bIns="0" anchor="t">
            <a:spAutoFit/>
          </a:bodyPr>
          <a:lstStyle/>
          <a:p>
            <a:pPr algn="ctr">
              <a:lnSpc>
                <a:spcPct val="100000"/>
              </a:lnSpc>
              <a:spcAft>
                <a:spcPts val="0"/>
              </a:spcAft>
            </a:pPr>
            <a:r>
              <a:rPr sz="850" b="0" i="0">
                <a:solidFill>
                  <a:srgbClr val="000000"/>
                </a:solidFill>
                <a:latin typeface="Arial"/>
              </a:rPr>
              <a:t>+0.28</a:t>
            </a:r>
          </a:p>
        </p:txBody>
      </p:sp>
      <p:sp>
        <p:nvSpPr>
          <p:cNvPr id="46" name="TextBox 45"/>
          <p:cNvSpPr txBox="1"/>
          <p:nvPr/>
        </p:nvSpPr>
        <p:spPr>
          <a:xfrm>
            <a:off x="374904" y="3241548"/>
            <a:ext cx="3877056" cy="155448"/>
          </a:xfrm>
          <a:prstGeom prst="rect">
            <a:avLst/>
          </a:prstGeom>
          <a:noFill/>
        </p:spPr>
        <p:txBody>
          <a:bodyPr wrap="none" lIns="0" rIns="0" tIns="0" bIns="0" anchor="t">
            <a:spAutoFit/>
          </a:bodyPr>
          <a:lstStyle/>
          <a:p>
            <a:pPr algn="l">
              <a:lnSpc>
                <a:spcPct val="100000"/>
              </a:lnSpc>
              <a:spcAft>
                <a:spcPts val="0"/>
              </a:spcAft>
            </a:pPr>
            <a:r>
              <a:rPr sz="700" b="1" i="0">
                <a:solidFill>
                  <a:srgbClr val="767576"/>
                </a:solidFill>
                <a:latin typeface="Arial"/>
              </a:rPr>
              <a:t>RATES AND CREDIT</a:t>
            </a:r>
          </a:p>
        </p:txBody>
      </p:sp>
      <p:sp>
        <p:nvSpPr>
          <p:cNvPr id="47" name="TextBox 46"/>
          <p:cNvSpPr txBox="1"/>
          <p:nvPr/>
        </p:nvSpPr>
        <p:spPr>
          <a:xfrm>
            <a:off x="374904" y="3435400"/>
            <a:ext cx="1956816" cy="150875"/>
          </a:xfrm>
          <a:prstGeom prst="rect">
            <a:avLst/>
          </a:prstGeom>
          <a:noFill/>
        </p:spPr>
        <p:txBody>
          <a:bodyPr wrap="none" lIns="0" rIns="0" tIns="0" bIns="0" anchor="t">
            <a:spAutoFit/>
          </a:bodyPr>
          <a:lstStyle/>
          <a:p>
            <a:pPr algn="l">
              <a:lnSpc>
                <a:spcPct val="100000"/>
              </a:lnSpc>
              <a:spcAft>
                <a:spcPts val="0"/>
              </a:spcAft>
            </a:pPr>
            <a:r>
              <a:rPr sz="850" b="0" i="0">
                <a:solidFill>
                  <a:srgbClr val="000000"/>
                </a:solidFill>
                <a:latin typeface="Arial"/>
              </a:rPr>
              <a:t>UST 10y yield</a:t>
            </a:r>
          </a:p>
        </p:txBody>
      </p:sp>
      <p:sp>
        <p:nvSpPr>
          <p:cNvPr id="48" name="Rectangle 47"/>
          <p:cNvSpPr/>
          <p:nvPr/>
        </p:nvSpPr>
        <p:spPr>
          <a:xfrm>
            <a:off x="2450592" y="3406140"/>
            <a:ext cx="859536" cy="164592"/>
          </a:xfrm>
          <a:prstGeom prst="rect">
            <a:avLst/>
          </a:prstGeom>
          <a:solidFill>
            <a:srgbClr val="DF1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2450592" y="3435400"/>
            <a:ext cx="859536" cy="150875"/>
          </a:xfrm>
          <a:prstGeom prst="rect">
            <a:avLst/>
          </a:prstGeom>
          <a:noFill/>
        </p:spPr>
        <p:txBody>
          <a:bodyPr wrap="none" lIns="0" rIns="0" tIns="0" bIns="0" anchor="t">
            <a:spAutoFit/>
          </a:bodyPr>
          <a:lstStyle/>
          <a:p>
            <a:pPr algn="ctr">
              <a:lnSpc>
                <a:spcPct val="100000"/>
              </a:lnSpc>
              <a:spcAft>
                <a:spcPts val="0"/>
              </a:spcAft>
            </a:pPr>
            <a:r>
              <a:rPr sz="850" b="1" i="0">
                <a:solidFill>
                  <a:srgbClr val="FFFFFF"/>
                </a:solidFill>
                <a:latin typeface="Arial"/>
              </a:rPr>
              <a:t>+0.53</a:t>
            </a:r>
          </a:p>
        </p:txBody>
      </p:sp>
      <p:sp>
        <p:nvSpPr>
          <p:cNvPr id="50" name="Rectangle 49"/>
          <p:cNvSpPr/>
          <p:nvPr/>
        </p:nvSpPr>
        <p:spPr>
          <a:xfrm>
            <a:off x="3364992" y="3406140"/>
            <a:ext cx="859536" cy="164592"/>
          </a:xfrm>
          <a:prstGeom prst="rect">
            <a:avLst/>
          </a:prstGeom>
          <a:solidFill>
            <a:srgbClr val="F9D5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3364992" y="3435400"/>
            <a:ext cx="859536" cy="150875"/>
          </a:xfrm>
          <a:prstGeom prst="rect">
            <a:avLst/>
          </a:prstGeom>
          <a:noFill/>
        </p:spPr>
        <p:txBody>
          <a:bodyPr wrap="none" lIns="0" rIns="0" tIns="0" bIns="0" anchor="t">
            <a:spAutoFit/>
          </a:bodyPr>
          <a:lstStyle/>
          <a:p>
            <a:pPr algn="ctr">
              <a:lnSpc>
                <a:spcPct val="100000"/>
              </a:lnSpc>
              <a:spcAft>
                <a:spcPts val="0"/>
              </a:spcAft>
            </a:pPr>
            <a:r>
              <a:rPr sz="850" b="0" i="0">
                <a:solidFill>
                  <a:srgbClr val="000000"/>
                </a:solidFill>
                <a:latin typeface="Arial"/>
              </a:rPr>
              <a:t>+0.10</a:t>
            </a:r>
          </a:p>
        </p:txBody>
      </p:sp>
      <p:sp>
        <p:nvSpPr>
          <p:cNvPr id="52" name="TextBox 51"/>
          <p:cNvSpPr txBox="1"/>
          <p:nvPr/>
        </p:nvSpPr>
        <p:spPr>
          <a:xfrm>
            <a:off x="374904" y="3622852"/>
            <a:ext cx="1956816" cy="150875"/>
          </a:xfrm>
          <a:prstGeom prst="rect">
            <a:avLst/>
          </a:prstGeom>
          <a:noFill/>
        </p:spPr>
        <p:txBody>
          <a:bodyPr wrap="none" lIns="0" rIns="0" tIns="0" bIns="0" anchor="t">
            <a:spAutoFit/>
          </a:bodyPr>
          <a:lstStyle/>
          <a:p>
            <a:pPr algn="l">
              <a:lnSpc>
                <a:spcPct val="100000"/>
              </a:lnSpc>
              <a:spcAft>
                <a:spcPts val="0"/>
              </a:spcAft>
            </a:pPr>
            <a:r>
              <a:rPr sz="850" b="0" i="0">
                <a:solidFill>
                  <a:srgbClr val="000000"/>
                </a:solidFill>
                <a:latin typeface="Arial"/>
              </a:rPr>
              <a:t>UST 20y+ price</a:t>
            </a:r>
          </a:p>
        </p:txBody>
      </p:sp>
      <p:sp>
        <p:nvSpPr>
          <p:cNvPr id="53" name="Rectangle 52"/>
          <p:cNvSpPr/>
          <p:nvPr/>
        </p:nvSpPr>
        <p:spPr>
          <a:xfrm>
            <a:off x="2450592" y="3593592"/>
            <a:ext cx="859536" cy="164592"/>
          </a:xfrm>
          <a:prstGeom prst="rect">
            <a:avLst/>
          </a:prstGeom>
          <a:solidFill>
            <a:srgbClr val="627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Box 53"/>
          <p:cNvSpPr txBox="1"/>
          <p:nvPr/>
        </p:nvSpPr>
        <p:spPr>
          <a:xfrm>
            <a:off x="2450592" y="3622852"/>
            <a:ext cx="859536" cy="150875"/>
          </a:xfrm>
          <a:prstGeom prst="rect">
            <a:avLst/>
          </a:prstGeom>
          <a:noFill/>
        </p:spPr>
        <p:txBody>
          <a:bodyPr wrap="none" lIns="0" rIns="0" tIns="0" bIns="0" anchor="t">
            <a:spAutoFit/>
          </a:bodyPr>
          <a:lstStyle/>
          <a:p>
            <a:pPr algn="ctr">
              <a:lnSpc>
                <a:spcPct val="100000"/>
              </a:lnSpc>
              <a:spcAft>
                <a:spcPts val="0"/>
              </a:spcAft>
            </a:pPr>
            <a:r>
              <a:rPr sz="850" b="1" i="0">
                <a:solidFill>
                  <a:srgbClr val="FFFFFF"/>
                </a:solidFill>
                <a:latin typeface="Arial"/>
              </a:rPr>
              <a:t>-0.50</a:t>
            </a:r>
          </a:p>
        </p:txBody>
      </p:sp>
      <p:sp>
        <p:nvSpPr>
          <p:cNvPr id="55" name="Rectangle 54"/>
          <p:cNvSpPr/>
          <p:nvPr/>
        </p:nvSpPr>
        <p:spPr>
          <a:xfrm>
            <a:off x="3364992" y="3593592"/>
            <a:ext cx="859536" cy="164592"/>
          </a:xfrm>
          <a:prstGeom prst="rect">
            <a:avLst/>
          </a:prstGeom>
          <a:solidFill>
            <a:srgbClr val="DDE0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3364992" y="3622852"/>
            <a:ext cx="859536" cy="150875"/>
          </a:xfrm>
          <a:prstGeom prst="rect">
            <a:avLst/>
          </a:prstGeom>
          <a:noFill/>
        </p:spPr>
        <p:txBody>
          <a:bodyPr wrap="none" lIns="0" rIns="0" tIns="0" bIns="0" anchor="t">
            <a:spAutoFit/>
          </a:bodyPr>
          <a:lstStyle/>
          <a:p>
            <a:pPr algn="ctr">
              <a:lnSpc>
                <a:spcPct val="100000"/>
              </a:lnSpc>
              <a:spcAft>
                <a:spcPts val="0"/>
              </a:spcAft>
            </a:pPr>
            <a:r>
              <a:rPr sz="850" b="0" i="0">
                <a:solidFill>
                  <a:srgbClr val="000000"/>
                </a:solidFill>
                <a:latin typeface="Arial"/>
              </a:rPr>
              <a:t>-0.11</a:t>
            </a:r>
          </a:p>
        </p:txBody>
      </p:sp>
      <p:sp>
        <p:nvSpPr>
          <p:cNvPr id="57" name="TextBox 56"/>
          <p:cNvSpPr txBox="1"/>
          <p:nvPr/>
        </p:nvSpPr>
        <p:spPr>
          <a:xfrm>
            <a:off x="374904" y="3810304"/>
            <a:ext cx="1956816" cy="150875"/>
          </a:xfrm>
          <a:prstGeom prst="rect">
            <a:avLst/>
          </a:prstGeom>
          <a:noFill/>
        </p:spPr>
        <p:txBody>
          <a:bodyPr wrap="none" lIns="0" rIns="0" tIns="0" bIns="0" anchor="t">
            <a:spAutoFit/>
          </a:bodyPr>
          <a:lstStyle/>
          <a:p>
            <a:pPr algn="l">
              <a:lnSpc>
                <a:spcPct val="100000"/>
              </a:lnSpc>
              <a:spcAft>
                <a:spcPts val="0"/>
              </a:spcAft>
            </a:pPr>
            <a:r>
              <a:rPr sz="850" b="0" i="0">
                <a:solidFill>
                  <a:srgbClr val="000000"/>
                </a:solidFill>
                <a:latin typeface="Arial"/>
              </a:rPr>
              <a:t>US IG</a:t>
            </a:r>
          </a:p>
        </p:txBody>
      </p:sp>
      <p:sp>
        <p:nvSpPr>
          <p:cNvPr id="58" name="Rectangle 57"/>
          <p:cNvSpPr/>
          <p:nvPr/>
        </p:nvSpPr>
        <p:spPr>
          <a:xfrm>
            <a:off x="2450592" y="3781044"/>
            <a:ext cx="859536" cy="164592"/>
          </a:xfrm>
          <a:prstGeom prst="rect">
            <a:avLst/>
          </a:prstGeom>
          <a:solidFill>
            <a:srgbClr val="7E89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Box 58"/>
          <p:cNvSpPr txBox="1"/>
          <p:nvPr/>
        </p:nvSpPr>
        <p:spPr>
          <a:xfrm>
            <a:off x="2450592" y="3810304"/>
            <a:ext cx="859536" cy="150875"/>
          </a:xfrm>
          <a:prstGeom prst="rect">
            <a:avLst/>
          </a:prstGeom>
          <a:noFill/>
        </p:spPr>
        <p:txBody>
          <a:bodyPr wrap="none" lIns="0" rIns="0" tIns="0" bIns="0" anchor="t">
            <a:spAutoFit/>
          </a:bodyPr>
          <a:lstStyle/>
          <a:p>
            <a:pPr algn="ctr">
              <a:lnSpc>
                <a:spcPct val="100000"/>
              </a:lnSpc>
              <a:spcAft>
                <a:spcPts val="0"/>
              </a:spcAft>
            </a:pPr>
            <a:r>
              <a:rPr sz="850" b="1" i="0">
                <a:solidFill>
                  <a:srgbClr val="FFFFFF"/>
                </a:solidFill>
                <a:latin typeface="Arial"/>
              </a:rPr>
              <a:t>-0.41</a:t>
            </a:r>
          </a:p>
        </p:txBody>
      </p:sp>
      <p:sp>
        <p:nvSpPr>
          <p:cNvPr id="60" name="Rectangle 59"/>
          <p:cNvSpPr/>
          <p:nvPr/>
        </p:nvSpPr>
        <p:spPr>
          <a:xfrm>
            <a:off x="3364992" y="3781044"/>
            <a:ext cx="859536" cy="164592"/>
          </a:xfrm>
          <a:prstGeom prst="rect">
            <a:avLst/>
          </a:prstGeom>
          <a:solidFill>
            <a:srgbClr val="FCF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TextBox 60"/>
          <p:cNvSpPr txBox="1"/>
          <p:nvPr/>
        </p:nvSpPr>
        <p:spPr>
          <a:xfrm>
            <a:off x="3364992" y="3810304"/>
            <a:ext cx="859536" cy="150875"/>
          </a:xfrm>
          <a:prstGeom prst="rect">
            <a:avLst/>
          </a:prstGeom>
          <a:noFill/>
        </p:spPr>
        <p:txBody>
          <a:bodyPr wrap="none" lIns="0" rIns="0" tIns="0" bIns="0" anchor="t">
            <a:spAutoFit/>
          </a:bodyPr>
          <a:lstStyle/>
          <a:p>
            <a:pPr algn="ctr">
              <a:lnSpc>
                <a:spcPct val="100000"/>
              </a:lnSpc>
              <a:spcAft>
                <a:spcPts val="0"/>
              </a:spcAft>
            </a:pPr>
            <a:r>
              <a:rPr sz="850" b="0" i="0">
                <a:solidFill>
                  <a:srgbClr val="000000"/>
                </a:solidFill>
                <a:latin typeface="Arial"/>
              </a:rPr>
              <a:t>-0.01</a:t>
            </a:r>
          </a:p>
        </p:txBody>
      </p:sp>
      <p:sp>
        <p:nvSpPr>
          <p:cNvPr id="62" name="TextBox 61"/>
          <p:cNvSpPr txBox="1"/>
          <p:nvPr/>
        </p:nvSpPr>
        <p:spPr>
          <a:xfrm>
            <a:off x="374904" y="3997756"/>
            <a:ext cx="1956816" cy="150875"/>
          </a:xfrm>
          <a:prstGeom prst="rect">
            <a:avLst/>
          </a:prstGeom>
          <a:noFill/>
        </p:spPr>
        <p:txBody>
          <a:bodyPr wrap="none" lIns="0" rIns="0" tIns="0" bIns="0" anchor="t">
            <a:spAutoFit/>
          </a:bodyPr>
          <a:lstStyle/>
          <a:p>
            <a:pPr algn="l">
              <a:lnSpc>
                <a:spcPct val="100000"/>
              </a:lnSpc>
              <a:spcAft>
                <a:spcPts val="0"/>
              </a:spcAft>
            </a:pPr>
            <a:r>
              <a:rPr sz="850" b="0" i="0">
                <a:solidFill>
                  <a:srgbClr val="000000"/>
                </a:solidFill>
                <a:latin typeface="Arial"/>
              </a:rPr>
              <a:t>US HY</a:t>
            </a:r>
          </a:p>
        </p:txBody>
      </p:sp>
      <p:sp>
        <p:nvSpPr>
          <p:cNvPr id="63" name="Rectangle 62"/>
          <p:cNvSpPr/>
          <p:nvPr/>
        </p:nvSpPr>
        <p:spPr>
          <a:xfrm>
            <a:off x="2450592" y="3968496"/>
            <a:ext cx="859536" cy="164592"/>
          </a:xfrm>
          <a:prstGeom prst="rect">
            <a:avLst/>
          </a:prstGeom>
          <a:solidFill>
            <a:srgbClr val="E5E8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TextBox 63"/>
          <p:cNvSpPr txBox="1"/>
          <p:nvPr/>
        </p:nvSpPr>
        <p:spPr>
          <a:xfrm>
            <a:off x="2450592" y="3997756"/>
            <a:ext cx="859536" cy="150875"/>
          </a:xfrm>
          <a:prstGeom prst="rect">
            <a:avLst/>
          </a:prstGeom>
          <a:noFill/>
        </p:spPr>
        <p:txBody>
          <a:bodyPr wrap="none" lIns="0" rIns="0" tIns="0" bIns="0" anchor="t">
            <a:spAutoFit/>
          </a:bodyPr>
          <a:lstStyle/>
          <a:p>
            <a:pPr algn="ctr">
              <a:lnSpc>
                <a:spcPct val="100000"/>
              </a:lnSpc>
              <a:spcAft>
                <a:spcPts val="0"/>
              </a:spcAft>
            </a:pPr>
            <a:r>
              <a:rPr sz="850" b="0" i="0">
                <a:solidFill>
                  <a:srgbClr val="000000"/>
                </a:solidFill>
                <a:latin typeface="Arial"/>
              </a:rPr>
              <a:t>-0.08</a:t>
            </a:r>
          </a:p>
        </p:txBody>
      </p:sp>
      <p:sp>
        <p:nvSpPr>
          <p:cNvPr id="65" name="Rectangle 64"/>
          <p:cNvSpPr/>
          <p:nvPr/>
        </p:nvSpPr>
        <p:spPr>
          <a:xfrm>
            <a:off x="3364992" y="3968496"/>
            <a:ext cx="859536" cy="164592"/>
          </a:xfrm>
          <a:prstGeom prst="rect">
            <a:avLst/>
          </a:prstGeom>
          <a:solidFill>
            <a:srgbClr val="F7CC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TextBox 65"/>
          <p:cNvSpPr txBox="1"/>
          <p:nvPr/>
        </p:nvSpPr>
        <p:spPr>
          <a:xfrm>
            <a:off x="3364992" y="3997756"/>
            <a:ext cx="859536" cy="150875"/>
          </a:xfrm>
          <a:prstGeom prst="rect">
            <a:avLst/>
          </a:prstGeom>
          <a:noFill/>
        </p:spPr>
        <p:txBody>
          <a:bodyPr wrap="none" lIns="0" rIns="0" tIns="0" bIns="0" anchor="t">
            <a:spAutoFit/>
          </a:bodyPr>
          <a:lstStyle/>
          <a:p>
            <a:pPr algn="ctr">
              <a:lnSpc>
                <a:spcPct val="100000"/>
              </a:lnSpc>
              <a:spcAft>
                <a:spcPts val="0"/>
              </a:spcAft>
            </a:pPr>
            <a:r>
              <a:rPr sz="850" b="0" i="0">
                <a:solidFill>
                  <a:srgbClr val="000000"/>
                </a:solidFill>
                <a:latin typeface="Arial"/>
              </a:rPr>
              <a:t>+0.12</a:t>
            </a:r>
          </a:p>
        </p:txBody>
      </p:sp>
      <p:sp>
        <p:nvSpPr>
          <p:cNvPr id="67" name="TextBox 66"/>
          <p:cNvSpPr txBox="1"/>
          <p:nvPr/>
        </p:nvSpPr>
        <p:spPr>
          <a:xfrm>
            <a:off x="374904" y="4165092"/>
            <a:ext cx="3877056" cy="155448"/>
          </a:xfrm>
          <a:prstGeom prst="rect">
            <a:avLst/>
          </a:prstGeom>
          <a:noFill/>
        </p:spPr>
        <p:txBody>
          <a:bodyPr wrap="none" lIns="0" rIns="0" tIns="0" bIns="0" anchor="t">
            <a:spAutoFit/>
          </a:bodyPr>
          <a:lstStyle/>
          <a:p>
            <a:pPr algn="l">
              <a:lnSpc>
                <a:spcPct val="100000"/>
              </a:lnSpc>
              <a:spcAft>
                <a:spcPts val="0"/>
              </a:spcAft>
            </a:pPr>
            <a:r>
              <a:rPr sz="700" b="1" i="0">
                <a:solidFill>
                  <a:srgbClr val="767576"/>
                </a:solidFill>
                <a:latin typeface="Arial"/>
              </a:rPr>
              <a:t>FX</a:t>
            </a:r>
          </a:p>
        </p:txBody>
      </p:sp>
      <p:sp>
        <p:nvSpPr>
          <p:cNvPr id="68" name="TextBox 67"/>
          <p:cNvSpPr txBox="1"/>
          <p:nvPr/>
        </p:nvSpPr>
        <p:spPr>
          <a:xfrm>
            <a:off x="374904" y="4358944"/>
            <a:ext cx="1956816" cy="150875"/>
          </a:xfrm>
          <a:prstGeom prst="rect">
            <a:avLst/>
          </a:prstGeom>
          <a:noFill/>
        </p:spPr>
        <p:txBody>
          <a:bodyPr wrap="none" lIns="0" rIns="0" tIns="0" bIns="0" anchor="t">
            <a:spAutoFit/>
          </a:bodyPr>
          <a:lstStyle/>
          <a:p>
            <a:pPr algn="l">
              <a:lnSpc>
                <a:spcPct val="100000"/>
              </a:lnSpc>
              <a:spcAft>
                <a:spcPts val="0"/>
              </a:spcAft>
            </a:pPr>
            <a:r>
              <a:rPr sz="850" b="0" i="0">
                <a:solidFill>
                  <a:srgbClr val="000000"/>
                </a:solidFill>
                <a:latin typeface="Arial"/>
              </a:rPr>
              <a:t>Dollar index</a:t>
            </a:r>
          </a:p>
        </p:txBody>
      </p:sp>
      <p:sp>
        <p:nvSpPr>
          <p:cNvPr id="69" name="Rectangle 68"/>
          <p:cNvSpPr/>
          <p:nvPr/>
        </p:nvSpPr>
        <p:spPr>
          <a:xfrm>
            <a:off x="2450592" y="4329684"/>
            <a:ext cx="859536" cy="164592"/>
          </a:xfrm>
          <a:prstGeom prst="rect">
            <a:avLst/>
          </a:prstGeom>
          <a:solidFill>
            <a:srgbClr val="F7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TextBox 69"/>
          <p:cNvSpPr txBox="1"/>
          <p:nvPr/>
        </p:nvSpPr>
        <p:spPr>
          <a:xfrm>
            <a:off x="2450592" y="4358944"/>
            <a:ext cx="859536" cy="150875"/>
          </a:xfrm>
          <a:prstGeom prst="rect">
            <a:avLst/>
          </a:prstGeom>
          <a:noFill/>
        </p:spPr>
        <p:txBody>
          <a:bodyPr wrap="none" lIns="0" rIns="0" tIns="0" bIns="0" anchor="t">
            <a:spAutoFit/>
          </a:bodyPr>
          <a:lstStyle/>
          <a:p>
            <a:pPr algn="ctr">
              <a:lnSpc>
                <a:spcPct val="100000"/>
              </a:lnSpc>
              <a:spcAft>
                <a:spcPts val="0"/>
              </a:spcAft>
            </a:pPr>
            <a:r>
              <a:rPr sz="850" b="0" i="0">
                <a:solidFill>
                  <a:srgbClr val="000000"/>
                </a:solidFill>
                <a:latin typeface="Arial"/>
              </a:rPr>
              <a:t>-0.02</a:t>
            </a:r>
          </a:p>
        </p:txBody>
      </p:sp>
      <p:sp>
        <p:nvSpPr>
          <p:cNvPr id="71" name="Rectangle 70"/>
          <p:cNvSpPr/>
          <p:nvPr/>
        </p:nvSpPr>
        <p:spPr>
          <a:xfrm>
            <a:off x="3364992" y="4329684"/>
            <a:ext cx="859536" cy="164592"/>
          </a:xfrm>
          <a:prstGeom prst="rect">
            <a:avLst/>
          </a:prstGeom>
          <a:solidFill>
            <a:srgbClr val="F4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TextBox 71"/>
          <p:cNvSpPr txBox="1"/>
          <p:nvPr/>
        </p:nvSpPr>
        <p:spPr>
          <a:xfrm>
            <a:off x="3364992" y="4358944"/>
            <a:ext cx="859536" cy="150875"/>
          </a:xfrm>
          <a:prstGeom prst="rect">
            <a:avLst/>
          </a:prstGeom>
          <a:noFill/>
        </p:spPr>
        <p:txBody>
          <a:bodyPr wrap="none" lIns="0" rIns="0" tIns="0" bIns="0" anchor="t">
            <a:spAutoFit/>
          </a:bodyPr>
          <a:lstStyle/>
          <a:p>
            <a:pPr algn="ctr">
              <a:lnSpc>
                <a:spcPct val="100000"/>
              </a:lnSpc>
              <a:spcAft>
                <a:spcPts val="0"/>
              </a:spcAft>
            </a:pPr>
            <a:r>
              <a:rPr sz="850" b="0" i="0">
                <a:solidFill>
                  <a:srgbClr val="000000"/>
                </a:solidFill>
                <a:latin typeface="Arial"/>
              </a:rPr>
              <a:t>-0.03</a:t>
            </a:r>
          </a:p>
        </p:txBody>
      </p:sp>
      <p:sp>
        <p:nvSpPr>
          <p:cNvPr id="73" name="TextBox 72"/>
          <p:cNvSpPr txBox="1"/>
          <p:nvPr/>
        </p:nvSpPr>
        <p:spPr>
          <a:xfrm>
            <a:off x="374904" y="4546396"/>
            <a:ext cx="1956816" cy="150875"/>
          </a:xfrm>
          <a:prstGeom prst="rect">
            <a:avLst/>
          </a:prstGeom>
          <a:noFill/>
        </p:spPr>
        <p:txBody>
          <a:bodyPr wrap="none" lIns="0" rIns="0" tIns="0" bIns="0" anchor="t">
            <a:spAutoFit/>
          </a:bodyPr>
          <a:lstStyle/>
          <a:p>
            <a:pPr algn="l">
              <a:lnSpc>
                <a:spcPct val="100000"/>
              </a:lnSpc>
              <a:spcAft>
                <a:spcPts val="0"/>
              </a:spcAft>
            </a:pPr>
            <a:r>
              <a:rPr sz="850" b="0" i="0">
                <a:solidFill>
                  <a:srgbClr val="000000"/>
                </a:solidFill>
                <a:latin typeface="Arial"/>
              </a:rPr>
              <a:t>USD/JPY</a:t>
            </a:r>
          </a:p>
        </p:txBody>
      </p:sp>
      <p:sp>
        <p:nvSpPr>
          <p:cNvPr id="74" name="Rectangle 73"/>
          <p:cNvSpPr/>
          <p:nvPr/>
        </p:nvSpPr>
        <p:spPr>
          <a:xfrm>
            <a:off x="2450592" y="4517136"/>
            <a:ext cx="859536" cy="164592"/>
          </a:xfrm>
          <a:prstGeom prst="rect">
            <a:avLst/>
          </a:prstGeom>
          <a:solidFill>
            <a:srgbClr val="F3AD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TextBox 74"/>
          <p:cNvSpPr txBox="1"/>
          <p:nvPr/>
        </p:nvSpPr>
        <p:spPr>
          <a:xfrm>
            <a:off x="2450592" y="4546396"/>
            <a:ext cx="859536" cy="150875"/>
          </a:xfrm>
          <a:prstGeom prst="rect">
            <a:avLst/>
          </a:prstGeom>
          <a:noFill/>
        </p:spPr>
        <p:txBody>
          <a:bodyPr wrap="none" lIns="0" rIns="0" tIns="0" bIns="0" anchor="t">
            <a:spAutoFit/>
          </a:bodyPr>
          <a:lstStyle/>
          <a:p>
            <a:pPr algn="ctr">
              <a:lnSpc>
                <a:spcPct val="100000"/>
              </a:lnSpc>
              <a:spcAft>
                <a:spcPts val="0"/>
              </a:spcAft>
            </a:pPr>
            <a:r>
              <a:rPr sz="850" b="0" i="0">
                <a:solidFill>
                  <a:srgbClr val="000000"/>
                </a:solidFill>
                <a:latin typeface="Arial"/>
              </a:rPr>
              <a:t>+0.19</a:t>
            </a:r>
          </a:p>
        </p:txBody>
      </p:sp>
      <p:sp>
        <p:nvSpPr>
          <p:cNvPr id="76" name="Rectangle 75"/>
          <p:cNvSpPr/>
          <p:nvPr/>
        </p:nvSpPr>
        <p:spPr>
          <a:xfrm>
            <a:off x="3364992" y="4517136"/>
            <a:ext cx="859536" cy="164592"/>
          </a:xfrm>
          <a:prstGeom prst="rect">
            <a:avLst/>
          </a:prstGeom>
          <a:solidFill>
            <a:srgbClr val="FD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TextBox 76"/>
          <p:cNvSpPr txBox="1"/>
          <p:nvPr/>
        </p:nvSpPr>
        <p:spPr>
          <a:xfrm>
            <a:off x="3364992" y="4546396"/>
            <a:ext cx="859536" cy="150875"/>
          </a:xfrm>
          <a:prstGeom prst="rect">
            <a:avLst/>
          </a:prstGeom>
          <a:noFill/>
        </p:spPr>
        <p:txBody>
          <a:bodyPr wrap="none" lIns="0" rIns="0" tIns="0" bIns="0" anchor="t">
            <a:spAutoFit/>
          </a:bodyPr>
          <a:lstStyle/>
          <a:p>
            <a:pPr algn="ctr">
              <a:lnSpc>
                <a:spcPct val="100000"/>
              </a:lnSpc>
              <a:spcAft>
                <a:spcPts val="0"/>
              </a:spcAft>
            </a:pPr>
            <a:r>
              <a:rPr sz="850" b="0" i="0">
                <a:solidFill>
                  <a:srgbClr val="000000"/>
                </a:solidFill>
                <a:latin typeface="Arial"/>
              </a:rPr>
              <a:t>+0.03</a:t>
            </a:r>
          </a:p>
        </p:txBody>
      </p:sp>
      <p:sp>
        <p:nvSpPr>
          <p:cNvPr id="78" name="TextBox 77"/>
          <p:cNvSpPr txBox="1"/>
          <p:nvPr/>
        </p:nvSpPr>
        <p:spPr>
          <a:xfrm>
            <a:off x="374904" y="4733848"/>
            <a:ext cx="1956816" cy="150875"/>
          </a:xfrm>
          <a:prstGeom prst="rect">
            <a:avLst/>
          </a:prstGeom>
          <a:noFill/>
        </p:spPr>
        <p:txBody>
          <a:bodyPr wrap="none" lIns="0" rIns="0" tIns="0" bIns="0" anchor="t">
            <a:spAutoFit/>
          </a:bodyPr>
          <a:lstStyle/>
          <a:p>
            <a:pPr algn="l">
              <a:lnSpc>
                <a:spcPct val="100000"/>
              </a:lnSpc>
              <a:spcAft>
                <a:spcPts val="0"/>
              </a:spcAft>
            </a:pPr>
            <a:r>
              <a:rPr sz="850" b="0" i="0">
                <a:solidFill>
                  <a:srgbClr val="000000"/>
                </a:solidFill>
                <a:latin typeface="Arial"/>
              </a:rPr>
              <a:t>USD/CNY</a:t>
            </a:r>
          </a:p>
        </p:txBody>
      </p:sp>
      <p:sp>
        <p:nvSpPr>
          <p:cNvPr id="79" name="Rectangle 78"/>
          <p:cNvSpPr/>
          <p:nvPr/>
        </p:nvSpPr>
        <p:spPr>
          <a:xfrm>
            <a:off x="2450592" y="4704588"/>
            <a:ext cx="859536" cy="164592"/>
          </a:xfrm>
          <a:prstGeom prst="rect">
            <a:avLst/>
          </a:prstGeom>
          <a:solidFill>
            <a:srgbClr val="FEFB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TextBox 79"/>
          <p:cNvSpPr txBox="1"/>
          <p:nvPr/>
        </p:nvSpPr>
        <p:spPr>
          <a:xfrm>
            <a:off x="2450592" y="4733848"/>
            <a:ext cx="859536" cy="150875"/>
          </a:xfrm>
          <a:prstGeom prst="rect">
            <a:avLst/>
          </a:prstGeom>
          <a:noFill/>
        </p:spPr>
        <p:txBody>
          <a:bodyPr wrap="none" lIns="0" rIns="0" tIns="0" bIns="0" anchor="t">
            <a:spAutoFit/>
          </a:bodyPr>
          <a:lstStyle/>
          <a:p>
            <a:pPr algn="ctr">
              <a:lnSpc>
                <a:spcPct val="100000"/>
              </a:lnSpc>
              <a:spcAft>
                <a:spcPts val="0"/>
              </a:spcAft>
            </a:pPr>
            <a:r>
              <a:rPr sz="850" b="0" i="0">
                <a:solidFill>
                  <a:srgbClr val="000000"/>
                </a:solidFill>
                <a:latin typeface="Arial"/>
              </a:rPr>
              <a:t>+0.01</a:t>
            </a:r>
          </a:p>
        </p:txBody>
      </p:sp>
      <p:sp>
        <p:nvSpPr>
          <p:cNvPr id="81" name="Rectangle 80"/>
          <p:cNvSpPr/>
          <p:nvPr/>
        </p:nvSpPr>
        <p:spPr>
          <a:xfrm>
            <a:off x="3364992" y="4704588"/>
            <a:ext cx="859536" cy="164592"/>
          </a:xfrm>
          <a:prstGeom prst="rect">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TextBox 81"/>
          <p:cNvSpPr txBox="1"/>
          <p:nvPr/>
        </p:nvSpPr>
        <p:spPr>
          <a:xfrm>
            <a:off x="3364992" y="4733848"/>
            <a:ext cx="859536" cy="150875"/>
          </a:xfrm>
          <a:prstGeom prst="rect">
            <a:avLst/>
          </a:prstGeom>
          <a:noFill/>
        </p:spPr>
        <p:txBody>
          <a:bodyPr wrap="none" lIns="0" rIns="0" tIns="0" bIns="0" anchor="t">
            <a:spAutoFit/>
          </a:bodyPr>
          <a:lstStyle/>
          <a:p>
            <a:pPr algn="ctr">
              <a:lnSpc>
                <a:spcPct val="100000"/>
              </a:lnSpc>
              <a:spcAft>
                <a:spcPts val="0"/>
              </a:spcAft>
            </a:pPr>
            <a:r>
              <a:rPr sz="850" b="0" i="0">
                <a:solidFill>
                  <a:srgbClr val="000000"/>
                </a:solidFill>
                <a:latin typeface="Arial"/>
              </a:rPr>
              <a:t>-0.12</a:t>
            </a:r>
          </a:p>
        </p:txBody>
      </p:sp>
      <p:sp>
        <p:nvSpPr>
          <p:cNvPr id="83" name="TextBox 82"/>
          <p:cNvSpPr txBox="1"/>
          <p:nvPr/>
        </p:nvSpPr>
        <p:spPr>
          <a:xfrm>
            <a:off x="374904" y="4901184"/>
            <a:ext cx="3877056" cy="155448"/>
          </a:xfrm>
          <a:prstGeom prst="rect">
            <a:avLst/>
          </a:prstGeom>
          <a:noFill/>
        </p:spPr>
        <p:txBody>
          <a:bodyPr wrap="none" lIns="0" rIns="0" tIns="0" bIns="0" anchor="t">
            <a:spAutoFit/>
          </a:bodyPr>
          <a:lstStyle/>
          <a:p>
            <a:pPr algn="l">
              <a:lnSpc>
                <a:spcPct val="100000"/>
              </a:lnSpc>
              <a:spcAft>
                <a:spcPts val="0"/>
              </a:spcAft>
            </a:pPr>
            <a:r>
              <a:rPr sz="700" b="1" i="0">
                <a:solidFill>
                  <a:srgbClr val="767576"/>
                </a:solidFill>
                <a:latin typeface="Arial"/>
              </a:rPr>
              <a:t>COMMODITY AND VOL</a:t>
            </a:r>
          </a:p>
        </p:txBody>
      </p:sp>
      <p:sp>
        <p:nvSpPr>
          <p:cNvPr id="84" name="TextBox 83"/>
          <p:cNvSpPr txBox="1"/>
          <p:nvPr/>
        </p:nvSpPr>
        <p:spPr>
          <a:xfrm>
            <a:off x="374904" y="5095036"/>
            <a:ext cx="1956816" cy="150875"/>
          </a:xfrm>
          <a:prstGeom prst="rect">
            <a:avLst/>
          </a:prstGeom>
          <a:noFill/>
        </p:spPr>
        <p:txBody>
          <a:bodyPr wrap="none" lIns="0" rIns="0" tIns="0" bIns="0" anchor="t">
            <a:spAutoFit/>
          </a:bodyPr>
          <a:lstStyle/>
          <a:p>
            <a:pPr algn="l">
              <a:lnSpc>
                <a:spcPct val="100000"/>
              </a:lnSpc>
              <a:spcAft>
                <a:spcPts val="0"/>
              </a:spcAft>
            </a:pPr>
            <a:r>
              <a:rPr sz="850" b="0" i="0">
                <a:solidFill>
                  <a:srgbClr val="000000"/>
                </a:solidFill>
                <a:latin typeface="Arial"/>
              </a:rPr>
              <a:t>Gold</a:t>
            </a:r>
          </a:p>
        </p:txBody>
      </p:sp>
      <p:sp>
        <p:nvSpPr>
          <p:cNvPr id="85" name="Rectangle 84"/>
          <p:cNvSpPr/>
          <p:nvPr/>
        </p:nvSpPr>
        <p:spPr>
          <a:xfrm>
            <a:off x="2450592" y="5065776"/>
            <a:ext cx="859536" cy="164592"/>
          </a:xfrm>
          <a:prstGeom prst="rect">
            <a:avLst/>
          </a:prstGeom>
          <a:solidFill>
            <a:srgbClr val="F0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TextBox 85"/>
          <p:cNvSpPr txBox="1"/>
          <p:nvPr/>
        </p:nvSpPr>
        <p:spPr>
          <a:xfrm>
            <a:off x="2450592" y="5095036"/>
            <a:ext cx="859536" cy="150875"/>
          </a:xfrm>
          <a:prstGeom prst="rect">
            <a:avLst/>
          </a:prstGeom>
          <a:noFill/>
        </p:spPr>
        <p:txBody>
          <a:bodyPr wrap="none" lIns="0" rIns="0" tIns="0" bIns="0" anchor="t">
            <a:spAutoFit/>
          </a:bodyPr>
          <a:lstStyle/>
          <a:p>
            <a:pPr algn="ctr">
              <a:lnSpc>
                <a:spcPct val="100000"/>
              </a:lnSpc>
              <a:spcAft>
                <a:spcPts val="0"/>
              </a:spcAft>
            </a:pPr>
            <a:r>
              <a:rPr sz="850" b="0" i="0">
                <a:solidFill>
                  <a:srgbClr val="000000"/>
                </a:solidFill>
                <a:latin typeface="Arial"/>
              </a:rPr>
              <a:t>-0.05</a:t>
            </a:r>
          </a:p>
        </p:txBody>
      </p:sp>
      <p:sp>
        <p:nvSpPr>
          <p:cNvPr id="87" name="Rectangle 86"/>
          <p:cNvSpPr/>
          <p:nvPr/>
        </p:nvSpPr>
        <p:spPr>
          <a:xfrm>
            <a:off x="3364992" y="5065776"/>
            <a:ext cx="859536" cy="164592"/>
          </a:xfrm>
          <a:prstGeom prst="rect">
            <a:avLst/>
          </a:prstGeom>
          <a:solidFill>
            <a:srgbClr val="EF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TextBox 87"/>
          <p:cNvSpPr txBox="1"/>
          <p:nvPr/>
        </p:nvSpPr>
        <p:spPr>
          <a:xfrm>
            <a:off x="3364992" y="5095036"/>
            <a:ext cx="859536" cy="150875"/>
          </a:xfrm>
          <a:prstGeom prst="rect">
            <a:avLst/>
          </a:prstGeom>
          <a:noFill/>
        </p:spPr>
        <p:txBody>
          <a:bodyPr wrap="none" lIns="0" rIns="0" tIns="0" bIns="0" anchor="t">
            <a:spAutoFit/>
          </a:bodyPr>
          <a:lstStyle/>
          <a:p>
            <a:pPr algn="ctr">
              <a:lnSpc>
                <a:spcPct val="100000"/>
              </a:lnSpc>
              <a:spcAft>
                <a:spcPts val="0"/>
              </a:spcAft>
            </a:pPr>
            <a:r>
              <a:rPr sz="850" b="0" i="0">
                <a:solidFill>
                  <a:srgbClr val="000000"/>
                </a:solidFill>
                <a:latin typeface="Arial"/>
              </a:rPr>
              <a:t>-0.05</a:t>
            </a:r>
          </a:p>
        </p:txBody>
      </p:sp>
      <p:sp>
        <p:nvSpPr>
          <p:cNvPr id="89" name="TextBox 88"/>
          <p:cNvSpPr txBox="1"/>
          <p:nvPr/>
        </p:nvSpPr>
        <p:spPr>
          <a:xfrm>
            <a:off x="374904" y="5282488"/>
            <a:ext cx="1956816" cy="150875"/>
          </a:xfrm>
          <a:prstGeom prst="rect">
            <a:avLst/>
          </a:prstGeom>
          <a:noFill/>
        </p:spPr>
        <p:txBody>
          <a:bodyPr wrap="none" lIns="0" rIns="0" tIns="0" bIns="0" anchor="t">
            <a:spAutoFit/>
          </a:bodyPr>
          <a:lstStyle/>
          <a:p>
            <a:pPr algn="l">
              <a:lnSpc>
                <a:spcPct val="100000"/>
              </a:lnSpc>
              <a:spcAft>
                <a:spcPts val="0"/>
              </a:spcAft>
            </a:pPr>
            <a:r>
              <a:rPr sz="850" b="0" i="0">
                <a:solidFill>
                  <a:srgbClr val="000000"/>
                </a:solidFill>
                <a:latin typeface="Arial"/>
              </a:rPr>
              <a:t>Brent</a:t>
            </a:r>
          </a:p>
        </p:txBody>
      </p:sp>
      <p:sp>
        <p:nvSpPr>
          <p:cNvPr id="90" name="Rectangle 89"/>
          <p:cNvSpPr/>
          <p:nvPr/>
        </p:nvSpPr>
        <p:spPr>
          <a:xfrm>
            <a:off x="2450592" y="5253228"/>
            <a:ext cx="859536" cy="164592"/>
          </a:xfrm>
          <a:prstGeom prst="rect">
            <a:avLst/>
          </a:prstGeom>
          <a:solidFill>
            <a:srgbClr val="F3AC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TextBox 90"/>
          <p:cNvSpPr txBox="1"/>
          <p:nvPr/>
        </p:nvSpPr>
        <p:spPr>
          <a:xfrm>
            <a:off x="2450592" y="5282488"/>
            <a:ext cx="859536" cy="150875"/>
          </a:xfrm>
          <a:prstGeom prst="rect">
            <a:avLst/>
          </a:prstGeom>
          <a:noFill/>
        </p:spPr>
        <p:txBody>
          <a:bodyPr wrap="none" lIns="0" rIns="0" tIns="0" bIns="0" anchor="t">
            <a:spAutoFit/>
          </a:bodyPr>
          <a:lstStyle/>
          <a:p>
            <a:pPr algn="ctr">
              <a:lnSpc>
                <a:spcPct val="100000"/>
              </a:lnSpc>
              <a:spcAft>
                <a:spcPts val="0"/>
              </a:spcAft>
            </a:pPr>
            <a:r>
              <a:rPr sz="850" b="0" i="0">
                <a:solidFill>
                  <a:srgbClr val="000000"/>
                </a:solidFill>
                <a:latin typeface="Arial"/>
              </a:rPr>
              <a:t>+0.19</a:t>
            </a:r>
          </a:p>
        </p:txBody>
      </p:sp>
      <p:sp>
        <p:nvSpPr>
          <p:cNvPr id="92" name="Rectangle 91"/>
          <p:cNvSpPr/>
          <p:nvPr/>
        </p:nvSpPr>
        <p:spPr>
          <a:xfrm>
            <a:off x="3364992" y="5253228"/>
            <a:ext cx="859536" cy="164592"/>
          </a:xfrm>
          <a:prstGeom prst="rect">
            <a:avLst/>
          </a:prstGeom>
          <a:solidFill>
            <a:srgbClr val="F8C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TextBox 92"/>
          <p:cNvSpPr txBox="1"/>
          <p:nvPr/>
        </p:nvSpPr>
        <p:spPr>
          <a:xfrm>
            <a:off x="3364992" y="5282488"/>
            <a:ext cx="859536" cy="150875"/>
          </a:xfrm>
          <a:prstGeom prst="rect">
            <a:avLst/>
          </a:prstGeom>
          <a:noFill/>
        </p:spPr>
        <p:txBody>
          <a:bodyPr wrap="none" lIns="0" rIns="0" tIns="0" bIns="0" anchor="t">
            <a:spAutoFit/>
          </a:bodyPr>
          <a:lstStyle/>
          <a:p>
            <a:pPr algn="ctr">
              <a:lnSpc>
                <a:spcPct val="100000"/>
              </a:lnSpc>
              <a:spcAft>
                <a:spcPts val="0"/>
              </a:spcAft>
            </a:pPr>
            <a:r>
              <a:rPr sz="850" b="0" i="0">
                <a:solidFill>
                  <a:srgbClr val="000000"/>
                </a:solidFill>
                <a:latin typeface="Arial"/>
              </a:rPr>
              <a:t>+0.11</a:t>
            </a:r>
          </a:p>
        </p:txBody>
      </p:sp>
      <p:sp>
        <p:nvSpPr>
          <p:cNvPr id="94" name="TextBox 93"/>
          <p:cNvSpPr txBox="1"/>
          <p:nvPr/>
        </p:nvSpPr>
        <p:spPr>
          <a:xfrm>
            <a:off x="374904" y="5469940"/>
            <a:ext cx="1956816" cy="150875"/>
          </a:xfrm>
          <a:prstGeom prst="rect">
            <a:avLst/>
          </a:prstGeom>
          <a:noFill/>
        </p:spPr>
        <p:txBody>
          <a:bodyPr wrap="none" lIns="0" rIns="0" tIns="0" bIns="0" anchor="t">
            <a:spAutoFit/>
          </a:bodyPr>
          <a:lstStyle/>
          <a:p>
            <a:pPr algn="l">
              <a:lnSpc>
                <a:spcPct val="100000"/>
              </a:lnSpc>
              <a:spcAft>
                <a:spcPts val="0"/>
              </a:spcAft>
            </a:pPr>
            <a:r>
              <a:rPr sz="850" b="0" i="0">
                <a:solidFill>
                  <a:srgbClr val="000000"/>
                </a:solidFill>
                <a:latin typeface="Arial"/>
              </a:rPr>
              <a:t>Copper</a:t>
            </a:r>
          </a:p>
        </p:txBody>
      </p:sp>
      <p:sp>
        <p:nvSpPr>
          <p:cNvPr id="95" name="Rectangle 94"/>
          <p:cNvSpPr/>
          <p:nvPr/>
        </p:nvSpPr>
        <p:spPr>
          <a:xfrm>
            <a:off x="2450592" y="5440680"/>
            <a:ext cx="859536" cy="164592"/>
          </a:xfrm>
          <a:prstGeom prst="rect">
            <a:avLst/>
          </a:prstGeom>
          <a:solidFill>
            <a:srgbClr val="F8D3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TextBox 95"/>
          <p:cNvSpPr txBox="1"/>
          <p:nvPr/>
        </p:nvSpPr>
        <p:spPr>
          <a:xfrm>
            <a:off x="2450592" y="5469940"/>
            <a:ext cx="859536" cy="150875"/>
          </a:xfrm>
          <a:prstGeom prst="rect">
            <a:avLst/>
          </a:prstGeom>
          <a:noFill/>
        </p:spPr>
        <p:txBody>
          <a:bodyPr wrap="none" lIns="0" rIns="0" tIns="0" bIns="0" anchor="t">
            <a:spAutoFit/>
          </a:bodyPr>
          <a:lstStyle/>
          <a:p>
            <a:pPr algn="ctr">
              <a:lnSpc>
                <a:spcPct val="100000"/>
              </a:lnSpc>
              <a:spcAft>
                <a:spcPts val="0"/>
              </a:spcAft>
            </a:pPr>
            <a:r>
              <a:rPr sz="850" b="0" i="0">
                <a:solidFill>
                  <a:srgbClr val="000000"/>
                </a:solidFill>
                <a:latin typeface="Arial"/>
              </a:rPr>
              <a:t>+0.10</a:t>
            </a:r>
          </a:p>
        </p:txBody>
      </p:sp>
      <p:sp>
        <p:nvSpPr>
          <p:cNvPr id="97" name="Rectangle 96"/>
          <p:cNvSpPr/>
          <p:nvPr/>
        </p:nvSpPr>
        <p:spPr>
          <a:xfrm>
            <a:off x="3364992" y="5440680"/>
            <a:ext cx="859536" cy="164592"/>
          </a:xfrm>
          <a:prstGeom prst="rect">
            <a:avLst/>
          </a:prstGeom>
          <a:solidFill>
            <a:srgbClr val="F2A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TextBox 97"/>
          <p:cNvSpPr txBox="1"/>
          <p:nvPr/>
        </p:nvSpPr>
        <p:spPr>
          <a:xfrm>
            <a:off x="3364992" y="5469940"/>
            <a:ext cx="859536" cy="150875"/>
          </a:xfrm>
          <a:prstGeom prst="rect">
            <a:avLst/>
          </a:prstGeom>
          <a:noFill/>
        </p:spPr>
        <p:txBody>
          <a:bodyPr wrap="none" lIns="0" rIns="0" tIns="0" bIns="0" anchor="t">
            <a:spAutoFit/>
          </a:bodyPr>
          <a:lstStyle/>
          <a:p>
            <a:pPr algn="ctr">
              <a:lnSpc>
                <a:spcPct val="100000"/>
              </a:lnSpc>
              <a:spcAft>
                <a:spcPts val="0"/>
              </a:spcAft>
            </a:pPr>
            <a:r>
              <a:rPr sz="850" b="0" i="0">
                <a:solidFill>
                  <a:srgbClr val="000000"/>
                </a:solidFill>
                <a:latin typeface="Arial"/>
              </a:rPr>
              <a:t>+0.21</a:t>
            </a:r>
          </a:p>
        </p:txBody>
      </p:sp>
      <p:sp>
        <p:nvSpPr>
          <p:cNvPr id="99" name="TextBox 98"/>
          <p:cNvSpPr txBox="1"/>
          <p:nvPr/>
        </p:nvSpPr>
        <p:spPr>
          <a:xfrm>
            <a:off x="374904" y="5657392"/>
            <a:ext cx="1956816" cy="150875"/>
          </a:xfrm>
          <a:prstGeom prst="rect">
            <a:avLst/>
          </a:prstGeom>
          <a:noFill/>
        </p:spPr>
        <p:txBody>
          <a:bodyPr wrap="none" lIns="0" rIns="0" tIns="0" bIns="0" anchor="t">
            <a:spAutoFit/>
          </a:bodyPr>
          <a:lstStyle/>
          <a:p>
            <a:pPr algn="l">
              <a:lnSpc>
                <a:spcPct val="100000"/>
              </a:lnSpc>
              <a:spcAft>
                <a:spcPts val="0"/>
              </a:spcAft>
            </a:pPr>
            <a:r>
              <a:rPr sz="850" b="0" i="0">
                <a:solidFill>
                  <a:srgbClr val="000000"/>
                </a:solidFill>
                <a:latin typeface="Arial"/>
              </a:rPr>
              <a:t>VIX</a:t>
            </a:r>
          </a:p>
        </p:txBody>
      </p:sp>
      <p:sp>
        <p:nvSpPr>
          <p:cNvPr id="100" name="Rectangle 99"/>
          <p:cNvSpPr/>
          <p:nvPr/>
        </p:nvSpPr>
        <p:spPr>
          <a:xfrm>
            <a:off x="2450592" y="5628132"/>
            <a:ext cx="859536" cy="164592"/>
          </a:xfrm>
          <a:prstGeom prst="rect">
            <a:avLst/>
          </a:prstGeom>
          <a:solidFill>
            <a:srgbClr val="D0D4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TextBox 100"/>
          <p:cNvSpPr txBox="1"/>
          <p:nvPr/>
        </p:nvSpPr>
        <p:spPr>
          <a:xfrm>
            <a:off x="2450592" y="5657392"/>
            <a:ext cx="859536" cy="150875"/>
          </a:xfrm>
          <a:prstGeom prst="rect">
            <a:avLst/>
          </a:prstGeom>
          <a:noFill/>
        </p:spPr>
        <p:txBody>
          <a:bodyPr wrap="none" lIns="0" rIns="0" tIns="0" bIns="0" anchor="t">
            <a:spAutoFit/>
          </a:bodyPr>
          <a:lstStyle/>
          <a:p>
            <a:pPr algn="ctr">
              <a:lnSpc>
                <a:spcPct val="100000"/>
              </a:lnSpc>
              <a:spcAft>
                <a:spcPts val="0"/>
              </a:spcAft>
            </a:pPr>
            <a:r>
              <a:rPr sz="850" b="0" i="0">
                <a:solidFill>
                  <a:srgbClr val="000000"/>
                </a:solidFill>
                <a:latin typeface="Arial"/>
              </a:rPr>
              <a:t>-0.15</a:t>
            </a:r>
          </a:p>
        </p:txBody>
      </p:sp>
      <p:sp>
        <p:nvSpPr>
          <p:cNvPr id="102" name="Rectangle 101"/>
          <p:cNvSpPr/>
          <p:nvPr/>
        </p:nvSpPr>
        <p:spPr>
          <a:xfrm>
            <a:off x="3364992" y="5628132"/>
            <a:ext cx="859536" cy="164592"/>
          </a:xfrm>
          <a:prstGeom prst="rect">
            <a:avLst/>
          </a:prstGeom>
          <a:solidFill>
            <a:srgbClr val="D4D7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3" name="TextBox 102"/>
          <p:cNvSpPr txBox="1"/>
          <p:nvPr/>
        </p:nvSpPr>
        <p:spPr>
          <a:xfrm>
            <a:off x="3364992" y="5657392"/>
            <a:ext cx="859536" cy="150875"/>
          </a:xfrm>
          <a:prstGeom prst="rect">
            <a:avLst/>
          </a:prstGeom>
          <a:noFill/>
        </p:spPr>
        <p:txBody>
          <a:bodyPr wrap="none" lIns="0" rIns="0" tIns="0" bIns="0" anchor="t">
            <a:spAutoFit/>
          </a:bodyPr>
          <a:lstStyle/>
          <a:p>
            <a:pPr algn="ctr">
              <a:lnSpc>
                <a:spcPct val="100000"/>
              </a:lnSpc>
              <a:spcAft>
                <a:spcPts val="0"/>
              </a:spcAft>
            </a:pPr>
            <a:r>
              <a:rPr sz="850" b="0" i="0">
                <a:solidFill>
                  <a:srgbClr val="000000"/>
                </a:solidFill>
                <a:latin typeface="Arial"/>
              </a:rPr>
              <a:t>-0.14</a:t>
            </a:r>
          </a:p>
        </p:txBody>
      </p:sp>
      <p:sp>
        <p:nvSpPr>
          <p:cNvPr id="104" name="TextBox 103"/>
          <p:cNvSpPr txBox="1"/>
          <p:nvPr/>
        </p:nvSpPr>
        <p:spPr>
          <a:xfrm>
            <a:off x="374904" y="5870448"/>
            <a:ext cx="4425696" cy="201168"/>
          </a:xfrm>
          <a:prstGeom prst="rect">
            <a:avLst/>
          </a:prstGeom>
          <a:noFill/>
        </p:spPr>
        <p:txBody>
          <a:bodyPr wrap="none" lIns="0" rIns="0" tIns="0" bIns="0" anchor="t">
            <a:spAutoFit/>
          </a:bodyPr>
          <a:lstStyle/>
          <a:p>
            <a:pPr algn="l">
              <a:lnSpc>
                <a:spcPct val="100000"/>
              </a:lnSpc>
              <a:spcAft>
                <a:spcPts val="0"/>
              </a:spcAft>
            </a:pPr>
            <a:r>
              <a:rPr sz="700" b="0" i="0">
                <a:solidFill>
                  <a:srgbClr val="767576"/>
                </a:solidFill>
                <a:latin typeface="Arial"/>
              </a:rPr>
              <a:t>Red positive, navy negative, saturating at |ρ| = 0.60.</a:t>
            </a:r>
          </a:p>
        </p:txBody>
      </p:sp>
      <p:cxnSp>
        <p:nvCxnSpPr>
          <p:cNvPr id="105" name="Connector 104"/>
          <p:cNvCxnSpPr/>
          <p:nvPr/>
        </p:nvCxnSpPr>
        <p:spPr>
          <a:xfrm>
            <a:off x="4498848" y="1609344"/>
            <a:ext cx="0" cy="4663439"/>
          </a:xfrm>
          <a:prstGeom prst="line">
            <a:avLst/>
          </a:prstGeom>
          <a:ln w="15875">
            <a:solidFill>
              <a:srgbClr val="DB0011"/>
            </a:solidFill>
          </a:ln>
        </p:spPr>
        <p:style>
          <a:lnRef idx="2">
            <a:schemeClr val="accent1"/>
          </a:lnRef>
          <a:fillRef idx="0">
            <a:schemeClr val="accent1"/>
          </a:fillRef>
          <a:effectRef idx="1">
            <a:schemeClr val="accent1"/>
          </a:effectRef>
          <a:fontRef idx="minor">
            <a:schemeClr val="tx1"/>
          </a:fontRef>
        </p:style>
      </p:cxnSp>
      <p:sp>
        <p:nvSpPr>
          <p:cNvPr id="106" name="TextBox 105"/>
          <p:cNvSpPr txBox="1"/>
          <p:nvPr/>
        </p:nvSpPr>
        <p:spPr>
          <a:xfrm>
            <a:off x="4754880" y="1609344"/>
            <a:ext cx="2103120" cy="457200"/>
          </a:xfrm>
          <a:prstGeom prst="rect">
            <a:avLst/>
          </a:prstGeom>
          <a:noFill/>
        </p:spPr>
        <p:txBody>
          <a:bodyPr wrap="none" lIns="0" rIns="0" tIns="0" bIns="0" anchor="t">
            <a:spAutoFit/>
          </a:bodyPr>
          <a:lstStyle/>
          <a:p>
            <a:pPr algn="l">
              <a:lnSpc>
                <a:spcPct val="100000"/>
              </a:lnSpc>
              <a:spcAft>
                <a:spcPts val="0"/>
              </a:spcAft>
            </a:pPr>
            <a:r>
              <a:rPr sz="2800" b="1" i="0">
                <a:solidFill>
                  <a:srgbClr val="DB0011"/>
                </a:solidFill>
                <a:latin typeface="Arial"/>
              </a:rPr>
              <a:t>+0.06</a:t>
            </a:r>
          </a:p>
        </p:txBody>
      </p:sp>
      <p:sp>
        <p:nvSpPr>
          <p:cNvPr id="107" name="TextBox 106"/>
          <p:cNvSpPr txBox="1"/>
          <p:nvPr/>
        </p:nvSpPr>
        <p:spPr>
          <a:xfrm>
            <a:off x="4754880" y="2066543"/>
            <a:ext cx="2103120" cy="219456"/>
          </a:xfrm>
          <a:prstGeom prst="rect">
            <a:avLst/>
          </a:prstGeom>
          <a:noFill/>
        </p:spPr>
        <p:txBody>
          <a:bodyPr wrap="none" lIns="0" rIns="0" tIns="0" bIns="0" anchor="t">
            <a:spAutoFit/>
          </a:bodyPr>
          <a:lstStyle/>
          <a:p>
            <a:pPr algn="l">
              <a:lnSpc>
                <a:spcPct val="100000"/>
              </a:lnSpc>
              <a:spcAft>
                <a:spcPts val="0"/>
              </a:spcAft>
            </a:pPr>
            <a:r>
              <a:rPr sz="1200" b="1" i="0">
                <a:solidFill>
                  <a:srgbClr val="000000"/>
                </a:solidFill>
                <a:latin typeface="Arial"/>
              </a:rPr>
              <a:t>Sleeve to sleeve</a:t>
            </a:r>
          </a:p>
        </p:txBody>
      </p:sp>
      <p:sp>
        <p:nvSpPr>
          <p:cNvPr id="108" name="TextBox 107"/>
          <p:cNvSpPr txBox="1"/>
          <p:nvPr/>
        </p:nvSpPr>
        <p:spPr>
          <a:xfrm>
            <a:off x="4754880" y="2286000"/>
            <a:ext cx="2103120" cy="457200"/>
          </a:xfrm>
          <a:prstGeom prst="rect">
            <a:avLst/>
          </a:prstGeom>
          <a:noFill/>
        </p:spPr>
        <p:txBody>
          <a:bodyPr wrap="square" lIns="0" rIns="0" tIns="0" bIns="0" anchor="t">
            <a:spAutoFit/>
          </a:bodyPr>
          <a:lstStyle/>
          <a:p>
            <a:pPr algn="l">
              <a:lnSpc>
                <a:spcPct val="115000"/>
              </a:lnSpc>
              <a:spcAft>
                <a:spcPts val="0"/>
              </a:spcAft>
            </a:pPr>
            <a:r>
              <a:rPr sz="800" b="0" i="0">
                <a:solidFill>
                  <a:srgbClr val="767576"/>
                </a:solidFill>
                <a:latin typeface="Arial"/>
              </a:rPr>
              <a:t>CATL against the steepener, n = 178. The diversification is real and it is measured, not asserted.</a:t>
            </a:r>
          </a:p>
        </p:txBody>
      </p:sp>
      <p:sp>
        <p:nvSpPr>
          <p:cNvPr id="109" name="TextBox 108"/>
          <p:cNvSpPr txBox="1"/>
          <p:nvPr/>
        </p:nvSpPr>
        <p:spPr>
          <a:xfrm>
            <a:off x="7086600" y="1609344"/>
            <a:ext cx="2103120" cy="457200"/>
          </a:xfrm>
          <a:prstGeom prst="rect">
            <a:avLst/>
          </a:prstGeom>
          <a:noFill/>
        </p:spPr>
        <p:txBody>
          <a:bodyPr wrap="none" lIns="0" rIns="0" tIns="0" bIns="0" anchor="t">
            <a:spAutoFit/>
          </a:bodyPr>
          <a:lstStyle/>
          <a:p>
            <a:pPr algn="l">
              <a:lnSpc>
                <a:spcPct val="100000"/>
              </a:lnSpc>
              <a:spcAft>
                <a:spcPts val="0"/>
              </a:spcAft>
            </a:pPr>
            <a:r>
              <a:rPr sz="2800" b="1" i="0">
                <a:solidFill>
                  <a:srgbClr val="DB0011"/>
                </a:solidFill>
                <a:latin typeface="Arial"/>
              </a:rPr>
              <a:t>+0.53</a:t>
            </a:r>
          </a:p>
        </p:txBody>
      </p:sp>
      <p:sp>
        <p:nvSpPr>
          <p:cNvPr id="110" name="TextBox 109"/>
          <p:cNvSpPr txBox="1"/>
          <p:nvPr/>
        </p:nvSpPr>
        <p:spPr>
          <a:xfrm>
            <a:off x="7086600" y="2066543"/>
            <a:ext cx="2103120" cy="219456"/>
          </a:xfrm>
          <a:prstGeom prst="rect">
            <a:avLst/>
          </a:prstGeom>
          <a:noFill/>
        </p:spPr>
        <p:txBody>
          <a:bodyPr wrap="none" lIns="0" rIns="0" tIns="0" bIns="0" anchor="t">
            <a:spAutoFit/>
          </a:bodyPr>
          <a:lstStyle/>
          <a:p>
            <a:pPr algn="l">
              <a:lnSpc>
                <a:spcPct val="100000"/>
              </a:lnSpc>
              <a:spcAft>
                <a:spcPts val="0"/>
              </a:spcAft>
            </a:pPr>
            <a:r>
              <a:rPr sz="1200" b="1" i="0">
                <a:solidFill>
                  <a:srgbClr val="000000"/>
                </a:solidFill>
                <a:latin typeface="Arial"/>
              </a:rPr>
              <a:t>Steepener to UST 10y</a:t>
            </a:r>
          </a:p>
        </p:txBody>
      </p:sp>
      <p:sp>
        <p:nvSpPr>
          <p:cNvPr id="111" name="TextBox 110"/>
          <p:cNvSpPr txBox="1"/>
          <p:nvPr/>
        </p:nvSpPr>
        <p:spPr>
          <a:xfrm>
            <a:off x="7086600" y="2286000"/>
            <a:ext cx="2103120" cy="457200"/>
          </a:xfrm>
          <a:prstGeom prst="rect">
            <a:avLst/>
          </a:prstGeom>
          <a:noFill/>
        </p:spPr>
        <p:txBody>
          <a:bodyPr wrap="square" lIns="0" rIns="0" tIns="0" bIns="0" anchor="t">
            <a:spAutoFit/>
          </a:bodyPr>
          <a:lstStyle/>
          <a:p>
            <a:pPr algn="l">
              <a:lnSpc>
                <a:spcPct val="115000"/>
              </a:lnSpc>
              <a:spcAft>
                <a:spcPts val="0"/>
              </a:spcAft>
            </a:pPr>
            <a:r>
              <a:rPr sz="800" b="0" i="0">
                <a:solidFill>
                  <a:srgbClr val="767576"/>
                </a:solidFill>
                <a:latin typeface="Arial"/>
              </a:rPr>
              <a:t>Its largest single exposure. About a quarter of the weekly variance is US rates, not the BoJ.</a:t>
            </a:r>
          </a:p>
        </p:txBody>
      </p:sp>
      <p:sp>
        <p:nvSpPr>
          <p:cNvPr id="112" name="TextBox 111"/>
          <p:cNvSpPr txBox="1"/>
          <p:nvPr/>
        </p:nvSpPr>
        <p:spPr>
          <a:xfrm>
            <a:off x="9418320" y="1609344"/>
            <a:ext cx="2103120" cy="457200"/>
          </a:xfrm>
          <a:prstGeom prst="rect">
            <a:avLst/>
          </a:prstGeom>
          <a:noFill/>
        </p:spPr>
        <p:txBody>
          <a:bodyPr wrap="none" lIns="0" rIns="0" tIns="0" bIns="0" anchor="t">
            <a:spAutoFit/>
          </a:bodyPr>
          <a:lstStyle/>
          <a:p>
            <a:pPr algn="l">
              <a:lnSpc>
                <a:spcPct val="100000"/>
              </a:lnSpc>
              <a:spcAft>
                <a:spcPts val="0"/>
              </a:spcAft>
            </a:pPr>
            <a:r>
              <a:rPr sz="2800" b="1" i="0">
                <a:solidFill>
                  <a:srgbClr val="DB0011"/>
                </a:solidFill>
                <a:latin typeface="Arial"/>
              </a:rPr>
              <a:t>27%</a:t>
            </a:r>
          </a:p>
        </p:txBody>
      </p:sp>
      <p:sp>
        <p:nvSpPr>
          <p:cNvPr id="113" name="TextBox 112"/>
          <p:cNvSpPr txBox="1"/>
          <p:nvPr/>
        </p:nvSpPr>
        <p:spPr>
          <a:xfrm>
            <a:off x="9418320" y="2066543"/>
            <a:ext cx="2103120" cy="219456"/>
          </a:xfrm>
          <a:prstGeom prst="rect">
            <a:avLst/>
          </a:prstGeom>
          <a:noFill/>
        </p:spPr>
        <p:txBody>
          <a:bodyPr wrap="none" lIns="0" rIns="0" tIns="0" bIns="0" anchor="t">
            <a:spAutoFit/>
          </a:bodyPr>
          <a:lstStyle/>
          <a:p>
            <a:pPr algn="l">
              <a:lnSpc>
                <a:spcPct val="100000"/>
              </a:lnSpc>
              <a:spcAft>
                <a:spcPts val="0"/>
              </a:spcAft>
            </a:pPr>
            <a:r>
              <a:rPr sz="1200" b="1" i="0">
                <a:solidFill>
                  <a:srgbClr val="000000"/>
                </a:solidFill>
                <a:latin typeface="Arial"/>
              </a:rPr>
              <a:t>Diversification benefit</a:t>
            </a:r>
          </a:p>
        </p:txBody>
      </p:sp>
      <p:sp>
        <p:nvSpPr>
          <p:cNvPr id="114" name="TextBox 113"/>
          <p:cNvSpPr txBox="1"/>
          <p:nvPr/>
        </p:nvSpPr>
        <p:spPr>
          <a:xfrm>
            <a:off x="9418320" y="2286000"/>
            <a:ext cx="2103120" cy="457200"/>
          </a:xfrm>
          <a:prstGeom prst="rect">
            <a:avLst/>
          </a:prstGeom>
          <a:noFill/>
        </p:spPr>
        <p:txBody>
          <a:bodyPr wrap="square" lIns="0" rIns="0" tIns="0" bIns="0" anchor="t">
            <a:spAutoFit/>
          </a:bodyPr>
          <a:lstStyle/>
          <a:p>
            <a:pPr algn="l">
              <a:lnSpc>
                <a:spcPct val="115000"/>
              </a:lnSpc>
              <a:spcAft>
                <a:spcPts val="0"/>
              </a:spcAft>
            </a:pPr>
            <a:r>
              <a:rPr sz="800" b="0" i="0">
                <a:solidFill>
                  <a:srgbClr val="767576"/>
                </a:solidFill>
                <a:latin typeface="Arial"/>
              </a:rPr>
              <a:t>At equal standalone risk. Falls to 24% in the risk-off quintile.</a:t>
            </a:r>
          </a:p>
        </p:txBody>
      </p:sp>
      <p:sp>
        <p:nvSpPr>
          <p:cNvPr id="115" name="TextBox 114"/>
          <p:cNvSpPr txBox="1"/>
          <p:nvPr/>
        </p:nvSpPr>
        <p:spPr>
          <a:xfrm>
            <a:off x="4754880" y="3017520"/>
            <a:ext cx="6766560" cy="219456"/>
          </a:xfrm>
          <a:prstGeom prst="rect">
            <a:avLst/>
          </a:prstGeom>
          <a:noFill/>
        </p:spPr>
        <p:txBody>
          <a:bodyPr wrap="none" lIns="0" rIns="0" tIns="0" bIns="0" anchor="t">
            <a:spAutoFit/>
          </a:bodyPr>
          <a:lstStyle/>
          <a:p>
            <a:pPr algn="l">
              <a:lnSpc>
                <a:spcPct val="100000"/>
              </a:lnSpc>
              <a:spcAft>
                <a:spcPts val="0"/>
              </a:spcAft>
            </a:pPr>
            <a:r>
              <a:rPr sz="1200" b="1" i="0">
                <a:solidFill>
                  <a:srgbClr val="000000"/>
                </a:solidFill>
                <a:latin typeface="Arial"/>
              </a:rPr>
              <a:t>And the same numbers in the worst quintile of S&amp;P weeks</a:t>
            </a:r>
          </a:p>
        </p:txBody>
      </p:sp>
      <p:cxnSp>
        <p:nvCxnSpPr>
          <p:cNvPr id="116" name="Connector 115"/>
          <p:cNvCxnSpPr/>
          <p:nvPr/>
        </p:nvCxnSpPr>
        <p:spPr>
          <a:xfrm>
            <a:off x="4754880" y="3255264"/>
            <a:ext cx="384048" cy="0"/>
          </a:xfrm>
          <a:prstGeom prst="line">
            <a:avLst/>
          </a:prstGeom>
          <a:ln w="25400">
            <a:solidFill>
              <a:srgbClr val="DB0011"/>
            </a:solidFill>
          </a:ln>
        </p:spPr>
        <p:style>
          <a:lnRef idx="2">
            <a:schemeClr val="accent1"/>
          </a:lnRef>
          <a:fillRef idx="0">
            <a:schemeClr val="accent1"/>
          </a:fillRef>
          <a:effectRef idx="1">
            <a:schemeClr val="accent1"/>
          </a:effectRef>
          <a:fontRef idx="minor">
            <a:schemeClr val="tx1"/>
          </a:fontRef>
        </p:style>
      </p:cxnSp>
      <p:sp>
        <p:nvSpPr>
          <p:cNvPr id="117" name="Rectangle 116"/>
          <p:cNvSpPr/>
          <p:nvPr/>
        </p:nvSpPr>
        <p:spPr>
          <a:xfrm>
            <a:off x="4754880" y="3346704"/>
            <a:ext cx="6766560" cy="237744"/>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8" name="TextBox 117"/>
          <p:cNvSpPr txBox="1"/>
          <p:nvPr/>
        </p:nvSpPr>
        <p:spPr>
          <a:xfrm>
            <a:off x="4800600" y="3374136"/>
            <a:ext cx="2560320" cy="237744"/>
          </a:xfrm>
          <a:prstGeom prst="rect">
            <a:avLst/>
          </a:prstGeom>
          <a:noFill/>
        </p:spPr>
        <p:txBody>
          <a:bodyPr wrap="none" lIns="0" rIns="0" tIns="0" bIns="0" anchor="t">
            <a:spAutoFit/>
          </a:bodyPr>
          <a:lstStyle/>
          <a:p>
            <a:pPr algn="l">
              <a:lnSpc>
                <a:spcPct val="100000"/>
              </a:lnSpc>
              <a:spcAft>
                <a:spcPts val="0"/>
              </a:spcAft>
            </a:pPr>
            <a:r>
              <a:rPr sz="950" b="1" i="0">
                <a:solidFill>
                  <a:srgbClr val="FFFFFF"/>
                </a:solidFill>
                <a:latin typeface="Arial"/>
              </a:rPr>
              <a:t>Steepener against</a:t>
            </a:r>
          </a:p>
        </p:txBody>
      </p:sp>
      <p:sp>
        <p:nvSpPr>
          <p:cNvPr id="119" name="TextBox 118"/>
          <p:cNvSpPr txBox="1"/>
          <p:nvPr/>
        </p:nvSpPr>
        <p:spPr>
          <a:xfrm>
            <a:off x="7452360" y="3374136"/>
            <a:ext cx="1280160" cy="237744"/>
          </a:xfrm>
          <a:prstGeom prst="rect">
            <a:avLst/>
          </a:prstGeom>
          <a:noFill/>
        </p:spPr>
        <p:txBody>
          <a:bodyPr wrap="none" lIns="0" rIns="0" tIns="0" bIns="0" anchor="t">
            <a:spAutoFit/>
          </a:bodyPr>
          <a:lstStyle/>
          <a:p>
            <a:pPr algn="r">
              <a:lnSpc>
                <a:spcPct val="100000"/>
              </a:lnSpc>
              <a:spcAft>
                <a:spcPts val="0"/>
              </a:spcAft>
            </a:pPr>
            <a:r>
              <a:rPr sz="950" b="1" i="0">
                <a:solidFill>
                  <a:srgbClr val="FFFFFF"/>
                </a:solidFill>
                <a:latin typeface="Arial"/>
              </a:rPr>
              <a:t>All weeks</a:t>
            </a:r>
          </a:p>
        </p:txBody>
      </p:sp>
      <p:sp>
        <p:nvSpPr>
          <p:cNvPr id="120" name="TextBox 119"/>
          <p:cNvSpPr txBox="1"/>
          <p:nvPr/>
        </p:nvSpPr>
        <p:spPr>
          <a:xfrm>
            <a:off x="8823960" y="3374136"/>
            <a:ext cx="1280160" cy="237744"/>
          </a:xfrm>
          <a:prstGeom prst="rect">
            <a:avLst/>
          </a:prstGeom>
          <a:noFill/>
        </p:spPr>
        <p:txBody>
          <a:bodyPr wrap="none" lIns="0" rIns="0" tIns="0" bIns="0" anchor="t">
            <a:spAutoFit/>
          </a:bodyPr>
          <a:lstStyle/>
          <a:p>
            <a:pPr algn="r">
              <a:lnSpc>
                <a:spcPct val="100000"/>
              </a:lnSpc>
              <a:spcAft>
                <a:spcPts val="0"/>
              </a:spcAft>
            </a:pPr>
            <a:r>
              <a:rPr sz="950" b="1" i="0">
                <a:solidFill>
                  <a:srgbClr val="FFFFFF"/>
                </a:solidFill>
                <a:latin typeface="Arial"/>
              </a:rPr>
              <a:t>Risk-off</a:t>
            </a:r>
          </a:p>
        </p:txBody>
      </p:sp>
      <p:sp>
        <p:nvSpPr>
          <p:cNvPr id="121" name="TextBox 120"/>
          <p:cNvSpPr txBox="1"/>
          <p:nvPr/>
        </p:nvSpPr>
        <p:spPr>
          <a:xfrm>
            <a:off x="10195560" y="3374136"/>
            <a:ext cx="1280160" cy="237744"/>
          </a:xfrm>
          <a:prstGeom prst="rect">
            <a:avLst/>
          </a:prstGeom>
          <a:noFill/>
        </p:spPr>
        <p:txBody>
          <a:bodyPr wrap="none" lIns="0" rIns="0" tIns="0" bIns="0" anchor="t">
            <a:spAutoFit/>
          </a:bodyPr>
          <a:lstStyle/>
          <a:p>
            <a:pPr algn="r">
              <a:lnSpc>
                <a:spcPct val="100000"/>
              </a:lnSpc>
              <a:spcAft>
                <a:spcPts val="0"/>
              </a:spcAft>
            </a:pPr>
            <a:r>
              <a:rPr sz="950" b="1" i="0">
                <a:solidFill>
                  <a:srgbClr val="FFFFFF"/>
                </a:solidFill>
                <a:latin typeface="Arial"/>
              </a:rPr>
              <a:t>Shift</a:t>
            </a:r>
          </a:p>
        </p:txBody>
      </p:sp>
      <p:sp>
        <p:nvSpPr>
          <p:cNvPr id="122" name="TextBox 121"/>
          <p:cNvSpPr txBox="1"/>
          <p:nvPr/>
        </p:nvSpPr>
        <p:spPr>
          <a:xfrm>
            <a:off x="4800600" y="3604564"/>
            <a:ext cx="2560320" cy="224028"/>
          </a:xfrm>
          <a:prstGeom prst="rect">
            <a:avLst/>
          </a:prstGeom>
          <a:noFill/>
        </p:spPr>
        <p:txBody>
          <a:bodyPr wrap="none" lIns="0" rIns="0" tIns="0" bIns="0" anchor="t">
            <a:spAutoFit/>
          </a:bodyPr>
          <a:lstStyle/>
          <a:p>
            <a:pPr algn="l">
              <a:lnSpc>
                <a:spcPct val="100000"/>
              </a:lnSpc>
              <a:spcAft>
                <a:spcPts val="0"/>
              </a:spcAft>
            </a:pPr>
            <a:r>
              <a:rPr sz="950" b="1" i="0">
                <a:solidFill>
                  <a:srgbClr val="000000"/>
                </a:solidFill>
                <a:latin typeface="Arial"/>
              </a:rPr>
              <a:t>S&amp;P 500</a:t>
            </a:r>
          </a:p>
        </p:txBody>
      </p:sp>
      <p:sp>
        <p:nvSpPr>
          <p:cNvPr id="123" name="TextBox 122"/>
          <p:cNvSpPr txBox="1"/>
          <p:nvPr/>
        </p:nvSpPr>
        <p:spPr>
          <a:xfrm>
            <a:off x="7452360" y="3604564"/>
            <a:ext cx="1280160" cy="224028"/>
          </a:xfrm>
          <a:prstGeom prst="rect">
            <a:avLst/>
          </a:prstGeom>
          <a:noFill/>
        </p:spPr>
        <p:txBody>
          <a:bodyPr wrap="none" lIns="0" rIns="0" tIns="0" bIns="0" anchor="t">
            <a:spAutoFit/>
          </a:bodyPr>
          <a:lstStyle/>
          <a:p>
            <a:pPr algn="r">
              <a:lnSpc>
                <a:spcPct val="100000"/>
              </a:lnSpc>
              <a:spcAft>
                <a:spcPts val="0"/>
              </a:spcAft>
            </a:pPr>
            <a:r>
              <a:rPr sz="950" b="1" i="0">
                <a:solidFill>
                  <a:srgbClr val="00847F"/>
                </a:solidFill>
                <a:latin typeface="Arial"/>
              </a:rPr>
              <a:t>+0.13</a:t>
            </a:r>
          </a:p>
        </p:txBody>
      </p:sp>
      <p:sp>
        <p:nvSpPr>
          <p:cNvPr id="124" name="TextBox 123"/>
          <p:cNvSpPr txBox="1"/>
          <p:nvPr/>
        </p:nvSpPr>
        <p:spPr>
          <a:xfrm>
            <a:off x="8823960" y="3604564"/>
            <a:ext cx="1280160" cy="224028"/>
          </a:xfrm>
          <a:prstGeom prst="rect">
            <a:avLst/>
          </a:prstGeom>
          <a:noFill/>
        </p:spPr>
        <p:txBody>
          <a:bodyPr wrap="none" lIns="0" rIns="0" tIns="0" bIns="0" anchor="t">
            <a:spAutoFit/>
          </a:bodyPr>
          <a:lstStyle/>
          <a:p>
            <a:pPr algn="r">
              <a:lnSpc>
                <a:spcPct val="100000"/>
              </a:lnSpc>
              <a:spcAft>
                <a:spcPts val="0"/>
              </a:spcAft>
            </a:pPr>
            <a:r>
              <a:rPr sz="950" b="1" i="0">
                <a:solidFill>
                  <a:srgbClr val="00847F"/>
                </a:solidFill>
                <a:latin typeface="Arial"/>
              </a:rPr>
              <a:t>+0.42</a:t>
            </a:r>
          </a:p>
        </p:txBody>
      </p:sp>
      <p:sp>
        <p:nvSpPr>
          <p:cNvPr id="125" name="TextBox 124"/>
          <p:cNvSpPr txBox="1"/>
          <p:nvPr/>
        </p:nvSpPr>
        <p:spPr>
          <a:xfrm>
            <a:off x="10195560" y="3604564"/>
            <a:ext cx="1280160" cy="224028"/>
          </a:xfrm>
          <a:prstGeom prst="rect">
            <a:avLst/>
          </a:prstGeom>
          <a:noFill/>
        </p:spPr>
        <p:txBody>
          <a:bodyPr wrap="none" lIns="0" rIns="0" tIns="0" bIns="0" anchor="t">
            <a:spAutoFit/>
          </a:bodyPr>
          <a:lstStyle/>
          <a:p>
            <a:pPr algn="r">
              <a:lnSpc>
                <a:spcPct val="100000"/>
              </a:lnSpc>
              <a:spcAft>
                <a:spcPts val="0"/>
              </a:spcAft>
            </a:pPr>
            <a:r>
              <a:rPr sz="950" b="1" i="0">
                <a:solidFill>
                  <a:srgbClr val="00847F"/>
                </a:solidFill>
                <a:latin typeface="Arial"/>
              </a:rPr>
              <a:t>+0.30</a:t>
            </a:r>
          </a:p>
        </p:txBody>
      </p:sp>
      <p:cxnSp>
        <p:nvCxnSpPr>
          <p:cNvPr id="126" name="Connector 125"/>
          <p:cNvCxnSpPr/>
          <p:nvPr/>
        </p:nvCxnSpPr>
        <p:spPr>
          <a:xfrm>
            <a:off x="4754880" y="3808476"/>
            <a:ext cx="6766560" cy="0"/>
          </a:xfrm>
          <a:prstGeom prst="line">
            <a:avLst/>
          </a:prstGeom>
          <a:ln w="9525">
            <a:solidFill>
              <a:srgbClr val="000000"/>
            </a:solidFill>
          </a:ln>
        </p:spPr>
        <p:style>
          <a:lnRef idx="2">
            <a:schemeClr val="accent1"/>
          </a:lnRef>
          <a:fillRef idx="0">
            <a:schemeClr val="accent1"/>
          </a:fillRef>
          <a:effectRef idx="1">
            <a:schemeClr val="accent1"/>
          </a:effectRef>
          <a:fontRef idx="minor">
            <a:schemeClr val="tx1"/>
          </a:fontRef>
        </p:style>
      </p:cxnSp>
      <p:sp>
        <p:nvSpPr>
          <p:cNvPr id="127" name="TextBox 126"/>
          <p:cNvSpPr txBox="1"/>
          <p:nvPr/>
        </p:nvSpPr>
        <p:spPr>
          <a:xfrm>
            <a:off x="4800600" y="3828592"/>
            <a:ext cx="2560320" cy="224028"/>
          </a:xfrm>
          <a:prstGeom prst="rect">
            <a:avLst/>
          </a:prstGeom>
          <a:noFill/>
        </p:spPr>
        <p:txBody>
          <a:bodyPr wrap="none" lIns="0" rIns="0" tIns="0" bIns="0" anchor="t">
            <a:spAutoFit/>
          </a:bodyPr>
          <a:lstStyle/>
          <a:p>
            <a:pPr algn="l">
              <a:lnSpc>
                <a:spcPct val="100000"/>
              </a:lnSpc>
              <a:spcAft>
                <a:spcPts val="0"/>
              </a:spcAft>
            </a:pPr>
            <a:r>
              <a:rPr sz="950" b="0" i="0">
                <a:solidFill>
                  <a:srgbClr val="000000"/>
                </a:solidFill>
                <a:latin typeface="Arial"/>
              </a:rPr>
              <a:t>Hang Seng</a:t>
            </a:r>
          </a:p>
        </p:txBody>
      </p:sp>
      <p:sp>
        <p:nvSpPr>
          <p:cNvPr id="128" name="TextBox 127"/>
          <p:cNvSpPr txBox="1"/>
          <p:nvPr/>
        </p:nvSpPr>
        <p:spPr>
          <a:xfrm>
            <a:off x="7452360" y="3828592"/>
            <a:ext cx="1280160" cy="224028"/>
          </a:xfrm>
          <a:prstGeom prst="rect">
            <a:avLst/>
          </a:prstGeom>
          <a:noFill/>
        </p:spPr>
        <p:txBody>
          <a:bodyPr wrap="none" lIns="0" rIns="0" tIns="0" bIns="0" anchor="t">
            <a:spAutoFit/>
          </a:bodyPr>
          <a:lstStyle/>
          <a:p>
            <a:pPr algn="r">
              <a:lnSpc>
                <a:spcPct val="100000"/>
              </a:lnSpc>
              <a:spcAft>
                <a:spcPts val="0"/>
              </a:spcAft>
            </a:pPr>
            <a:r>
              <a:rPr sz="950" b="0" i="0">
                <a:solidFill>
                  <a:srgbClr val="00847F"/>
                </a:solidFill>
                <a:latin typeface="Arial"/>
              </a:rPr>
              <a:t>+0.06</a:t>
            </a:r>
          </a:p>
        </p:txBody>
      </p:sp>
      <p:sp>
        <p:nvSpPr>
          <p:cNvPr id="129" name="TextBox 128"/>
          <p:cNvSpPr txBox="1"/>
          <p:nvPr/>
        </p:nvSpPr>
        <p:spPr>
          <a:xfrm>
            <a:off x="8823960" y="3828592"/>
            <a:ext cx="1280160" cy="224028"/>
          </a:xfrm>
          <a:prstGeom prst="rect">
            <a:avLst/>
          </a:prstGeom>
          <a:noFill/>
        </p:spPr>
        <p:txBody>
          <a:bodyPr wrap="none" lIns="0" rIns="0" tIns="0" bIns="0" anchor="t">
            <a:spAutoFit/>
          </a:bodyPr>
          <a:lstStyle/>
          <a:p>
            <a:pPr algn="r">
              <a:lnSpc>
                <a:spcPct val="100000"/>
              </a:lnSpc>
              <a:spcAft>
                <a:spcPts val="0"/>
              </a:spcAft>
            </a:pPr>
            <a:r>
              <a:rPr sz="950" b="0" i="0">
                <a:solidFill>
                  <a:srgbClr val="00847F"/>
                </a:solidFill>
                <a:latin typeface="Arial"/>
              </a:rPr>
              <a:t>+0.21</a:t>
            </a:r>
          </a:p>
        </p:txBody>
      </p:sp>
      <p:sp>
        <p:nvSpPr>
          <p:cNvPr id="130" name="TextBox 129"/>
          <p:cNvSpPr txBox="1"/>
          <p:nvPr/>
        </p:nvSpPr>
        <p:spPr>
          <a:xfrm>
            <a:off x="10195560" y="3828592"/>
            <a:ext cx="1280160" cy="224028"/>
          </a:xfrm>
          <a:prstGeom prst="rect">
            <a:avLst/>
          </a:prstGeom>
          <a:noFill/>
        </p:spPr>
        <p:txBody>
          <a:bodyPr wrap="none" lIns="0" rIns="0" tIns="0" bIns="0" anchor="t">
            <a:spAutoFit/>
          </a:bodyPr>
          <a:lstStyle/>
          <a:p>
            <a:pPr algn="r">
              <a:lnSpc>
                <a:spcPct val="100000"/>
              </a:lnSpc>
              <a:spcAft>
                <a:spcPts val="0"/>
              </a:spcAft>
            </a:pPr>
            <a:r>
              <a:rPr sz="950" b="0" i="0">
                <a:solidFill>
                  <a:srgbClr val="00847F"/>
                </a:solidFill>
                <a:latin typeface="Arial"/>
              </a:rPr>
              <a:t>+0.16</a:t>
            </a:r>
          </a:p>
        </p:txBody>
      </p:sp>
      <p:cxnSp>
        <p:nvCxnSpPr>
          <p:cNvPr id="131" name="Connector 130"/>
          <p:cNvCxnSpPr/>
          <p:nvPr/>
        </p:nvCxnSpPr>
        <p:spPr>
          <a:xfrm>
            <a:off x="4754880" y="4032504"/>
            <a:ext cx="6766560" cy="0"/>
          </a:xfrm>
          <a:prstGeom prst="line">
            <a:avLst/>
          </a:prstGeom>
          <a:ln w="6350">
            <a:solidFill>
              <a:srgbClr val="D0CECE"/>
            </a:solidFill>
          </a:ln>
        </p:spPr>
        <p:style>
          <a:lnRef idx="2">
            <a:schemeClr val="accent1"/>
          </a:lnRef>
          <a:fillRef idx="0">
            <a:schemeClr val="accent1"/>
          </a:fillRef>
          <a:effectRef idx="1">
            <a:schemeClr val="accent1"/>
          </a:effectRef>
          <a:fontRef idx="minor">
            <a:schemeClr val="tx1"/>
          </a:fontRef>
        </p:style>
      </p:cxnSp>
      <p:sp>
        <p:nvSpPr>
          <p:cNvPr id="132" name="TextBox 131"/>
          <p:cNvSpPr txBox="1"/>
          <p:nvPr/>
        </p:nvSpPr>
        <p:spPr>
          <a:xfrm>
            <a:off x="4800600" y="4052620"/>
            <a:ext cx="2560320" cy="224028"/>
          </a:xfrm>
          <a:prstGeom prst="rect">
            <a:avLst/>
          </a:prstGeom>
          <a:noFill/>
        </p:spPr>
        <p:txBody>
          <a:bodyPr wrap="none" lIns="0" rIns="0" tIns="0" bIns="0" anchor="t">
            <a:spAutoFit/>
          </a:bodyPr>
          <a:lstStyle/>
          <a:p>
            <a:pPr algn="l">
              <a:lnSpc>
                <a:spcPct val="100000"/>
              </a:lnSpc>
              <a:spcAft>
                <a:spcPts val="0"/>
              </a:spcAft>
            </a:pPr>
            <a:r>
              <a:rPr sz="950" b="0" i="0">
                <a:solidFill>
                  <a:srgbClr val="000000"/>
                </a:solidFill>
                <a:latin typeface="Arial"/>
              </a:rPr>
              <a:t>UST 20y+ price</a:t>
            </a:r>
          </a:p>
        </p:txBody>
      </p:sp>
      <p:sp>
        <p:nvSpPr>
          <p:cNvPr id="133" name="TextBox 132"/>
          <p:cNvSpPr txBox="1"/>
          <p:nvPr/>
        </p:nvSpPr>
        <p:spPr>
          <a:xfrm>
            <a:off x="7452360" y="4052620"/>
            <a:ext cx="1280160" cy="224028"/>
          </a:xfrm>
          <a:prstGeom prst="rect">
            <a:avLst/>
          </a:prstGeom>
          <a:noFill/>
        </p:spPr>
        <p:txBody>
          <a:bodyPr wrap="none" lIns="0" rIns="0" tIns="0" bIns="0" anchor="t">
            <a:spAutoFit/>
          </a:bodyPr>
          <a:lstStyle/>
          <a:p>
            <a:pPr algn="r">
              <a:lnSpc>
                <a:spcPct val="100000"/>
              </a:lnSpc>
              <a:spcAft>
                <a:spcPts val="0"/>
              </a:spcAft>
            </a:pPr>
            <a:r>
              <a:rPr sz="950" b="0" i="0">
                <a:solidFill>
                  <a:srgbClr val="DB0011"/>
                </a:solidFill>
                <a:latin typeface="Arial"/>
              </a:rPr>
              <a:t>-0.50</a:t>
            </a:r>
          </a:p>
        </p:txBody>
      </p:sp>
      <p:sp>
        <p:nvSpPr>
          <p:cNvPr id="134" name="TextBox 133"/>
          <p:cNvSpPr txBox="1"/>
          <p:nvPr/>
        </p:nvSpPr>
        <p:spPr>
          <a:xfrm>
            <a:off x="8823960" y="4052620"/>
            <a:ext cx="1280160" cy="224028"/>
          </a:xfrm>
          <a:prstGeom prst="rect">
            <a:avLst/>
          </a:prstGeom>
          <a:noFill/>
        </p:spPr>
        <p:txBody>
          <a:bodyPr wrap="none" lIns="0" rIns="0" tIns="0" bIns="0" anchor="t">
            <a:spAutoFit/>
          </a:bodyPr>
          <a:lstStyle/>
          <a:p>
            <a:pPr algn="r">
              <a:lnSpc>
                <a:spcPct val="100000"/>
              </a:lnSpc>
              <a:spcAft>
                <a:spcPts val="0"/>
              </a:spcAft>
            </a:pPr>
            <a:r>
              <a:rPr sz="950" b="0" i="0">
                <a:solidFill>
                  <a:srgbClr val="DB0011"/>
                </a:solidFill>
                <a:latin typeface="Arial"/>
              </a:rPr>
              <a:t>-0.70</a:t>
            </a:r>
          </a:p>
        </p:txBody>
      </p:sp>
      <p:sp>
        <p:nvSpPr>
          <p:cNvPr id="135" name="TextBox 134"/>
          <p:cNvSpPr txBox="1"/>
          <p:nvPr/>
        </p:nvSpPr>
        <p:spPr>
          <a:xfrm>
            <a:off x="10195560" y="4052620"/>
            <a:ext cx="1280160" cy="224028"/>
          </a:xfrm>
          <a:prstGeom prst="rect">
            <a:avLst/>
          </a:prstGeom>
          <a:noFill/>
        </p:spPr>
        <p:txBody>
          <a:bodyPr wrap="none" lIns="0" rIns="0" tIns="0" bIns="0" anchor="t">
            <a:spAutoFit/>
          </a:bodyPr>
          <a:lstStyle/>
          <a:p>
            <a:pPr algn="r">
              <a:lnSpc>
                <a:spcPct val="100000"/>
              </a:lnSpc>
              <a:spcAft>
                <a:spcPts val="0"/>
              </a:spcAft>
            </a:pPr>
            <a:r>
              <a:rPr sz="950" b="0" i="0">
                <a:solidFill>
                  <a:srgbClr val="DB0011"/>
                </a:solidFill>
                <a:latin typeface="Arial"/>
              </a:rPr>
              <a:t>-0.20</a:t>
            </a:r>
          </a:p>
        </p:txBody>
      </p:sp>
      <p:cxnSp>
        <p:nvCxnSpPr>
          <p:cNvPr id="136" name="Connector 135"/>
          <p:cNvCxnSpPr/>
          <p:nvPr/>
        </p:nvCxnSpPr>
        <p:spPr>
          <a:xfrm>
            <a:off x="4754880" y="4256532"/>
            <a:ext cx="6766560" cy="0"/>
          </a:xfrm>
          <a:prstGeom prst="line">
            <a:avLst/>
          </a:prstGeom>
          <a:ln w="6350">
            <a:solidFill>
              <a:srgbClr val="D0CECE"/>
            </a:solidFill>
          </a:ln>
        </p:spPr>
        <p:style>
          <a:lnRef idx="2">
            <a:schemeClr val="accent1"/>
          </a:lnRef>
          <a:fillRef idx="0">
            <a:schemeClr val="accent1"/>
          </a:fillRef>
          <a:effectRef idx="1">
            <a:schemeClr val="accent1"/>
          </a:effectRef>
          <a:fontRef idx="minor">
            <a:schemeClr val="tx1"/>
          </a:fontRef>
        </p:style>
      </p:cxnSp>
      <p:sp>
        <p:nvSpPr>
          <p:cNvPr id="137" name="TextBox 136"/>
          <p:cNvSpPr txBox="1"/>
          <p:nvPr/>
        </p:nvSpPr>
        <p:spPr>
          <a:xfrm>
            <a:off x="4800600" y="4276648"/>
            <a:ext cx="2560320" cy="224028"/>
          </a:xfrm>
          <a:prstGeom prst="rect">
            <a:avLst/>
          </a:prstGeom>
          <a:noFill/>
        </p:spPr>
        <p:txBody>
          <a:bodyPr wrap="none" lIns="0" rIns="0" tIns="0" bIns="0" anchor="t">
            <a:spAutoFit/>
          </a:bodyPr>
          <a:lstStyle/>
          <a:p>
            <a:pPr algn="l">
              <a:lnSpc>
                <a:spcPct val="100000"/>
              </a:lnSpc>
              <a:spcAft>
                <a:spcPts val="0"/>
              </a:spcAft>
            </a:pPr>
            <a:r>
              <a:rPr sz="950" b="0" i="0">
                <a:solidFill>
                  <a:srgbClr val="000000"/>
                </a:solidFill>
                <a:latin typeface="Arial"/>
              </a:rPr>
              <a:t>US HY</a:t>
            </a:r>
          </a:p>
        </p:txBody>
      </p:sp>
      <p:sp>
        <p:nvSpPr>
          <p:cNvPr id="138" name="TextBox 137"/>
          <p:cNvSpPr txBox="1"/>
          <p:nvPr/>
        </p:nvSpPr>
        <p:spPr>
          <a:xfrm>
            <a:off x="7452360" y="4276648"/>
            <a:ext cx="1280160" cy="224028"/>
          </a:xfrm>
          <a:prstGeom prst="rect">
            <a:avLst/>
          </a:prstGeom>
          <a:noFill/>
        </p:spPr>
        <p:txBody>
          <a:bodyPr wrap="none" lIns="0" rIns="0" tIns="0" bIns="0" anchor="t">
            <a:spAutoFit/>
          </a:bodyPr>
          <a:lstStyle/>
          <a:p>
            <a:pPr algn="r">
              <a:lnSpc>
                <a:spcPct val="100000"/>
              </a:lnSpc>
              <a:spcAft>
                <a:spcPts val="0"/>
              </a:spcAft>
            </a:pPr>
            <a:r>
              <a:rPr sz="950" b="0" i="0">
                <a:solidFill>
                  <a:srgbClr val="DB0011"/>
                </a:solidFill>
                <a:latin typeface="Arial"/>
              </a:rPr>
              <a:t>-0.08</a:t>
            </a:r>
          </a:p>
        </p:txBody>
      </p:sp>
      <p:sp>
        <p:nvSpPr>
          <p:cNvPr id="139" name="TextBox 138"/>
          <p:cNvSpPr txBox="1"/>
          <p:nvPr/>
        </p:nvSpPr>
        <p:spPr>
          <a:xfrm>
            <a:off x="8823960" y="4276648"/>
            <a:ext cx="1280160" cy="224028"/>
          </a:xfrm>
          <a:prstGeom prst="rect">
            <a:avLst/>
          </a:prstGeom>
          <a:noFill/>
        </p:spPr>
        <p:txBody>
          <a:bodyPr wrap="none" lIns="0" rIns="0" tIns="0" bIns="0" anchor="t">
            <a:spAutoFit/>
          </a:bodyPr>
          <a:lstStyle/>
          <a:p>
            <a:pPr algn="r">
              <a:lnSpc>
                <a:spcPct val="100000"/>
              </a:lnSpc>
              <a:spcAft>
                <a:spcPts val="0"/>
              </a:spcAft>
            </a:pPr>
            <a:r>
              <a:rPr sz="950" b="0" i="0">
                <a:solidFill>
                  <a:srgbClr val="00847F"/>
                </a:solidFill>
                <a:latin typeface="Arial"/>
              </a:rPr>
              <a:t>+0.03</a:t>
            </a:r>
          </a:p>
        </p:txBody>
      </p:sp>
      <p:sp>
        <p:nvSpPr>
          <p:cNvPr id="140" name="TextBox 139"/>
          <p:cNvSpPr txBox="1"/>
          <p:nvPr/>
        </p:nvSpPr>
        <p:spPr>
          <a:xfrm>
            <a:off x="10195560" y="4276648"/>
            <a:ext cx="1280160" cy="224028"/>
          </a:xfrm>
          <a:prstGeom prst="rect">
            <a:avLst/>
          </a:prstGeom>
          <a:noFill/>
        </p:spPr>
        <p:txBody>
          <a:bodyPr wrap="none" lIns="0" rIns="0" tIns="0" bIns="0" anchor="t">
            <a:spAutoFit/>
          </a:bodyPr>
          <a:lstStyle/>
          <a:p>
            <a:pPr algn="r">
              <a:lnSpc>
                <a:spcPct val="100000"/>
              </a:lnSpc>
              <a:spcAft>
                <a:spcPts val="0"/>
              </a:spcAft>
            </a:pPr>
            <a:r>
              <a:rPr sz="950" b="0" i="0">
                <a:solidFill>
                  <a:srgbClr val="00847F"/>
                </a:solidFill>
                <a:latin typeface="Arial"/>
              </a:rPr>
              <a:t>+0.11</a:t>
            </a:r>
          </a:p>
        </p:txBody>
      </p:sp>
      <p:cxnSp>
        <p:nvCxnSpPr>
          <p:cNvPr id="141" name="Connector 140"/>
          <p:cNvCxnSpPr/>
          <p:nvPr/>
        </p:nvCxnSpPr>
        <p:spPr>
          <a:xfrm>
            <a:off x="4754880" y="4480560"/>
            <a:ext cx="6766560" cy="0"/>
          </a:xfrm>
          <a:prstGeom prst="line">
            <a:avLst/>
          </a:prstGeom>
          <a:ln w="6350">
            <a:solidFill>
              <a:srgbClr val="D0CECE"/>
            </a:solidFill>
          </a:ln>
        </p:spPr>
        <p:style>
          <a:lnRef idx="2">
            <a:schemeClr val="accent1"/>
          </a:lnRef>
          <a:fillRef idx="0">
            <a:schemeClr val="accent1"/>
          </a:fillRef>
          <a:effectRef idx="1">
            <a:schemeClr val="accent1"/>
          </a:effectRef>
          <a:fontRef idx="minor">
            <a:schemeClr val="tx1"/>
          </a:fontRef>
        </p:style>
      </p:cxnSp>
      <p:sp>
        <p:nvSpPr>
          <p:cNvPr id="142" name="TextBox 141"/>
          <p:cNvSpPr txBox="1"/>
          <p:nvPr/>
        </p:nvSpPr>
        <p:spPr>
          <a:xfrm>
            <a:off x="4800600" y="4500676"/>
            <a:ext cx="2560320" cy="224028"/>
          </a:xfrm>
          <a:prstGeom prst="rect">
            <a:avLst/>
          </a:prstGeom>
          <a:noFill/>
        </p:spPr>
        <p:txBody>
          <a:bodyPr wrap="none" lIns="0" rIns="0" tIns="0" bIns="0" anchor="t">
            <a:spAutoFit/>
          </a:bodyPr>
          <a:lstStyle/>
          <a:p>
            <a:pPr algn="l">
              <a:lnSpc>
                <a:spcPct val="100000"/>
              </a:lnSpc>
              <a:spcAft>
                <a:spcPts val="0"/>
              </a:spcAft>
            </a:pPr>
            <a:r>
              <a:rPr sz="950" b="0" i="0">
                <a:solidFill>
                  <a:srgbClr val="000000"/>
                </a:solidFill>
                <a:latin typeface="Arial"/>
              </a:rPr>
              <a:t>USD/JPY</a:t>
            </a:r>
          </a:p>
        </p:txBody>
      </p:sp>
      <p:sp>
        <p:nvSpPr>
          <p:cNvPr id="143" name="TextBox 142"/>
          <p:cNvSpPr txBox="1"/>
          <p:nvPr/>
        </p:nvSpPr>
        <p:spPr>
          <a:xfrm>
            <a:off x="7452360" y="4500676"/>
            <a:ext cx="1280160" cy="224028"/>
          </a:xfrm>
          <a:prstGeom prst="rect">
            <a:avLst/>
          </a:prstGeom>
          <a:noFill/>
        </p:spPr>
        <p:txBody>
          <a:bodyPr wrap="none" lIns="0" rIns="0" tIns="0" bIns="0" anchor="t">
            <a:spAutoFit/>
          </a:bodyPr>
          <a:lstStyle/>
          <a:p>
            <a:pPr algn="r">
              <a:lnSpc>
                <a:spcPct val="100000"/>
              </a:lnSpc>
              <a:spcAft>
                <a:spcPts val="0"/>
              </a:spcAft>
            </a:pPr>
            <a:r>
              <a:rPr sz="950" b="0" i="0">
                <a:solidFill>
                  <a:srgbClr val="00847F"/>
                </a:solidFill>
                <a:latin typeface="Arial"/>
              </a:rPr>
              <a:t>+0.19</a:t>
            </a:r>
          </a:p>
        </p:txBody>
      </p:sp>
      <p:sp>
        <p:nvSpPr>
          <p:cNvPr id="144" name="TextBox 143"/>
          <p:cNvSpPr txBox="1"/>
          <p:nvPr/>
        </p:nvSpPr>
        <p:spPr>
          <a:xfrm>
            <a:off x="8823960" y="4500676"/>
            <a:ext cx="1280160" cy="224028"/>
          </a:xfrm>
          <a:prstGeom prst="rect">
            <a:avLst/>
          </a:prstGeom>
          <a:noFill/>
        </p:spPr>
        <p:txBody>
          <a:bodyPr wrap="none" lIns="0" rIns="0" tIns="0" bIns="0" anchor="t">
            <a:spAutoFit/>
          </a:bodyPr>
          <a:lstStyle/>
          <a:p>
            <a:pPr algn="r">
              <a:lnSpc>
                <a:spcPct val="100000"/>
              </a:lnSpc>
              <a:spcAft>
                <a:spcPts val="0"/>
              </a:spcAft>
            </a:pPr>
            <a:r>
              <a:rPr sz="950" b="0" i="0">
                <a:solidFill>
                  <a:srgbClr val="00847F"/>
                </a:solidFill>
                <a:latin typeface="Arial"/>
              </a:rPr>
              <a:t>+0.36</a:t>
            </a:r>
          </a:p>
        </p:txBody>
      </p:sp>
      <p:sp>
        <p:nvSpPr>
          <p:cNvPr id="145" name="TextBox 144"/>
          <p:cNvSpPr txBox="1"/>
          <p:nvPr/>
        </p:nvSpPr>
        <p:spPr>
          <a:xfrm>
            <a:off x="10195560" y="4500676"/>
            <a:ext cx="1280160" cy="224028"/>
          </a:xfrm>
          <a:prstGeom prst="rect">
            <a:avLst/>
          </a:prstGeom>
          <a:noFill/>
        </p:spPr>
        <p:txBody>
          <a:bodyPr wrap="none" lIns="0" rIns="0" tIns="0" bIns="0" anchor="t">
            <a:spAutoFit/>
          </a:bodyPr>
          <a:lstStyle/>
          <a:p>
            <a:pPr algn="r">
              <a:lnSpc>
                <a:spcPct val="100000"/>
              </a:lnSpc>
              <a:spcAft>
                <a:spcPts val="0"/>
              </a:spcAft>
            </a:pPr>
            <a:r>
              <a:rPr sz="950" b="0" i="0">
                <a:solidFill>
                  <a:srgbClr val="00847F"/>
                </a:solidFill>
                <a:latin typeface="Arial"/>
              </a:rPr>
              <a:t>+0.17</a:t>
            </a:r>
          </a:p>
        </p:txBody>
      </p:sp>
      <p:cxnSp>
        <p:nvCxnSpPr>
          <p:cNvPr id="146" name="Connector 145"/>
          <p:cNvCxnSpPr/>
          <p:nvPr/>
        </p:nvCxnSpPr>
        <p:spPr>
          <a:xfrm>
            <a:off x="4754880" y="4704588"/>
            <a:ext cx="6766560" cy="0"/>
          </a:xfrm>
          <a:prstGeom prst="line">
            <a:avLst/>
          </a:prstGeom>
          <a:ln w="6350">
            <a:solidFill>
              <a:srgbClr val="D0CECE"/>
            </a:solidFill>
          </a:ln>
        </p:spPr>
        <p:style>
          <a:lnRef idx="2">
            <a:schemeClr val="accent1"/>
          </a:lnRef>
          <a:fillRef idx="0">
            <a:schemeClr val="accent1"/>
          </a:fillRef>
          <a:effectRef idx="1">
            <a:schemeClr val="accent1"/>
          </a:effectRef>
          <a:fontRef idx="minor">
            <a:schemeClr val="tx1"/>
          </a:fontRef>
        </p:style>
      </p:cxnSp>
      <p:sp>
        <p:nvSpPr>
          <p:cNvPr id="147" name="TextBox 146"/>
          <p:cNvSpPr txBox="1"/>
          <p:nvPr/>
        </p:nvSpPr>
        <p:spPr>
          <a:xfrm>
            <a:off x="4800600" y="4724704"/>
            <a:ext cx="2560320" cy="224028"/>
          </a:xfrm>
          <a:prstGeom prst="rect">
            <a:avLst/>
          </a:prstGeom>
          <a:noFill/>
        </p:spPr>
        <p:txBody>
          <a:bodyPr wrap="none" lIns="0" rIns="0" tIns="0" bIns="0" anchor="t">
            <a:spAutoFit/>
          </a:bodyPr>
          <a:lstStyle/>
          <a:p>
            <a:pPr algn="l">
              <a:lnSpc>
                <a:spcPct val="100000"/>
              </a:lnSpc>
              <a:spcAft>
                <a:spcPts val="0"/>
              </a:spcAft>
            </a:pPr>
            <a:r>
              <a:rPr sz="950" b="0" i="0">
                <a:solidFill>
                  <a:srgbClr val="000000"/>
                </a:solidFill>
                <a:latin typeface="Arial"/>
              </a:rPr>
              <a:t>Gold</a:t>
            </a:r>
          </a:p>
        </p:txBody>
      </p:sp>
      <p:sp>
        <p:nvSpPr>
          <p:cNvPr id="148" name="TextBox 147"/>
          <p:cNvSpPr txBox="1"/>
          <p:nvPr/>
        </p:nvSpPr>
        <p:spPr>
          <a:xfrm>
            <a:off x="7452360" y="4724704"/>
            <a:ext cx="1280160" cy="224028"/>
          </a:xfrm>
          <a:prstGeom prst="rect">
            <a:avLst/>
          </a:prstGeom>
          <a:noFill/>
        </p:spPr>
        <p:txBody>
          <a:bodyPr wrap="none" lIns="0" rIns="0" tIns="0" bIns="0" anchor="t">
            <a:spAutoFit/>
          </a:bodyPr>
          <a:lstStyle/>
          <a:p>
            <a:pPr algn="r">
              <a:lnSpc>
                <a:spcPct val="100000"/>
              </a:lnSpc>
              <a:spcAft>
                <a:spcPts val="0"/>
              </a:spcAft>
            </a:pPr>
            <a:r>
              <a:rPr sz="950" b="0" i="0">
                <a:solidFill>
                  <a:srgbClr val="DB0011"/>
                </a:solidFill>
                <a:latin typeface="Arial"/>
              </a:rPr>
              <a:t>-0.05</a:t>
            </a:r>
          </a:p>
        </p:txBody>
      </p:sp>
      <p:sp>
        <p:nvSpPr>
          <p:cNvPr id="149" name="TextBox 148"/>
          <p:cNvSpPr txBox="1"/>
          <p:nvPr/>
        </p:nvSpPr>
        <p:spPr>
          <a:xfrm>
            <a:off x="8823960" y="4724704"/>
            <a:ext cx="1280160" cy="224028"/>
          </a:xfrm>
          <a:prstGeom prst="rect">
            <a:avLst/>
          </a:prstGeom>
          <a:noFill/>
        </p:spPr>
        <p:txBody>
          <a:bodyPr wrap="none" lIns="0" rIns="0" tIns="0" bIns="0" anchor="t">
            <a:spAutoFit/>
          </a:bodyPr>
          <a:lstStyle/>
          <a:p>
            <a:pPr algn="r">
              <a:lnSpc>
                <a:spcPct val="100000"/>
              </a:lnSpc>
              <a:spcAft>
                <a:spcPts val="0"/>
              </a:spcAft>
            </a:pPr>
            <a:r>
              <a:rPr sz="950" b="0" i="0">
                <a:solidFill>
                  <a:srgbClr val="00847F"/>
                </a:solidFill>
                <a:latin typeface="Arial"/>
              </a:rPr>
              <a:t>+0.14</a:t>
            </a:r>
          </a:p>
        </p:txBody>
      </p:sp>
      <p:sp>
        <p:nvSpPr>
          <p:cNvPr id="150" name="TextBox 149"/>
          <p:cNvSpPr txBox="1"/>
          <p:nvPr/>
        </p:nvSpPr>
        <p:spPr>
          <a:xfrm>
            <a:off x="10195560" y="4724704"/>
            <a:ext cx="1280160" cy="224028"/>
          </a:xfrm>
          <a:prstGeom prst="rect">
            <a:avLst/>
          </a:prstGeom>
          <a:noFill/>
        </p:spPr>
        <p:txBody>
          <a:bodyPr wrap="none" lIns="0" rIns="0" tIns="0" bIns="0" anchor="t">
            <a:spAutoFit/>
          </a:bodyPr>
          <a:lstStyle/>
          <a:p>
            <a:pPr algn="r">
              <a:lnSpc>
                <a:spcPct val="100000"/>
              </a:lnSpc>
              <a:spcAft>
                <a:spcPts val="0"/>
              </a:spcAft>
            </a:pPr>
            <a:r>
              <a:rPr sz="950" b="0" i="0">
                <a:solidFill>
                  <a:srgbClr val="00847F"/>
                </a:solidFill>
                <a:latin typeface="Arial"/>
              </a:rPr>
              <a:t>+0.18</a:t>
            </a:r>
          </a:p>
        </p:txBody>
      </p:sp>
      <p:cxnSp>
        <p:nvCxnSpPr>
          <p:cNvPr id="151" name="Connector 150"/>
          <p:cNvCxnSpPr/>
          <p:nvPr/>
        </p:nvCxnSpPr>
        <p:spPr>
          <a:xfrm>
            <a:off x="4754880" y="4928616"/>
            <a:ext cx="6766560" cy="0"/>
          </a:xfrm>
          <a:prstGeom prst="line">
            <a:avLst/>
          </a:prstGeom>
          <a:ln w="6350">
            <a:solidFill>
              <a:srgbClr val="D0CECE"/>
            </a:solidFill>
          </a:ln>
        </p:spPr>
        <p:style>
          <a:lnRef idx="2">
            <a:schemeClr val="accent1"/>
          </a:lnRef>
          <a:fillRef idx="0">
            <a:schemeClr val="accent1"/>
          </a:fillRef>
          <a:effectRef idx="1">
            <a:schemeClr val="accent1"/>
          </a:effectRef>
          <a:fontRef idx="minor">
            <a:schemeClr val="tx1"/>
          </a:fontRef>
        </p:style>
      </p:cxnSp>
      <p:sp>
        <p:nvSpPr>
          <p:cNvPr id="152" name="Rectangle 151"/>
          <p:cNvSpPr/>
          <p:nvPr/>
        </p:nvSpPr>
        <p:spPr>
          <a:xfrm>
            <a:off x="4754880" y="4974336"/>
            <a:ext cx="6766560" cy="566928"/>
          </a:xfrm>
          <a:prstGeom prst="rect">
            <a:avLst/>
          </a:prstGeom>
          <a:solidFill>
            <a:srgbClr val="FADF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3" name="Rectangle 152"/>
          <p:cNvSpPr/>
          <p:nvPr/>
        </p:nvSpPr>
        <p:spPr>
          <a:xfrm>
            <a:off x="4754880" y="4974336"/>
            <a:ext cx="41148" cy="566928"/>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4" name="TextBox 153"/>
          <p:cNvSpPr txBox="1"/>
          <p:nvPr/>
        </p:nvSpPr>
        <p:spPr>
          <a:xfrm>
            <a:off x="4974336" y="5047488"/>
            <a:ext cx="6400800" cy="475488"/>
          </a:xfrm>
          <a:prstGeom prst="rect">
            <a:avLst/>
          </a:prstGeom>
          <a:noFill/>
        </p:spPr>
        <p:txBody>
          <a:bodyPr wrap="square" lIns="0" rIns="0" tIns="0" bIns="0" anchor="t">
            <a:spAutoFit/>
          </a:bodyPr>
          <a:lstStyle/>
          <a:p>
            <a:pPr algn="l">
              <a:lnSpc>
                <a:spcPct val="118000"/>
              </a:lnSpc>
              <a:spcAft>
                <a:spcPts val="0"/>
              </a:spcAft>
            </a:pPr>
            <a:r>
              <a:rPr sz="900" b="1" i="0">
                <a:solidFill>
                  <a:srgbClr val="000000"/>
                </a:solidFill>
                <a:latin typeface="Arial"/>
              </a:rPr>
              <a:t>The diversification degrades in exactly the state that needs it. </a:t>
            </a:r>
            <a:r>
              <a:rPr sz="900" b="0" i="0">
                <a:solidFill>
                  <a:srgbClr val="000000"/>
                </a:solidFill>
                <a:latin typeface="Arial"/>
              </a:rPr>
              <a:t>Against the S&amp;P the steepener runs +0.13 across all weeks and +0.42 in the worst quintile: it stops being a hedge and starts being another long.</a:t>
            </a:r>
          </a:p>
        </p:txBody>
      </p:sp>
      <p:sp>
        <p:nvSpPr>
          <p:cNvPr id="155" name="Rectangle 154"/>
          <p:cNvSpPr/>
          <p:nvPr/>
        </p:nvSpPr>
        <p:spPr>
          <a:xfrm>
            <a:off x="4754880" y="5632704"/>
            <a:ext cx="6766560" cy="566928"/>
          </a:xfrm>
          <a:prstGeom prst="rect">
            <a:avLst/>
          </a:pr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6" name="Rectangle 155"/>
          <p:cNvSpPr/>
          <p:nvPr/>
        </p:nvSpPr>
        <p:spPr>
          <a:xfrm>
            <a:off x="4754880" y="5632704"/>
            <a:ext cx="41148" cy="566928"/>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7" name="TextBox 156"/>
          <p:cNvSpPr txBox="1"/>
          <p:nvPr/>
        </p:nvSpPr>
        <p:spPr>
          <a:xfrm>
            <a:off x="4974336" y="5705856"/>
            <a:ext cx="6400800" cy="475488"/>
          </a:xfrm>
          <a:prstGeom prst="rect">
            <a:avLst/>
          </a:prstGeom>
          <a:noFill/>
        </p:spPr>
        <p:txBody>
          <a:bodyPr wrap="square" lIns="0" rIns="0" tIns="0" bIns="0" anchor="t">
            <a:spAutoFit/>
          </a:bodyPr>
          <a:lstStyle/>
          <a:p>
            <a:pPr algn="l">
              <a:lnSpc>
                <a:spcPct val="118000"/>
              </a:lnSpc>
              <a:spcAft>
                <a:spcPts val="0"/>
              </a:spcAft>
            </a:pPr>
            <a:r>
              <a:rPr sz="900" b="1" i="0">
                <a:solidFill>
                  <a:srgbClr val="000000"/>
                </a:solidFill>
                <a:latin typeface="Arial"/>
              </a:rPr>
              <a:t>Size off the H share, not the A. </a:t>
            </a:r>
            <a:r>
              <a:rPr sz="900" b="0" i="0">
                <a:solidFill>
                  <a:srgbClr val="000000"/>
                </a:solidFill>
                <a:latin typeface="Arial"/>
              </a:rPr>
              <a:t>3750 HK listed 20 May 2025, so it carries 62 weeks. The A share runs 33% annualised against the H share's 48%, ρ = 0.76. Sizing off the A understates the position.</a:t>
            </a:r>
          </a:p>
        </p:txBody>
      </p:sp>
      <p:sp>
        <p:nvSpPr>
          <p:cNvPr id="158" name="TextBox 157"/>
          <p:cNvSpPr txBox="1"/>
          <p:nvPr/>
        </p:nvSpPr>
        <p:spPr>
          <a:xfrm>
            <a:off x="374904" y="6455664"/>
            <a:ext cx="11441887" cy="274320"/>
          </a:xfrm>
          <a:prstGeom prst="rect">
            <a:avLst/>
          </a:prstGeom>
          <a:noFill/>
        </p:spPr>
        <p:txBody>
          <a:bodyPr wrap="square" lIns="0" rIns="0" tIns="0" bIns="0" anchor="t">
            <a:spAutoFit/>
          </a:bodyPr>
          <a:lstStyle/>
          <a:p>
            <a:pPr algn="l">
              <a:lnSpc>
                <a:spcPct val="110000"/>
              </a:lnSpc>
              <a:spcAft>
                <a:spcPts val="0"/>
              </a:spcAft>
            </a:pPr>
            <a:r>
              <a:rPr sz="800" b="0" i="0">
                <a:solidFill>
                  <a:srgbClr val="767576"/>
                </a:solidFill>
                <a:latin typeface="Arial"/>
              </a:rPr>
              <a:t>CATL correlations computed on 300750 CH; 3750 HK has 62 weekly observations since listing. Steepener P&amp;L is the weekly change in 2s10s, positive is steepening. Weekly Friday-to-Friday because Tokyo, Shenzhen and New York close up to thirteen hours apart. Stale prints dropped on the panel's own traded flag. Yahoo Finance and MoF; repoint to the terminal before use.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Freeform 2"/>
          <p:cNvSpPr/>
          <p:nvPr/>
        </p:nvSpPr>
        <p:spPr>
          <a:xfrm>
            <a:off x="0" y="0"/>
            <a:ext cx="6095847" cy="6858000"/>
          </a:xfrm>
          <a:custGeom>
            <a:avLst/>
            <a:gdLst/>
            <a:ahLst/>
            <a:cxnLst/>
            <a:rect l="l" t="t" r="r" b="b"/>
            <a:pathLst>
              <a:path w="6095847" h="6858000">
                <a:moveTo>
                  <a:pt x="0" y="0"/>
                </a:moveTo>
                <a:lnTo>
                  <a:pt x="0" y="6858000"/>
                </a:lnTo>
                <a:lnTo>
                  <a:pt x="6095847" y="3429000"/>
                </a:lnTo>
                <a:close/>
              </a:path>
            </a:pathLst>
          </a:cu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6095847" y="0"/>
            <a:ext cx="6095848" cy="6858000"/>
          </a:xfrm>
          <a:custGeom>
            <a:avLst/>
            <a:gdLst/>
            <a:ahLst/>
            <a:cxnLst/>
            <a:rect l="l" t="t" r="r" b="b"/>
            <a:pathLst>
              <a:path w="6095848" h="6858000">
                <a:moveTo>
                  <a:pt x="6095848" y="0"/>
                </a:moveTo>
                <a:lnTo>
                  <a:pt x="6095848" y="6858000"/>
                </a:lnTo>
                <a:lnTo>
                  <a:pt x="0" y="3429000"/>
                </a:lnTo>
                <a:close/>
              </a:path>
            </a:pathLst>
          </a:cu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74904" y="182880"/>
            <a:ext cx="3657600" cy="219456"/>
          </a:xfrm>
          <a:prstGeom prst="rect">
            <a:avLst/>
          </a:prstGeom>
          <a:noFill/>
        </p:spPr>
        <p:txBody>
          <a:bodyPr wrap="none" lIns="0" rIns="0" tIns="0" bIns="0" anchor="t">
            <a:spAutoFit/>
          </a:bodyPr>
          <a:lstStyle/>
          <a:p>
            <a:pPr algn="l">
              <a:lnSpc>
                <a:spcPct val="100000"/>
              </a:lnSpc>
              <a:spcAft>
                <a:spcPts val="0"/>
              </a:spcAft>
            </a:pPr>
            <a:r>
              <a:rPr sz="1050" b="1" i="0">
                <a:solidFill>
                  <a:srgbClr val="000000"/>
                </a:solidFill>
                <a:latin typeface="Arial"/>
              </a:rPr>
              <a:t>Risks</a:t>
            </a:r>
          </a:p>
        </p:txBody>
      </p:sp>
      <p:sp>
        <p:nvSpPr>
          <p:cNvPr id="6" name="TextBox 5"/>
          <p:cNvSpPr txBox="1"/>
          <p:nvPr/>
        </p:nvSpPr>
        <p:spPr>
          <a:xfrm>
            <a:off x="11249863" y="265176"/>
            <a:ext cx="566927" cy="219456"/>
          </a:xfrm>
          <a:prstGeom prst="rect">
            <a:avLst/>
          </a:prstGeom>
          <a:noFill/>
        </p:spPr>
        <p:txBody>
          <a:bodyPr wrap="none" lIns="0" rIns="0" tIns="0" bIns="0" anchor="t">
            <a:spAutoFit/>
          </a:bodyPr>
          <a:lstStyle/>
          <a:p>
            <a:pPr algn="ctr">
              <a:lnSpc>
                <a:spcPct val="100000"/>
              </a:lnSpc>
              <a:spcAft>
                <a:spcPts val="0"/>
              </a:spcAft>
            </a:pPr>
            <a:r>
              <a:rPr sz="1050" b="1" i="0">
                <a:solidFill>
                  <a:srgbClr val="000000"/>
                </a:solidFill>
                <a:latin typeface="Arial"/>
              </a:rPr>
              <a:t>Risks</a:t>
            </a:r>
          </a:p>
        </p:txBody>
      </p:sp>
      <p:cxnSp>
        <p:nvCxnSpPr>
          <p:cNvPr id="7" name="Connector 6"/>
          <p:cNvCxnSpPr/>
          <p:nvPr/>
        </p:nvCxnSpPr>
        <p:spPr>
          <a:xfrm>
            <a:off x="11249863" y="512064"/>
            <a:ext cx="566928" cy="0"/>
          </a:xfrm>
          <a:prstGeom prst="line">
            <a:avLst/>
          </a:prstGeom>
          <a:ln w="25400">
            <a:solidFill>
              <a:srgbClr val="DB0011"/>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0401300" y="265176"/>
            <a:ext cx="647395" cy="219456"/>
          </a:xfrm>
          <a:prstGeom prst="rect">
            <a:avLst/>
          </a:prstGeom>
          <a:noFill/>
        </p:spPr>
        <p:txBody>
          <a:bodyPr wrap="none" lIns="0" rIns="0" tIns="0" bIns="0" anchor="t">
            <a:spAutoFit/>
          </a:bodyPr>
          <a:lstStyle/>
          <a:p>
            <a:pPr algn="ctr">
              <a:lnSpc>
                <a:spcPct val="100000"/>
              </a:lnSpc>
              <a:spcAft>
                <a:spcPts val="0"/>
              </a:spcAft>
            </a:pPr>
            <a:r>
              <a:rPr sz="1050" b="0" i="0">
                <a:solidFill>
                  <a:srgbClr val="767576"/>
                </a:solidFill>
                <a:latin typeface="Arial"/>
              </a:rPr>
              <a:t>Trades</a:t>
            </a:r>
          </a:p>
        </p:txBody>
      </p:sp>
      <p:sp>
        <p:nvSpPr>
          <p:cNvPr id="9" name="TextBox 8"/>
          <p:cNvSpPr txBox="1"/>
          <p:nvPr/>
        </p:nvSpPr>
        <p:spPr>
          <a:xfrm>
            <a:off x="9472269" y="265176"/>
            <a:ext cx="727862" cy="219456"/>
          </a:xfrm>
          <a:prstGeom prst="rect">
            <a:avLst/>
          </a:prstGeom>
          <a:noFill/>
        </p:spPr>
        <p:txBody>
          <a:bodyPr wrap="none" lIns="0" rIns="0" tIns="0" bIns="0" anchor="t">
            <a:spAutoFit/>
          </a:bodyPr>
          <a:lstStyle/>
          <a:p>
            <a:pPr algn="ctr">
              <a:lnSpc>
                <a:spcPct val="100000"/>
              </a:lnSpc>
              <a:spcAft>
                <a:spcPts val="0"/>
              </a:spcAft>
            </a:pPr>
            <a:r>
              <a:rPr sz="1050" b="0" i="0">
                <a:solidFill>
                  <a:srgbClr val="767576"/>
                </a:solidFill>
                <a:latin typeface="Arial"/>
              </a:rPr>
              <a:t>Markets</a:t>
            </a:r>
          </a:p>
        </p:txBody>
      </p:sp>
      <p:sp>
        <p:nvSpPr>
          <p:cNvPr id="10" name="TextBox 9"/>
          <p:cNvSpPr txBox="1"/>
          <p:nvPr/>
        </p:nvSpPr>
        <p:spPr>
          <a:xfrm>
            <a:off x="8704173" y="265176"/>
            <a:ext cx="566927" cy="219456"/>
          </a:xfrm>
          <a:prstGeom prst="rect">
            <a:avLst/>
          </a:prstGeom>
          <a:noFill/>
        </p:spPr>
        <p:txBody>
          <a:bodyPr wrap="none" lIns="0" rIns="0" tIns="0" bIns="0" anchor="t">
            <a:spAutoFit/>
          </a:bodyPr>
          <a:lstStyle/>
          <a:p>
            <a:pPr algn="ctr">
              <a:lnSpc>
                <a:spcPct val="100000"/>
              </a:lnSpc>
              <a:spcAft>
                <a:spcPts val="0"/>
              </a:spcAft>
            </a:pPr>
            <a:r>
              <a:rPr sz="1050" b="0" i="0">
                <a:solidFill>
                  <a:srgbClr val="767576"/>
                </a:solidFill>
                <a:latin typeface="Arial"/>
              </a:rPr>
              <a:t>Macro</a:t>
            </a:r>
          </a:p>
        </p:txBody>
      </p:sp>
      <p:cxnSp>
        <p:nvCxnSpPr>
          <p:cNvPr id="11" name="Connector 10"/>
          <p:cNvCxnSpPr/>
          <p:nvPr/>
        </p:nvCxnSpPr>
        <p:spPr>
          <a:xfrm>
            <a:off x="374904" y="640080"/>
            <a:ext cx="11441887" cy="0"/>
          </a:xfrm>
          <a:prstGeom prst="line">
            <a:avLst/>
          </a:prstGeom>
          <a:ln w="9525">
            <a:solidFill>
              <a:srgbClr val="00000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374904" y="786384"/>
            <a:ext cx="11441887" cy="457200"/>
          </a:xfrm>
          <a:prstGeom prst="rect">
            <a:avLst/>
          </a:prstGeom>
          <a:noFill/>
        </p:spPr>
        <p:txBody>
          <a:bodyPr wrap="none" lIns="0" rIns="0" tIns="0" bIns="0" anchor="t">
            <a:spAutoFit/>
          </a:bodyPr>
          <a:lstStyle/>
          <a:p>
            <a:pPr algn="l">
              <a:lnSpc>
                <a:spcPct val="100000"/>
              </a:lnSpc>
              <a:spcAft>
                <a:spcPts val="0"/>
              </a:spcAft>
            </a:pPr>
            <a:r>
              <a:rPr sz="2600" b="0" i="0">
                <a:solidFill>
                  <a:srgbClr val="000000"/>
                </a:solidFill>
                <a:latin typeface="Arial"/>
              </a:rPr>
              <a:t>One calendar, and the risks that are not on it</a:t>
            </a:r>
          </a:p>
        </p:txBody>
      </p:sp>
      <p:sp>
        <p:nvSpPr>
          <p:cNvPr id="13" name="TextBox 12"/>
          <p:cNvSpPr txBox="1"/>
          <p:nvPr/>
        </p:nvSpPr>
        <p:spPr>
          <a:xfrm>
            <a:off x="374904" y="1261872"/>
            <a:ext cx="11441887" cy="310896"/>
          </a:xfrm>
          <a:prstGeom prst="rect">
            <a:avLst/>
          </a:prstGeom>
          <a:noFill/>
        </p:spPr>
        <p:txBody>
          <a:bodyPr wrap="square" lIns="0" rIns="0" tIns="0" bIns="0" anchor="t">
            <a:spAutoFit/>
          </a:bodyPr>
          <a:lstStyle/>
          <a:p>
            <a:pPr algn="l">
              <a:lnSpc>
                <a:spcPct val="115000"/>
              </a:lnSpc>
              <a:spcAft>
                <a:spcPts val="0"/>
              </a:spcAft>
            </a:pPr>
            <a:r>
              <a:rPr sz="1300" b="0" i="0">
                <a:solidFill>
                  <a:srgbClr val="767576"/>
                </a:solidFill>
                <a:latin typeface="Arial"/>
              </a:rPr>
              <a:t>Every dated risk in the book, on one axis. The two that matter most have no date at all, and they are named underneath.</a:t>
            </a:r>
          </a:p>
        </p:txBody>
      </p:sp>
      <p:sp>
        <p:nvSpPr>
          <p:cNvPr id="14" name="TextBox 13"/>
          <p:cNvSpPr txBox="1"/>
          <p:nvPr/>
        </p:nvSpPr>
        <p:spPr>
          <a:xfrm>
            <a:off x="11268151" y="6537960"/>
            <a:ext cx="548640" cy="201168"/>
          </a:xfrm>
          <a:prstGeom prst="rect">
            <a:avLst/>
          </a:prstGeom>
          <a:noFill/>
        </p:spPr>
        <p:txBody>
          <a:bodyPr wrap="none" lIns="0" rIns="0" tIns="0" bIns="0" anchor="t">
            <a:spAutoFit/>
          </a:bodyPr>
          <a:lstStyle/>
          <a:p>
            <a:pPr algn="r">
              <a:lnSpc>
                <a:spcPct val="100000"/>
              </a:lnSpc>
              <a:spcAft>
                <a:spcPts val="0"/>
              </a:spcAft>
            </a:pPr>
            <a:r>
              <a:rPr sz="800" b="0" i="0">
                <a:solidFill>
                  <a:srgbClr val="767576"/>
                </a:solidFill>
                <a:latin typeface="Arial"/>
              </a:rPr>
              <a:t>5</a:t>
            </a:r>
          </a:p>
        </p:txBody>
      </p:sp>
      <p:sp>
        <p:nvSpPr>
          <p:cNvPr id="15" name="TextBox 14"/>
          <p:cNvSpPr txBox="1"/>
          <p:nvPr/>
        </p:nvSpPr>
        <p:spPr>
          <a:xfrm>
            <a:off x="1563624" y="192024"/>
            <a:ext cx="5852160" cy="201168"/>
          </a:xfrm>
          <a:prstGeom prst="rect">
            <a:avLst/>
          </a:prstGeom>
          <a:noFill/>
        </p:spPr>
        <p:txBody>
          <a:bodyPr wrap="none" lIns="0" rIns="0" tIns="0" bIns="0" anchor="t">
            <a:spAutoFit/>
          </a:bodyPr>
          <a:lstStyle/>
          <a:p>
            <a:pPr algn="l">
              <a:lnSpc>
                <a:spcPct val="100000"/>
              </a:lnSpc>
              <a:spcAft>
                <a:spcPts val="0"/>
              </a:spcAft>
            </a:pPr>
            <a:r>
              <a:rPr sz="800" b="0" i="0">
                <a:solidFill>
                  <a:srgbClr val="767576"/>
                </a:solidFill>
                <a:latin typeface="Arial"/>
              </a:rPr>
              <a:t>Prototype — MoF curve to 31-Jul-26 · trade figures from the slide 8 model · not for the room</a:t>
            </a:r>
          </a:p>
        </p:txBody>
      </p:sp>
      <p:cxnSp>
        <p:nvCxnSpPr>
          <p:cNvPr id="16" name="Connector 15"/>
          <p:cNvCxnSpPr/>
          <p:nvPr/>
        </p:nvCxnSpPr>
        <p:spPr>
          <a:xfrm>
            <a:off x="374904" y="2523744"/>
            <a:ext cx="11441887" cy="0"/>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374904" y="2468880"/>
            <a:ext cx="0" cy="109728"/>
          </a:xfrm>
          <a:prstGeom prst="line">
            <a:avLst/>
          </a:prstGeom>
          <a:ln w="6350">
            <a:solidFill>
              <a:srgbClr val="D0CECE"/>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328394" y="2468880"/>
            <a:ext cx="0" cy="109728"/>
          </a:xfrm>
          <a:prstGeom prst="line">
            <a:avLst/>
          </a:prstGeom>
          <a:ln w="6350">
            <a:solidFill>
              <a:srgbClr val="D0CECE"/>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2281885" y="2468880"/>
            <a:ext cx="0" cy="109728"/>
          </a:xfrm>
          <a:prstGeom prst="line">
            <a:avLst/>
          </a:prstGeom>
          <a:ln w="6350">
            <a:solidFill>
              <a:srgbClr val="D0CECE"/>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3235375" y="2468880"/>
            <a:ext cx="0" cy="109728"/>
          </a:xfrm>
          <a:prstGeom prst="line">
            <a:avLst/>
          </a:prstGeom>
          <a:ln w="6350">
            <a:solidFill>
              <a:srgbClr val="D0CECE"/>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188866" y="2468880"/>
            <a:ext cx="0" cy="109728"/>
          </a:xfrm>
          <a:prstGeom prst="line">
            <a:avLst/>
          </a:prstGeom>
          <a:ln w="6350">
            <a:solidFill>
              <a:srgbClr val="D0CECE"/>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5142357" y="2468880"/>
            <a:ext cx="0" cy="109728"/>
          </a:xfrm>
          <a:prstGeom prst="line">
            <a:avLst/>
          </a:prstGeom>
          <a:ln w="6350">
            <a:solidFill>
              <a:srgbClr val="D0CECE"/>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6095847" y="2468880"/>
            <a:ext cx="0" cy="109728"/>
          </a:xfrm>
          <a:prstGeom prst="line">
            <a:avLst/>
          </a:prstGeom>
          <a:ln w="6350">
            <a:solidFill>
              <a:srgbClr val="D0CECE"/>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049338" y="2468880"/>
            <a:ext cx="0" cy="109728"/>
          </a:xfrm>
          <a:prstGeom prst="line">
            <a:avLst/>
          </a:prstGeom>
          <a:ln w="6350">
            <a:solidFill>
              <a:srgbClr val="D0CECE"/>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002828" y="2468880"/>
            <a:ext cx="0" cy="109728"/>
          </a:xfrm>
          <a:prstGeom prst="line">
            <a:avLst/>
          </a:prstGeom>
          <a:ln w="6350">
            <a:solidFill>
              <a:srgbClr val="D0CECE"/>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956319" y="2468880"/>
            <a:ext cx="0" cy="109728"/>
          </a:xfrm>
          <a:prstGeom prst="line">
            <a:avLst/>
          </a:prstGeom>
          <a:ln w="6350">
            <a:solidFill>
              <a:srgbClr val="D0CECE"/>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9909810" y="2468880"/>
            <a:ext cx="0" cy="109728"/>
          </a:xfrm>
          <a:prstGeom prst="line">
            <a:avLst/>
          </a:prstGeom>
          <a:ln w="6350">
            <a:solidFill>
              <a:srgbClr val="D0CECE"/>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0863300" y="2468880"/>
            <a:ext cx="0" cy="109728"/>
          </a:xfrm>
          <a:prstGeom prst="line">
            <a:avLst/>
          </a:prstGeom>
          <a:ln w="6350">
            <a:solidFill>
              <a:srgbClr val="D0CECE"/>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1816791" y="2468880"/>
            <a:ext cx="0" cy="109728"/>
          </a:xfrm>
          <a:prstGeom prst="line">
            <a:avLst/>
          </a:prstGeom>
          <a:ln w="6350">
            <a:solidFill>
              <a:srgbClr val="D0CECE"/>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4864" y="2651760"/>
            <a:ext cx="640080" cy="182880"/>
          </a:xfrm>
          <a:prstGeom prst="rect">
            <a:avLst/>
          </a:prstGeom>
          <a:noFill/>
        </p:spPr>
        <p:txBody>
          <a:bodyPr wrap="none" lIns="0" rIns="0" tIns="0" bIns="0" anchor="t">
            <a:spAutoFit/>
          </a:bodyPr>
          <a:lstStyle/>
          <a:p>
            <a:pPr algn="ctr">
              <a:lnSpc>
                <a:spcPct val="100000"/>
              </a:lnSpc>
              <a:spcAft>
                <a:spcPts val="0"/>
              </a:spcAft>
            </a:pPr>
            <a:r>
              <a:rPr sz="800" b="0" i="0">
                <a:solidFill>
                  <a:srgbClr val="767576"/>
                </a:solidFill>
                <a:latin typeface="Arial"/>
              </a:rPr>
              <a:t>Aug 26</a:t>
            </a:r>
          </a:p>
        </p:txBody>
      </p:sp>
      <p:sp>
        <p:nvSpPr>
          <p:cNvPr id="31" name="TextBox 30"/>
          <p:cNvSpPr txBox="1"/>
          <p:nvPr/>
        </p:nvSpPr>
        <p:spPr>
          <a:xfrm>
            <a:off x="2915335" y="2651760"/>
            <a:ext cx="640080" cy="182880"/>
          </a:xfrm>
          <a:prstGeom prst="rect">
            <a:avLst/>
          </a:prstGeom>
          <a:noFill/>
        </p:spPr>
        <p:txBody>
          <a:bodyPr wrap="none" lIns="0" rIns="0" tIns="0" bIns="0" anchor="t">
            <a:spAutoFit/>
          </a:bodyPr>
          <a:lstStyle/>
          <a:p>
            <a:pPr algn="ctr">
              <a:lnSpc>
                <a:spcPct val="100000"/>
              </a:lnSpc>
              <a:spcAft>
                <a:spcPts val="0"/>
              </a:spcAft>
            </a:pPr>
            <a:r>
              <a:rPr sz="800" b="0" i="0">
                <a:solidFill>
                  <a:srgbClr val="767576"/>
                </a:solidFill>
                <a:latin typeface="Arial"/>
              </a:rPr>
              <a:t>Nov 26</a:t>
            </a:r>
          </a:p>
        </p:txBody>
      </p:sp>
      <p:sp>
        <p:nvSpPr>
          <p:cNvPr id="32" name="TextBox 31"/>
          <p:cNvSpPr txBox="1"/>
          <p:nvPr/>
        </p:nvSpPr>
        <p:spPr>
          <a:xfrm>
            <a:off x="5775807" y="2651760"/>
            <a:ext cx="640080" cy="182880"/>
          </a:xfrm>
          <a:prstGeom prst="rect">
            <a:avLst/>
          </a:prstGeom>
          <a:noFill/>
        </p:spPr>
        <p:txBody>
          <a:bodyPr wrap="none" lIns="0" rIns="0" tIns="0" bIns="0" anchor="t">
            <a:spAutoFit/>
          </a:bodyPr>
          <a:lstStyle/>
          <a:p>
            <a:pPr algn="ctr">
              <a:lnSpc>
                <a:spcPct val="100000"/>
              </a:lnSpc>
              <a:spcAft>
                <a:spcPts val="0"/>
              </a:spcAft>
            </a:pPr>
            <a:r>
              <a:rPr sz="800" b="0" i="0">
                <a:solidFill>
                  <a:srgbClr val="767576"/>
                </a:solidFill>
                <a:latin typeface="Arial"/>
              </a:rPr>
              <a:t>Feb 27</a:t>
            </a:r>
          </a:p>
        </p:txBody>
      </p:sp>
      <p:sp>
        <p:nvSpPr>
          <p:cNvPr id="33" name="TextBox 32"/>
          <p:cNvSpPr txBox="1"/>
          <p:nvPr/>
        </p:nvSpPr>
        <p:spPr>
          <a:xfrm>
            <a:off x="8636279" y="2651760"/>
            <a:ext cx="640080" cy="182880"/>
          </a:xfrm>
          <a:prstGeom prst="rect">
            <a:avLst/>
          </a:prstGeom>
          <a:noFill/>
        </p:spPr>
        <p:txBody>
          <a:bodyPr wrap="none" lIns="0" rIns="0" tIns="0" bIns="0" anchor="t">
            <a:spAutoFit/>
          </a:bodyPr>
          <a:lstStyle/>
          <a:p>
            <a:pPr algn="ctr">
              <a:lnSpc>
                <a:spcPct val="100000"/>
              </a:lnSpc>
              <a:spcAft>
                <a:spcPts val="0"/>
              </a:spcAft>
            </a:pPr>
            <a:r>
              <a:rPr sz="800" b="0" i="0">
                <a:solidFill>
                  <a:srgbClr val="767576"/>
                </a:solidFill>
                <a:latin typeface="Arial"/>
              </a:rPr>
              <a:t>May 27</a:t>
            </a:r>
          </a:p>
        </p:txBody>
      </p:sp>
      <p:sp>
        <p:nvSpPr>
          <p:cNvPr id="34" name="TextBox 33"/>
          <p:cNvSpPr txBox="1"/>
          <p:nvPr/>
        </p:nvSpPr>
        <p:spPr>
          <a:xfrm>
            <a:off x="11496751" y="2651760"/>
            <a:ext cx="640080" cy="182880"/>
          </a:xfrm>
          <a:prstGeom prst="rect">
            <a:avLst/>
          </a:prstGeom>
          <a:noFill/>
        </p:spPr>
        <p:txBody>
          <a:bodyPr wrap="none" lIns="0" rIns="0" tIns="0" bIns="0" anchor="t">
            <a:spAutoFit/>
          </a:bodyPr>
          <a:lstStyle/>
          <a:p>
            <a:pPr algn="ctr">
              <a:lnSpc>
                <a:spcPct val="100000"/>
              </a:lnSpc>
              <a:spcAft>
                <a:spcPts val="0"/>
              </a:spcAft>
            </a:pPr>
            <a:r>
              <a:rPr sz="800" b="0" i="0">
                <a:solidFill>
                  <a:srgbClr val="767576"/>
                </a:solidFill>
                <a:latin typeface="Arial"/>
              </a:rPr>
              <a:t>Aug 27</a:t>
            </a:r>
          </a:p>
        </p:txBody>
      </p:sp>
      <p:cxnSp>
        <p:nvCxnSpPr>
          <p:cNvPr id="35" name="Connector 34"/>
          <p:cNvCxnSpPr/>
          <p:nvPr/>
        </p:nvCxnSpPr>
        <p:spPr>
          <a:xfrm>
            <a:off x="1709790" y="1956816"/>
            <a:ext cx="0" cy="566928"/>
          </a:xfrm>
          <a:prstGeom prst="line">
            <a:avLst/>
          </a:prstGeom>
          <a:ln w="19050">
            <a:solidFill>
              <a:srgbClr val="44546A"/>
            </a:solidFill>
          </a:ln>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1668642" y="2482596"/>
            <a:ext cx="82296" cy="82296"/>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1618350" y="1591056"/>
            <a:ext cx="2834640" cy="201168"/>
          </a:xfrm>
          <a:prstGeom prst="rect">
            <a:avLst/>
          </a:prstGeom>
          <a:noFill/>
        </p:spPr>
        <p:txBody>
          <a:bodyPr wrap="none" lIns="0" rIns="0" tIns="0" bIns="0" anchor="t">
            <a:spAutoFit/>
          </a:bodyPr>
          <a:lstStyle/>
          <a:p>
            <a:pPr algn="l">
              <a:lnSpc>
                <a:spcPct val="100000"/>
              </a:lnSpc>
              <a:spcAft>
                <a:spcPts val="0"/>
              </a:spcAft>
            </a:pPr>
            <a:r>
              <a:rPr sz="1000" b="1" i="0">
                <a:solidFill>
                  <a:srgbClr val="44546A"/>
                </a:solidFill>
                <a:latin typeface="Arial"/>
              </a:rPr>
              <a:t>18 Sep 26</a:t>
            </a:r>
          </a:p>
        </p:txBody>
      </p:sp>
      <p:sp>
        <p:nvSpPr>
          <p:cNvPr id="38" name="TextBox 37"/>
          <p:cNvSpPr txBox="1"/>
          <p:nvPr/>
        </p:nvSpPr>
        <p:spPr>
          <a:xfrm>
            <a:off x="1618350" y="1792224"/>
            <a:ext cx="2834640" cy="329184"/>
          </a:xfrm>
          <a:prstGeom prst="rect">
            <a:avLst/>
          </a:prstGeom>
          <a:noFill/>
        </p:spPr>
        <p:txBody>
          <a:bodyPr wrap="square" lIns="0" rIns="0" tIns="0" bIns="0" anchor="t">
            <a:spAutoFit/>
          </a:bodyPr>
          <a:lstStyle/>
          <a:p>
            <a:pPr algn="l">
              <a:lnSpc>
                <a:spcPct val="114000"/>
              </a:lnSpc>
              <a:spcAft>
                <a:spcPts val="0"/>
              </a:spcAft>
            </a:pPr>
            <a:r>
              <a:rPr sz="850" b="0" i="0">
                <a:solidFill>
                  <a:srgbClr val="000000"/>
                </a:solidFill>
                <a:latin typeface="Arial"/>
              </a:rPr>
              <a:t>BoJ. Half the position goes on the day after</a:t>
            </a:r>
          </a:p>
        </p:txBody>
      </p:sp>
      <p:cxnSp>
        <p:nvCxnSpPr>
          <p:cNvPr id="39" name="Connector 38"/>
          <p:cNvCxnSpPr/>
          <p:nvPr/>
        </p:nvCxnSpPr>
        <p:spPr>
          <a:xfrm>
            <a:off x="3044677" y="2542032"/>
            <a:ext cx="0" cy="566928"/>
          </a:xfrm>
          <a:prstGeom prst="line">
            <a:avLst/>
          </a:prstGeom>
          <a:ln w="19050">
            <a:solidFill>
              <a:srgbClr val="DB0011"/>
            </a:solidFill>
          </a:ln>
        </p:spPr>
        <p:style>
          <a:lnRef idx="2">
            <a:schemeClr val="accent1"/>
          </a:lnRef>
          <a:fillRef idx="0">
            <a:schemeClr val="accent1"/>
          </a:fillRef>
          <a:effectRef idx="1">
            <a:schemeClr val="accent1"/>
          </a:effectRef>
          <a:fontRef idx="minor">
            <a:schemeClr val="tx1"/>
          </a:fontRef>
        </p:style>
      </p:cxnSp>
      <p:sp>
        <p:nvSpPr>
          <p:cNvPr id="40" name="Rectangle 39"/>
          <p:cNvSpPr/>
          <p:nvPr/>
        </p:nvSpPr>
        <p:spPr>
          <a:xfrm>
            <a:off x="3003529" y="2482596"/>
            <a:ext cx="82296" cy="82296"/>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2953237" y="2907792"/>
            <a:ext cx="2834640" cy="201168"/>
          </a:xfrm>
          <a:prstGeom prst="rect">
            <a:avLst/>
          </a:prstGeom>
          <a:noFill/>
        </p:spPr>
        <p:txBody>
          <a:bodyPr wrap="none" lIns="0" rIns="0" tIns="0" bIns="0" anchor="t">
            <a:spAutoFit/>
          </a:bodyPr>
          <a:lstStyle/>
          <a:p>
            <a:pPr algn="l">
              <a:lnSpc>
                <a:spcPct val="100000"/>
              </a:lnSpc>
              <a:spcAft>
                <a:spcPts val="0"/>
              </a:spcAft>
            </a:pPr>
            <a:r>
              <a:rPr sz="1000" b="1" i="0">
                <a:solidFill>
                  <a:srgbClr val="DB0011"/>
                </a:solidFill>
                <a:latin typeface="Arial"/>
              </a:rPr>
              <a:t>29 Oct 26</a:t>
            </a:r>
          </a:p>
        </p:txBody>
      </p:sp>
      <p:sp>
        <p:nvSpPr>
          <p:cNvPr id="42" name="TextBox 41"/>
          <p:cNvSpPr txBox="1"/>
          <p:nvPr/>
        </p:nvSpPr>
        <p:spPr>
          <a:xfrm>
            <a:off x="2953237" y="3108960"/>
            <a:ext cx="2834640" cy="329184"/>
          </a:xfrm>
          <a:prstGeom prst="rect">
            <a:avLst/>
          </a:prstGeom>
          <a:noFill/>
        </p:spPr>
        <p:txBody>
          <a:bodyPr wrap="square" lIns="0" rIns="0" tIns="0" bIns="0" anchor="t">
            <a:spAutoFit/>
          </a:bodyPr>
          <a:lstStyle/>
          <a:p>
            <a:pPr algn="l">
              <a:lnSpc>
                <a:spcPct val="114000"/>
              </a:lnSpc>
              <a:spcAft>
                <a:spcPts val="0"/>
              </a:spcAft>
            </a:pPr>
            <a:r>
              <a:rPr sz="850" b="0" i="0">
                <a:solidFill>
                  <a:srgbClr val="000000"/>
                </a:solidFill>
                <a:latin typeface="Arial"/>
              </a:rPr>
              <a:t>BoJ, and the FY27 CPI forecast. The invalidation</a:t>
            </a:r>
          </a:p>
        </p:txBody>
      </p:sp>
      <p:cxnSp>
        <p:nvCxnSpPr>
          <p:cNvPr id="43" name="Connector 42"/>
          <p:cNvCxnSpPr/>
          <p:nvPr/>
        </p:nvCxnSpPr>
        <p:spPr>
          <a:xfrm>
            <a:off x="4760960" y="1956816"/>
            <a:ext cx="0" cy="566928"/>
          </a:xfrm>
          <a:prstGeom prst="line">
            <a:avLst/>
          </a:prstGeom>
          <a:ln w="19050">
            <a:solidFill>
              <a:srgbClr val="44546A"/>
            </a:solidFill>
          </a:ln>
        </p:spPr>
        <p:style>
          <a:lnRef idx="2">
            <a:schemeClr val="accent1"/>
          </a:lnRef>
          <a:fillRef idx="0">
            <a:schemeClr val="accent1"/>
          </a:fillRef>
          <a:effectRef idx="1">
            <a:schemeClr val="accent1"/>
          </a:effectRef>
          <a:fontRef idx="minor">
            <a:schemeClr val="tx1"/>
          </a:fontRef>
        </p:style>
      </p:cxnSp>
      <p:sp>
        <p:nvSpPr>
          <p:cNvPr id="44" name="Rectangle 43"/>
          <p:cNvSpPr/>
          <p:nvPr/>
        </p:nvSpPr>
        <p:spPr>
          <a:xfrm>
            <a:off x="4719812" y="2482596"/>
            <a:ext cx="82296" cy="82296"/>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4669520" y="1591056"/>
            <a:ext cx="2834640" cy="201168"/>
          </a:xfrm>
          <a:prstGeom prst="rect">
            <a:avLst/>
          </a:prstGeom>
          <a:noFill/>
        </p:spPr>
        <p:txBody>
          <a:bodyPr wrap="none" lIns="0" rIns="0" tIns="0" bIns="0" anchor="t">
            <a:spAutoFit/>
          </a:bodyPr>
          <a:lstStyle/>
          <a:p>
            <a:pPr algn="l">
              <a:lnSpc>
                <a:spcPct val="100000"/>
              </a:lnSpc>
              <a:spcAft>
                <a:spcPts val="0"/>
              </a:spcAft>
            </a:pPr>
            <a:r>
              <a:rPr sz="1000" b="1" i="0">
                <a:solidFill>
                  <a:srgbClr val="44546A"/>
                </a:solidFill>
                <a:latin typeface="Arial"/>
              </a:rPr>
              <a:t>Dec 26</a:t>
            </a:r>
          </a:p>
        </p:txBody>
      </p:sp>
      <p:sp>
        <p:nvSpPr>
          <p:cNvPr id="46" name="TextBox 45"/>
          <p:cNvSpPr txBox="1"/>
          <p:nvPr/>
        </p:nvSpPr>
        <p:spPr>
          <a:xfrm>
            <a:off x="4669520" y="1792224"/>
            <a:ext cx="2834640" cy="329184"/>
          </a:xfrm>
          <a:prstGeom prst="rect">
            <a:avLst/>
          </a:prstGeom>
          <a:noFill/>
        </p:spPr>
        <p:txBody>
          <a:bodyPr wrap="square" lIns="0" rIns="0" tIns="0" bIns="0" anchor="t">
            <a:spAutoFit/>
          </a:bodyPr>
          <a:lstStyle/>
          <a:p>
            <a:pPr algn="l">
              <a:lnSpc>
                <a:spcPct val="114000"/>
              </a:lnSpc>
              <a:spcAft>
                <a:spcPts val="0"/>
              </a:spcAft>
            </a:pPr>
            <a:r>
              <a:rPr sz="850" b="0" i="0">
                <a:solidFill>
                  <a:srgbClr val="000000"/>
                </a:solidFill>
                <a:latin typeface="Arial"/>
              </a:rPr>
              <a:t>BoJ. The second delivered hike, if it comes</a:t>
            </a:r>
          </a:p>
        </p:txBody>
      </p:sp>
      <p:cxnSp>
        <p:nvCxnSpPr>
          <p:cNvPr id="47" name="Connector 46"/>
          <p:cNvCxnSpPr/>
          <p:nvPr/>
        </p:nvCxnSpPr>
        <p:spPr>
          <a:xfrm>
            <a:off x="10672602" y="2542032"/>
            <a:ext cx="0" cy="566928"/>
          </a:xfrm>
          <a:prstGeom prst="line">
            <a:avLst/>
          </a:prstGeom>
          <a:ln w="19050">
            <a:solidFill>
              <a:srgbClr val="DB0011"/>
            </a:solidFill>
          </a:ln>
        </p:spPr>
        <p:style>
          <a:lnRef idx="2">
            <a:schemeClr val="accent1"/>
          </a:lnRef>
          <a:fillRef idx="0">
            <a:schemeClr val="accent1"/>
          </a:fillRef>
          <a:effectRef idx="1">
            <a:schemeClr val="accent1"/>
          </a:effectRef>
          <a:fontRef idx="minor">
            <a:schemeClr val="tx1"/>
          </a:fontRef>
        </p:style>
      </p:cxnSp>
      <p:sp>
        <p:nvSpPr>
          <p:cNvPr id="48" name="Rectangle 47"/>
          <p:cNvSpPr/>
          <p:nvPr/>
        </p:nvSpPr>
        <p:spPr>
          <a:xfrm>
            <a:off x="10631454" y="2482596"/>
            <a:ext cx="82296" cy="82296"/>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7929402" y="2907792"/>
            <a:ext cx="2834640" cy="201168"/>
          </a:xfrm>
          <a:prstGeom prst="rect">
            <a:avLst/>
          </a:prstGeom>
          <a:noFill/>
        </p:spPr>
        <p:txBody>
          <a:bodyPr wrap="none" lIns="0" rIns="0" tIns="0" bIns="0" anchor="t">
            <a:spAutoFit/>
          </a:bodyPr>
          <a:lstStyle/>
          <a:p>
            <a:pPr algn="r">
              <a:lnSpc>
                <a:spcPct val="100000"/>
              </a:lnSpc>
              <a:spcAft>
                <a:spcPts val="0"/>
              </a:spcAft>
            </a:pPr>
            <a:r>
              <a:rPr sz="1000" b="1" i="0">
                <a:solidFill>
                  <a:srgbClr val="DB0011"/>
                </a:solidFill>
                <a:latin typeface="Arial"/>
              </a:rPr>
              <a:t>30 Jun 27</a:t>
            </a:r>
          </a:p>
        </p:txBody>
      </p:sp>
      <p:sp>
        <p:nvSpPr>
          <p:cNvPr id="50" name="TextBox 49"/>
          <p:cNvSpPr txBox="1"/>
          <p:nvPr/>
        </p:nvSpPr>
        <p:spPr>
          <a:xfrm>
            <a:off x="7929402" y="3108960"/>
            <a:ext cx="2834640" cy="329184"/>
          </a:xfrm>
          <a:prstGeom prst="rect">
            <a:avLst/>
          </a:prstGeom>
          <a:noFill/>
        </p:spPr>
        <p:txBody>
          <a:bodyPr wrap="square" lIns="0" rIns="0" tIns="0" bIns="0" anchor="t">
            <a:spAutoFit/>
          </a:bodyPr>
          <a:lstStyle/>
          <a:p>
            <a:pPr algn="r">
              <a:lnSpc>
                <a:spcPct val="114000"/>
              </a:lnSpc>
              <a:spcAft>
                <a:spcPts val="0"/>
              </a:spcAft>
            </a:pPr>
            <a:r>
              <a:rPr sz="850" b="0" i="0">
                <a:solidFill>
                  <a:srgbClr val="000000"/>
                </a:solidFill>
                <a:latin typeface="Arial"/>
              </a:rPr>
              <a:t>§805 indirect prohibition reaches customers</a:t>
            </a:r>
          </a:p>
        </p:txBody>
      </p:sp>
      <p:sp>
        <p:nvSpPr>
          <p:cNvPr id="51" name="TextBox 50"/>
          <p:cNvSpPr txBox="1"/>
          <p:nvPr/>
        </p:nvSpPr>
        <p:spPr>
          <a:xfrm>
            <a:off x="374904" y="3218688"/>
            <a:ext cx="11441887" cy="219456"/>
          </a:xfrm>
          <a:prstGeom prst="rect">
            <a:avLst/>
          </a:prstGeom>
          <a:noFill/>
        </p:spPr>
        <p:txBody>
          <a:bodyPr wrap="none" lIns="0" rIns="0" tIns="0" bIns="0" anchor="t">
            <a:spAutoFit/>
          </a:bodyPr>
          <a:lstStyle/>
          <a:p>
            <a:pPr algn="l">
              <a:lnSpc>
                <a:spcPct val="100000"/>
              </a:lnSpc>
              <a:spcAft>
                <a:spcPts val="0"/>
              </a:spcAft>
            </a:pPr>
            <a:r>
              <a:rPr sz="1200" b="1" i="0">
                <a:solidFill>
                  <a:srgbClr val="000000"/>
                </a:solidFill>
                <a:latin typeface="Arial"/>
              </a:rPr>
              <a:t>And the two that carry no date</a:t>
            </a:r>
          </a:p>
        </p:txBody>
      </p:sp>
      <p:cxnSp>
        <p:nvCxnSpPr>
          <p:cNvPr id="52" name="Connector 51"/>
          <p:cNvCxnSpPr/>
          <p:nvPr/>
        </p:nvCxnSpPr>
        <p:spPr>
          <a:xfrm>
            <a:off x="374904" y="3456432"/>
            <a:ext cx="384048" cy="0"/>
          </a:xfrm>
          <a:prstGeom prst="line">
            <a:avLst/>
          </a:prstGeom>
          <a:ln w="25400">
            <a:solidFill>
              <a:srgbClr val="DB0011"/>
            </a:solidFill>
          </a:ln>
        </p:spPr>
        <p:style>
          <a:lnRef idx="2">
            <a:schemeClr val="accent1"/>
          </a:lnRef>
          <a:fillRef idx="0">
            <a:schemeClr val="accent1"/>
          </a:fillRef>
          <a:effectRef idx="1">
            <a:schemeClr val="accent1"/>
          </a:effectRef>
          <a:fontRef idx="minor">
            <a:schemeClr val="tx1"/>
          </a:fontRef>
        </p:style>
      </p:cxnSp>
      <p:sp>
        <p:nvSpPr>
          <p:cNvPr id="53" name="Rectangle 52"/>
          <p:cNvSpPr/>
          <p:nvPr/>
        </p:nvSpPr>
        <p:spPr>
          <a:xfrm>
            <a:off x="374904" y="3584448"/>
            <a:ext cx="5574639" cy="1170432"/>
          </a:xfrm>
          <a:prstGeom prst="rect">
            <a:avLst/>
          </a:prstGeom>
          <a:solidFill>
            <a:srgbClr val="FADF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ectangle 53"/>
          <p:cNvSpPr/>
          <p:nvPr/>
        </p:nvSpPr>
        <p:spPr>
          <a:xfrm>
            <a:off x="374904" y="3584448"/>
            <a:ext cx="41148" cy="1170432"/>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54"/>
          <p:cNvSpPr txBox="1"/>
          <p:nvPr/>
        </p:nvSpPr>
        <p:spPr>
          <a:xfrm>
            <a:off x="594359" y="3675887"/>
            <a:ext cx="5245455" cy="219456"/>
          </a:xfrm>
          <a:prstGeom prst="rect">
            <a:avLst/>
          </a:prstGeom>
          <a:noFill/>
        </p:spPr>
        <p:txBody>
          <a:bodyPr wrap="none" lIns="0" rIns="0" tIns="0" bIns="0" anchor="t">
            <a:spAutoFit/>
          </a:bodyPr>
          <a:lstStyle/>
          <a:p>
            <a:pPr algn="l">
              <a:lnSpc>
                <a:spcPct val="100000"/>
              </a:lnSpc>
              <a:spcAft>
                <a:spcPts val="0"/>
              </a:spcAft>
            </a:pPr>
            <a:r>
              <a:rPr sz="1000" b="1" i="0">
                <a:solidFill>
                  <a:srgbClr val="000000"/>
                </a:solidFill>
                <a:latin typeface="Arial"/>
              </a:rPr>
              <a:t>A Commerce Entity List designation</a:t>
            </a:r>
          </a:p>
        </p:txBody>
      </p:sp>
      <p:sp>
        <p:nvSpPr>
          <p:cNvPr id="56" name="TextBox 55"/>
          <p:cNvSpPr txBox="1"/>
          <p:nvPr/>
        </p:nvSpPr>
        <p:spPr>
          <a:xfrm>
            <a:off x="594359" y="3913632"/>
            <a:ext cx="5245455" cy="768096"/>
          </a:xfrm>
          <a:prstGeom prst="rect">
            <a:avLst/>
          </a:prstGeom>
          <a:noFill/>
        </p:spPr>
        <p:txBody>
          <a:bodyPr wrap="square" lIns="0" rIns="0" tIns="0" bIns="0" anchor="t">
            <a:spAutoFit/>
          </a:bodyPr>
          <a:lstStyle/>
          <a:p>
            <a:pPr algn="l">
              <a:lnSpc>
                <a:spcPct val="116000"/>
              </a:lnSpc>
              <a:spcAft>
                <a:spcPts val="0"/>
              </a:spcAft>
            </a:pPr>
            <a:r>
              <a:rPr sz="900" b="0" i="0">
                <a:solidFill>
                  <a:srgbClr val="000000"/>
                </a:solidFill>
                <a:latin typeface="Arial"/>
              </a:rPr>
              <a:t>The CATL risk with no calendar. 1260H already feeds EAR action, and a designation can land on any morning. It is why the position is scaled in rather than sized in one go, and why the hedge is a listed put rather than a stop.</a:t>
            </a:r>
          </a:p>
        </p:txBody>
      </p:sp>
      <p:sp>
        <p:nvSpPr>
          <p:cNvPr id="57" name="Rectangle 56"/>
          <p:cNvSpPr/>
          <p:nvPr/>
        </p:nvSpPr>
        <p:spPr>
          <a:xfrm>
            <a:off x="6242151" y="3584448"/>
            <a:ext cx="5574639" cy="1170432"/>
          </a:xfrm>
          <a:prstGeom prst="rect">
            <a:avLst/>
          </a:prstGeom>
          <a:solidFill>
            <a:srgbClr val="FADF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Rectangle 57"/>
          <p:cNvSpPr/>
          <p:nvPr/>
        </p:nvSpPr>
        <p:spPr>
          <a:xfrm>
            <a:off x="6242151" y="3584448"/>
            <a:ext cx="41148" cy="1170432"/>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Box 58"/>
          <p:cNvSpPr txBox="1"/>
          <p:nvPr/>
        </p:nvSpPr>
        <p:spPr>
          <a:xfrm>
            <a:off x="6461607" y="3675887"/>
            <a:ext cx="5245455" cy="219456"/>
          </a:xfrm>
          <a:prstGeom prst="rect">
            <a:avLst/>
          </a:prstGeom>
          <a:noFill/>
        </p:spPr>
        <p:txBody>
          <a:bodyPr wrap="none" lIns="0" rIns="0" tIns="0" bIns="0" anchor="t">
            <a:spAutoFit/>
          </a:bodyPr>
          <a:lstStyle/>
          <a:p>
            <a:pPr algn="l">
              <a:lnSpc>
                <a:spcPct val="100000"/>
              </a:lnSpc>
              <a:spcAft>
                <a:spcPts val="0"/>
              </a:spcAft>
            </a:pPr>
            <a:r>
              <a:rPr sz="1000" b="1" i="0">
                <a:solidFill>
                  <a:srgbClr val="000000"/>
                </a:solidFill>
                <a:latin typeface="Arial"/>
              </a:rPr>
              <a:t>USD/JPY through 165</a:t>
            </a:r>
          </a:p>
        </p:txBody>
      </p:sp>
      <p:sp>
        <p:nvSpPr>
          <p:cNvPr id="60" name="TextBox 59"/>
          <p:cNvSpPr txBox="1"/>
          <p:nvPr/>
        </p:nvSpPr>
        <p:spPr>
          <a:xfrm>
            <a:off x="6461607" y="3913632"/>
            <a:ext cx="5245455" cy="768096"/>
          </a:xfrm>
          <a:prstGeom prst="rect">
            <a:avLst/>
          </a:prstGeom>
          <a:noFill/>
        </p:spPr>
        <p:txBody>
          <a:bodyPr wrap="square" lIns="0" rIns="0" tIns="0" bIns="0" anchor="t">
            <a:spAutoFit/>
          </a:bodyPr>
          <a:lstStyle/>
          <a:p>
            <a:pPr algn="l">
              <a:lnSpc>
                <a:spcPct val="116000"/>
              </a:lnSpc>
              <a:spcAft>
                <a:spcPts val="0"/>
              </a:spcAft>
            </a:pPr>
            <a:r>
              <a:rPr sz="900" b="0" i="0">
                <a:solidFill>
                  <a:srgbClr val="000000"/>
                </a:solidFill>
                <a:latin typeface="Arial"/>
              </a:rPr>
              <a:t>A level, not a date. MOF intervened on 30 July at 163, so this is a live line rather than one read off a chart. Through it and holding, the BoJ hikes to defend the currency and the curve bear-flattens. That is the state the steepener loses in.</a:t>
            </a:r>
          </a:p>
        </p:txBody>
      </p:sp>
      <p:sp>
        <p:nvSpPr>
          <p:cNvPr id="61" name="TextBox 60"/>
          <p:cNvSpPr txBox="1"/>
          <p:nvPr/>
        </p:nvSpPr>
        <p:spPr>
          <a:xfrm>
            <a:off x="374904" y="4974336"/>
            <a:ext cx="11441887" cy="566928"/>
          </a:xfrm>
          <a:prstGeom prst="rect">
            <a:avLst/>
          </a:prstGeom>
          <a:noFill/>
        </p:spPr>
        <p:txBody>
          <a:bodyPr wrap="square" lIns="0" rIns="0" tIns="0" bIns="0" anchor="t">
            <a:spAutoFit/>
          </a:bodyPr>
          <a:lstStyle/>
          <a:p>
            <a:pPr algn="l">
              <a:lnSpc>
                <a:spcPct val="120000"/>
              </a:lnSpc>
              <a:spcAft>
                <a:spcPts val="0"/>
              </a:spcAft>
            </a:pPr>
            <a:r>
              <a:rPr sz="950" b="1" i="0">
                <a:solidFill>
                  <a:srgbClr val="DB0011"/>
                </a:solidFill>
                <a:latin typeface="Arial"/>
              </a:rPr>
              <a:t>A timeline that shows only the scheduled risks implies the book is only exposed to scheduled things. </a:t>
            </a:r>
            <a:r>
              <a:rPr sz="950" b="0" i="0">
                <a:solidFill>
                  <a:srgbClr val="000000"/>
                </a:solidFill>
                <a:latin typeface="Arial"/>
              </a:rPr>
              <a:t>Both of the positions' largest single risks are undated. Putting them beneath the axis rather than on it is the honest version, and it is a better answer than being asked.</a:t>
            </a:r>
          </a:p>
        </p:txBody>
      </p:sp>
      <p:sp>
        <p:nvSpPr>
          <p:cNvPr id="62" name="TextBox 61"/>
          <p:cNvSpPr txBox="1"/>
          <p:nvPr/>
        </p:nvSpPr>
        <p:spPr>
          <a:xfrm>
            <a:off x="374904" y="6455664"/>
            <a:ext cx="11441887" cy="274320"/>
          </a:xfrm>
          <a:prstGeom prst="rect">
            <a:avLst/>
          </a:prstGeom>
          <a:noFill/>
        </p:spPr>
        <p:txBody>
          <a:bodyPr wrap="square" lIns="0" rIns="0" tIns="0" bIns="0" anchor="t">
            <a:spAutoFit/>
          </a:bodyPr>
          <a:lstStyle/>
          <a:p>
            <a:pPr algn="l">
              <a:lnSpc>
                <a:spcPct val="110000"/>
              </a:lnSpc>
              <a:spcAft>
                <a:spcPts val="0"/>
              </a:spcAft>
            </a:pPr>
            <a:r>
              <a:rPr sz="800" b="0" i="0">
                <a:solidFill>
                  <a:srgbClr val="767576"/>
                </a:solidFill>
                <a:latin typeface="Arial"/>
              </a:rPr>
              <a:t>BoJ meeting dates and the CPI release schedule are published. §805 prohibition dates are statutory. The December BoJ date is the scheduled meeting month; confirm the day before printing.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Freeform 2"/>
          <p:cNvSpPr/>
          <p:nvPr/>
        </p:nvSpPr>
        <p:spPr>
          <a:xfrm>
            <a:off x="0" y="0"/>
            <a:ext cx="6095847" cy="6858000"/>
          </a:xfrm>
          <a:custGeom>
            <a:avLst/>
            <a:gdLst/>
            <a:ahLst/>
            <a:cxnLst/>
            <a:rect l="l" t="t" r="r" b="b"/>
            <a:pathLst>
              <a:path w="6095847" h="6858000">
                <a:moveTo>
                  <a:pt x="0" y="0"/>
                </a:moveTo>
                <a:lnTo>
                  <a:pt x="0" y="6858000"/>
                </a:lnTo>
                <a:lnTo>
                  <a:pt x="6095847" y="3429000"/>
                </a:lnTo>
                <a:close/>
              </a:path>
            </a:pathLst>
          </a:cu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6095847" y="0"/>
            <a:ext cx="6095848" cy="6858000"/>
          </a:xfrm>
          <a:custGeom>
            <a:avLst/>
            <a:gdLst/>
            <a:ahLst/>
            <a:cxnLst/>
            <a:rect l="l" t="t" r="r" b="b"/>
            <a:pathLst>
              <a:path w="6095848" h="6858000">
                <a:moveTo>
                  <a:pt x="6095848" y="0"/>
                </a:moveTo>
                <a:lnTo>
                  <a:pt x="6095848" y="6858000"/>
                </a:lnTo>
                <a:lnTo>
                  <a:pt x="0" y="3429000"/>
                </a:lnTo>
                <a:close/>
              </a:path>
            </a:pathLst>
          </a:cu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74904" y="182880"/>
            <a:ext cx="3657600" cy="219456"/>
          </a:xfrm>
          <a:prstGeom prst="rect">
            <a:avLst/>
          </a:prstGeom>
          <a:noFill/>
        </p:spPr>
        <p:txBody>
          <a:bodyPr wrap="none" lIns="0" rIns="0" tIns="0" bIns="0" anchor="t">
            <a:spAutoFit/>
          </a:bodyPr>
          <a:lstStyle/>
          <a:p>
            <a:pPr algn="l">
              <a:lnSpc>
                <a:spcPct val="100000"/>
              </a:lnSpc>
              <a:spcAft>
                <a:spcPts val="0"/>
              </a:spcAft>
            </a:pPr>
            <a:r>
              <a:rPr sz="1050" b="1" i="0">
                <a:solidFill>
                  <a:srgbClr val="000000"/>
                </a:solidFill>
                <a:latin typeface="Arial"/>
              </a:rPr>
              <a:t>Risks</a:t>
            </a:r>
          </a:p>
        </p:txBody>
      </p:sp>
      <p:sp>
        <p:nvSpPr>
          <p:cNvPr id="6" name="TextBox 5"/>
          <p:cNvSpPr txBox="1"/>
          <p:nvPr/>
        </p:nvSpPr>
        <p:spPr>
          <a:xfrm>
            <a:off x="11249863" y="265176"/>
            <a:ext cx="566927" cy="219456"/>
          </a:xfrm>
          <a:prstGeom prst="rect">
            <a:avLst/>
          </a:prstGeom>
          <a:noFill/>
        </p:spPr>
        <p:txBody>
          <a:bodyPr wrap="none" lIns="0" rIns="0" tIns="0" bIns="0" anchor="t">
            <a:spAutoFit/>
          </a:bodyPr>
          <a:lstStyle/>
          <a:p>
            <a:pPr algn="ctr">
              <a:lnSpc>
                <a:spcPct val="100000"/>
              </a:lnSpc>
              <a:spcAft>
                <a:spcPts val="0"/>
              </a:spcAft>
            </a:pPr>
            <a:r>
              <a:rPr sz="1050" b="1" i="0">
                <a:solidFill>
                  <a:srgbClr val="000000"/>
                </a:solidFill>
                <a:latin typeface="Arial"/>
              </a:rPr>
              <a:t>Risks</a:t>
            </a:r>
          </a:p>
        </p:txBody>
      </p:sp>
      <p:cxnSp>
        <p:nvCxnSpPr>
          <p:cNvPr id="7" name="Connector 6"/>
          <p:cNvCxnSpPr/>
          <p:nvPr/>
        </p:nvCxnSpPr>
        <p:spPr>
          <a:xfrm>
            <a:off x="11249863" y="512064"/>
            <a:ext cx="566928" cy="0"/>
          </a:xfrm>
          <a:prstGeom prst="line">
            <a:avLst/>
          </a:prstGeom>
          <a:ln w="25400">
            <a:solidFill>
              <a:srgbClr val="DB0011"/>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0401300" y="265176"/>
            <a:ext cx="647395" cy="219456"/>
          </a:xfrm>
          <a:prstGeom prst="rect">
            <a:avLst/>
          </a:prstGeom>
          <a:noFill/>
        </p:spPr>
        <p:txBody>
          <a:bodyPr wrap="none" lIns="0" rIns="0" tIns="0" bIns="0" anchor="t">
            <a:spAutoFit/>
          </a:bodyPr>
          <a:lstStyle/>
          <a:p>
            <a:pPr algn="ctr">
              <a:lnSpc>
                <a:spcPct val="100000"/>
              </a:lnSpc>
              <a:spcAft>
                <a:spcPts val="0"/>
              </a:spcAft>
            </a:pPr>
            <a:r>
              <a:rPr sz="1050" b="0" i="0">
                <a:solidFill>
                  <a:srgbClr val="767576"/>
                </a:solidFill>
                <a:latin typeface="Arial"/>
              </a:rPr>
              <a:t>Trades</a:t>
            </a:r>
          </a:p>
        </p:txBody>
      </p:sp>
      <p:sp>
        <p:nvSpPr>
          <p:cNvPr id="9" name="TextBox 8"/>
          <p:cNvSpPr txBox="1"/>
          <p:nvPr/>
        </p:nvSpPr>
        <p:spPr>
          <a:xfrm>
            <a:off x="9472269" y="265176"/>
            <a:ext cx="727862" cy="219456"/>
          </a:xfrm>
          <a:prstGeom prst="rect">
            <a:avLst/>
          </a:prstGeom>
          <a:noFill/>
        </p:spPr>
        <p:txBody>
          <a:bodyPr wrap="none" lIns="0" rIns="0" tIns="0" bIns="0" anchor="t">
            <a:spAutoFit/>
          </a:bodyPr>
          <a:lstStyle/>
          <a:p>
            <a:pPr algn="ctr">
              <a:lnSpc>
                <a:spcPct val="100000"/>
              </a:lnSpc>
              <a:spcAft>
                <a:spcPts val="0"/>
              </a:spcAft>
            </a:pPr>
            <a:r>
              <a:rPr sz="1050" b="0" i="0">
                <a:solidFill>
                  <a:srgbClr val="767576"/>
                </a:solidFill>
                <a:latin typeface="Arial"/>
              </a:rPr>
              <a:t>Markets</a:t>
            </a:r>
          </a:p>
        </p:txBody>
      </p:sp>
      <p:sp>
        <p:nvSpPr>
          <p:cNvPr id="10" name="TextBox 9"/>
          <p:cNvSpPr txBox="1"/>
          <p:nvPr/>
        </p:nvSpPr>
        <p:spPr>
          <a:xfrm>
            <a:off x="8704173" y="265176"/>
            <a:ext cx="566927" cy="219456"/>
          </a:xfrm>
          <a:prstGeom prst="rect">
            <a:avLst/>
          </a:prstGeom>
          <a:noFill/>
        </p:spPr>
        <p:txBody>
          <a:bodyPr wrap="none" lIns="0" rIns="0" tIns="0" bIns="0" anchor="t">
            <a:spAutoFit/>
          </a:bodyPr>
          <a:lstStyle/>
          <a:p>
            <a:pPr algn="ctr">
              <a:lnSpc>
                <a:spcPct val="100000"/>
              </a:lnSpc>
              <a:spcAft>
                <a:spcPts val="0"/>
              </a:spcAft>
            </a:pPr>
            <a:r>
              <a:rPr sz="1050" b="0" i="0">
                <a:solidFill>
                  <a:srgbClr val="767576"/>
                </a:solidFill>
                <a:latin typeface="Arial"/>
              </a:rPr>
              <a:t>Macro</a:t>
            </a:r>
          </a:p>
        </p:txBody>
      </p:sp>
      <p:cxnSp>
        <p:nvCxnSpPr>
          <p:cNvPr id="11" name="Connector 10"/>
          <p:cNvCxnSpPr/>
          <p:nvPr/>
        </p:nvCxnSpPr>
        <p:spPr>
          <a:xfrm>
            <a:off x="374904" y="640080"/>
            <a:ext cx="11441887" cy="0"/>
          </a:xfrm>
          <a:prstGeom prst="line">
            <a:avLst/>
          </a:prstGeom>
          <a:ln w="9525">
            <a:solidFill>
              <a:srgbClr val="00000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374904" y="786384"/>
            <a:ext cx="11441887" cy="457200"/>
          </a:xfrm>
          <a:prstGeom prst="rect">
            <a:avLst/>
          </a:prstGeom>
          <a:noFill/>
        </p:spPr>
        <p:txBody>
          <a:bodyPr wrap="none" lIns="0" rIns="0" tIns="0" bIns="0" anchor="t">
            <a:spAutoFit/>
          </a:bodyPr>
          <a:lstStyle/>
          <a:p>
            <a:pPr algn="l">
              <a:lnSpc>
                <a:spcPct val="100000"/>
              </a:lnSpc>
              <a:spcAft>
                <a:spcPts val="0"/>
              </a:spcAft>
            </a:pPr>
            <a:r>
              <a:rPr sz="2600" b="0" i="0">
                <a:solidFill>
                  <a:srgbClr val="000000"/>
                </a:solidFill>
                <a:latin typeface="Arial"/>
              </a:rPr>
              <a:t>What a loss looks like, and how often noise alone delivers it</a:t>
            </a:r>
          </a:p>
        </p:txBody>
      </p:sp>
      <p:sp>
        <p:nvSpPr>
          <p:cNvPr id="13" name="TextBox 12"/>
          <p:cNvSpPr txBox="1"/>
          <p:nvPr/>
        </p:nvSpPr>
        <p:spPr>
          <a:xfrm>
            <a:off x="374904" y="1261872"/>
            <a:ext cx="11441887" cy="310896"/>
          </a:xfrm>
          <a:prstGeom prst="rect">
            <a:avLst/>
          </a:prstGeom>
          <a:noFill/>
        </p:spPr>
        <p:txBody>
          <a:bodyPr wrap="square" lIns="0" rIns="0" tIns="0" bIns="0" anchor="t">
            <a:spAutoFit/>
          </a:bodyPr>
          <a:lstStyle/>
          <a:p>
            <a:pPr algn="l">
              <a:lnSpc>
                <a:spcPct val="115000"/>
              </a:lnSpc>
              <a:spcAft>
                <a:spcPts val="0"/>
              </a:spcAft>
            </a:pPr>
            <a:r>
              <a:rPr sz="1300" b="0" i="0">
                <a:solidFill>
                  <a:srgbClr val="767576"/>
                </a:solidFill>
                <a:latin typeface="Arial"/>
              </a:rPr>
              <a:t>The stop is 16bp. The position's own volatility is 30bp annualised. Those two numbers have to be shown together.</a:t>
            </a:r>
          </a:p>
        </p:txBody>
      </p:sp>
      <p:sp>
        <p:nvSpPr>
          <p:cNvPr id="14" name="TextBox 13"/>
          <p:cNvSpPr txBox="1"/>
          <p:nvPr/>
        </p:nvSpPr>
        <p:spPr>
          <a:xfrm>
            <a:off x="11268151" y="6537960"/>
            <a:ext cx="548640" cy="201168"/>
          </a:xfrm>
          <a:prstGeom prst="rect">
            <a:avLst/>
          </a:prstGeom>
          <a:noFill/>
        </p:spPr>
        <p:txBody>
          <a:bodyPr wrap="none" lIns="0" rIns="0" tIns="0" bIns="0" anchor="t">
            <a:spAutoFit/>
          </a:bodyPr>
          <a:lstStyle/>
          <a:p>
            <a:pPr algn="r">
              <a:lnSpc>
                <a:spcPct val="100000"/>
              </a:lnSpc>
              <a:spcAft>
                <a:spcPts val="0"/>
              </a:spcAft>
            </a:pPr>
            <a:r>
              <a:rPr sz="800" b="0" i="0">
                <a:solidFill>
                  <a:srgbClr val="767576"/>
                </a:solidFill>
                <a:latin typeface="Arial"/>
              </a:rPr>
              <a:t>6</a:t>
            </a:r>
          </a:p>
        </p:txBody>
      </p:sp>
      <p:sp>
        <p:nvSpPr>
          <p:cNvPr id="15" name="TextBox 14"/>
          <p:cNvSpPr txBox="1"/>
          <p:nvPr/>
        </p:nvSpPr>
        <p:spPr>
          <a:xfrm>
            <a:off x="1563624" y="192024"/>
            <a:ext cx="5852160" cy="201168"/>
          </a:xfrm>
          <a:prstGeom prst="rect">
            <a:avLst/>
          </a:prstGeom>
          <a:noFill/>
        </p:spPr>
        <p:txBody>
          <a:bodyPr wrap="none" lIns="0" rIns="0" tIns="0" bIns="0" anchor="t">
            <a:spAutoFit/>
          </a:bodyPr>
          <a:lstStyle/>
          <a:p>
            <a:pPr algn="l">
              <a:lnSpc>
                <a:spcPct val="100000"/>
              </a:lnSpc>
              <a:spcAft>
                <a:spcPts val="0"/>
              </a:spcAft>
            </a:pPr>
            <a:r>
              <a:rPr sz="800" b="0" i="0">
                <a:solidFill>
                  <a:srgbClr val="767576"/>
                </a:solidFill>
                <a:latin typeface="Arial"/>
              </a:rPr>
              <a:t>Prototype — MoF curve to 31-Jul-26 · trade figures from the slide 8 model · not for the room</a:t>
            </a:r>
          </a:p>
        </p:txBody>
      </p:sp>
      <p:sp>
        <p:nvSpPr>
          <p:cNvPr id="16" name="TextBox 15"/>
          <p:cNvSpPr txBox="1"/>
          <p:nvPr/>
        </p:nvSpPr>
        <p:spPr>
          <a:xfrm>
            <a:off x="374904" y="1645920"/>
            <a:ext cx="2560320" cy="457200"/>
          </a:xfrm>
          <a:prstGeom prst="rect">
            <a:avLst/>
          </a:prstGeom>
          <a:noFill/>
        </p:spPr>
        <p:txBody>
          <a:bodyPr wrap="none" lIns="0" rIns="0" tIns="0" bIns="0" anchor="t">
            <a:spAutoFit/>
          </a:bodyPr>
          <a:lstStyle/>
          <a:p>
            <a:pPr algn="l">
              <a:lnSpc>
                <a:spcPct val="100000"/>
              </a:lnSpc>
              <a:spcAft>
                <a:spcPts val="0"/>
              </a:spcAft>
            </a:pPr>
            <a:r>
              <a:rPr sz="2800" b="1" i="0">
                <a:solidFill>
                  <a:srgbClr val="DB0011"/>
                </a:solidFill>
                <a:latin typeface="Arial"/>
              </a:rPr>
              <a:t>46%</a:t>
            </a:r>
          </a:p>
        </p:txBody>
      </p:sp>
      <p:sp>
        <p:nvSpPr>
          <p:cNvPr id="17" name="TextBox 16"/>
          <p:cNvSpPr txBox="1"/>
          <p:nvPr/>
        </p:nvSpPr>
        <p:spPr>
          <a:xfrm>
            <a:off x="374904" y="2103120"/>
            <a:ext cx="2560320" cy="219456"/>
          </a:xfrm>
          <a:prstGeom prst="rect">
            <a:avLst/>
          </a:prstGeom>
          <a:noFill/>
        </p:spPr>
        <p:txBody>
          <a:bodyPr wrap="none" lIns="0" rIns="0" tIns="0" bIns="0" anchor="t">
            <a:spAutoFit/>
          </a:bodyPr>
          <a:lstStyle/>
          <a:p>
            <a:pPr algn="l">
              <a:lnSpc>
                <a:spcPct val="100000"/>
              </a:lnSpc>
              <a:spcAft>
                <a:spcPts val="0"/>
              </a:spcAft>
            </a:pPr>
            <a:r>
              <a:rPr sz="1200" b="1" i="0">
                <a:solidFill>
                  <a:srgbClr val="000000"/>
                </a:solidFill>
                <a:latin typeface="Arial"/>
              </a:rPr>
              <a:t>Stopped by noise, 6m</a:t>
            </a:r>
          </a:p>
        </p:txBody>
      </p:sp>
      <p:sp>
        <p:nvSpPr>
          <p:cNvPr id="18" name="TextBox 17"/>
          <p:cNvSpPr txBox="1"/>
          <p:nvPr/>
        </p:nvSpPr>
        <p:spPr>
          <a:xfrm>
            <a:off x="374904" y="2322576"/>
            <a:ext cx="2560320" cy="457200"/>
          </a:xfrm>
          <a:prstGeom prst="rect">
            <a:avLst/>
          </a:prstGeom>
          <a:noFill/>
        </p:spPr>
        <p:txBody>
          <a:bodyPr wrap="square" lIns="0" rIns="0" tIns="0" bIns="0" anchor="t">
            <a:spAutoFit/>
          </a:bodyPr>
          <a:lstStyle/>
          <a:p>
            <a:pPr algn="l">
              <a:lnSpc>
                <a:spcPct val="115000"/>
              </a:lnSpc>
              <a:spcAft>
                <a:spcPts val="0"/>
              </a:spcAft>
            </a:pPr>
            <a:r>
              <a:rPr sz="800" b="0" i="0">
                <a:solidFill>
                  <a:srgbClr val="767576"/>
                </a:solidFill>
                <a:latin typeface="Arial"/>
              </a:rPr>
              <a:t>Probability of touching 98bp from a 114bp entry on a driftless walk at the measured volatility.</a:t>
            </a:r>
          </a:p>
        </p:txBody>
      </p:sp>
      <p:sp>
        <p:nvSpPr>
          <p:cNvPr id="19" name="TextBox 18"/>
          <p:cNvSpPr txBox="1"/>
          <p:nvPr/>
        </p:nvSpPr>
        <p:spPr>
          <a:xfrm>
            <a:off x="3163824" y="1645920"/>
            <a:ext cx="2560320" cy="457200"/>
          </a:xfrm>
          <a:prstGeom prst="rect">
            <a:avLst/>
          </a:prstGeom>
          <a:noFill/>
        </p:spPr>
        <p:txBody>
          <a:bodyPr wrap="none" lIns="0" rIns="0" tIns="0" bIns="0" anchor="t">
            <a:spAutoFit/>
          </a:bodyPr>
          <a:lstStyle/>
          <a:p>
            <a:pPr algn="l">
              <a:lnSpc>
                <a:spcPct val="100000"/>
              </a:lnSpc>
              <a:spcAft>
                <a:spcPts val="0"/>
              </a:spcAft>
            </a:pPr>
            <a:r>
              <a:rPr sz="2800" b="1" i="0">
                <a:solidFill>
                  <a:srgbClr val="DB0011"/>
                </a:solidFill>
                <a:latin typeface="Arial"/>
              </a:rPr>
              <a:t>29%</a:t>
            </a:r>
          </a:p>
        </p:txBody>
      </p:sp>
      <p:sp>
        <p:nvSpPr>
          <p:cNvPr id="20" name="TextBox 19"/>
          <p:cNvSpPr txBox="1"/>
          <p:nvPr/>
        </p:nvSpPr>
        <p:spPr>
          <a:xfrm>
            <a:off x="3163824" y="2103120"/>
            <a:ext cx="2560320" cy="219456"/>
          </a:xfrm>
          <a:prstGeom prst="rect">
            <a:avLst/>
          </a:prstGeom>
          <a:noFill/>
        </p:spPr>
        <p:txBody>
          <a:bodyPr wrap="none" lIns="0" rIns="0" tIns="0" bIns="0" anchor="t">
            <a:spAutoFit/>
          </a:bodyPr>
          <a:lstStyle/>
          <a:p>
            <a:pPr algn="l">
              <a:lnSpc>
                <a:spcPct val="100000"/>
              </a:lnSpc>
              <a:spcAft>
                <a:spcPts val="0"/>
              </a:spcAft>
            </a:pPr>
            <a:r>
              <a:rPr sz="1200" b="1" i="0">
                <a:solidFill>
                  <a:srgbClr val="000000"/>
                </a:solidFill>
                <a:latin typeface="Arial"/>
              </a:rPr>
              <a:t>The same, over 3m</a:t>
            </a:r>
          </a:p>
        </p:txBody>
      </p:sp>
      <p:sp>
        <p:nvSpPr>
          <p:cNvPr id="21" name="TextBox 20"/>
          <p:cNvSpPr txBox="1"/>
          <p:nvPr/>
        </p:nvSpPr>
        <p:spPr>
          <a:xfrm>
            <a:off x="3163824" y="2322576"/>
            <a:ext cx="2560320" cy="457200"/>
          </a:xfrm>
          <a:prstGeom prst="rect">
            <a:avLst/>
          </a:prstGeom>
          <a:noFill/>
        </p:spPr>
        <p:txBody>
          <a:bodyPr wrap="square" lIns="0" rIns="0" tIns="0" bIns="0" anchor="t">
            <a:spAutoFit/>
          </a:bodyPr>
          <a:lstStyle/>
          <a:p>
            <a:pPr algn="l">
              <a:lnSpc>
                <a:spcPct val="115000"/>
              </a:lnSpc>
              <a:spcAft>
                <a:spcPts val="0"/>
              </a:spcAft>
            </a:pPr>
            <a:r>
              <a:rPr sz="800" b="0" i="0">
                <a:solidFill>
                  <a:srgbClr val="767576"/>
                </a:solidFill>
                <a:latin typeface="Arial"/>
              </a:rPr>
              <a:t>Shorter horizon, less time to be wrong by accident. The entry trigger is what buys this down.</a:t>
            </a:r>
          </a:p>
        </p:txBody>
      </p:sp>
      <p:sp>
        <p:nvSpPr>
          <p:cNvPr id="22" name="TextBox 21"/>
          <p:cNvSpPr txBox="1"/>
          <p:nvPr/>
        </p:nvSpPr>
        <p:spPr>
          <a:xfrm>
            <a:off x="374904" y="2889504"/>
            <a:ext cx="5532120" cy="219456"/>
          </a:xfrm>
          <a:prstGeom prst="rect">
            <a:avLst/>
          </a:prstGeom>
          <a:noFill/>
        </p:spPr>
        <p:txBody>
          <a:bodyPr wrap="none" lIns="0" rIns="0" tIns="0" bIns="0" anchor="t">
            <a:spAutoFit/>
          </a:bodyPr>
          <a:lstStyle/>
          <a:p>
            <a:pPr algn="l">
              <a:lnSpc>
                <a:spcPct val="100000"/>
              </a:lnSpc>
              <a:spcAft>
                <a:spcPts val="0"/>
              </a:spcAft>
            </a:pPr>
            <a:r>
              <a:rPr sz="1200" b="1" i="0">
                <a:solidFill>
                  <a:srgbClr val="000000"/>
                </a:solidFill>
                <a:latin typeface="Arial"/>
              </a:rPr>
              <a:t>Where the stop sits against the noise</a:t>
            </a:r>
          </a:p>
        </p:txBody>
      </p:sp>
      <p:cxnSp>
        <p:nvCxnSpPr>
          <p:cNvPr id="23" name="Connector 22"/>
          <p:cNvCxnSpPr/>
          <p:nvPr/>
        </p:nvCxnSpPr>
        <p:spPr>
          <a:xfrm>
            <a:off x="374904" y="3127248"/>
            <a:ext cx="384048" cy="0"/>
          </a:xfrm>
          <a:prstGeom prst="line">
            <a:avLst/>
          </a:prstGeom>
          <a:ln w="25400">
            <a:solidFill>
              <a:srgbClr val="DB0011"/>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374904" y="3218688"/>
            <a:ext cx="5532120" cy="246888"/>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420623" y="3246120"/>
            <a:ext cx="1325880" cy="246888"/>
          </a:xfrm>
          <a:prstGeom prst="rect">
            <a:avLst/>
          </a:prstGeom>
          <a:noFill/>
        </p:spPr>
        <p:txBody>
          <a:bodyPr wrap="none" lIns="0" rIns="0" tIns="0" bIns="0" anchor="t">
            <a:spAutoFit/>
          </a:bodyPr>
          <a:lstStyle/>
          <a:p>
            <a:pPr algn="l">
              <a:lnSpc>
                <a:spcPct val="100000"/>
              </a:lnSpc>
              <a:spcAft>
                <a:spcPts val="0"/>
              </a:spcAft>
            </a:pPr>
            <a:r>
              <a:rPr sz="950" b="1" i="0">
                <a:solidFill>
                  <a:srgbClr val="FFFFFF"/>
                </a:solidFill>
                <a:latin typeface="Arial"/>
              </a:rPr>
              <a:t>Horizon</a:t>
            </a:r>
          </a:p>
        </p:txBody>
      </p:sp>
      <p:sp>
        <p:nvSpPr>
          <p:cNvPr id="26" name="TextBox 25"/>
          <p:cNvSpPr txBox="1"/>
          <p:nvPr/>
        </p:nvSpPr>
        <p:spPr>
          <a:xfrm>
            <a:off x="1837943" y="3246120"/>
            <a:ext cx="1280160" cy="246888"/>
          </a:xfrm>
          <a:prstGeom prst="rect">
            <a:avLst/>
          </a:prstGeom>
          <a:noFill/>
        </p:spPr>
        <p:txBody>
          <a:bodyPr wrap="none" lIns="0" rIns="0" tIns="0" bIns="0" anchor="t">
            <a:spAutoFit/>
          </a:bodyPr>
          <a:lstStyle/>
          <a:p>
            <a:pPr algn="r">
              <a:lnSpc>
                <a:spcPct val="100000"/>
              </a:lnSpc>
              <a:spcAft>
                <a:spcPts val="0"/>
              </a:spcAft>
            </a:pPr>
            <a:r>
              <a:rPr sz="950" b="1" i="0">
                <a:solidFill>
                  <a:srgbClr val="FFFFFF"/>
                </a:solidFill>
                <a:latin typeface="Arial"/>
              </a:rPr>
              <a:t>1σ of slope</a:t>
            </a:r>
          </a:p>
        </p:txBody>
      </p:sp>
      <p:sp>
        <p:nvSpPr>
          <p:cNvPr id="27" name="TextBox 26"/>
          <p:cNvSpPr txBox="1"/>
          <p:nvPr/>
        </p:nvSpPr>
        <p:spPr>
          <a:xfrm>
            <a:off x="3209544" y="3246120"/>
            <a:ext cx="1280160" cy="246888"/>
          </a:xfrm>
          <a:prstGeom prst="rect">
            <a:avLst/>
          </a:prstGeom>
          <a:noFill/>
        </p:spPr>
        <p:txBody>
          <a:bodyPr wrap="none" lIns="0" rIns="0" tIns="0" bIns="0" anchor="t">
            <a:spAutoFit/>
          </a:bodyPr>
          <a:lstStyle/>
          <a:p>
            <a:pPr algn="r">
              <a:lnSpc>
                <a:spcPct val="100000"/>
              </a:lnSpc>
              <a:spcAft>
                <a:spcPts val="0"/>
              </a:spcAft>
            </a:pPr>
            <a:r>
              <a:rPr sz="950" b="1" i="0">
                <a:solidFill>
                  <a:srgbClr val="FFFFFF"/>
                </a:solidFill>
                <a:latin typeface="Arial"/>
              </a:rPr>
              <a:t>16bp stop</a:t>
            </a:r>
          </a:p>
        </p:txBody>
      </p:sp>
      <p:sp>
        <p:nvSpPr>
          <p:cNvPr id="28" name="TextBox 27"/>
          <p:cNvSpPr txBox="1"/>
          <p:nvPr/>
        </p:nvSpPr>
        <p:spPr>
          <a:xfrm>
            <a:off x="4581144" y="3246120"/>
            <a:ext cx="1280160" cy="246888"/>
          </a:xfrm>
          <a:prstGeom prst="rect">
            <a:avLst/>
          </a:prstGeom>
          <a:noFill/>
        </p:spPr>
        <p:txBody>
          <a:bodyPr wrap="none" lIns="0" rIns="0" tIns="0" bIns="0" anchor="t">
            <a:spAutoFit/>
          </a:bodyPr>
          <a:lstStyle/>
          <a:p>
            <a:pPr algn="r">
              <a:lnSpc>
                <a:spcPct val="100000"/>
              </a:lnSpc>
              <a:spcAft>
                <a:spcPts val="0"/>
              </a:spcAft>
            </a:pPr>
            <a:r>
              <a:rPr sz="950" b="1" i="0">
                <a:solidFill>
                  <a:srgbClr val="FFFFFF"/>
                </a:solidFill>
                <a:latin typeface="Arial"/>
              </a:rPr>
              <a:t>20bp net</a:t>
            </a:r>
          </a:p>
        </p:txBody>
      </p:sp>
      <p:sp>
        <p:nvSpPr>
          <p:cNvPr id="29" name="TextBox 28"/>
          <p:cNvSpPr txBox="1"/>
          <p:nvPr/>
        </p:nvSpPr>
        <p:spPr>
          <a:xfrm>
            <a:off x="420623" y="3485692"/>
            <a:ext cx="1325880" cy="233172"/>
          </a:xfrm>
          <a:prstGeom prst="rect">
            <a:avLst/>
          </a:prstGeom>
          <a:noFill/>
        </p:spPr>
        <p:txBody>
          <a:bodyPr wrap="none" lIns="0" rIns="0" tIns="0" bIns="0" anchor="t">
            <a:spAutoFit/>
          </a:bodyPr>
          <a:lstStyle/>
          <a:p>
            <a:pPr algn="l">
              <a:lnSpc>
                <a:spcPct val="100000"/>
              </a:lnSpc>
              <a:spcAft>
                <a:spcPts val="0"/>
              </a:spcAft>
            </a:pPr>
            <a:r>
              <a:rPr sz="950" b="0" i="0">
                <a:solidFill>
                  <a:srgbClr val="000000"/>
                </a:solidFill>
                <a:latin typeface="Arial"/>
              </a:rPr>
              <a:t>3 months</a:t>
            </a:r>
          </a:p>
        </p:txBody>
      </p:sp>
      <p:sp>
        <p:nvSpPr>
          <p:cNvPr id="30" name="TextBox 29"/>
          <p:cNvSpPr txBox="1"/>
          <p:nvPr/>
        </p:nvSpPr>
        <p:spPr>
          <a:xfrm>
            <a:off x="1837943" y="3485692"/>
            <a:ext cx="1280160" cy="233172"/>
          </a:xfrm>
          <a:prstGeom prst="rect">
            <a:avLst/>
          </a:prstGeom>
          <a:noFill/>
        </p:spPr>
        <p:txBody>
          <a:bodyPr wrap="none" lIns="0" rIns="0" tIns="0" bIns="0" anchor="t">
            <a:spAutoFit/>
          </a:bodyPr>
          <a:lstStyle/>
          <a:p>
            <a:pPr algn="r">
              <a:lnSpc>
                <a:spcPct val="100000"/>
              </a:lnSpc>
              <a:spcAft>
                <a:spcPts val="0"/>
              </a:spcAft>
            </a:pPr>
            <a:r>
              <a:rPr sz="950" b="0" i="0">
                <a:solidFill>
                  <a:srgbClr val="000000"/>
                </a:solidFill>
                <a:latin typeface="Arial"/>
              </a:rPr>
              <a:t>15.2bp</a:t>
            </a:r>
          </a:p>
        </p:txBody>
      </p:sp>
      <p:sp>
        <p:nvSpPr>
          <p:cNvPr id="31" name="TextBox 30"/>
          <p:cNvSpPr txBox="1"/>
          <p:nvPr/>
        </p:nvSpPr>
        <p:spPr>
          <a:xfrm>
            <a:off x="3209544" y="3485692"/>
            <a:ext cx="1280160" cy="233172"/>
          </a:xfrm>
          <a:prstGeom prst="rect">
            <a:avLst/>
          </a:prstGeom>
          <a:noFill/>
        </p:spPr>
        <p:txBody>
          <a:bodyPr wrap="none" lIns="0" rIns="0" tIns="0" bIns="0" anchor="t">
            <a:spAutoFit/>
          </a:bodyPr>
          <a:lstStyle/>
          <a:p>
            <a:pPr algn="r">
              <a:lnSpc>
                <a:spcPct val="100000"/>
              </a:lnSpc>
              <a:spcAft>
                <a:spcPts val="0"/>
              </a:spcAft>
            </a:pPr>
            <a:r>
              <a:rPr sz="950" b="0" i="0">
                <a:solidFill>
                  <a:srgbClr val="000000"/>
                </a:solidFill>
                <a:latin typeface="Arial"/>
              </a:rPr>
              <a:t>29%</a:t>
            </a:r>
          </a:p>
        </p:txBody>
      </p:sp>
      <p:sp>
        <p:nvSpPr>
          <p:cNvPr id="32" name="TextBox 31"/>
          <p:cNvSpPr txBox="1"/>
          <p:nvPr/>
        </p:nvSpPr>
        <p:spPr>
          <a:xfrm>
            <a:off x="4581144" y="3485692"/>
            <a:ext cx="1280160" cy="233172"/>
          </a:xfrm>
          <a:prstGeom prst="rect">
            <a:avLst/>
          </a:prstGeom>
          <a:noFill/>
        </p:spPr>
        <p:txBody>
          <a:bodyPr wrap="none" lIns="0" rIns="0" tIns="0" bIns="0" anchor="t">
            <a:spAutoFit/>
          </a:bodyPr>
          <a:lstStyle/>
          <a:p>
            <a:pPr algn="r">
              <a:lnSpc>
                <a:spcPct val="100000"/>
              </a:lnSpc>
              <a:spcAft>
                <a:spcPts val="0"/>
              </a:spcAft>
            </a:pPr>
            <a:r>
              <a:rPr sz="950" b="0" i="0">
                <a:solidFill>
                  <a:srgbClr val="000000"/>
                </a:solidFill>
                <a:latin typeface="Arial"/>
              </a:rPr>
              <a:t>19%</a:t>
            </a:r>
          </a:p>
        </p:txBody>
      </p:sp>
      <p:cxnSp>
        <p:nvCxnSpPr>
          <p:cNvPr id="33" name="Connector 32"/>
          <p:cNvCxnSpPr/>
          <p:nvPr/>
        </p:nvCxnSpPr>
        <p:spPr>
          <a:xfrm>
            <a:off x="374904" y="3698748"/>
            <a:ext cx="5532120" cy="0"/>
          </a:xfrm>
          <a:prstGeom prst="line">
            <a:avLst/>
          </a:prstGeom>
          <a:ln w="6350">
            <a:solidFill>
              <a:srgbClr val="D0CECE"/>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420623" y="3718864"/>
            <a:ext cx="1325880" cy="233172"/>
          </a:xfrm>
          <a:prstGeom prst="rect">
            <a:avLst/>
          </a:prstGeom>
          <a:noFill/>
        </p:spPr>
        <p:txBody>
          <a:bodyPr wrap="none" lIns="0" rIns="0" tIns="0" bIns="0" anchor="t">
            <a:spAutoFit/>
          </a:bodyPr>
          <a:lstStyle/>
          <a:p>
            <a:pPr algn="l">
              <a:lnSpc>
                <a:spcPct val="100000"/>
              </a:lnSpc>
              <a:spcAft>
                <a:spcPts val="0"/>
              </a:spcAft>
            </a:pPr>
            <a:r>
              <a:rPr sz="950" b="1" i="0">
                <a:solidFill>
                  <a:srgbClr val="000000"/>
                </a:solidFill>
                <a:latin typeface="Arial"/>
              </a:rPr>
              <a:t>6 months</a:t>
            </a:r>
          </a:p>
        </p:txBody>
      </p:sp>
      <p:sp>
        <p:nvSpPr>
          <p:cNvPr id="35" name="TextBox 34"/>
          <p:cNvSpPr txBox="1"/>
          <p:nvPr/>
        </p:nvSpPr>
        <p:spPr>
          <a:xfrm>
            <a:off x="1837943" y="3718864"/>
            <a:ext cx="1280160" cy="233172"/>
          </a:xfrm>
          <a:prstGeom prst="rect">
            <a:avLst/>
          </a:prstGeom>
          <a:noFill/>
        </p:spPr>
        <p:txBody>
          <a:bodyPr wrap="none" lIns="0" rIns="0" tIns="0" bIns="0" anchor="t">
            <a:spAutoFit/>
          </a:bodyPr>
          <a:lstStyle/>
          <a:p>
            <a:pPr algn="r">
              <a:lnSpc>
                <a:spcPct val="100000"/>
              </a:lnSpc>
              <a:spcAft>
                <a:spcPts val="0"/>
              </a:spcAft>
            </a:pPr>
            <a:r>
              <a:rPr sz="950" b="1" i="0">
                <a:solidFill>
                  <a:srgbClr val="000000"/>
                </a:solidFill>
                <a:latin typeface="Arial"/>
              </a:rPr>
              <a:t>21.6bp</a:t>
            </a:r>
          </a:p>
        </p:txBody>
      </p:sp>
      <p:sp>
        <p:nvSpPr>
          <p:cNvPr id="36" name="TextBox 35"/>
          <p:cNvSpPr txBox="1"/>
          <p:nvPr/>
        </p:nvSpPr>
        <p:spPr>
          <a:xfrm>
            <a:off x="3209544" y="3718864"/>
            <a:ext cx="1280160" cy="233172"/>
          </a:xfrm>
          <a:prstGeom prst="rect">
            <a:avLst/>
          </a:prstGeom>
          <a:noFill/>
        </p:spPr>
        <p:txBody>
          <a:bodyPr wrap="none" lIns="0" rIns="0" tIns="0" bIns="0" anchor="t">
            <a:spAutoFit/>
          </a:bodyPr>
          <a:lstStyle/>
          <a:p>
            <a:pPr algn="r">
              <a:lnSpc>
                <a:spcPct val="100000"/>
              </a:lnSpc>
              <a:spcAft>
                <a:spcPts val="0"/>
              </a:spcAft>
            </a:pPr>
            <a:r>
              <a:rPr sz="950" b="1" i="0">
                <a:solidFill>
                  <a:srgbClr val="000000"/>
                </a:solidFill>
                <a:latin typeface="Arial"/>
              </a:rPr>
              <a:t>46%</a:t>
            </a:r>
          </a:p>
        </p:txBody>
      </p:sp>
      <p:sp>
        <p:nvSpPr>
          <p:cNvPr id="37" name="TextBox 36"/>
          <p:cNvSpPr txBox="1"/>
          <p:nvPr/>
        </p:nvSpPr>
        <p:spPr>
          <a:xfrm>
            <a:off x="4581144" y="3718864"/>
            <a:ext cx="1280160" cy="233172"/>
          </a:xfrm>
          <a:prstGeom prst="rect">
            <a:avLst/>
          </a:prstGeom>
          <a:noFill/>
        </p:spPr>
        <p:txBody>
          <a:bodyPr wrap="none" lIns="0" rIns="0" tIns="0" bIns="0" anchor="t">
            <a:spAutoFit/>
          </a:bodyPr>
          <a:lstStyle/>
          <a:p>
            <a:pPr algn="r">
              <a:lnSpc>
                <a:spcPct val="100000"/>
              </a:lnSpc>
              <a:spcAft>
                <a:spcPts val="0"/>
              </a:spcAft>
            </a:pPr>
            <a:r>
              <a:rPr sz="950" b="1" i="0">
                <a:solidFill>
                  <a:srgbClr val="000000"/>
                </a:solidFill>
                <a:latin typeface="Arial"/>
              </a:rPr>
              <a:t>35%</a:t>
            </a:r>
          </a:p>
        </p:txBody>
      </p:sp>
      <p:cxnSp>
        <p:nvCxnSpPr>
          <p:cNvPr id="38" name="Connector 37"/>
          <p:cNvCxnSpPr/>
          <p:nvPr/>
        </p:nvCxnSpPr>
        <p:spPr>
          <a:xfrm>
            <a:off x="374904" y="3931920"/>
            <a:ext cx="5532120" cy="0"/>
          </a:xfrm>
          <a:prstGeom prst="line">
            <a:avLst/>
          </a:prstGeom>
          <a:ln w="9525">
            <a:solidFill>
              <a:srgbClr val="000000"/>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420623" y="3952036"/>
            <a:ext cx="1325880" cy="233172"/>
          </a:xfrm>
          <a:prstGeom prst="rect">
            <a:avLst/>
          </a:prstGeom>
          <a:noFill/>
        </p:spPr>
        <p:txBody>
          <a:bodyPr wrap="none" lIns="0" rIns="0" tIns="0" bIns="0" anchor="t">
            <a:spAutoFit/>
          </a:bodyPr>
          <a:lstStyle/>
          <a:p>
            <a:pPr algn="l">
              <a:lnSpc>
                <a:spcPct val="100000"/>
              </a:lnSpc>
              <a:spcAft>
                <a:spcPts val="0"/>
              </a:spcAft>
            </a:pPr>
            <a:r>
              <a:rPr sz="950" b="0" i="0">
                <a:solidFill>
                  <a:srgbClr val="000000"/>
                </a:solidFill>
                <a:latin typeface="Arial"/>
              </a:rPr>
              <a:t>12 months</a:t>
            </a:r>
          </a:p>
        </p:txBody>
      </p:sp>
      <p:sp>
        <p:nvSpPr>
          <p:cNvPr id="40" name="TextBox 39"/>
          <p:cNvSpPr txBox="1"/>
          <p:nvPr/>
        </p:nvSpPr>
        <p:spPr>
          <a:xfrm>
            <a:off x="1837943" y="3952036"/>
            <a:ext cx="1280160" cy="233172"/>
          </a:xfrm>
          <a:prstGeom prst="rect">
            <a:avLst/>
          </a:prstGeom>
          <a:noFill/>
        </p:spPr>
        <p:txBody>
          <a:bodyPr wrap="none" lIns="0" rIns="0" tIns="0" bIns="0" anchor="t">
            <a:spAutoFit/>
          </a:bodyPr>
          <a:lstStyle/>
          <a:p>
            <a:pPr algn="r">
              <a:lnSpc>
                <a:spcPct val="100000"/>
              </a:lnSpc>
              <a:spcAft>
                <a:spcPts val="0"/>
              </a:spcAft>
            </a:pPr>
            <a:r>
              <a:rPr sz="950" b="0" i="0">
                <a:solidFill>
                  <a:srgbClr val="000000"/>
                </a:solidFill>
                <a:latin typeface="Arial"/>
              </a:rPr>
              <a:t>30.5bp</a:t>
            </a:r>
          </a:p>
        </p:txBody>
      </p:sp>
      <p:sp>
        <p:nvSpPr>
          <p:cNvPr id="41" name="TextBox 40"/>
          <p:cNvSpPr txBox="1"/>
          <p:nvPr/>
        </p:nvSpPr>
        <p:spPr>
          <a:xfrm>
            <a:off x="3209544" y="3952036"/>
            <a:ext cx="1280160" cy="233172"/>
          </a:xfrm>
          <a:prstGeom prst="rect">
            <a:avLst/>
          </a:prstGeom>
          <a:noFill/>
        </p:spPr>
        <p:txBody>
          <a:bodyPr wrap="none" lIns="0" rIns="0" tIns="0" bIns="0" anchor="t">
            <a:spAutoFit/>
          </a:bodyPr>
          <a:lstStyle/>
          <a:p>
            <a:pPr algn="r">
              <a:lnSpc>
                <a:spcPct val="100000"/>
              </a:lnSpc>
              <a:spcAft>
                <a:spcPts val="0"/>
              </a:spcAft>
            </a:pPr>
            <a:r>
              <a:rPr sz="950" b="0" i="0">
                <a:solidFill>
                  <a:srgbClr val="000000"/>
                </a:solidFill>
                <a:latin typeface="Arial"/>
              </a:rPr>
              <a:t>60%</a:t>
            </a:r>
          </a:p>
        </p:txBody>
      </p:sp>
      <p:sp>
        <p:nvSpPr>
          <p:cNvPr id="42" name="TextBox 41"/>
          <p:cNvSpPr txBox="1"/>
          <p:nvPr/>
        </p:nvSpPr>
        <p:spPr>
          <a:xfrm>
            <a:off x="4581144" y="3952036"/>
            <a:ext cx="1280160" cy="233172"/>
          </a:xfrm>
          <a:prstGeom prst="rect">
            <a:avLst/>
          </a:prstGeom>
          <a:noFill/>
        </p:spPr>
        <p:txBody>
          <a:bodyPr wrap="none" lIns="0" rIns="0" tIns="0" bIns="0" anchor="t">
            <a:spAutoFit/>
          </a:bodyPr>
          <a:lstStyle/>
          <a:p>
            <a:pPr algn="r">
              <a:lnSpc>
                <a:spcPct val="100000"/>
              </a:lnSpc>
              <a:spcAft>
                <a:spcPts val="0"/>
              </a:spcAft>
            </a:pPr>
            <a:r>
              <a:rPr sz="950" b="0" i="0">
                <a:solidFill>
                  <a:srgbClr val="000000"/>
                </a:solidFill>
                <a:latin typeface="Arial"/>
              </a:rPr>
              <a:t>51%</a:t>
            </a:r>
          </a:p>
        </p:txBody>
      </p:sp>
      <p:cxnSp>
        <p:nvCxnSpPr>
          <p:cNvPr id="43" name="Connector 42"/>
          <p:cNvCxnSpPr/>
          <p:nvPr/>
        </p:nvCxnSpPr>
        <p:spPr>
          <a:xfrm>
            <a:off x="374904" y="4165091"/>
            <a:ext cx="5532120" cy="0"/>
          </a:xfrm>
          <a:prstGeom prst="line">
            <a:avLst/>
          </a:prstGeom>
          <a:ln w="6350">
            <a:solidFill>
              <a:srgbClr val="D0CECE"/>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374904" y="4315968"/>
            <a:ext cx="5532120" cy="841248"/>
          </a:xfrm>
          <a:prstGeom prst="rect">
            <a:avLst/>
          </a:prstGeom>
          <a:noFill/>
        </p:spPr>
        <p:txBody>
          <a:bodyPr wrap="square" lIns="0" rIns="0" tIns="0" bIns="0" anchor="t">
            <a:spAutoFit/>
          </a:bodyPr>
          <a:lstStyle/>
          <a:p>
            <a:pPr algn="l">
              <a:lnSpc>
                <a:spcPct val="120000"/>
              </a:lnSpc>
              <a:spcAft>
                <a:spcPts val="0"/>
              </a:spcAft>
            </a:pPr>
            <a:r>
              <a:rPr sz="950" b="1" i="0">
                <a:solidFill>
                  <a:srgbClr val="DB0011"/>
                </a:solidFill>
                <a:latin typeface="Arial"/>
              </a:rPr>
              <a:t>This is the number that makes the 2.1 : 1 honest. </a:t>
            </a:r>
            <a:r>
              <a:rPr sz="950" b="0" i="0">
                <a:solidFill>
                  <a:srgbClr val="000000"/>
                </a:solidFill>
                <a:latin typeface="Arial"/>
              </a:rPr>
              <a:t>A stop of 16bp against 30bp of annualised slope volatility is roughly one standard deviation over six months. The risk-reward is real and it is not the same as the probability of collecting it. Assuming zero drift is conservative against our own thesis, which is the right direction to be wrong in.</a:t>
            </a:r>
          </a:p>
        </p:txBody>
      </p:sp>
      <p:cxnSp>
        <p:nvCxnSpPr>
          <p:cNvPr id="45" name="Connector 44"/>
          <p:cNvCxnSpPr/>
          <p:nvPr/>
        </p:nvCxnSpPr>
        <p:spPr>
          <a:xfrm>
            <a:off x="6163056" y="1645920"/>
            <a:ext cx="0" cy="4626863"/>
          </a:xfrm>
          <a:prstGeom prst="line">
            <a:avLst/>
          </a:prstGeom>
          <a:ln w="15875">
            <a:solidFill>
              <a:srgbClr val="DB0011"/>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6419088" y="1645920"/>
            <a:ext cx="5394960" cy="219456"/>
          </a:xfrm>
          <a:prstGeom prst="rect">
            <a:avLst/>
          </a:prstGeom>
          <a:noFill/>
        </p:spPr>
        <p:txBody>
          <a:bodyPr wrap="none" lIns="0" rIns="0" tIns="0" bIns="0" anchor="t">
            <a:spAutoFit/>
          </a:bodyPr>
          <a:lstStyle/>
          <a:p>
            <a:pPr algn="l">
              <a:lnSpc>
                <a:spcPct val="100000"/>
              </a:lnSpc>
              <a:spcAft>
                <a:spcPts val="0"/>
              </a:spcAft>
            </a:pPr>
            <a:r>
              <a:rPr sz="1200" b="1" i="0">
                <a:solidFill>
                  <a:srgbClr val="000000"/>
                </a:solidFill>
                <a:latin typeface="Arial"/>
              </a:rPr>
              <a:t>The loss, in yen</a:t>
            </a:r>
          </a:p>
        </p:txBody>
      </p:sp>
      <p:cxnSp>
        <p:nvCxnSpPr>
          <p:cNvPr id="47" name="Connector 46"/>
          <p:cNvCxnSpPr/>
          <p:nvPr/>
        </p:nvCxnSpPr>
        <p:spPr>
          <a:xfrm>
            <a:off x="6419088" y="1883664"/>
            <a:ext cx="384048" cy="0"/>
          </a:xfrm>
          <a:prstGeom prst="line">
            <a:avLst/>
          </a:prstGeom>
          <a:ln w="25400">
            <a:solidFill>
              <a:srgbClr val="DB0011"/>
            </a:solidFill>
          </a:ln>
        </p:spPr>
        <p:style>
          <a:lnRef idx="2">
            <a:schemeClr val="accent1"/>
          </a:lnRef>
          <a:fillRef idx="0">
            <a:schemeClr val="accent1"/>
          </a:fillRef>
          <a:effectRef idx="1">
            <a:schemeClr val="accent1"/>
          </a:effectRef>
          <a:fontRef idx="minor">
            <a:schemeClr val="tx1"/>
          </a:fontRef>
        </p:style>
      </p:cxnSp>
      <p:sp>
        <p:nvSpPr>
          <p:cNvPr id="48" name="Rectangle 47"/>
          <p:cNvSpPr/>
          <p:nvPr/>
        </p:nvSpPr>
        <p:spPr>
          <a:xfrm>
            <a:off x="6419088" y="1975104"/>
            <a:ext cx="5394960" cy="237744"/>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6464807" y="2002536"/>
            <a:ext cx="2834640" cy="237744"/>
          </a:xfrm>
          <a:prstGeom prst="rect">
            <a:avLst/>
          </a:prstGeom>
          <a:noFill/>
        </p:spPr>
        <p:txBody>
          <a:bodyPr wrap="none" lIns="0" rIns="0" tIns="0" bIns="0" anchor="t">
            <a:spAutoFit/>
          </a:bodyPr>
          <a:lstStyle/>
          <a:p>
            <a:pPr algn="l">
              <a:lnSpc>
                <a:spcPct val="100000"/>
              </a:lnSpc>
              <a:spcAft>
                <a:spcPts val="0"/>
              </a:spcAft>
            </a:pPr>
            <a:r>
              <a:rPr sz="950" b="1" i="0">
                <a:solidFill>
                  <a:srgbClr val="FFFFFF"/>
                </a:solidFill>
                <a:latin typeface="Arial"/>
              </a:rPr>
              <a:t>Per ¥1bn of back leg</a:t>
            </a:r>
          </a:p>
        </p:txBody>
      </p:sp>
      <p:sp>
        <p:nvSpPr>
          <p:cNvPr id="50" name="TextBox 49"/>
          <p:cNvSpPr txBox="1"/>
          <p:nvPr/>
        </p:nvSpPr>
        <p:spPr>
          <a:xfrm>
            <a:off x="9390888" y="2002536"/>
            <a:ext cx="1097280" cy="237744"/>
          </a:xfrm>
          <a:prstGeom prst="rect">
            <a:avLst/>
          </a:prstGeom>
          <a:noFill/>
        </p:spPr>
        <p:txBody>
          <a:bodyPr wrap="none" lIns="0" rIns="0" tIns="0" bIns="0" anchor="t">
            <a:spAutoFit/>
          </a:bodyPr>
          <a:lstStyle/>
          <a:p>
            <a:pPr algn="r">
              <a:lnSpc>
                <a:spcPct val="100000"/>
              </a:lnSpc>
              <a:spcAft>
                <a:spcPts val="0"/>
              </a:spcAft>
            </a:pPr>
            <a:r>
              <a:rPr sz="950" b="1" i="0">
                <a:solidFill>
                  <a:srgbClr val="FFFFFF"/>
                </a:solidFill>
                <a:latin typeface="Arial"/>
              </a:rPr>
              <a:t>Slope</a:t>
            </a:r>
          </a:p>
        </p:txBody>
      </p:sp>
      <p:sp>
        <p:nvSpPr>
          <p:cNvPr id="51" name="TextBox 50"/>
          <p:cNvSpPr txBox="1"/>
          <p:nvPr/>
        </p:nvSpPr>
        <p:spPr>
          <a:xfrm>
            <a:off x="10579608" y="2002536"/>
            <a:ext cx="1188719" cy="237744"/>
          </a:xfrm>
          <a:prstGeom prst="rect">
            <a:avLst/>
          </a:prstGeom>
          <a:noFill/>
        </p:spPr>
        <p:txBody>
          <a:bodyPr wrap="none" lIns="0" rIns="0" tIns="0" bIns="0" anchor="t">
            <a:spAutoFit/>
          </a:bodyPr>
          <a:lstStyle/>
          <a:p>
            <a:pPr algn="r">
              <a:lnSpc>
                <a:spcPct val="100000"/>
              </a:lnSpc>
              <a:spcAft>
                <a:spcPts val="0"/>
              </a:spcAft>
            </a:pPr>
            <a:r>
              <a:rPr sz="950" b="1" i="0">
                <a:solidFill>
                  <a:srgbClr val="FFFFFF"/>
                </a:solidFill>
                <a:latin typeface="Arial"/>
              </a:rPr>
              <a:t>P&amp;L</a:t>
            </a:r>
          </a:p>
        </p:txBody>
      </p:sp>
      <p:sp>
        <p:nvSpPr>
          <p:cNvPr id="52" name="TextBox 51"/>
          <p:cNvSpPr txBox="1"/>
          <p:nvPr/>
        </p:nvSpPr>
        <p:spPr>
          <a:xfrm>
            <a:off x="6464807" y="2232964"/>
            <a:ext cx="2834640" cy="224028"/>
          </a:xfrm>
          <a:prstGeom prst="rect">
            <a:avLst/>
          </a:prstGeom>
          <a:noFill/>
        </p:spPr>
        <p:txBody>
          <a:bodyPr wrap="none" lIns="0" rIns="0" tIns="0" bIns="0" anchor="t">
            <a:spAutoFit/>
          </a:bodyPr>
          <a:lstStyle/>
          <a:p>
            <a:pPr algn="l">
              <a:lnSpc>
                <a:spcPct val="100000"/>
              </a:lnSpc>
              <a:spcAft>
                <a:spcPts val="0"/>
              </a:spcAft>
            </a:pPr>
            <a:r>
              <a:rPr sz="950" b="0" i="0">
                <a:solidFill>
                  <a:srgbClr val="000000"/>
                </a:solidFill>
                <a:latin typeface="Arial"/>
              </a:rPr>
              <a:t>Stop, gross of costs</a:t>
            </a:r>
          </a:p>
        </p:txBody>
      </p:sp>
      <p:sp>
        <p:nvSpPr>
          <p:cNvPr id="53" name="TextBox 52"/>
          <p:cNvSpPr txBox="1"/>
          <p:nvPr/>
        </p:nvSpPr>
        <p:spPr>
          <a:xfrm>
            <a:off x="9390888" y="2232964"/>
            <a:ext cx="1097280" cy="224028"/>
          </a:xfrm>
          <a:prstGeom prst="rect">
            <a:avLst/>
          </a:prstGeom>
          <a:noFill/>
        </p:spPr>
        <p:txBody>
          <a:bodyPr wrap="none" lIns="0" rIns="0" tIns="0" bIns="0" anchor="t">
            <a:spAutoFit/>
          </a:bodyPr>
          <a:lstStyle/>
          <a:p>
            <a:pPr algn="r">
              <a:lnSpc>
                <a:spcPct val="100000"/>
              </a:lnSpc>
              <a:spcAft>
                <a:spcPts val="0"/>
              </a:spcAft>
            </a:pPr>
            <a:r>
              <a:rPr sz="950" b="0" i="0">
                <a:solidFill>
                  <a:srgbClr val="DB0011"/>
                </a:solidFill>
                <a:latin typeface="Arial"/>
              </a:rPr>
              <a:t>−16bp</a:t>
            </a:r>
          </a:p>
        </p:txBody>
      </p:sp>
      <p:sp>
        <p:nvSpPr>
          <p:cNvPr id="54" name="TextBox 53"/>
          <p:cNvSpPr txBox="1"/>
          <p:nvPr/>
        </p:nvSpPr>
        <p:spPr>
          <a:xfrm>
            <a:off x="10579608" y="2232964"/>
            <a:ext cx="1188719" cy="224028"/>
          </a:xfrm>
          <a:prstGeom prst="rect">
            <a:avLst/>
          </a:prstGeom>
          <a:noFill/>
        </p:spPr>
        <p:txBody>
          <a:bodyPr wrap="none" lIns="0" rIns="0" tIns="0" bIns="0" anchor="t">
            <a:spAutoFit/>
          </a:bodyPr>
          <a:lstStyle/>
          <a:p>
            <a:pPr algn="r">
              <a:lnSpc>
                <a:spcPct val="100000"/>
              </a:lnSpc>
              <a:spcAft>
                <a:spcPts val="0"/>
              </a:spcAft>
            </a:pPr>
            <a:r>
              <a:rPr sz="950" b="0" i="0">
                <a:solidFill>
                  <a:srgbClr val="DB0011"/>
                </a:solidFill>
                <a:latin typeface="Arial"/>
              </a:rPr>
              <a:t>−¥14.1m</a:t>
            </a:r>
          </a:p>
        </p:txBody>
      </p:sp>
      <p:cxnSp>
        <p:nvCxnSpPr>
          <p:cNvPr id="55" name="Connector 54"/>
          <p:cNvCxnSpPr/>
          <p:nvPr/>
        </p:nvCxnSpPr>
        <p:spPr>
          <a:xfrm>
            <a:off x="6419088" y="2436876"/>
            <a:ext cx="5394960" cy="0"/>
          </a:xfrm>
          <a:prstGeom prst="line">
            <a:avLst/>
          </a:prstGeom>
          <a:ln w="6350">
            <a:solidFill>
              <a:srgbClr val="D0CECE"/>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6464807" y="2456992"/>
            <a:ext cx="2834640" cy="224028"/>
          </a:xfrm>
          <a:prstGeom prst="rect">
            <a:avLst/>
          </a:prstGeom>
          <a:noFill/>
        </p:spPr>
        <p:txBody>
          <a:bodyPr wrap="none" lIns="0" rIns="0" tIns="0" bIns="0" anchor="t">
            <a:spAutoFit/>
          </a:bodyPr>
          <a:lstStyle/>
          <a:p>
            <a:pPr algn="l">
              <a:lnSpc>
                <a:spcPct val="100000"/>
              </a:lnSpc>
              <a:spcAft>
                <a:spcPts val="0"/>
              </a:spcAft>
            </a:pPr>
            <a:r>
              <a:rPr sz="950" b="1" i="0">
                <a:solidFill>
                  <a:srgbClr val="000000"/>
                </a:solidFill>
                <a:latin typeface="Arial"/>
              </a:rPr>
              <a:t>Stop, net of the round trip</a:t>
            </a:r>
          </a:p>
        </p:txBody>
      </p:sp>
      <p:sp>
        <p:nvSpPr>
          <p:cNvPr id="57" name="TextBox 56"/>
          <p:cNvSpPr txBox="1"/>
          <p:nvPr/>
        </p:nvSpPr>
        <p:spPr>
          <a:xfrm>
            <a:off x="9390888" y="2456992"/>
            <a:ext cx="1097280" cy="224028"/>
          </a:xfrm>
          <a:prstGeom prst="rect">
            <a:avLst/>
          </a:prstGeom>
          <a:noFill/>
        </p:spPr>
        <p:txBody>
          <a:bodyPr wrap="none" lIns="0" rIns="0" tIns="0" bIns="0" anchor="t">
            <a:spAutoFit/>
          </a:bodyPr>
          <a:lstStyle/>
          <a:p>
            <a:pPr algn="r">
              <a:lnSpc>
                <a:spcPct val="100000"/>
              </a:lnSpc>
              <a:spcAft>
                <a:spcPts val="0"/>
              </a:spcAft>
            </a:pPr>
            <a:r>
              <a:rPr sz="950" b="1" i="0">
                <a:solidFill>
                  <a:srgbClr val="DB0011"/>
                </a:solidFill>
                <a:latin typeface="Arial"/>
              </a:rPr>
              <a:t>−20bp</a:t>
            </a:r>
          </a:p>
        </p:txBody>
      </p:sp>
      <p:sp>
        <p:nvSpPr>
          <p:cNvPr id="58" name="TextBox 57"/>
          <p:cNvSpPr txBox="1"/>
          <p:nvPr/>
        </p:nvSpPr>
        <p:spPr>
          <a:xfrm>
            <a:off x="10579608" y="2456992"/>
            <a:ext cx="1188719" cy="224028"/>
          </a:xfrm>
          <a:prstGeom prst="rect">
            <a:avLst/>
          </a:prstGeom>
          <a:noFill/>
        </p:spPr>
        <p:txBody>
          <a:bodyPr wrap="none" lIns="0" rIns="0" tIns="0" bIns="0" anchor="t">
            <a:spAutoFit/>
          </a:bodyPr>
          <a:lstStyle/>
          <a:p>
            <a:pPr algn="r">
              <a:lnSpc>
                <a:spcPct val="100000"/>
              </a:lnSpc>
              <a:spcAft>
                <a:spcPts val="0"/>
              </a:spcAft>
            </a:pPr>
            <a:r>
              <a:rPr sz="950" b="1" i="0">
                <a:solidFill>
                  <a:srgbClr val="DB0011"/>
                </a:solidFill>
                <a:latin typeface="Arial"/>
              </a:rPr>
              <a:t>−¥17.6m</a:t>
            </a:r>
          </a:p>
        </p:txBody>
      </p:sp>
      <p:cxnSp>
        <p:nvCxnSpPr>
          <p:cNvPr id="59" name="Connector 58"/>
          <p:cNvCxnSpPr/>
          <p:nvPr/>
        </p:nvCxnSpPr>
        <p:spPr>
          <a:xfrm>
            <a:off x="6419088" y="2660904"/>
            <a:ext cx="5394960" cy="0"/>
          </a:xfrm>
          <a:prstGeom prst="line">
            <a:avLst/>
          </a:prstGeom>
          <a:ln w="9525">
            <a:solidFill>
              <a:srgbClr val="000000"/>
            </a:solidFill>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6464807" y="2681020"/>
            <a:ext cx="2834640" cy="224028"/>
          </a:xfrm>
          <a:prstGeom prst="rect">
            <a:avLst/>
          </a:prstGeom>
          <a:noFill/>
        </p:spPr>
        <p:txBody>
          <a:bodyPr wrap="none" lIns="0" rIns="0" tIns="0" bIns="0" anchor="t">
            <a:spAutoFit/>
          </a:bodyPr>
          <a:lstStyle/>
          <a:p>
            <a:pPr algn="l">
              <a:lnSpc>
                <a:spcPct val="100000"/>
              </a:lnSpc>
              <a:spcAft>
                <a:spcPts val="0"/>
              </a:spcAft>
            </a:pPr>
            <a:r>
              <a:rPr sz="950" b="0" i="0">
                <a:solidFill>
                  <a:srgbClr val="000000"/>
                </a:solidFill>
                <a:latin typeface="Arial"/>
              </a:rPr>
              <a:t>Worst modelled state, bear flattener</a:t>
            </a:r>
          </a:p>
        </p:txBody>
      </p:sp>
      <p:sp>
        <p:nvSpPr>
          <p:cNvPr id="61" name="TextBox 60"/>
          <p:cNvSpPr txBox="1"/>
          <p:nvPr/>
        </p:nvSpPr>
        <p:spPr>
          <a:xfrm>
            <a:off x="9390888" y="2681020"/>
            <a:ext cx="1097280" cy="224028"/>
          </a:xfrm>
          <a:prstGeom prst="rect">
            <a:avLst/>
          </a:prstGeom>
          <a:noFill/>
        </p:spPr>
        <p:txBody>
          <a:bodyPr wrap="none" lIns="0" rIns="0" tIns="0" bIns="0" anchor="t">
            <a:spAutoFit/>
          </a:bodyPr>
          <a:lstStyle/>
          <a:p>
            <a:pPr algn="r">
              <a:lnSpc>
                <a:spcPct val="100000"/>
              </a:lnSpc>
              <a:spcAft>
                <a:spcPts val="0"/>
              </a:spcAft>
            </a:pPr>
            <a:r>
              <a:rPr sz="950" b="0" i="0">
                <a:solidFill>
                  <a:srgbClr val="DB0011"/>
                </a:solidFill>
                <a:latin typeface="Arial"/>
              </a:rPr>
              <a:t>−30bp</a:t>
            </a:r>
          </a:p>
        </p:txBody>
      </p:sp>
      <p:sp>
        <p:nvSpPr>
          <p:cNvPr id="62" name="TextBox 61"/>
          <p:cNvSpPr txBox="1"/>
          <p:nvPr/>
        </p:nvSpPr>
        <p:spPr>
          <a:xfrm>
            <a:off x="10579608" y="2681020"/>
            <a:ext cx="1188719" cy="224028"/>
          </a:xfrm>
          <a:prstGeom prst="rect">
            <a:avLst/>
          </a:prstGeom>
          <a:noFill/>
        </p:spPr>
        <p:txBody>
          <a:bodyPr wrap="none" lIns="0" rIns="0" tIns="0" bIns="0" anchor="t">
            <a:spAutoFit/>
          </a:bodyPr>
          <a:lstStyle/>
          <a:p>
            <a:pPr algn="r">
              <a:lnSpc>
                <a:spcPct val="100000"/>
              </a:lnSpc>
              <a:spcAft>
                <a:spcPts val="0"/>
              </a:spcAft>
            </a:pPr>
            <a:r>
              <a:rPr sz="950" b="0" i="0">
                <a:solidFill>
                  <a:srgbClr val="DB0011"/>
                </a:solidFill>
                <a:latin typeface="Arial"/>
              </a:rPr>
              <a:t>−¥26.3m</a:t>
            </a:r>
          </a:p>
        </p:txBody>
      </p:sp>
      <p:cxnSp>
        <p:nvCxnSpPr>
          <p:cNvPr id="63" name="Connector 62"/>
          <p:cNvCxnSpPr/>
          <p:nvPr/>
        </p:nvCxnSpPr>
        <p:spPr>
          <a:xfrm>
            <a:off x="6419088" y="2884932"/>
            <a:ext cx="5394960" cy="0"/>
          </a:xfrm>
          <a:prstGeom prst="line">
            <a:avLst/>
          </a:prstGeom>
          <a:ln w="6350">
            <a:solidFill>
              <a:srgbClr val="D0CECE"/>
            </a:solidFill>
          </a:ln>
        </p:spPr>
        <p:style>
          <a:lnRef idx="2">
            <a:schemeClr val="accent1"/>
          </a:lnRef>
          <a:fillRef idx="0">
            <a:schemeClr val="accent1"/>
          </a:fillRef>
          <a:effectRef idx="1">
            <a:schemeClr val="accent1"/>
          </a:effectRef>
          <a:fontRef idx="minor">
            <a:schemeClr val="tx1"/>
          </a:fontRef>
        </p:style>
      </p:cxnSp>
      <p:sp>
        <p:nvSpPr>
          <p:cNvPr id="64" name="TextBox 63"/>
          <p:cNvSpPr txBox="1"/>
          <p:nvPr/>
        </p:nvSpPr>
        <p:spPr>
          <a:xfrm>
            <a:off x="6464807" y="2905048"/>
            <a:ext cx="2834640" cy="224028"/>
          </a:xfrm>
          <a:prstGeom prst="rect">
            <a:avLst/>
          </a:prstGeom>
          <a:noFill/>
        </p:spPr>
        <p:txBody>
          <a:bodyPr wrap="none" lIns="0" rIns="0" tIns="0" bIns="0" anchor="t">
            <a:spAutoFit/>
          </a:bodyPr>
          <a:lstStyle/>
          <a:p>
            <a:pPr algn="l">
              <a:lnSpc>
                <a:spcPct val="100000"/>
              </a:lnSpc>
              <a:spcAft>
                <a:spcPts val="0"/>
              </a:spcAft>
            </a:pPr>
            <a:r>
              <a:rPr sz="950" b="0" i="0">
                <a:solidFill>
                  <a:srgbClr val="000000"/>
                </a:solidFill>
                <a:latin typeface="Arial"/>
              </a:rPr>
              <a:t>Mean rally week, measured</a:t>
            </a:r>
          </a:p>
        </p:txBody>
      </p:sp>
      <p:sp>
        <p:nvSpPr>
          <p:cNvPr id="65" name="TextBox 64"/>
          <p:cNvSpPr txBox="1"/>
          <p:nvPr/>
        </p:nvSpPr>
        <p:spPr>
          <a:xfrm>
            <a:off x="9390888" y="2905048"/>
            <a:ext cx="1097280" cy="224028"/>
          </a:xfrm>
          <a:prstGeom prst="rect">
            <a:avLst/>
          </a:prstGeom>
          <a:noFill/>
        </p:spPr>
        <p:txBody>
          <a:bodyPr wrap="none" lIns="0" rIns="0" tIns="0" bIns="0" anchor="t">
            <a:spAutoFit/>
          </a:bodyPr>
          <a:lstStyle/>
          <a:p>
            <a:pPr algn="r">
              <a:lnSpc>
                <a:spcPct val="100000"/>
              </a:lnSpc>
              <a:spcAft>
                <a:spcPts val="0"/>
              </a:spcAft>
            </a:pPr>
            <a:r>
              <a:rPr sz="950" b="0" i="0">
                <a:solidFill>
                  <a:srgbClr val="DB0011"/>
                </a:solidFill>
                <a:latin typeface="Arial"/>
              </a:rPr>
              <a:t>−5.2bp</a:t>
            </a:r>
          </a:p>
        </p:txBody>
      </p:sp>
      <p:sp>
        <p:nvSpPr>
          <p:cNvPr id="66" name="TextBox 65"/>
          <p:cNvSpPr txBox="1"/>
          <p:nvPr/>
        </p:nvSpPr>
        <p:spPr>
          <a:xfrm>
            <a:off x="10579608" y="2905048"/>
            <a:ext cx="1188719" cy="224028"/>
          </a:xfrm>
          <a:prstGeom prst="rect">
            <a:avLst/>
          </a:prstGeom>
          <a:noFill/>
        </p:spPr>
        <p:txBody>
          <a:bodyPr wrap="none" lIns="0" rIns="0" tIns="0" bIns="0" anchor="t">
            <a:spAutoFit/>
          </a:bodyPr>
          <a:lstStyle/>
          <a:p>
            <a:pPr algn="r">
              <a:lnSpc>
                <a:spcPct val="100000"/>
              </a:lnSpc>
              <a:spcAft>
                <a:spcPts val="0"/>
              </a:spcAft>
            </a:pPr>
            <a:r>
              <a:rPr sz="950" b="0" i="0">
                <a:solidFill>
                  <a:srgbClr val="DB0011"/>
                </a:solidFill>
                <a:latin typeface="Arial"/>
              </a:rPr>
              <a:t>−¥4.6m</a:t>
            </a:r>
          </a:p>
        </p:txBody>
      </p:sp>
      <p:cxnSp>
        <p:nvCxnSpPr>
          <p:cNvPr id="67" name="Connector 66"/>
          <p:cNvCxnSpPr/>
          <p:nvPr/>
        </p:nvCxnSpPr>
        <p:spPr>
          <a:xfrm>
            <a:off x="6419088" y="3108960"/>
            <a:ext cx="5394960" cy="0"/>
          </a:xfrm>
          <a:prstGeom prst="line">
            <a:avLst/>
          </a:prstGeom>
          <a:ln w="6350">
            <a:solidFill>
              <a:srgbClr val="D0CECE"/>
            </a:solidFill>
          </a:ln>
        </p:spPr>
        <p:style>
          <a:lnRef idx="2">
            <a:schemeClr val="accent1"/>
          </a:lnRef>
          <a:fillRef idx="0">
            <a:schemeClr val="accent1"/>
          </a:fillRef>
          <a:effectRef idx="1">
            <a:schemeClr val="accent1"/>
          </a:effectRef>
          <a:fontRef idx="minor">
            <a:schemeClr val="tx1"/>
          </a:fontRef>
        </p:style>
      </p:cxnSp>
      <p:sp>
        <p:nvSpPr>
          <p:cNvPr id="68" name="TextBox 67"/>
          <p:cNvSpPr txBox="1"/>
          <p:nvPr/>
        </p:nvSpPr>
        <p:spPr>
          <a:xfrm>
            <a:off x="6464807" y="3129076"/>
            <a:ext cx="2834640" cy="224028"/>
          </a:xfrm>
          <a:prstGeom prst="rect">
            <a:avLst/>
          </a:prstGeom>
          <a:noFill/>
        </p:spPr>
        <p:txBody>
          <a:bodyPr wrap="none" lIns="0" rIns="0" tIns="0" bIns="0" anchor="t">
            <a:spAutoFit/>
          </a:bodyPr>
          <a:lstStyle/>
          <a:p>
            <a:pPr algn="l">
              <a:lnSpc>
                <a:spcPct val="100000"/>
              </a:lnSpc>
              <a:spcAft>
                <a:spcPts val="0"/>
              </a:spcAft>
            </a:pPr>
            <a:r>
              <a:rPr sz="950" b="1" i="0">
                <a:solidFill>
                  <a:srgbClr val="000000"/>
                </a:solidFill>
                <a:latin typeface="Arial"/>
              </a:rPr>
              <a:t>Target, net</a:t>
            </a:r>
          </a:p>
        </p:txBody>
      </p:sp>
      <p:sp>
        <p:nvSpPr>
          <p:cNvPr id="69" name="TextBox 68"/>
          <p:cNvSpPr txBox="1"/>
          <p:nvPr/>
        </p:nvSpPr>
        <p:spPr>
          <a:xfrm>
            <a:off x="9390888" y="3129076"/>
            <a:ext cx="1097280" cy="224028"/>
          </a:xfrm>
          <a:prstGeom prst="rect">
            <a:avLst/>
          </a:prstGeom>
          <a:noFill/>
        </p:spPr>
        <p:txBody>
          <a:bodyPr wrap="none" lIns="0" rIns="0" tIns="0" bIns="0" anchor="t">
            <a:spAutoFit/>
          </a:bodyPr>
          <a:lstStyle/>
          <a:p>
            <a:pPr algn="r">
              <a:lnSpc>
                <a:spcPct val="100000"/>
              </a:lnSpc>
              <a:spcAft>
                <a:spcPts val="0"/>
              </a:spcAft>
            </a:pPr>
            <a:r>
              <a:rPr sz="950" b="1" i="0">
                <a:solidFill>
                  <a:srgbClr val="00847F"/>
                </a:solidFill>
                <a:latin typeface="Arial"/>
              </a:rPr>
              <a:t>+42bp</a:t>
            </a:r>
          </a:p>
        </p:txBody>
      </p:sp>
      <p:sp>
        <p:nvSpPr>
          <p:cNvPr id="70" name="TextBox 69"/>
          <p:cNvSpPr txBox="1"/>
          <p:nvPr/>
        </p:nvSpPr>
        <p:spPr>
          <a:xfrm>
            <a:off x="10579608" y="3129076"/>
            <a:ext cx="1188719" cy="224028"/>
          </a:xfrm>
          <a:prstGeom prst="rect">
            <a:avLst/>
          </a:prstGeom>
          <a:noFill/>
        </p:spPr>
        <p:txBody>
          <a:bodyPr wrap="none" lIns="0" rIns="0" tIns="0" bIns="0" anchor="t">
            <a:spAutoFit/>
          </a:bodyPr>
          <a:lstStyle/>
          <a:p>
            <a:pPr algn="r">
              <a:lnSpc>
                <a:spcPct val="100000"/>
              </a:lnSpc>
              <a:spcAft>
                <a:spcPts val="0"/>
              </a:spcAft>
            </a:pPr>
            <a:r>
              <a:rPr sz="950" b="1" i="0">
                <a:solidFill>
                  <a:srgbClr val="00847F"/>
                </a:solidFill>
                <a:latin typeface="Arial"/>
              </a:rPr>
              <a:t>+¥37.1m</a:t>
            </a:r>
          </a:p>
        </p:txBody>
      </p:sp>
      <p:cxnSp>
        <p:nvCxnSpPr>
          <p:cNvPr id="71" name="Connector 70"/>
          <p:cNvCxnSpPr/>
          <p:nvPr/>
        </p:nvCxnSpPr>
        <p:spPr>
          <a:xfrm>
            <a:off x="6419088" y="3332988"/>
            <a:ext cx="5394960" cy="0"/>
          </a:xfrm>
          <a:prstGeom prst="line">
            <a:avLst/>
          </a:prstGeom>
          <a:ln w="9525">
            <a:solidFill>
              <a:srgbClr val="000000"/>
            </a:solidFill>
          </a:ln>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6464807" y="3353104"/>
            <a:ext cx="2834640" cy="224028"/>
          </a:xfrm>
          <a:prstGeom prst="rect">
            <a:avLst/>
          </a:prstGeom>
          <a:noFill/>
        </p:spPr>
        <p:txBody>
          <a:bodyPr wrap="none" lIns="0" rIns="0" tIns="0" bIns="0" anchor="t">
            <a:spAutoFit/>
          </a:bodyPr>
          <a:lstStyle/>
          <a:p>
            <a:pPr algn="l">
              <a:lnSpc>
                <a:spcPct val="100000"/>
              </a:lnSpc>
              <a:spcAft>
                <a:spcPts val="0"/>
              </a:spcAft>
            </a:pPr>
            <a:r>
              <a:rPr sz="950" b="0" i="0">
                <a:solidFill>
                  <a:srgbClr val="000000"/>
                </a:solidFill>
                <a:latin typeface="Arial"/>
              </a:rPr>
              <a:t>1σ, six months</a:t>
            </a:r>
          </a:p>
        </p:txBody>
      </p:sp>
      <p:sp>
        <p:nvSpPr>
          <p:cNvPr id="73" name="TextBox 72"/>
          <p:cNvSpPr txBox="1"/>
          <p:nvPr/>
        </p:nvSpPr>
        <p:spPr>
          <a:xfrm>
            <a:off x="9390888" y="3353104"/>
            <a:ext cx="1097280" cy="224028"/>
          </a:xfrm>
          <a:prstGeom prst="rect">
            <a:avLst/>
          </a:prstGeom>
          <a:noFill/>
        </p:spPr>
        <p:txBody>
          <a:bodyPr wrap="none" lIns="0" rIns="0" tIns="0" bIns="0" anchor="t">
            <a:spAutoFit/>
          </a:bodyPr>
          <a:lstStyle/>
          <a:p>
            <a:pPr algn="r">
              <a:lnSpc>
                <a:spcPct val="100000"/>
              </a:lnSpc>
              <a:spcAft>
                <a:spcPts val="0"/>
              </a:spcAft>
            </a:pPr>
            <a:r>
              <a:rPr sz="950" b="0" i="0">
                <a:solidFill>
                  <a:srgbClr val="000000"/>
                </a:solidFill>
                <a:latin typeface="Arial"/>
              </a:rPr>
              <a:t>±21.6bp</a:t>
            </a:r>
          </a:p>
        </p:txBody>
      </p:sp>
      <p:sp>
        <p:nvSpPr>
          <p:cNvPr id="74" name="TextBox 73"/>
          <p:cNvSpPr txBox="1"/>
          <p:nvPr/>
        </p:nvSpPr>
        <p:spPr>
          <a:xfrm>
            <a:off x="10579608" y="3353104"/>
            <a:ext cx="1188719" cy="224028"/>
          </a:xfrm>
          <a:prstGeom prst="rect">
            <a:avLst/>
          </a:prstGeom>
          <a:noFill/>
        </p:spPr>
        <p:txBody>
          <a:bodyPr wrap="none" lIns="0" rIns="0" tIns="0" bIns="0" anchor="t">
            <a:spAutoFit/>
          </a:bodyPr>
          <a:lstStyle/>
          <a:p>
            <a:pPr algn="r">
              <a:lnSpc>
                <a:spcPct val="100000"/>
              </a:lnSpc>
              <a:spcAft>
                <a:spcPts val="0"/>
              </a:spcAft>
            </a:pPr>
            <a:r>
              <a:rPr sz="950" b="0" i="0">
                <a:solidFill>
                  <a:srgbClr val="000000"/>
                </a:solidFill>
                <a:latin typeface="Arial"/>
              </a:rPr>
              <a:t>±¥19.0m</a:t>
            </a:r>
          </a:p>
        </p:txBody>
      </p:sp>
      <p:cxnSp>
        <p:nvCxnSpPr>
          <p:cNvPr id="75" name="Connector 74"/>
          <p:cNvCxnSpPr/>
          <p:nvPr/>
        </p:nvCxnSpPr>
        <p:spPr>
          <a:xfrm>
            <a:off x="6419088" y="3557016"/>
            <a:ext cx="5394960" cy="0"/>
          </a:xfrm>
          <a:prstGeom prst="line">
            <a:avLst/>
          </a:prstGeom>
          <a:ln w="6350">
            <a:solidFill>
              <a:srgbClr val="D0CECE"/>
            </a:solidFill>
          </a:ln>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6419088" y="3675887"/>
            <a:ext cx="5394960" cy="219456"/>
          </a:xfrm>
          <a:prstGeom prst="rect">
            <a:avLst/>
          </a:prstGeom>
          <a:noFill/>
        </p:spPr>
        <p:txBody>
          <a:bodyPr wrap="none" lIns="0" rIns="0" tIns="0" bIns="0" anchor="t">
            <a:spAutoFit/>
          </a:bodyPr>
          <a:lstStyle/>
          <a:p>
            <a:pPr algn="l">
              <a:lnSpc>
                <a:spcPct val="100000"/>
              </a:lnSpc>
              <a:spcAft>
                <a:spcPts val="0"/>
              </a:spcAft>
            </a:pPr>
            <a:r>
              <a:rPr sz="1200" b="1" i="0">
                <a:solidFill>
                  <a:srgbClr val="000000"/>
                </a:solidFill>
                <a:latin typeface="Arial"/>
              </a:rPr>
              <a:t>And what it costs to wait</a:t>
            </a:r>
          </a:p>
        </p:txBody>
      </p:sp>
      <p:cxnSp>
        <p:nvCxnSpPr>
          <p:cNvPr id="77" name="Connector 76"/>
          <p:cNvCxnSpPr/>
          <p:nvPr/>
        </p:nvCxnSpPr>
        <p:spPr>
          <a:xfrm>
            <a:off x="6419088" y="3913632"/>
            <a:ext cx="384048" cy="0"/>
          </a:xfrm>
          <a:prstGeom prst="line">
            <a:avLst/>
          </a:prstGeom>
          <a:ln w="25400">
            <a:solidFill>
              <a:srgbClr val="DB0011"/>
            </a:solidFill>
          </a:ln>
        </p:spPr>
        <p:style>
          <a:lnRef idx="2">
            <a:schemeClr val="accent1"/>
          </a:lnRef>
          <a:fillRef idx="0">
            <a:schemeClr val="accent1"/>
          </a:fillRef>
          <a:effectRef idx="1">
            <a:schemeClr val="accent1"/>
          </a:effectRef>
          <a:fontRef idx="minor">
            <a:schemeClr val="tx1"/>
          </a:fontRef>
        </p:style>
      </p:cxnSp>
      <p:sp>
        <p:nvSpPr>
          <p:cNvPr id="78" name="Rectangle 77"/>
          <p:cNvSpPr/>
          <p:nvPr/>
        </p:nvSpPr>
        <p:spPr>
          <a:xfrm>
            <a:off x="6419088" y="4005072"/>
            <a:ext cx="5394960" cy="246888"/>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TextBox 78"/>
          <p:cNvSpPr txBox="1"/>
          <p:nvPr/>
        </p:nvSpPr>
        <p:spPr>
          <a:xfrm>
            <a:off x="6464807" y="4032504"/>
            <a:ext cx="2286000" cy="246888"/>
          </a:xfrm>
          <a:prstGeom prst="rect">
            <a:avLst/>
          </a:prstGeom>
          <a:noFill/>
        </p:spPr>
        <p:txBody>
          <a:bodyPr wrap="none" lIns="0" rIns="0" tIns="0" bIns="0" anchor="t">
            <a:spAutoFit/>
          </a:bodyPr>
          <a:lstStyle/>
          <a:p>
            <a:pPr algn="l">
              <a:lnSpc>
                <a:spcPct val="100000"/>
              </a:lnSpc>
              <a:spcAft>
                <a:spcPts val="0"/>
              </a:spcAft>
            </a:pPr>
            <a:r>
              <a:rPr sz="950" b="1" i="0">
                <a:solidFill>
                  <a:srgbClr val="FFFFFF"/>
                </a:solidFill>
                <a:latin typeface="Arial"/>
              </a:rPr>
              <a:t/>
            </a:r>
          </a:p>
        </p:txBody>
      </p:sp>
      <p:sp>
        <p:nvSpPr>
          <p:cNvPr id="80" name="TextBox 79"/>
          <p:cNvSpPr txBox="1"/>
          <p:nvPr/>
        </p:nvSpPr>
        <p:spPr>
          <a:xfrm>
            <a:off x="8842248" y="4032504"/>
            <a:ext cx="914400" cy="246888"/>
          </a:xfrm>
          <a:prstGeom prst="rect">
            <a:avLst/>
          </a:prstGeom>
          <a:noFill/>
        </p:spPr>
        <p:txBody>
          <a:bodyPr wrap="none" lIns="0" rIns="0" tIns="0" bIns="0" anchor="t">
            <a:spAutoFit/>
          </a:bodyPr>
          <a:lstStyle/>
          <a:p>
            <a:pPr algn="r">
              <a:lnSpc>
                <a:spcPct val="100000"/>
              </a:lnSpc>
              <a:spcAft>
                <a:spcPts val="0"/>
              </a:spcAft>
            </a:pPr>
            <a:r>
              <a:rPr sz="950" b="1" i="0">
                <a:solidFill>
                  <a:srgbClr val="FFFFFF"/>
                </a:solidFill>
                <a:latin typeface="Arial"/>
              </a:rPr>
              <a:t>3m</a:t>
            </a:r>
          </a:p>
        </p:txBody>
      </p:sp>
      <p:sp>
        <p:nvSpPr>
          <p:cNvPr id="81" name="TextBox 80"/>
          <p:cNvSpPr txBox="1"/>
          <p:nvPr/>
        </p:nvSpPr>
        <p:spPr>
          <a:xfrm>
            <a:off x="9848088" y="4032504"/>
            <a:ext cx="914400" cy="246888"/>
          </a:xfrm>
          <a:prstGeom prst="rect">
            <a:avLst/>
          </a:prstGeom>
          <a:noFill/>
        </p:spPr>
        <p:txBody>
          <a:bodyPr wrap="none" lIns="0" rIns="0" tIns="0" bIns="0" anchor="t">
            <a:spAutoFit/>
          </a:bodyPr>
          <a:lstStyle/>
          <a:p>
            <a:pPr algn="r">
              <a:lnSpc>
                <a:spcPct val="100000"/>
              </a:lnSpc>
              <a:spcAft>
                <a:spcPts val="0"/>
              </a:spcAft>
            </a:pPr>
            <a:r>
              <a:rPr sz="950" b="1" i="0">
                <a:solidFill>
                  <a:srgbClr val="FFFFFF"/>
                </a:solidFill>
                <a:latin typeface="Arial"/>
              </a:rPr>
              <a:t>6m</a:t>
            </a:r>
          </a:p>
        </p:txBody>
      </p:sp>
      <p:sp>
        <p:nvSpPr>
          <p:cNvPr id="82" name="TextBox 81"/>
          <p:cNvSpPr txBox="1"/>
          <p:nvPr/>
        </p:nvSpPr>
        <p:spPr>
          <a:xfrm>
            <a:off x="10853928" y="4032504"/>
            <a:ext cx="914400" cy="246888"/>
          </a:xfrm>
          <a:prstGeom prst="rect">
            <a:avLst/>
          </a:prstGeom>
          <a:noFill/>
        </p:spPr>
        <p:txBody>
          <a:bodyPr wrap="none" lIns="0" rIns="0" tIns="0" bIns="0" anchor="t">
            <a:spAutoFit/>
          </a:bodyPr>
          <a:lstStyle/>
          <a:p>
            <a:pPr algn="r">
              <a:lnSpc>
                <a:spcPct val="100000"/>
              </a:lnSpc>
              <a:spcAft>
                <a:spcPts val="0"/>
              </a:spcAft>
            </a:pPr>
            <a:r>
              <a:rPr sz="950" b="1" i="0">
                <a:solidFill>
                  <a:srgbClr val="FFFFFF"/>
                </a:solidFill>
                <a:latin typeface="Arial"/>
              </a:rPr>
              <a:t>12m</a:t>
            </a:r>
          </a:p>
        </p:txBody>
      </p:sp>
      <p:sp>
        <p:nvSpPr>
          <p:cNvPr id="83" name="TextBox 82"/>
          <p:cNvSpPr txBox="1"/>
          <p:nvPr/>
        </p:nvSpPr>
        <p:spPr>
          <a:xfrm>
            <a:off x="6464807" y="4272076"/>
            <a:ext cx="2286000" cy="233172"/>
          </a:xfrm>
          <a:prstGeom prst="rect">
            <a:avLst/>
          </a:prstGeom>
          <a:noFill/>
        </p:spPr>
        <p:txBody>
          <a:bodyPr wrap="none" lIns="0" rIns="0" tIns="0" bIns="0" anchor="t">
            <a:spAutoFit/>
          </a:bodyPr>
          <a:lstStyle/>
          <a:p>
            <a:pPr algn="l">
              <a:lnSpc>
                <a:spcPct val="100000"/>
              </a:lnSpc>
              <a:spcAft>
                <a:spcPts val="0"/>
              </a:spcAft>
            </a:pPr>
            <a:r>
              <a:rPr sz="950" b="0" i="0">
                <a:solidFill>
                  <a:srgbClr val="000000"/>
                </a:solidFill>
                <a:latin typeface="Arial"/>
              </a:rPr>
              <a:t>Carry and roll, 2s10s</a:t>
            </a:r>
          </a:p>
        </p:txBody>
      </p:sp>
      <p:sp>
        <p:nvSpPr>
          <p:cNvPr id="84" name="TextBox 83"/>
          <p:cNvSpPr txBox="1"/>
          <p:nvPr/>
        </p:nvSpPr>
        <p:spPr>
          <a:xfrm>
            <a:off x="8842248" y="4272076"/>
            <a:ext cx="914400" cy="233172"/>
          </a:xfrm>
          <a:prstGeom prst="rect">
            <a:avLst/>
          </a:prstGeom>
          <a:noFill/>
        </p:spPr>
        <p:txBody>
          <a:bodyPr wrap="none" lIns="0" rIns="0" tIns="0" bIns="0" anchor="t">
            <a:spAutoFit/>
          </a:bodyPr>
          <a:lstStyle/>
          <a:p>
            <a:pPr algn="r">
              <a:lnSpc>
                <a:spcPct val="100000"/>
              </a:lnSpc>
              <a:spcAft>
                <a:spcPts val="0"/>
              </a:spcAft>
            </a:pPr>
            <a:r>
              <a:rPr sz="950" b="0" i="0">
                <a:solidFill>
                  <a:srgbClr val="00847F"/>
                </a:solidFill>
                <a:latin typeface="Arial"/>
              </a:rPr>
              <a:t>+2.5bp</a:t>
            </a:r>
          </a:p>
        </p:txBody>
      </p:sp>
      <p:sp>
        <p:nvSpPr>
          <p:cNvPr id="85" name="TextBox 84"/>
          <p:cNvSpPr txBox="1"/>
          <p:nvPr/>
        </p:nvSpPr>
        <p:spPr>
          <a:xfrm>
            <a:off x="9848088" y="4272076"/>
            <a:ext cx="914400" cy="233172"/>
          </a:xfrm>
          <a:prstGeom prst="rect">
            <a:avLst/>
          </a:prstGeom>
          <a:noFill/>
        </p:spPr>
        <p:txBody>
          <a:bodyPr wrap="none" lIns="0" rIns="0" tIns="0" bIns="0" anchor="t">
            <a:spAutoFit/>
          </a:bodyPr>
          <a:lstStyle/>
          <a:p>
            <a:pPr algn="r">
              <a:lnSpc>
                <a:spcPct val="100000"/>
              </a:lnSpc>
              <a:spcAft>
                <a:spcPts val="0"/>
              </a:spcAft>
            </a:pPr>
            <a:r>
              <a:rPr sz="950" b="0" i="0">
                <a:solidFill>
                  <a:srgbClr val="00847F"/>
                </a:solidFill>
                <a:latin typeface="Arial"/>
              </a:rPr>
              <a:t>+2.4bp</a:t>
            </a:r>
          </a:p>
        </p:txBody>
      </p:sp>
      <p:sp>
        <p:nvSpPr>
          <p:cNvPr id="86" name="TextBox 85"/>
          <p:cNvSpPr txBox="1"/>
          <p:nvPr/>
        </p:nvSpPr>
        <p:spPr>
          <a:xfrm>
            <a:off x="10853928" y="4272076"/>
            <a:ext cx="914400" cy="233172"/>
          </a:xfrm>
          <a:prstGeom prst="rect">
            <a:avLst/>
          </a:prstGeom>
          <a:noFill/>
        </p:spPr>
        <p:txBody>
          <a:bodyPr wrap="none" lIns="0" rIns="0" tIns="0" bIns="0" anchor="t">
            <a:spAutoFit/>
          </a:bodyPr>
          <a:lstStyle/>
          <a:p>
            <a:pPr algn="r">
              <a:lnSpc>
                <a:spcPct val="100000"/>
              </a:lnSpc>
              <a:spcAft>
                <a:spcPts val="0"/>
              </a:spcAft>
            </a:pPr>
            <a:r>
              <a:rPr sz="950" b="0" i="0">
                <a:solidFill>
                  <a:srgbClr val="DB0011"/>
                </a:solidFill>
                <a:latin typeface="Arial"/>
              </a:rPr>
              <a:t>−5.8bp</a:t>
            </a:r>
          </a:p>
        </p:txBody>
      </p:sp>
      <p:cxnSp>
        <p:nvCxnSpPr>
          <p:cNvPr id="87" name="Connector 86"/>
          <p:cNvCxnSpPr/>
          <p:nvPr/>
        </p:nvCxnSpPr>
        <p:spPr>
          <a:xfrm>
            <a:off x="6419088" y="4485132"/>
            <a:ext cx="5394960" cy="0"/>
          </a:xfrm>
          <a:prstGeom prst="line">
            <a:avLst/>
          </a:prstGeom>
          <a:ln w="6350">
            <a:solidFill>
              <a:srgbClr val="D0CECE"/>
            </a:solidFill>
          </a:ln>
        </p:spPr>
        <p:style>
          <a:lnRef idx="2">
            <a:schemeClr val="accent1"/>
          </a:lnRef>
          <a:fillRef idx="0">
            <a:schemeClr val="accent1"/>
          </a:fillRef>
          <a:effectRef idx="1">
            <a:schemeClr val="accent1"/>
          </a:effectRef>
          <a:fontRef idx="minor">
            <a:schemeClr val="tx1"/>
          </a:fontRef>
        </p:style>
      </p:cxnSp>
      <p:sp>
        <p:nvSpPr>
          <p:cNvPr id="88" name="TextBox 87"/>
          <p:cNvSpPr txBox="1"/>
          <p:nvPr/>
        </p:nvSpPr>
        <p:spPr>
          <a:xfrm>
            <a:off x="6464807" y="4505248"/>
            <a:ext cx="2286000" cy="233172"/>
          </a:xfrm>
          <a:prstGeom prst="rect">
            <a:avLst/>
          </a:prstGeom>
          <a:noFill/>
        </p:spPr>
        <p:txBody>
          <a:bodyPr wrap="none" lIns="0" rIns="0" tIns="0" bIns="0" anchor="t">
            <a:spAutoFit/>
          </a:bodyPr>
          <a:lstStyle/>
          <a:p>
            <a:pPr algn="l">
              <a:lnSpc>
                <a:spcPct val="100000"/>
              </a:lnSpc>
              <a:spcAft>
                <a:spcPts val="0"/>
              </a:spcAft>
            </a:pPr>
            <a:r>
              <a:rPr sz="950" b="0" i="0">
                <a:solidFill>
                  <a:srgbClr val="000000"/>
                </a:solidFill>
                <a:latin typeface="Arial"/>
              </a:rPr>
              <a:t>FX hedge, annualised</a:t>
            </a:r>
          </a:p>
        </p:txBody>
      </p:sp>
      <p:sp>
        <p:nvSpPr>
          <p:cNvPr id="89" name="TextBox 88"/>
          <p:cNvSpPr txBox="1"/>
          <p:nvPr/>
        </p:nvSpPr>
        <p:spPr>
          <a:xfrm>
            <a:off x="8842248" y="4505248"/>
            <a:ext cx="914400" cy="233172"/>
          </a:xfrm>
          <a:prstGeom prst="rect">
            <a:avLst/>
          </a:prstGeom>
          <a:noFill/>
        </p:spPr>
        <p:txBody>
          <a:bodyPr wrap="none" lIns="0" rIns="0" tIns="0" bIns="0" anchor="t">
            <a:spAutoFit/>
          </a:bodyPr>
          <a:lstStyle/>
          <a:p>
            <a:pPr algn="r">
              <a:lnSpc>
                <a:spcPct val="100000"/>
              </a:lnSpc>
              <a:spcAft>
                <a:spcPts val="0"/>
              </a:spcAft>
            </a:pPr>
            <a:r>
              <a:rPr sz="950" b="0" i="0">
                <a:solidFill>
                  <a:srgbClr val="00847F"/>
                </a:solidFill>
                <a:latin typeface="Arial"/>
              </a:rPr>
              <a:t>+282bp</a:t>
            </a:r>
          </a:p>
        </p:txBody>
      </p:sp>
      <p:sp>
        <p:nvSpPr>
          <p:cNvPr id="90" name="TextBox 89"/>
          <p:cNvSpPr txBox="1"/>
          <p:nvPr/>
        </p:nvSpPr>
        <p:spPr>
          <a:xfrm>
            <a:off x="9848088" y="4505248"/>
            <a:ext cx="914400" cy="233172"/>
          </a:xfrm>
          <a:prstGeom prst="rect">
            <a:avLst/>
          </a:prstGeom>
          <a:noFill/>
        </p:spPr>
        <p:txBody>
          <a:bodyPr wrap="none" lIns="0" rIns="0" tIns="0" bIns="0" anchor="t">
            <a:spAutoFit/>
          </a:bodyPr>
          <a:lstStyle/>
          <a:p>
            <a:pPr algn="r">
              <a:lnSpc>
                <a:spcPct val="100000"/>
              </a:lnSpc>
              <a:spcAft>
                <a:spcPts val="0"/>
              </a:spcAft>
            </a:pPr>
            <a:r>
              <a:rPr sz="950" b="0" i="0">
                <a:solidFill>
                  <a:srgbClr val="00847F"/>
                </a:solidFill>
                <a:latin typeface="Arial"/>
              </a:rPr>
              <a:t>+282bp</a:t>
            </a:r>
          </a:p>
        </p:txBody>
      </p:sp>
      <p:sp>
        <p:nvSpPr>
          <p:cNvPr id="91" name="TextBox 90"/>
          <p:cNvSpPr txBox="1"/>
          <p:nvPr/>
        </p:nvSpPr>
        <p:spPr>
          <a:xfrm>
            <a:off x="10853928" y="4505248"/>
            <a:ext cx="914400" cy="233172"/>
          </a:xfrm>
          <a:prstGeom prst="rect">
            <a:avLst/>
          </a:prstGeom>
          <a:noFill/>
        </p:spPr>
        <p:txBody>
          <a:bodyPr wrap="none" lIns="0" rIns="0" tIns="0" bIns="0" anchor="t">
            <a:spAutoFit/>
          </a:bodyPr>
          <a:lstStyle/>
          <a:p>
            <a:pPr algn="r">
              <a:lnSpc>
                <a:spcPct val="100000"/>
              </a:lnSpc>
              <a:spcAft>
                <a:spcPts val="0"/>
              </a:spcAft>
            </a:pPr>
            <a:r>
              <a:rPr sz="950" b="0" i="0">
                <a:solidFill>
                  <a:srgbClr val="00847F"/>
                </a:solidFill>
                <a:latin typeface="Arial"/>
              </a:rPr>
              <a:t>+282bp</a:t>
            </a:r>
          </a:p>
        </p:txBody>
      </p:sp>
      <p:cxnSp>
        <p:nvCxnSpPr>
          <p:cNvPr id="92" name="Connector 91"/>
          <p:cNvCxnSpPr/>
          <p:nvPr/>
        </p:nvCxnSpPr>
        <p:spPr>
          <a:xfrm>
            <a:off x="6419088" y="4718304"/>
            <a:ext cx="5394960" cy="0"/>
          </a:xfrm>
          <a:prstGeom prst="line">
            <a:avLst/>
          </a:prstGeom>
          <a:ln w="6350">
            <a:solidFill>
              <a:srgbClr val="D0CECE"/>
            </a:solidFill>
          </a:ln>
        </p:spPr>
        <p:style>
          <a:lnRef idx="2">
            <a:schemeClr val="accent1"/>
          </a:lnRef>
          <a:fillRef idx="0">
            <a:schemeClr val="accent1"/>
          </a:fillRef>
          <a:effectRef idx="1">
            <a:schemeClr val="accent1"/>
          </a:effectRef>
          <a:fontRef idx="minor">
            <a:schemeClr val="tx1"/>
          </a:fontRef>
        </p:style>
      </p:cxnSp>
      <p:sp>
        <p:nvSpPr>
          <p:cNvPr id="93" name="Rectangle 92"/>
          <p:cNvSpPr/>
          <p:nvPr/>
        </p:nvSpPr>
        <p:spPr>
          <a:xfrm>
            <a:off x="6419088" y="4828032"/>
            <a:ext cx="5394960" cy="658368"/>
          </a:xfrm>
          <a:prstGeom prst="rect">
            <a:avLst/>
          </a:pr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4" name="Rectangle 93"/>
          <p:cNvSpPr/>
          <p:nvPr/>
        </p:nvSpPr>
        <p:spPr>
          <a:xfrm>
            <a:off x="6419088" y="4828032"/>
            <a:ext cx="41148" cy="658368"/>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TextBox 94"/>
          <p:cNvSpPr txBox="1"/>
          <p:nvPr/>
        </p:nvSpPr>
        <p:spPr>
          <a:xfrm>
            <a:off x="6638544" y="4901184"/>
            <a:ext cx="4992624" cy="566928"/>
          </a:xfrm>
          <a:prstGeom prst="rect">
            <a:avLst/>
          </a:prstGeom>
          <a:noFill/>
        </p:spPr>
        <p:txBody>
          <a:bodyPr wrap="square" lIns="0" rIns="0" tIns="0" bIns="0" anchor="t">
            <a:spAutoFit/>
          </a:bodyPr>
          <a:lstStyle/>
          <a:p>
            <a:pPr algn="l">
              <a:lnSpc>
                <a:spcPct val="118000"/>
              </a:lnSpc>
              <a:spcAft>
                <a:spcPts val="0"/>
              </a:spcAft>
            </a:pPr>
            <a:r>
              <a:rPr sz="900" b="1" i="0">
                <a:solidFill>
                  <a:srgbClr val="000000"/>
                </a:solidFill>
                <a:latin typeface="Arial"/>
              </a:rPr>
              <a:t>Carry turns negative at twelve months. </a:t>
            </a:r>
            <a:r>
              <a:rPr sz="900" b="0" i="0">
                <a:solidFill>
                  <a:srgbClr val="000000"/>
                </a:solidFill>
                <a:latin typeface="Arial"/>
              </a:rPr>
              <a:t>That is the arithmetic reason for a time stop, not an argument against the trade, and it should be given in that order.</a:t>
            </a:r>
          </a:p>
        </p:txBody>
      </p:sp>
      <p:sp>
        <p:nvSpPr>
          <p:cNvPr id="96" name="Rectangle 95"/>
          <p:cNvSpPr/>
          <p:nvPr/>
        </p:nvSpPr>
        <p:spPr>
          <a:xfrm>
            <a:off x="6419088" y="5577840"/>
            <a:ext cx="5394960" cy="658368"/>
          </a:xfrm>
          <a:prstGeom prst="rect">
            <a:avLst/>
          </a:prstGeom>
          <a:solidFill>
            <a:srgbClr val="FADF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Rectangle 96"/>
          <p:cNvSpPr/>
          <p:nvPr/>
        </p:nvSpPr>
        <p:spPr>
          <a:xfrm>
            <a:off x="6419088" y="5577840"/>
            <a:ext cx="41148" cy="658368"/>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TextBox 97"/>
          <p:cNvSpPr txBox="1"/>
          <p:nvPr/>
        </p:nvSpPr>
        <p:spPr>
          <a:xfrm>
            <a:off x="6638544" y="5650992"/>
            <a:ext cx="4992624" cy="566928"/>
          </a:xfrm>
          <a:prstGeom prst="rect">
            <a:avLst/>
          </a:prstGeom>
          <a:noFill/>
        </p:spPr>
        <p:txBody>
          <a:bodyPr wrap="square" lIns="0" rIns="0" tIns="0" bIns="0" anchor="t">
            <a:spAutoFit/>
          </a:bodyPr>
          <a:lstStyle/>
          <a:p>
            <a:pPr algn="l">
              <a:lnSpc>
                <a:spcPct val="118000"/>
              </a:lnSpc>
              <a:spcAft>
                <a:spcPts val="0"/>
              </a:spcAft>
            </a:pPr>
            <a:r>
              <a:rPr sz="900" b="1" i="0">
                <a:solidFill>
                  <a:srgbClr val="000000"/>
                </a:solidFill>
                <a:latin typeface="Arial"/>
              </a:rPr>
              <a:t>The gap, stated: </a:t>
            </a:r>
            <a:r>
              <a:rPr sz="900" b="0" i="0">
                <a:solidFill>
                  <a:srgbClr val="000000"/>
                </a:solidFill>
                <a:latin typeface="Arial"/>
              </a:rPr>
              <a:t>CATL's entry, target and stop are still open. This slide quantifies one position and not the other. Set them off the live price, or say on the slide that they are open.</a:t>
            </a:r>
          </a:p>
        </p:txBody>
      </p:sp>
      <p:sp>
        <p:nvSpPr>
          <p:cNvPr id="99" name="TextBox 98"/>
          <p:cNvSpPr txBox="1"/>
          <p:nvPr/>
        </p:nvSpPr>
        <p:spPr>
          <a:xfrm>
            <a:off x="374904" y="6455664"/>
            <a:ext cx="11441887" cy="274320"/>
          </a:xfrm>
          <a:prstGeom prst="rect">
            <a:avLst/>
          </a:prstGeom>
          <a:noFill/>
        </p:spPr>
        <p:txBody>
          <a:bodyPr wrap="square" lIns="0" rIns="0" tIns="0" bIns="0" anchor="t">
            <a:spAutoFit/>
          </a:bodyPr>
          <a:lstStyle/>
          <a:p>
            <a:pPr algn="l">
              <a:lnSpc>
                <a:spcPct val="110000"/>
              </a:lnSpc>
              <a:spcAft>
                <a:spcPts val="0"/>
              </a:spcAft>
            </a:pPr>
            <a:r>
              <a:rPr sz="800" b="0" i="0">
                <a:solidFill>
                  <a:srgbClr val="767576"/>
                </a:solidFill>
                <a:latin typeface="Arial"/>
              </a:rPr>
              <a:t>Touch probability is 2Φ(−a/σ√t), the reflection approximation for a driftless arithmetic Brownian motion, at the measured 30.5bp annualised slope volatility, weekly 2023 to 2026. It ignores drift, mean reversion and fat tails; treat it as an order of magnitude, not a price.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Freeform 2"/>
          <p:cNvSpPr/>
          <p:nvPr/>
        </p:nvSpPr>
        <p:spPr>
          <a:xfrm>
            <a:off x="0" y="0"/>
            <a:ext cx="6095847" cy="6858000"/>
          </a:xfrm>
          <a:custGeom>
            <a:avLst/>
            <a:gdLst/>
            <a:ahLst/>
            <a:cxnLst/>
            <a:rect l="l" t="t" r="r" b="b"/>
            <a:pathLst>
              <a:path w="6095847" h="6858000">
                <a:moveTo>
                  <a:pt x="0" y="0"/>
                </a:moveTo>
                <a:lnTo>
                  <a:pt x="0" y="6858000"/>
                </a:lnTo>
                <a:lnTo>
                  <a:pt x="6095847" y="3429000"/>
                </a:lnTo>
                <a:close/>
              </a:path>
            </a:pathLst>
          </a:cu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6095847" y="0"/>
            <a:ext cx="6095848" cy="6858000"/>
          </a:xfrm>
          <a:custGeom>
            <a:avLst/>
            <a:gdLst/>
            <a:ahLst/>
            <a:cxnLst/>
            <a:rect l="l" t="t" r="r" b="b"/>
            <a:pathLst>
              <a:path w="6095848" h="6858000">
                <a:moveTo>
                  <a:pt x="6095848" y="0"/>
                </a:moveTo>
                <a:lnTo>
                  <a:pt x="6095848" y="6858000"/>
                </a:lnTo>
                <a:lnTo>
                  <a:pt x="0" y="3429000"/>
                </a:lnTo>
                <a:close/>
              </a:path>
            </a:pathLst>
          </a:cu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74904" y="182880"/>
            <a:ext cx="3657600" cy="219456"/>
          </a:xfrm>
          <a:prstGeom prst="rect">
            <a:avLst/>
          </a:prstGeom>
          <a:noFill/>
        </p:spPr>
        <p:txBody>
          <a:bodyPr wrap="none" lIns="0" rIns="0" tIns="0" bIns="0" anchor="t">
            <a:spAutoFit/>
          </a:bodyPr>
          <a:lstStyle/>
          <a:p>
            <a:pPr algn="l">
              <a:lnSpc>
                <a:spcPct val="100000"/>
              </a:lnSpc>
              <a:spcAft>
                <a:spcPts val="0"/>
              </a:spcAft>
            </a:pPr>
            <a:r>
              <a:rPr sz="1050" b="1" i="0">
                <a:solidFill>
                  <a:srgbClr val="000000"/>
                </a:solidFill>
                <a:latin typeface="Arial"/>
              </a:rPr>
              <a:t>Risks</a:t>
            </a:r>
          </a:p>
        </p:txBody>
      </p:sp>
      <p:sp>
        <p:nvSpPr>
          <p:cNvPr id="6" name="TextBox 5"/>
          <p:cNvSpPr txBox="1"/>
          <p:nvPr/>
        </p:nvSpPr>
        <p:spPr>
          <a:xfrm>
            <a:off x="11249863" y="265176"/>
            <a:ext cx="566927" cy="219456"/>
          </a:xfrm>
          <a:prstGeom prst="rect">
            <a:avLst/>
          </a:prstGeom>
          <a:noFill/>
        </p:spPr>
        <p:txBody>
          <a:bodyPr wrap="none" lIns="0" rIns="0" tIns="0" bIns="0" anchor="t">
            <a:spAutoFit/>
          </a:bodyPr>
          <a:lstStyle/>
          <a:p>
            <a:pPr algn="ctr">
              <a:lnSpc>
                <a:spcPct val="100000"/>
              </a:lnSpc>
              <a:spcAft>
                <a:spcPts val="0"/>
              </a:spcAft>
            </a:pPr>
            <a:r>
              <a:rPr sz="1050" b="1" i="0">
                <a:solidFill>
                  <a:srgbClr val="000000"/>
                </a:solidFill>
                <a:latin typeface="Arial"/>
              </a:rPr>
              <a:t>Risks</a:t>
            </a:r>
          </a:p>
        </p:txBody>
      </p:sp>
      <p:cxnSp>
        <p:nvCxnSpPr>
          <p:cNvPr id="7" name="Connector 6"/>
          <p:cNvCxnSpPr/>
          <p:nvPr/>
        </p:nvCxnSpPr>
        <p:spPr>
          <a:xfrm>
            <a:off x="11249863" y="512064"/>
            <a:ext cx="566928" cy="0"/>
          </a:xfrm>
          <a:prstGeom prst="line">
            <a:avLst/>
          </a:prstGeom>
          <a:ln w="25400">
            <a:solidFill>
              <a:srgbClr val="DB0011"/>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0401300" y="265176"/>
            <a:ext cx="647395" cy="219456"/>
          </a:xfrm>
          <a:prstGeom prst="rect">
            <a:avLst/>
          </a:prstGeom>
          <a:noFill/>
        </p:spPr>
        <p:txBody>
          <a:bodyPr wrap="none" lIns="0" rIns="0" tIns="0" bIns="0" anchor="t">
            <a:spAutoFit/>
          </a:bodyPr>
          <a:lstStyle/>
          <a:p>
            <a:pPr algn="ctr">
              <a:lnSpc>
                <a:spcPct val="100000"/>
              </a:lnSpc>
              <a:spcAft>
                <a:spcPts val="0"/>
              </a:spcAft>
            </a:pPr>
            <a:r>
              <a:rPr sz="1050" b="0" i="0">
                <a:solidFill>
                  <a:srgbClr val="767576"/>
                </a:solidFill>
                <a:latin typeface="Arial"/>
              </a:rPr>
              <a:t>Trades</a:t>
            </a:r>
          </a:p>
        </p:txBody>
      </p:sp>
      <p:sp>
        <p:nvSpPr>
          <p:cNvPr id="9" name="TextBox 8"/>
          <p:cNvSpPr txBox="1"/>
          <p:nvPr/>
        </p:nvSpPr>
        <p:spPr>
          <a:xfrm>
            <a:off x="9472269" y="265176"/>
            <a:ext cx="727862" cy="219456"/>
          </a:xfrm>
          <a:prstGeom prst="rect">
            <a:avLst/>
          </a:prstGeom>
          <a:noFill/>
        </p:spPr>
        <p:txBody>
          <a:bodyPr wrap="none" lIns="0" rIns="0" tIns="0" bIns="0" anchor="t">
            <a:spAutoFit/>
          </a:bodyPr>
          <a:lstStyle/>
          <a:p>
            <a:pPr algn="ctr">
              <a:lnSpc>
                <a:spcPct val="100000"/>
              </a:lnSpc>
              <a:spcAft>
                <a:spcPts val="0"/>
              </a:spcAft>
            </a:pPr>
            <a:r>
              <a:rPr sz="1050" b="0" i="0">
                <a:solidFill>
                  <a:srgbClr val="767576"/>
                </a:solidFill>
                <a:latin typeface="Arial"/>
              </a:rPr>
              <a:t>Markets</a:t>
            </a:r>
          </a:p>
        </p:txBody>
      </p:sp>
      <p:sp>
        <p:nvSpPr>
          <p:cNvPr id="10" name="TextBox 9"/>
          <p:cNvSpPr txBox="1"/>
          <p:nvPr/>
        </p:nvSpPr>
        <p:spPr>
          <a:xfrm>
            <a:off x="8704173" y="265176"/>
            <a:ext cx="566927" cy="219456"/>
          </a:xfrm>
          <a:prstGeom prst="rect">
            <a:avLst/>
          </a:prstGeom>
          <a:noFill/>
        </p:spPr>
        <p:txBody>
          <a:bodyPr wrap="none" lIns="0" rIns="0" tIns="0" bIns="0" anchor="t">
            <a:spAutoFit/>
          </a:bodyPr>
          <a:lstStyle/>
          <a:p>
            <a:pPr algn="ctr">
              <a:lnSpc>
                <a:spcPct val="100000"/>
              </a:lnSpc>
              <a:spcAft>
                <a:spcPts val="0"/>
              </a:spcAft>
            </a:pPr>
            <a:r>
              <a:rPr sz="1050" b="0" i="0">
                <a:solidFill>
                  <a:srgbClr val="767576"/>
                </a:solidFill>
                <a:latin typeface="Arial"/>
              </a:rPr>
              <a:t>Macro</a:t>
            </a:r>
          </a:p>
        </p:txBody>
      </p:sp>
      <p:cxnSp>
        <p:nvCxnSpPr>
          <p:cNvPr id="11" name="Connector 10"/>
          <p:cNvCxnSpPr/>
          <p:nvPr/>
        </p:nvCxnSpPr>
        <p:spPr>
          <a:xfrm>
            <a:off x="374904" y="640080"/>
            <a:ext cx="11441887" cy="0"/>
          </a:xfrm>
          <a:prstGeom prst="line">
            <a:avLst/>
          </a:prstGeom>
          <a:ln w="9525">
            <a:solidFill>
              <a:srgbClr val="00000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374904" y="786384"/>
            <a:ext cx="11441887" cy="457200"/>
          </a:xfrm>
          <a:prstGeom prst="rect">
            <a:avLst/>
          </a:prstGeom>
          <a:noFill/>
        </p:spPr>
        <p:txBody>
          <a:bodyPr wrap="none" lIns="0" rIns="0" tIns="0" bIns="0" anchor="t">
            <a:spAutoFit/>
          </a:bodyPr>
          <a:lstStyle/>
          <a:p>
            <a:pPr algn="l">
              <a:lnSpc>
                <a:spcPct val="100000"/>
              </a:lnSpc>
              <a:spcAft>
                <a:spcPts val="0"/>
              </a:spcAft>
            </a:pPr>
            <a:r>
              <a:rPr sz="2600" b="0" i="0">
                <a:solidFill>
                  <a:srgbClr val="000000"/>
                </a:solidFill>
                <a:latin typeface="Arial"/>
              </a:rPr>
              <a:t>CATL: the exposure is the profit, not the revenue</a:t>
            </a:r>
          </a:p>
        </p:txBody>
      </p:sp>
      <p:sp>
        <p:nvSpPr>
          <p:cNvPr id="13" name="TextBox 12"/>
          <p:cNvSpPr txBox="1"/>
          <p:nvPr/>
        </p:nvSpPr>
        <p:spPr>
          <a:xfrm>
            <a:off x="374904" y="1261872"/>
            <a:ext cx="11441887" cy="310896"/>
          </a:xfrm>
          <a:prstGeom prst="rect">
            <a:avLst/>
          </a:prstGeom>
          <a:noFill/>
        </p:spPr>
        <p:txBody>
          <a:bodyPr wrap="square" lIns="0" rIns="0" tIns="0" bIns="0" anchor="t">
            <a:spAutoFit/>
          </a:bodyPr>
          <a:lstStyle/>
          <a:p>
            <a:pPr algn="l">
              <a:lnSpc>
                <a:spcPct val="115000"/>
              </a:lnSpc>
              <a:spcAft>
                <a:spcPts val="0"/>
              </a:spcAft>
            </a:pPr>
            <a:r>
              <a:rPr sz="1300" b="0" i="0">
                <a:solidFill>
                  <a:srgbClr val="767576"/>
                </a:solidFill>
                <a:latin typeface="Arial"/>
              </a:rPr>
              <a:t>The number everyone quotes is the 31.5% revenue share. It understates the position, because the exposed third is the profitable third.</a:t>
            </a:r>
          </a:p>
        </p:txBody>
      </p:sp>
      <p:sp>
        <p:nvSpPr>
          <p:cNvPr id="14" name="TextBox 13"/>
          <p:cNvSpPr txBox="1"/>
          <p:nvPr/>
        </p:nvSpPr>
        <p:spPr>
          <a:xfrm>
            <a:off x="11268151" y="6537960"/>
            <a:ext cx="548640" cy="201168"/>
          </a:xfrm>
          <a:prstGeom prst="rect">
            <a:avLst/>
          </a:prstGeom>
          <a:noFill/>
        </p:spPr>
        <p:txBody>
          <a:bodyPr wrap="none" lIns="0" rIns="0" tIns="0" bIns="0" anchor="t">
            <a:spAutoFit/>
          </a:bodyPr>
          <a:lstStyle/>
          <a:p>
            <a:pPr algn="r">
              <a:lnSpc>
                <a:spcPct val="100000"/>
              </a:lnSpc>
              <a:spcAft>
                <a:spcPts val="0"/>
              </a:spcAft>
            </a:pPr>
            <a:r>
              <a:rPr sz="800" b="0" i="0">
                <a:solidFill>
                  <a:srgbClr val="767576"/>
                </a:solidFill>
                <a:latin typeface="Arial"/>
              </a:rPr>
              <a:t>7</a:t>
            </a:r>
          </a:p>
        </p:txBody>
      </p:sp>
      <p:sp>
        <p:nvSpPr>
          <p:cNvPr id="15" name="TextBox 14"/>
          <p:cNvSpPr txBox="1"/>
          <p:nvPr/>
        </p:nvSpPr>
        <p:spPr>
          <a:xfrm>
            <a:off x="1563624" y="192024"/>
            <a:ext cx="5852160" cy="201168"/>
          </a:xfrm>
          <a:prstGeom prst="rect">
            <a:avLst/>
          </a:prstGeom>
          <a:noFill/>
        </p:spPr>
        <p:txBody>
          <a:bodyPr wrap="none" lIns="0" rIns="0" tIns="0" bIns="0" anchor="t">
            <a:spAutoFit/>
          </a:bodyPr>
          <a:lstStyle/>
          <a:p>
            <a:pPr algn="l">
              <a:lnSpc>
                <a:spcPct val="100000"/>
              </a:lnSpc>
              <a:spcAft>
                <a:spcPts val="0"/>
              </a:spcAft>
            </a:pPr>
            <a:r>
              <a:rPr sz="800" b="0" i="0">
                <a:solidFill>
                  <a:srgbClr val="767576"/>
                </a:solidFill>
                <a:latin typeface="Arial"/>
              </a:rPr>
              <a:t>Prototype — MoF curve to 31-Jul-26 · trade figures from the slide 8 model · not for the room</a:t>
            </a:r>
          </a:p>
        </p:txBody>
      </p:sp>
      <p:sp>
        <p:nvSpPr>
          <p:cNvPr id="16" name="TextBox 15"/>
          <p:cNvSpPr txBox="1"/>
          <p:nvPr/>
        </p:nvSpPr>
        <p:spPr>
          <a:xfrm>
            <a:off x="374904" y="1700784"/>
            <a:ext cx="5532120" cy="237744"/>
          </a:xfrm>
          <a:prstGeom prst="rect">
            <a:avLst/>
          </a:prstGeom>
          <a:noFill/>
        </p:spPr>
        <p:txBody>
          <a:bodyPr wrap="none" lIns="0" rIns="0" tIns="0" bIns="0" anchor="t">
            <a:spAutoFit/>
          </a:bodyPr>
          <a:lstStyle/>
          <a:p>
            <a:pPr algn="l">
              <a:lnSpc>
                <a:spcPct val="100000"/>
              </a:lnSpc>
              <a:spcAft>
                <a:spcPts val="0"/>
              </a:spcAft>
            </a:pPr>
            <a:r>
              <a:rPr sz="1150" b="1" i="0">
                <a:solidFill>
                  <a:srgbClr val="000000"/>
                </a:solidFill>
                <a:latin typeface="Arial"/>
              </a:rPr>
              <a:t>Overseas share of H1 2026, %</a:t>
            </a:r>
          </a:p>
        </p:txBody>
      </p:sp>
      <p:sp>
        <p:nvSpPr>
          <p:cNvPr id="17" name="TextBox 16"/>
          <p:cNvSpPr txBox="1"/>
          <p:nvPr/>
        </p:nvSpPr>
        <p:spPr>
          <a:xfrm>
            <a:off x="374904" y="1938528"/>
            <a:ext cx="5532120" cy="402336"/>
          </a:xfrm>
          <a:prstGeom prst="rect">
            <a:avLst/>
          </a:prstGeom>
          <a:noFill/>
        </p:spPr>
        <p:txBody>
          <a:bodyPr wrap="square" lIns="0" rIns="0" tIns="0" bIns="0" anchor="t">
            <a:spAutoFit/>
          </a:bodyPr>
          <a:lstStyle/>
          <a:p>
            <a:pPr algn="l">
              <a:lnSpc>
                <a:spcPct val="115000"/>
              </a:lnSpc>
              <a:spcAft>
                <a:spcPts val="0"/>
              </a:spcAft>
            </a:pPr>
            <a:r>
              <a:rPr sz="900" b="0" i="0">
                <a:solidFill>
                  <a:srgbClr val="767576"/>
                </a:solidFill>
                <a:latin typeface="Arial"/>
              </a:rPr>
              <a:t>Same company, same half-year, two denominators. Overseas earns 30.0% gross margin against 21.2% at home.</a:t>
            </a:r>
          </a:p>
        </p:txBody>
      </p:sp>
      <p:graphicFrame>
        <p:nvGraphicFramePr>
          <p:cNvPr id="18" name="Chart 17"/>
          <p:cNvGraphicFramePr>
            <a:graphicFrameLocks noGrp="1"/>
          </p:cNvGraphicFramePr>
          <p:nvPr/>
        </p:nvGraphicFramePr>
        <p:xfrm>
          <a:off x="374904" y="2377440"/>
          <a:ext cx="5532120" cy="1920240"/>
        </p:xfrm>
        <a:graphic>
          <a:graphicData uri="http://schemas.openxmlformats.org/drawingml/2006/chart">
            <c:chart xmlns:c="http://schemas.openxmlformats.org/drawingml/2006/chart" r:id="rId2"/>
          </a:graphicData>
        </a:graphic>
      </p:graphicFrame>
      <p:sp>
        <p:nvSpPr>
          <p:cNvPr id="19" name="TextBox 18"/>
          <p:cNvSpPr txBox="1"/>
          <p:nvPr/>
        </p:nvSpPr>
        <p:spPr>
          <a:xfrm>
            <a:off x="374904" y="4389120"/>
            <a:ext cx="5532120" cy="841248"/>
          </a:xfrm>
          <a:prstGeom prst="rect">
            <a:avLst/>
          </a:prstGeom>
          <a:noFill/>
        </p:spPr>
        <p:txBody>
          <a:bodyPr wrap="square" lIns="0" rIns="0" tIns="0" bIns="0" anchor="t">
            <a:spAutoFit/>
          </a:bodyPr>
          <a:lstStyle/>
          <a:p>
            <a:pPr algn="l">
              <a:lnSpc>
                <a:spcPct val="120000"/>
              </a:lnSpc>
              <a:spcAft>
                <a:spcPts val="0"/>
              </a:spcAft>
            </a:pPr>
            <a:r>
              <a:rPr sz="950" b="1" i="0">
                <a:solidFill>
                  <a:srgbClr val="DB0011"/>
                </a:solidFill>
                <a:latin typeface="Arial"/>
              </a:rPr>
              <a:t>A third of the revenue produces two fifths of the gross profit. </a:t>
            </a:r>
            <a:r>
              <a:rPr sz="950" b="0" i="0">
                <a:solidFill>
                  <a:srgbClr val="000000"/>
                </a:solidFill>
                <a:latin typeface="Arial"/>
              </a:rPr>
              <a:t>Run it one step further and the overseas gross profit is CNY 26bn against group net profit of CNY 43.3bn, so on the order of 60% of what the company earns. That is the quantum a §805-driven exclusion puts in play.</a:t>
            </a:r>
          </a:p>
        </p:txBody>
      </p:sp>
      <p:cxnSp>
        <p:nvCxnSpPr>
          <p:cNvPr id="20" name="Connector 19"/>
          <p:cNvCxnSpPr/>
          <p:nvPr/>
        </p:nvCxnSpPr>
        <p:spPr>
          <a:xfrm>
            <a:off x="6163056" y="1700784"/>
            <a:ext cx="0" cy="4572000"/>
          </a:xfrm>
          <a:prstGeom prst="line">
            <a:avLst/>
          </a:prstGeom>
          <a:ln w="15875">
            <a:solidFill>
              <a:srgbClr val="DB0011"/>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419088" y="1645920"/>
            <a:ext cx="2468880" cy="457200"/>
          </a:xfrm>
          <a:prstGeom prst="rect">
            <a:avLst/>
          </a:prstGeom>
          <a:noFill/>
        </p:spPr>
        <p:txBody>
          <a:bodyPr wrap="none" lIns="0" rIns="0" tIns="0" bIns="0" anchor="t">
            <a:spAutoFit/>
          </a:bodyPr>
          <a:lstStyle/>
          <a:p>
            <a:pPr algn="l">
              <a:lnSpc>
                <a:spcPct val="100000"/>
              </a:lnSpc>
              <a:spcAft>
                <a:spcPts val="0"/>
              </a:spcAft>
            </a:pPr>
            <a:r>
              <a:rPr sz="2800" b="1" i="0">
                <a:solidFill>
                  <a:srgbClr val="DB0011"/>
                </a:solidFill>
                <a:latin typeface="Arial"/>
              </a:rPr>
              <a:t>60%</a:t>
            </a:r>
          </a:p>
        </p:txBody>
      </p:sp>
      <p:sp>
        <p:nvSpPr>
          <p:cNvPr id="22" name="TextBox 21"/>
          <p:cNvSpPr txBox="1"/>
          <p:nvPr/>
        </p:nvSpPr>
        <p:spPr>
          <a:xfrm>
            <a:off x="6419088" y="2103120"/>
            <a:ext cx="2468880" cy="219456"/>
          </a:xfrm>
          <a:prstGeom prst="rect">
            <a:avLst/>
          </a:prstGeom>
          <a:noFill/>
        </p:spPr>
        <p:txBody>
          <a:bodyPr wrap="none" lIns="0" rIns="0" tIns="0" bIns="0" anchor="t">
            <a:spAutoFit/>
          </a:bodyPr>
          <a:lstStyle/>
          <a:p>
            <a:pPr algn="l">
              <a:lnSpc>
                <a:spcPct val="100000"/>
              </a:lnSpc>
              <a:spcAft>
                <a:spcPts val="0"/>
              </a:spcAft>
            </a:pPr>
            <a:r>
              <a:rPr sz="1200" b="1" i="0">
                <a:solidFill>
                  <a:srgbClr val="000000"/>
                </a:solidFill>
                <a:latin typeface="Arial"/>
              </a:rPr>
              <a:t>Of group net profit</a:t>
            </a:r>
          </a:p>
        </p:txBody>
      </p:sp>
      <p:sp>
        <p:nvSpPr>
          <p:cNvPr id="23" name="TextBox 22"/>
          <p:cNvSpPr txBox="1"/>
          <p:nvPr/>
        </p:nvSpPr>
        <p:spPr>
          <a:xfrm>
            <a:off x="6419088" y="2322576"/>
            <a:ext cx="2468880" cy="457200"/>
          </a:xfrm>
          <a:prstGeom prst="rect">
            <a:avLst/>
          </a:prstGeom>
          <a:noFill/>
        </p:spPr>
        <p:txBody>
          <a:bodyPr wrap="square" lIns="0" rIns="0" tIns="0" bIns="0" anchor="t">
            <a:spAutoFit/>
          </a:bodyPr>
          <a:lstStyle/>
          <a:p>
            <a:pPr algn="l">
              <a:lnSpc>
                <a:spcPct val="115000"/>
              </a:lnSpc>
              <a:spcAft>
                <a:spcPts val="0"/>
              </a:spcAft>
            </a:pPr>
            <a:r>
              <a:rPr sz="800" b="0" i="0">
                <a:solidFill>
                  <a:srgbClr val="767576"/>
                </a:solidFill>
                <a:latin typeface="Arial"/>
              </a:rPr>
              <a:t>Overseas gross profit as a share of H1 net profit. An upper bound on what is at stake, not an estimate of it.</a:t>
            </a:r>
          </a:p>
        </p:txBody>
      </p:sp>
      <p:sp>
        <p:nvSpPr>
          <p:cNvPr id="24" name="TextBox 23"/>
          <p:cNvSpPr txBox="1"/>
          <p:nvPr/>
        </p:nvSpPr>
        <p:spPr>
          <a:xfrm>
            <a:off x="9162288" y="1645920"/>
            <a:ext cx="2468880" cy="457200"/>
          </a:xfrm>
          <a:prstGeom prst="rect">
            <a:avLst/>
          </a:prstGeom>
          <a:noFill/>
        </p:spPr>
        <p:txBody>
          <a:bodyPr wrap="none" lIns="0" rIns="0" tIns="0" bIns="0" anchor="t">
            <a:spAutoFit/>
          </a:bodyPr>
          <a:lstStyle/>
          <a:p>
            <a:pPr algn="l">
              <a:lnSpc>
                <a:spcPct val="100000"/>
              </a:lnSpc>
              <a:spcAft>
                <a:spcPts val="0"/>
              </a:spcAft>
            </a:pPr>
            <a:r>
              <a:rPr sz="2800" b="1" i="0">
                <a:solidFill>
                  <a:srgbClr val="DB0011"/>
                </a:solidFill>
                <a:latin typeface="Arial"/>
              </a:rPr>
              <a:t>30 Jun 27</a:t>
            </a:r>
          </a:p>
        </p:txBody>
      </p:sp>
      <p:sp>
        <p:nvSpPr>
          <p:cNvPr id="25" name="TextBox 24"/>
          <p:cNvSpPr txBox="1"/>
          <p:nvPr/>
        </p:nvSpPr>
        <p:spPr>
          <a:xfrm>
            <a:off x="9162288" y="2103120"/>
            <a:ext cx="2468880" cy="219456"/>
          </a:xfrm>
          <a:prstGeom prst="rect">
            <a:avLst/>
          </a:prstGeom>
          <a:noFill/>
        </p:spPr>
        <p:txBody>
          <a:bodyPr wrap="none" lIns="0" rIns="0" tIns="0" bIns="0" anchor="t">
            <a:spAutoFit/>
          </a:bodyPr>
          <a:lstStyle/>
          <a:p>
            <a:pPr algn="l">
              <a:lnSpc>
                <a:spcPct val="100000"/>
              </a:lnSpc>
              <a:spcAft>
                <a:spcPts val="0"/>
              </a:spcAft>
            </a:pPr>
            <a:r>
              <a:rPr sz="1200" b="1" i="0">
                <a:solidFill>
                  <a:srgbClr val="000000"/>
                </a:solidFill>
                <a:latin typeface="Arial"/>
              </a:rPr>
              <a:t>The date it reaches customers</a:t>
            </a:r>
          </a:p>
        </p:txBody>
      </p:sp>
      <p:sp>
        <p:nvSpPr>
          <p:cNvPr id="26" name="TextBox 25"/>
          <p:cNvSpPr txBox="1"/>
          <p:nvPr/>
        </p:nvSpPr>
        <p:spPr>
          <a:xfrm>
            <a:off x="9162288" y="2322576"/>
            <a:ext cx="2468880" cy="457200"/>
          </a:xfrm>
          <a:prstGeom prst="rect">
            <a:avLst/>
          </a:prstGeom>
          <a:noFill/>
        </p:spPr>
        <p:txBody>
          <a:bodyPr wrap="square" lIns="0" rIns="0" tIns="0" bIns="0" anchor="t">
            <a:spAutoFit/>
          </a:bodyPr>
          <a:lstStyle/>
          <a:p>
            <a:pPr algn="l">
              <a:lnSpc>
                <a:spcPct val="115000"/>
              </a:lnSpc>
              <a:spcAft>
                <a:spcPts val="0"/>
              </a:spcAft>
            </a:pPr>
            <a:r>
              <a:rPr sz="800" b="0" i="0">
                <a:solidFill>
                  <a:srgbClr val="767576"/>
                </a:solidFill>
                <a:latin typeface="Arial"/>
              </a:rPr>
              <a:t>§805 indirect prohibition. Statutory, not forecast, and inside the position's horizon.</a:t>
            </a:r>
          </a:p>
        </p:txBody>
      </p:sp>
      <p:sp>
        <p:nvSpPr>
          <p:cNvPr id="27" name="TextBox 26"/>
          <p:cNvSpPr txBox="1"/>
          <p:nvPr/>
        </p:nvSpPr>
        <p:spPr>
          <a:xfrm>
            <a:off x="6419088" y="2962656"/>
            <a:ext cx="5394960" cy="219456"/>
          </a:xfrm>
          <a:prstGeom prst="rect">
            <a:avLst/>
          </a:prstGeom>
          <a:noFill/>
        </p:spPr>
        <p:txBody>
          <a:bodyPr wrap="none" lIns="0" rIns="0" tIns="0" bIns="0" anchor="t">
            <a:spAutoFit/>
          </a:bodyPr>
          <a:lstStyle/>
          <a:p>
            <a:pPr algn="l">
              <a:lnSpc>
                <a:spcPct val="100000"/>
              </a:lnSpc>
              <a:spcAft>
                <a:spcPts val="0"/>
              </a:spcAft>
            </a:pPr>
            <a:r>
              <a:rPr sz="1200" b="1" i="0">
                <a:solidFill>
                  <a:srgbClr val="000000"/>
                </a:solidFill>
                <a:latin typeface="Arial"/>
              </a:rPr>
              <a:t>The arithmetic, on the slide</a:t>
            </a:r>
          </a:p>
        </p:txBody>
      </p:sp>
      <p:cxnSp>
        <p:nvCxnSpPr>
          <p:cNvPr id="28" name="Connector 27"/>
          <p:cNvCxnSpPr/>
          <p:nvPr/>
        </p:nvCxnSpPr>
        <p:spPr>
          <a:xfrm>
            <a:off x="6419088" y="3200400"/>
            <a:ext cx="384048" cy="0"/>
          </a:xfrm>
          <a:prstGeom prst="line">
            <a:avLst/>
          </a:prstGeom>
          <a:ln w="25400">
            <a:solidFill>
              <a:srgbClr val="DB0011"/>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6419088" y="3291840"/>
            <a:ext cx="5394960" cy="246888"/>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464807" y="3319272"/>
            <a:ext cx="2011679" cy="246888"/>
          </a:xfrm>
          <a:prstGeom prst="rect">
            <a:avLst/>
          </a:prstGeom>
          <a:noFill/>
        </p:spPr>
        <p:txBody>
          <a:bodyPr wrap="none" lIns="0" rIns="0" tIns="0" bIns="0" anchor="t">
            <a:spAutoFit/>
          </a:bodyPr>
          <a:lstStyle/>
          <a:p>
            <a:pPr algn="l">
              <a:lnSpc>
                <a:spcPct val="100000"/>
              </a:lnSpc>
              <a:spcAft>
                <a:spcPts val="0"/>
              </a:spcAft>
            </a:pPr>
            <a:r>
              <a:rPr sz="950" b="1" i="0">
                <a:solidFill>
                  <a:srgbClr val="FFFFFF"/>
                </a:solidFill>
                <a:latin typeface="Arial"/>
              </a:rPr>
              <a:t>H1 2026, CNY bn</a:t>
            </a:r>
          </a:p>
        </p:txBody>
      </p:sp>
      <p:sp>
        <p:nvSpPr>
          <p:cNvPr id="31" name="TextBox 30"/>
          <p:cNvSpPr txBox="1"/>
          <p:nvPr/>
        </p:nvSpPr>
        <p:spPr>
          <a:xfrm>
            <a:off x="8567928" y="3319272"/>
            <a:ext cx="1005839" cy="246888"/>
          </a:xfrm>
          <a:prstGeom prst="rect">
            <a:avLst/>
          </a:prstGeom>
          <a:noFill/>
        </p:spPr>
        <p:txBody>
          <a:bodyPr wrap="none" lIns="0" rIns="0" tIns="0" bIns="0" anchor="t">
            <a:spAutoFit/>
          </a:bodyPr>
          <a:lstStyle/>
          <a:p>
            <a:pPr algn="r">
              <a:lnSpc>
                <a:spcPct val="100000"/>
              </a:lnSpc>
              <a:spcAft>
                <a:spcPts val="0"/>
              </a:spcAft>
            </a:pPr>
            <a:r>
              <a:rPr sz="950" b="1" i="0">
                <a:solidFill>
                  <a:srgbClr val="FFFFFF"/>
                </a:solidFill>
                <a:latin typeface="Arial"/>
              </a:rPr>
              <a:t>Overseas</a:t>
            </a:r>
          </a:p>
        </p:txBody>
      </p:sp>
      <p:sp>
        <p:nvSpPr>
          <p:cNvPr id="32" name="TextBox 31"/>
          <p:cNvSpPr txBox="1"/>
          <p:nvPr/>
        </p:nvSpPr>
        <p:spPr>
          <a:xfrm>
            <a:off x="9665208" y="3319272"/>
            <a:ext cx="1005839" cy="246888"/>
          </a:xfrm>
          <a:prstGeom prst="rect">
            <a:avLst/>
          </a:prstGeom>
          <a:noFill/>
        </p:spPr>
        <p:txBody>
          <a:bodyPr wrap="none" lIns="0" rIns="0" tIns="0" bIns="0" anchor="t">
            <a:spAutoFit/>
          </a:bodyPr>
          <a:lstStyle/>
          <a:p>
            <a:pPr algn="r">
              <a:lnSpc>
                <a:spcPct val="100000"/>
              </a:lnSpc>
              <a:spcAft>
                <a:spcPts val="0"/>
              </a:spcAft>
            </a:pPr>
            <a:r>
              <a:rPr sz="950" b="1" i="0">
                <a:solidFill>
                  <a:srgbClr val="FFFFFF"/>
                </a:solidFill>
                <a:latin typeface="Arial"/>
              </a:rPr>
              <a:t>China</a:t>
            </a:r>
          </a:p>
        </p:txBody>
      </p:sp>
      <p:sp>
        <p:nvSpPr>
          <p:cNvPr id="33" name="TextBox 32"/>
          <p:cNvSpPr txBox="1"/>
          <p:nvPr/>
        </p:nvSpPr>
        <p:spPr>
          <a:xfrm>
            <a:off x="10762488" y="3319272"/>
            <a:ext cx="1005839" cy="246888"/>
          </a:xfrm>
          <a:prstGeom prst="rect">
            <a:avLst/>
          </a:prstGeom>
          <a:noFill/>
        </p:spPr>
        <p:txBody>
          <a:bodyPr wrap="none" lIns="0" rIns="0" tIns="0" bIns="0" anchor="t">
            <a:spAutoFit/>
          </a:bodyPr>
          <a:lstStyle/>
          <a:p>
            <a:pPr algn="r">
              <a:lnSpc>
                <a:spcPct val="100000"/>
              </a:lnSpc>
              <a:spcAft>
                <a:spcPts val="0"/>
              </a:spcAft>
            </a:pPr>
            <a:r>
              <a:rPr sz="950" b="1" i="0">
                <a:solidFill>
                  <a:srgbClr val="FFFFFF"/>
                </a:solidFill>
                <a:latin typeface="Arial"/>
              </a:rPr>
              <a:t>Group</a:t>
            </a:r>
          </a:p>
        </p:txBody>
      </p:sp>
      <p:sp>
        <p:nvSpPr>
          <p:cNvPr id="34" name="TextBox 33"/>
          <p:cNvSpPr txBox="1"/>
          <p:nvPr/>
        </p:nvSpPr>
        <p:spPr>
          <a:xfrm>
            <a:off x="6464807" y="3558844"/>
            <a:ext cx="2011679" cy="233172"/>
          </a:xfrm>
          <a:prstGeom prst="rect">
            <a:avLst/>
          </a:prstGeom>
          <a:noFill/>
        </p:spPr>
        <p:txBody>
          <a:bodyPr wrap="none" lIns="0" rIns="0" tIns="0" bIns="0" anchor="t">
            <a:spAutoFit/>
          </a:bodyPr>
          <a:lstStyle/>
          <a:p>
            <a:pPr algn="l">
              <a:lnSpc>
                <a:spcPct val="100000"/>
              </a:lnSpc>
              <a:spcAft>
                <a:spcPts val="0"/>
              </a:spcAft>
            </a:pPr>
            <a:r>
              <a:rPr sz="950" b="0" i="0">
                <a:solidFill>
                  <a:srgbClr val="000000"/>
                </a:solidFill>
                <a:latin typeface="Arial"/>
              </a:rPr>
              <a:t>Revenue</a:t>
            </a:r>
          </a:p>
        </p:txBody>
      </p:sp>
      <p:sp>
        <p:nvSpPr>
          <p:cNvPr id="35" name="TextBox 34"/>
          <p:cNvSpPr txBox="1"/>
          <p:nvPr/>
        </p:nvSpPr>
        <p:spPr>
          <a:xfrm>
            <a:off x="8567928" y="3558844"/>
            <a:ext cx="1005839" cy="233172"/>
          </a:xfrm>
          <a:prstGeom prst="rect">
            <a:avLst/>
          </a:prstGeom>
          <a:noFill/>
        </p:spPr>
        <p:txBody>
          <a:bodyPr wrap="none" lIns="0" rIns="0" tIns="0" bIns="0" anchor="t">
            <a:spAutoFit/>
          </a:bodyPr>
          <a:lstStyle/>
          <a:p>
            <a:pPr algn="r">
              <a:lnSpc>
                <a:spcPct val="100000"/>
              </a:lnSpc>
              <a:spcAft>
                <a:spcPts val="0"/>
              </a:spcAft>
            </a:pPr>
            <a:r>
              <a:rPr sz="950" b="0" i="0">
                <a:solidFill>
                  <a:srgbClr val="000000"/>
                </a:solidFill>
                <a:latin typeface="Arial"/>
              </a:rPr>
              <a:t>87.1</a:t>
            </a:r>
          </a:p>
        </p:txBody>
      </p:sp>
      <p:sp>
        <p:nvSpPr>
          <p:cNvPr id="36" name="TextBox 35"/>
          <p:cNvSpPr txBox="1"/>
          <p:nvPr/>
        </p:nvSpPr>
        <p:spPr>
          <a:xfrm>
            <a:off x="9665208" y="3558844"/>
            <a:ext cx="1005839" cy="233172"/>
          </a:xfrm>
          <a:prstGeom prst="rect">
            <a:avLst/>
          </a:prstGeom>
          <a:noFill/>
        </p:spPr>
        <p:txBody>
          <a:bodyPr wrap="none" lIns="0" rIns="0" tIns="0" bIns="0" anchor="t">
            <a:spAutoFit/>
          </a:bodyPr>
          <a:lstStyle/>
          <a:p>
            <a:pPr algn="r">
              <a:lnSpc>
                <a:spcPct val="100000"/>
              </a:lnSpc>
              <a:spcAft>
                <a:spcPts val="0"/>
              </a:spcAft>
            </a:pPr>
            <a:r>
              <a:rPr sz="950" b="0" i="0">
                <a:solidFill>
                  <a:srgbClr val="000000"/>
                </a:solidFill>
                <a:latin typeface="Arial"/>
              </a:rPr>
              <a:t>189.8</a:t>
            </a:r>
          </a:p>
        </p:txBody>
      </p:sp>
      <p:sp>
        <p:nvSpPr>
          <p:cNvPr id="37" name="TextBox 36"/>
          <p:cNvSpPr txBox="1"/>
          <p:nvPr/>
        </p:nvSpPr>
        <p:spPr>
          <a:xfrm>
            <a:off x="10762488" y="3558844"/>
            <a:ext cx="1005839" cy="233172"/>
          </a:xfrm>
          <a:prstGeom prst="rect">
            <a:avLst/>
          </a:prstGeom>
          <a:noFill/>
        </p:spPr>
        <p:txBody>
          <a:bodyPr wrap="none" lIns="0" rIns="0" tIns="0" bIns="0" anchor="t">
            <a:spAutoFit/>
          </a:bodyPr>
          <a:lstStyle/>
          <a:p>
            <a:pPr algn="r">
              <a:lnSpc>
                <a:spcPct val="100000"/>
              </a:lnSpc>
              <a:spcAft>
                <a:spcPts val="0"/>
              </a:spcAft>
            </a:pPr>
            <a:r>
              <a:rPr sz="950" b="0" i="0">
                <a:solidFill>
                  <a:srgbClr val="000000"/>
                </a:solidFill>
                <a:latin typeface="Arial"/>
              </a:rPr>
              <a:t>276.9</a:t>
            </a:r>
          </a:p>
        </p:txBody>
      </p:sp>
      <p:cxnSp>
        <p:nvCxnSpPr>
          <p:cNvPr id="38" name="Connector 37"/>
          <p:cNvCxnSpPr/>
          <p:nvPr/>
        </p:nvCxnSpPr>
        <p:spPr>
          <a:xfrm>
            <a:off x="6419088" y="3771900"/>
            <a:ext cx="5394960" cy="0"/>
          </a:xfrm>
          <a:prstGeom prst="line">
            <a:avLst/>
          </a:prstGeom>
          <a:ln w="6350">
            <a:solidFill>
              <a:srgbClr val="D0CECE"/>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6464807" y="3792016"/>
            <a:ext cx="2011679" cy="233172"/>
          </a:xfrm>
          <a:prstGeom prst="rect">
            <a:avLst/>
          </a:prstGeom>
          <a:noFill/>
        </p:spPr>
        <p:txBody>
          <a:bodyPr wrap="none" lIns="0" rIns="0" tIns="0" bIns="0" anchor="t">
            <a:spAutoFit/>
          </a:bodyPr>
          <a:lstStyle/>
          <a:p>
            <a:pPr algn="l">
              <a:lnSpc>
                <a:spcPct val="100000"/>
              </a:lnSpc>
              <a:spcAft>
                <a:spcPts val="0"/>
              </a:spcAft>
            </a:pPr>
            <a:r>
              <a:rPr sz="950" b="0" i="0">
                <a:solidFill>
                  <a:srgbClr val="000000"/>
                </a:solidFill>
                <a:latin typeface="Arial"/>
              </a:rPr>
              <a:t>Gross margin</a:t>
            </a:r>
          </a:p>
        </p:txBody>
      </p:sp>
      <p:sp>
        <p:nvSpPr>
          <p:cNvPr id="40" name="TextBox 39"/>
          <p:cNvSpPr txBox="1"/>
          <p:nvPr/>
        </p:nvSpPr>
        <p:spPr>
          <a:xfrm>
            <a:off x="8567928" y="3792016"/>
            <a:ext cx="1005839" cy="233172"/>
          </a:xfrm>
          <a:prstGeom prst="rect">
            <a:avLst/>
          </a:prstGeom>
          <a:noFill/>
        </p:spPr>
        <p:txBody>
          <a:bodyPr wrap="none" lIns="0" rIns="0" tIns="0" bIns="0" anchor="t">
            <a:spAutoFit/>
          </a:bodyPr>
          <a:lstStyle/>
          <a:p>
            <a:pPr algn="r">
              <a:lnSpc>
                <a:spcPct val="100000"/>
              </a:lnSpc>
              <a:spcAft>
                <a:spcPts val="0"/>
              </a:spcAft>
            </a:pPr>
            <a:r>
              <a:rPr sz="950" b="0" i="0">
                <a:solidFill>
                  <a:srgbClr val="000000"/>
                </a:solidFill>
                <a:latin typeface="Arial"/>
              </a:rPr>
              <a:t>30.0%</a:t>
            </a:r>
          </a:p>
        </p:txBody>
      </p:sp>
      <p:sp>
        <p:nvSpPr>
          <p:cNvPr id="41" name="TextBox 40"/>
          <p:cNvSpPr txBox="1"/>
          <p:nvPr/>
        </p:nvSpPr>
        <p:spPr>
          <a:xfrm>
            <a:off x="9665208" y="3792016"/>
            <a:ext cx="1005839" cy="233172"/>
          </a:xfrm>
          <a:prstGeom prst="rect">
            <a:avLst/>
          </a:prstGeom>
          <a:noFill/>
        </p:spPr>
        <p:txBody>
          <a:bodyPr wrap="none" lIns="0" rIns="0" tIns="0" bIns="0" anchor="t">
            <a:spAutoFit/>
          </a:bodyPr>
          <a:lstStyle/>
          <a:p>
            <a:pPr algn="r">
              <a:lnSpc>
                <a:spcPct val="100000"/>
              </a:lnSpc>
              <a:spcAft>
                <a:spcPts val="0"/>
              </a:spcAft>
            </a:pPr>
            <a:r>
              <a:rPr sz="950" b="0" i="0">
                <a:solidFill>
                  <a:srgbClr val="000000"/>
                </a:solidFill>
                <a:latin typeface="Arial"/>
              </a:rPr>
              <a:t>21.2%</a:t>
            </a:r>
          </a:p>
        </p:txBody>
      </p:sp>
      <p:sp>
        <p:nvSpPr>
          <p:cNvPr id="42" name="TextBox 41"/>
          <p:cNvSpPr txBox="1"/>
          <p:nvPr/>
        </p:nvSpPr>
        <p:spPr>
          <a:xfrm>
            <a:off x="10762488" y="3792016"/>
            <a:ext cx="1005839" cy="233172"/>
          </a:xfrm>
          <a:prstGeom prst="rect">
            <a:avLst/>
          </a:prstGeom>
          <a:noFill/>
        </p:spPr>
        <p:txBody>
          <a:bodyPr wrap="none" lIns="0" rIns="0" tIns="0" bIns="0" anchor="t">
            <a:spAutoFit/>
          </a:bodyPr>
          <a:lstStyle/>
          <a:p>
            <a:pPr algn="r">
              <a:lnSpc>
                <a:spcPct val="100000"/>
              </a:lnSpc>
              <a:spcAft>
                <a:spcPts val="0"/>
              </a:spcAft>
            </a:pPr>
            <a:r>
              <a:rPr sz="950" b="0" i="0">
                <a:solidFill>
                  <a:srgbClr val="000000"/>
                </a:solidFill>
                <a:latin typeface="Arial"/>
              </a:rPr>
              <a:t>23.9%</a:t>
            </a:r>
          </a:p>
        </p:txBody>
      </p:sp>
      <p:cxnSp>
        <p:nvCxnSpPr>
          <p:cNvPr id="43" name="Connector 42"/>
          <p:cNvCxnSpPr/>
          <p:nvPr/>
        </p:nvCxnSpPr>
        <p:spPr>
          <a:xfrm>
            <a:off x="6419088" y="4005072"/>
            <a:ext cx="5394960" cy="0"/>
          </a:xfrm>
          <a:prstGeom prst="line">
            <a:avLst/>
          </a:prstGeom>
          <a:ln w="6350">
            <a:solidFill>
              <a:srgbClr val="D0CECE"/>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6464807" y="4025188"/>
            <a:ext cx="2011679" cy="233172"/>
          </a:xfrm>
          <a:prstGeom prst="rect">
            <a:avLst/>
          </a:prstGeom>
          <a:noFill/>
        </p:spPr>
        <p:txBody>
          <a:bodyPr wrap="none" lIns="0" rIns="0" tIns="0" bIns="0" anchor="t">
            <a:spAutoFit/>
          </a:bodyPr>
          <a:lstStyle/>
          <a:p>
            <a:pPr algn="l">
              <a:lnSpc>
                <a:spcPct val="100000"/>
              </a:lnSpc>
              <a:spcAft>
                <a:spcPts val="0"/>
              </a:spcAft>
            </a:pPr>
            <a:r>
              <a:rPr sz="950" b="1" i="0">
                <a:solidFill>
                  <a:srgbClr val="000000"/>
                </a:solidFill>
                <a:latin typeface="Arial"/>
              </a:rPr>
              <a:t>Gross profit</a:t>
            </a:r>
          </a:p>
        </p:txBody>
      </p:sp>
      <p:sp>
        <p:nvSpPr>
          <p:cNvPr id="45" name="TextBox 44"/>
          <p:cNvSpPr txBox="1"/>
          <p:nvPr/>
        </p:nvSpPr>
        <p:spPr>
          <a:xfrm>
            <a:off x="8567928" y="4025188"/>
            <a:ext cx="1005839" cy="233172"/>
          </a:xfrm>
          <a:prstGeom prst="rect">
            <a:avLst/>
          </a:prstGeom>
          <a:noFill/>
        </p:spPr>
        <p:txBody>
          <a:bodyPr wrap="none" lIns="0" rIns="0" tIns="0" bIns="0" anchor="t">
            <a:spAutoFit/>
          </a:bodyPr>
          <a:lstStyle/>
          <a:p>
            <a:pPr algn="r">
              <a:lnSpc>
                <a:spcPct val="100000"/>
              </a:lnSpc>
              <a:spcAft>
                <a:spcPts val="0"/>
              </a:spcAft>
            </a:pPr>
            <a:r>
              <a:rPr sz="950" b="1" i="0">
                <a:solidFill>
                  <a:srgbClr val="000000"/>
                </a:solidFill>
                <a:latin typeface="Arial"/>
              </a:rPr>
              <a:t>26.1</a:t>
            </a:r>
          </a:p>
        </p:txBody>
      </p:sp>
      <p:sp>
        <p:nvSpPr>
          <p:cNvPr id="46" name="TextBox 45"/>
          <p:cNvSpPr txBox="1"/>
          <p:nvPr/>
        </p:nvSpPr>
        <p:spPr>
          <a:xfrm>
            <a:off x="9665208" y="4025188"/>
            <a:ext cx="1005839" cy="233172"/>
          </a:xfrm>
          <a:prstGeom prst="rect">
            <a:avLst/>
          </a:prstGeom>
          <a:noFill/>
        </p:spPr>
        <p:txBody>
          <a:bodyPr wrap="none" lIns="0" rIns="0" tIns="0" bIns="0" anchor="t">
            <a:spAutoFit/>
          </a:bodyPr>
          <a:lstStyle/>
          <a:p>
            <a:pPr algn="r">
              <a:lnSpc>
                <a:spcPct val="100000"/>
              </a:lnSpc>
              <a:spcAft>
                <a:spcPts val="0"/>
              </a:spcAft>
            </a:pPr>
            <a:r>
              <a:rPr sz="950" b="1" i="0">
                <a:solidFill>
                  <a:srgbClr val="000000"/>
                </a:solidFill>
                <a:latin typeface="Arial"/>
              </a:rPr>
              <a:t>40.2</a:t>
            </a:r>
          </a:p>
        </p:txBody>
      </p:sp>
      <p:sp>
        <p:nvSpPr>
          <p:cNvPr id="47" name="TextBox 46"/>
          <p:cNvSpPr txBox="1"/>
          <p:nvPr/>
        </p:nvSpPr>
        <p:spPr>
          <a:xfrm>
            <a:off x="10762488" y="4025188"/>
            <a:ext cx="1005839" cy="233172"/>
          </a:xfrm>
          <a:prstGeom prst="rect">
            <a:avLst/>
          </a:prstGeom>
          <a:noFill/>
        </p:spPr>
        <p:txBody>
          <a:bodyPr wrap="none" lIns="0" rIns="0" tIns="0" bIns="0" anchor="t">
            <a:spAutoFit/>
          </a:bodyPr>
          <a:lstStyle/>
          <a:p>
            <a:pPr algn="r">
              <a:lnSpc>
                <a:spcPct val="100000"/>
              </a:lnSpc>
              <a:spcAft>
                <a:spcPts val="0"/>
              </a:spcAft>
            </a:pPr>
            <a:r>
              <a:rPr sz="950" b="1" i="0">
                <a:solidFill>
                  <a:srgbClr val="000000"/>
                </a:solidFill>
                <a:latin typeface="Arial"/>
              </a:rPr>
              <a:t>66.3</a:t>
            </a:r>
          </a:p>
        </p:txBody>
      </p:sp>
      <p:cxnSp>
        <p:nvCxnSpPr>
          <p:cNvPr id="48" name="Connector 47"/>
          <p:cNvCxnSpPr/>
          <p:nvPr/>
        </p:nvCxnSpPr>
        <p:spPr>
          <a:xfrm>
            <a:off x="6419088" y="4238244"/>
            <a:ext cx="5394960" cy="0"/>
          </a:xfrm>
          <a:prstGeom prst="line">
            <a:avLst/>
          </a:prstGeom>
          <a:ln w="9525">
            <a:solidFill>
              <a:srgbClr val="000000"/>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6464807" y="4258360"/>
            <a:ext cx="2011679" cy="233172"/>
          </a:xfrm>
          <a:prstGeom prst="rect">
            <a:avLst/>
          </a:prstGeom>
          <a:noFill/>
        </p:spPr>
        <p:txBody>
          <a:bodyPr wrap="none" lIns="0" rIns="0" tIns="0" bIns="0" anchor="t">
            <a:spAutoFit/>
          </a:bodyPr>
          <a:lstStyle/>
          <a:p>
            <a:pPr algn="l">
              <a:lnSpc>
                <a:spcPct val="100000"/>
              </a:lnSpc>
              <a:spcAft>
                <a:spcPts val="0"/>
              </a:spcAft>
            </a:pPr>
            <a:r>
              <a:rPr sz="950" b="1" i="0">
                <a:solidFill>
                  <a:srgbClr val="000000"/>
                </a:solidFill>
                <a:latin typeface="Arial"/>
              </a:rPr>
              <a:t>Share of gross profit</a:t>
            </a:r>
          </a:p>
        </p:txBody>
      </p:sp>
      <p:sp>
        <p:nvSpPr>
          <p:cNvPr id="50" name="TextBox 49"/>
          <p:cNvSpPr txBox="1"/>
          <p:nvPr/>
        </p:nvSpPr>
        <p:spPr>
          <a:xfrm>
            <a:off x="8567928" y="4258360"/>
            <a:ext cx="1005839" cy="233172"/>
          </a:xfrm>
          <a:prstGeom prst="rect">
            <a:avLst/>
          </a:prstGeom>
          <a:noFill/>
        </p:spPr>
        <p:txBody>
          <a:bodyPr wrap="none" lIns="0" rIns="0" tIns="0" bIns="0" anchor="t">
            <a:spAutoFit/>
          </a:bodyPr>
          <a:lstStyle/>
          <a:p>
            <a:pPr algn="r">
              <a:lnSpc>
                <a:spcPct val="100000"/>
              </a:lnSpc>
              <a:spcAft>
                <a:spcPts val="0"/>
              </a:spcAft>
            </a:pPr>
            <a:r>
              <a:rPr sz="950" b="1" i="0">
                <a:solidFill>
                  <a:srgbClr val="000000"/>
                </a:solidFill>
                <a:latin typeface="Arial"/>
              </a:rPr>
              <a:t>39.4%</a:t>
            </a:r>
          </a:p>
        </p:txBody>
      </p:sp>
      <p:sp>
        <p:nvSpPr>
          <p:cNvPr id="51" name="TextBox 50"/>
          <p:cNvSpPr txBox="1"/>
          <p:nvPr/>
        </p:nvSpPr>
        <p:spPr>
          <a:xfrm>
            <a:off x="9665208" y="4258360"/>
            <a:ext cx="1005839" cy="233172"/>
          </a:xfrm>
          <a:prstGeom prst="rect">
            <a:avLst/>
          </a:prstGeom>
          <a:noFill/>
        </p:spPr>
        <p:txBody>
          <a:bodyPr wrap="none" lIns="0" rIns="0" tIns="0" bIns="0" anchor="t">
            <a:spAutoFit/>
          </a:bodyPr>
          <a:lstStyle/>
          <a:p>
            <a:pPr algn="r">
              <a:lnSpc>
                <a:spcPct val="100000"/>
              </a:lnSpc>
              <a:spcAft>
                <a:spcPts val="0"/>
              </a:spcAft>
            </a:pPr>
            <a:r>
              <a:rPr sz="950" b="1" i="0">
                <a:solidFill>
                  <a:srgbClr val="000000"/>
                </a:solidFill>
                <a:latin typeface="Arial"/>
              </a:rPr>
              <a:t>60.6%</a:t>
            </a:r>
          </a:p>
        </p:txBody>
      </p:sp>
      <p:sp>
        <p:nvSpPr>
          <p:cNvPr id="52" name="TextBox 51"/>
          <p:cNvSpPr txBox="1"/>
          <p:nvPr/>
        </p:nvSpPr>
        <p:spPr>
          <a:xfrm>
            <a:off x="10762488" y="4258360"/>
            <a:ext cx="1005839" cy="233172"/>
          </a:xfrm>
          <a:prstGeom prst="rect">
            <a:avLst/>
          </a:prstGeom>
          <a:noFill/>
        </p:spPr>
        <p:txBody>
          <a:bodyPr wrap="none" lIns="0" rIns="0" tIns="0" bIns="0" anchor="t">
            <a:spAutoFit/>
          </a:bodyPr>
          <a:lstStyle/>
          <a:p>
            <a:pPr algn="r">
              <a:lnSpc>
                <a:spcPct val="100000"/>
              </a:lnSpc>
              <a:spcAft>
                <a:spcPts val="0"/>
              </a:spcAft>
            </a:pPr>
            <a:r>
              <a:rPr sz="950" b="1" i="0">
                <a:solidFill>
                  <a:srgbClr val="000000"/>
                </a:solidFill>
                <a:latin typeface="Arial"/>
              </a:rPr>
              <a:t>100%</a:t>
            </a:r>
          </a:p>
        </p:txBody>
      </p:sp>
      <p:cxnSp>
        <p:nvCxnSpPr>
          <p:cNvPr id="53" name="Connector 52"/>
          <p:cNvCxnSpPr/>
          <p:nvPr/>
        </p:nvCxnSpPr>
        <p:spPr>
          <a:xfrm>
            <a:off x="6419088" y="4471416"/>
            <a:ext cx="5394960" cy="0"/>
          </a:xfrm>
          <a:prstGeom prst="line">
            <a:avLst/>
          </a:prstGeom>
          <a:ln w="9525">
            <a:solidFill>
              <a:srgbClr val="000000"/>
            </a:solidFill>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6464807" y="4491532"/>
            <a:ext cx="2011679" cy="233172"/>
          </a:xfrm>
          <a:prstGeom prst="rect">
            <a:avLst/>
          </a:prstGeom>
          <a:noFill/>
        </p:spPr>
        <p:txBody>
          <a:bodyPr wrap="none" lIns="0" rIns="0" tIns="0" bIns="0" anchor="t">
            <a:spAutoFit/>
          </a:bodyPr>
          <a:lstStyle/>
          <a:p>
            <a:pPr algn="l">
              <a:lnSpc>
                <a:spcPct val="100000"/>
              </a:lnSpc>
              <a:spcAft>
                <a:spcPts val="0"/>
              </a:spcAft>
            </a:pPr>
            <a:r>
              <a:rPr sz="950" b="0" i="0">
                <a:solidFill>
                  <a:srgbClr val="000000"/>
                </a:solidFill>
                <a:latin typeface="Arial"/>
              </a:rPr>
              <a:t>Net profit</a:t>
            </a:r>
          </a:p>
        </p:txBody>
      </p:sp>
      <p:sp>
        <p:nvSpPr>
          <p:cNvPr id="55" name="TextBox 54"/>
          <p:cNvSpPr txBox="1"/>
          <p:nvPr/>
        </p:nvSpPr>
        <p:spPr>
          <a:xfrm>
            <a:off x="8567928" y="4491532"/>
            <a:ext cx="1005839" cy="233172"/>
          </a:xfrm>
          <a:prstGeom prst="rect">
            <a:avLst/>
          </a:prstGeom>
          <a:noFill/>
        </p:spPr>
        <p:txBody>
          <a:bodyPr wrap="none" lIns="0" rIns="0" tIns="0" bIns="0" anchor="t">
            <a:spAutoFit/>
          </a:bodyPr>
          <a:lstStyle/>
          <a:p>
            <a:pPr algn="r">
              <a:lnSpc>
                <a:spcPct val="100000"/>
              </a:lnSpc>
              <a:spcAft>
                <a:spcPts val="0"/>
              </a:spcAft>
            </a:pPr>
            <a:r>
              <a:rPr sz="950" b="0" i="0">
                <a:solidFill>
                  <a:srgbClr val="000000"/>
                </a:solidFill>
                <a:latin typeface="Arial"/>
              </a:rPr>
              <a:t>–</a:t>
            </a:r>
          </a:p>
        </p:txBody>
      </p:sp>
      <p:sp>
        <p:nvSpPr>
          <p:cNvPr id="56" name="TextBox 55"/>
          <p:cNvSpPr txBox="1"/>
          <p:nvPr/>
        </p:nvSpPr>
        <p:spPr>
          <a:xfrm>
            <a:off x="9665208" y="4491532"/>
            <a:ext cx="1005839" cy="233172"/>
          </a:xfrm>
          <a:prstGeom prst="rect">
            <a:avLst/>
          </a:prstGeom>
          <a:noFill/>
        </p:spPr>
        <p:txBody>
          <a:bodyPr wrap="none" lIns="0" rIns="0" tIns="0" bIns="0" anchor="t">
            <a:spAutoFit/>
          </a:bodyPr>
          <a:lstStyle/>
          <a:p>
            <a:pPr algn="r">
              <a:lnSpc>
                <a:spcPct val="100000"/>
              </a:lnSpc>
              <a:spcAft>
                <a:spcPts val="0"/>
              </a:spcAft>
            </a:pPr>
            <a:r>
              <a:rPr sz="950" b="0" i="0">
                <a:solidFill>
                  <a:srgbClr val="000000"/>
                </a:solidFill>
                <a:latin typeface="Arial"/>
              </a:rPr>
              <a:t>–</a:t>
            </a:r>
          </a:p>
        </p:txBody>
      </p:sp>
      <p:sp>
        <p:nvSpPr>
          <p:cNvPr id="57" name="TextBox 56"/>
          <p:cNvSpPr txBox="1"/>
          <p:nvPr/>
        </p:nvSpPr>
        <p:spPr>
          <a:xfrm>
            <a:off x="10762488" y="4491532"/>
            <a:ext cx="1005839" cy="233172"/>
          </a:xfrm>
          <a:prstGeom prst="rect">
            <a:avLst/>
          </a:prstGeom>
          <a:noFill/>
        </p:spPr>
        <p:txBody>
          <a:bodyPr wrap="none" lIns="0" rIns="0" tIns="0" bIns="0" anchor="t">
            <a:spAutoFit/>
          </a:bodyPr>
          <a:lstStyle/>
          <a:p>
            <a:pPr algn="r">
              <a:lnSpc>
                <a:spcPct val="100000"/>
              </a:lnSpc>
              <a:spcAft>
                <a:spcPts val="0"/>
              </a:spcAft>
            </a:pPr>
            <a:r>
              <a:rPr sz="950" b="0" i="0">
                <a:solidFill>
                  <a:srgbClr val="000000"/>
                </a:solidFill>
                <a:latin typeface="Arial"/>
              </a:rPr>
              <a:t>43.28</a:t>
            </a:r>
          </a:p>
        </p:txBody>
      </p:sp>
      <p:cxnSp>
        <p:nvCxnSpPr>
          <p:cNvPr id="58" name="Connector 57"/>
          <p:cNvCxnSpPr/>
          <p:nvPr/>
        </p:nvCxnSpPr>
        <p:spPr>
          <a:xfrm>
            <a:off x="6419088" y="4704588"/>
            <a:ext cx="5394960" cy="0"/>
          </a:xfrm>
          <a:prstGeom prst="line">
            <a:avLst/>
          </a:prstGeom>
          <a:ln w="6350">
            <a:solidFill>
              <a:srgbClr val="D0CECE"/>
            </a:solidFill>
          </a:ln>
        </p:spPr>
        <p:style>
          <a:lnRef idx="2">
            <a:schemeClr val="accent1"/>
          </a:lnRef>
          <a:fillRef idx="0">
            <a:schemeClr val="accent1"/>
          </a:fillRef>
          <a:effectRef idx="1">
            <a:schemeClr val="accent1"/>
          </a:effectRef>
          <a:fontRef idx="minor">
            <a:schemeClr val="tx1"/>
          </a:fontRef>
        </p:style>
      </p:cxnSp>
      <p:sp>
        <p:nvSpPr>
          <p:cNvPr id="59" name="Rectangle 58"/>
          <p:cNvSpPr/>
          <p:nvPr/>
        </p:nvSpPr>
        <p:spPr>
          <a:xfrm>
            <a:off x="6419088" y="4901184"/>
            <a:ext cx="5394960" cy="786384"/>
          </a:xfrm>
          <a:prstGeom prst="rect">
            <a:avLst/>
          </a:prstGeom>
          <a:solidFill>
            <a:srgbClr val="FADF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Rectangle 59"/>
          <p:cNvSpPr/>
          <p:nvPr/>
        </p:nvSpPr>
        <p:spPr>
          <a:xfrm>
            <a:off x="6419088" y="4901184"/>
            <a:ext cx="41148" cy="786384"/>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TextBox 60"/>
          <p:cNvSpPr txBox="1"/>
          <p:nvPr/>
        </p:nvSpPr>
        <p:spPr>
          <a:xfrm>
            <a:off x="6638544" y="4992624"/>
            <a:ext cx="4992624" cy="676656"/>
          </a:xfrm>
          <a:prstGeom prst="rect">
            <a:avLst/>
          </a:prstGeom>
          <a:noFill/>
        </p:spPr>
        <p:txBody>
          <a:bodyPr wrap="square" lIns="0" rIns="0" tIns="0" bIns="0" anchor="t">
            <a:spAutoFit/>
          </a:bodyPr>
          <a:lstStyle/>
          <a:p>
            <a:pPr algn="l">
              <a:lnSpc>
                <a:spcPct val="118000"/>
              </a:lnSpc>
              <a:spcAft>
                <a:spcPts val="0"/>
              </a:spcAft>
            </a:pPr>
            <a:r>
              <a:rPr sz="900" b="1" i="0">
                <a:solidFill>
                  <a:srgbClr val="000000"/>
                </a:solidFill>
                <a:latin typeface="Arial"/>
              </a:rPr>
              <a:t>Say what the number is not. </a:t>
            </a:r>
            <a:r>
              <a:rPr sz="900" b="0" i="0">
                <a:solidFill>
                  <a:srgbClr val="000000"/>
                </a:solidFill>
                <a:latin typeface="Arial"/>
              </a:rPr>
              <a:t>Gross profit carries no allocated operating cost, so 60% is a ceiling on the earnings at stake rather than an estimate of them. Presenting it with that attached is stronger than presenting the revenue share and hoping nobody divides.</a:t>
            </a:r>
          </a:p>
        </p:txBody>
      </p:sp>
      <p:sp>
        <p:nvSpPr>
          <p:cNvPr id="62" name="TextBox 61"/>
          <p:cNvSpPr txBox="1"/>
          <p:nvPr/>
        </p:nvSpPr>
        <p:spPr>
          <a:xfrm>
            <a:off x="374904" y="6455664"/>
            <a:ext cx="11441887" cy="274320"/>
          </a:xfrm>
          <a:prstGeom prst="rect">
            <a:avLst/>
          </a:prstGeom>
          <a:noFill/>
        </p:spPr>
        <p:txBody>
          <a:bodyPr wrap="square" lIns="0" rIns="0" tIns="0" bIns="0" anchor="t">
            <a:spAutoFit/>
          </a:bodyPr>
          <a:lstStyle/>
          <a:p>
            <a:pPr algn="l">
              <a:lnSpc>
                <a:spcPct val="110000"/>
              </a:lnSpc>
              <a:spcAft>
                <a:spcPts val="0"/>
              </a:spcAft>
            </a:pPr>
            <a:r>
              <a:rPr sz="800" b="0" i="0">
                <a:solidFill>
                  <a:srgbClr val="767576"/>
                </a:solidFill>
                <a:latin typeface="Arial"/>
              </a:rPr>
              <a:t>CATL H1 2026 as reported: revenue CNY 276.9bn, net profit CNY 43.28bn, overseas revenue CNY 87.13bn, regional gross margins 29.97% and 21.16%. Gross profit and both shares are derived from those, not reported.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Freeform 2"/>
          <p:cNvSpPr/>
          <p:nvPr/>
        </p:nvSpPr>
        <p:spPr>
          <a:xfrm>
            <a:off x="0" y="0"/>
            <a:ext cx="6095847" cy="6858000"/>
          </a:xfrm>
          <a:custGeom>
            <a:avLst/>
            <a:gdLst/>
            <a:ahLst/>
            <a:cxnLst/>
            <a:rect l="l" t="t" r="r" b="b"/>
            <a:pathLst>
              <a:path w="6095847" h="6858000">
                <a:moveTo>
                  <a:pt x="0" y="0"/>
                </a:moveTo>
                <a:lnTo>
                  <a:pt x="0" y="6858000"/>
                </a:lnTo>
                <a:lnTo>
                  <a:pt x="6095847" y="3429000"/>
                </a:lnTo>
                <a:close/>
              </a:path>
            </a:pathLst>
          </a:cu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6095847" y="0"/>
            <a:ext cx="6095848" cy="6858000"/>
          </a:xfrm>
          <a:custGeom>
            <a:avLst/>
            <a:gdLst/>
            <a:ahLst/>
            <a:cxnLst/>
            <a:rect l="l" t="t" r="r" b="b"/>
            <a:pathLst>
              <a:path w="6095848" h="6858000">
                <a:moveTo>
                  <a:pt x="6095848" y="0"/>
                </a:moveTo>
                <a:lnTo>
                  <a:pt x="6095848" y="6858000"/>
                </a:lnTo>
                <a:lnTo>
                  <a:pt x="0" y="3429000"/>
                </a:lnTo>
                <a:close/>
              </a:path>
            </a:pathLst>
          </a:cu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74904" y="182880"/>
            <a:ext cx="3657600" cy="219456"/>
          </a:xfrm>
          <a:prstGeom prst="rect">
            <a:avLst/>
          </a:prstGeom>
          <a:noFill/>
        </p:spPr>
        <p:txBody>
          <a:bodyPr wrap="none" lIns="0" rIns="0" tIns="0" bIns="0" anchor="t">
            <a:spAutoFit/>
          </a:bodyPr>
          <a:lstStyle/>
          <a:p>
            <a:pPr algn="l">
              <a:lnSpc>
                <a:spcPct val="100000"/>
              </a:lnSpc>
              <a:spcAft>
                <a:spcPts val="0"/>
              </a:spcAft>
            </a:pPr>
            <a:r>
              <a:rPr sz="1050" b="1" i="0">
                <a:solidFill>
                  <a:srgbClr val="000000"/>
                </a:solidFill>
                <a:latin typeface="Arial"/>
              </a:rPr>
              <a:t>Risks</a:t>
            </a:r>
          </a:p>
        </p:txBody>
      </p:sp>
      <p:sp>
        <p:nvSpPr>
          <p:cNvPr id="6" name="TextBox 5"/>
          <p:cNvSpPr txBox="1"/>
          <p:nvPr/>
        </p:nvSpPr>
        <p:spPr>
          <a:xfrm>
            <a:off x="11249863" y="265176"/>
            <a:ext cx="566927" cy="219456"/>
          </a:xfrm>
          <a:prstGeom prst="rect">
            <a:avLst/>
          </a:prstGeom>
          <a:noFill/>
        </p:spPr>
        <p:txBody>
          <a:bodyPr wrap="none" lIns="0" rIns="0" tIns="0" bIns="0" anchor="t">
            <a:spAutoFit/>
          </a:bodyPr>
          <a:lstStyle/>
          <a:p>
            <a:pPr algn="ctr">
              <a:lnSpc>
                <a:spcPct val="100000"/>
              </a:lnSpc>
              <a:spcAft>
                <a:spcPts val="0"/>
              </a:spcAft>
            </a:pPr>
            <a:r>
              <a:rPr sz="1050" b="1" i="0">
                <a:solidFill>
                  <a:srgbClr val="000000"/>
                </a:solidFill>
                <a:latin typeface="Arial"/>
              </a:rPr>
              <a:t>Risks</a:t>
            </a:r>
          </a:p>
        </p:txBody>
      </p:sp>
      <p:cxnSp>
        <p:nvCxnSpPr>
          <p:cNvPr id="7" name="Connector 6"/>
          <p:cNvCxnSpPr/>
          <p:nvPr/>
        </p:nvCxnSpPr>
        <p:spPr>
          <a:xfrm>
            <a:off x="11249863" y="512064"/>
            <a:ext cx="566928" cy="0"/>
          </a:xfrm>
          <a:prstGeom prst="line">
            <a:avLst/>
          </a:prstGeom>
          <a:ln w="25400">
            <a:solidFill>
              <a:srgbClr val="DB0011"/>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0401300" y="265176"/>
            <a:ext cx="647395" cy="219456"/>
          </a:xfrm>
          <a:prstGeom prst="rect">
            <a:avLst/>
          </a:prstGeom>
          <a:noFill/>
        </p:spPr>
        <p:txBody>
          <a:bodyPr wrap="none" lIns="0" rIns="0" tIns="0" bIns="0" anchor="t">
            <a:spAutoFit/>
          </a:bodyPr>
          <a:lstStyle/>
          <a:p>
            <a:pPr algn="ctr">
              <a:lnSpc>
                <a:spcPct val="100000"/>
              </a:lnSpc>
              <a:spcAft>
                <a:spcPts val="0"/>
              </a:spcAft>
            </a:pPr>
            <a:r>
              <a:rPr sz="1050" b="0" i="0">
                <a:solidFill>
                  <a:srgbClr val="767576"/>
                </a:solidFill>
                <a:latin typeface="Arial"/>
              </a:rPr>
              <a:t>Trades</a:t>
            </a:r>
          </a:p>
        </p:txBody>
      </p:sp>
      <p:sp>
        <p:nvSpPr>
          <p:cNvPr id="9" name="TextBox 8"/>
          <p:cNvSpPr txBox="1"/>
          <p:nvPr/>
        </p:nvSpPr>
        <p:spPr>
          <a:xfrm>
            <a:off x="9472269" y="265176"/>
            <a:ext cx="727862" cy="219456"/>
          </a:xfrm>
          <a:prstGeom prst="rect">
            <a:avLst/>
          </a:prstGeom>
          <a:noFill/>
        </p:spPr>
        <p:txBody>
          <a:bodyPr wrap="none" lIns="0" rIns="0" tIns="0" bIns="0" anchor="t">
            <a:spAutoFit/>
          </a:bodyPr>
          <a:lstStyle/>
          <a:p>
            <a:pPr algn="ctr">
              <a:lnSpc>
                <a:spcPct val="100000"/>
              </a:lnSpc>
              <a:spcAft>
                <a:spcPts val="0"/>
              </a:spcAft>
            </a:pPr>
            <a:r>
              <a:rPr sz="1050" b="0" i="0">
                <a:solidFill>
                  <a:srgbClr val="767576"/>
                </a:solidFill>
                <a:latin typeface="Arial"/>
              </a:rPr>
              <a:t>Markets</a:t>
            </a:r>
          </a:p>
        </p:txBody>
      </p:sp>
      <p:sp>
        <p:nvSpPr>
          <p:cNvPr id="10" name="TextBox 9"/>
          <p:cNvSpPr txBox="1"/>
          <p:nvPr/>
        </p:nvSpPr>
        <p:spPr>
          <a:xfrm>
            <a:off x="8704173" y="265176"/>
            <a:ext cx="566927" cy="219456"/>
          </a:xfrm>
          <a:prstGeom prst="rect">
            <a:avLst/>
          </a:prstGeom>
          <a:noFill/>
        </p:spPr>
        <p:txBody>
          <a:bodyPr wrap="none" lIns="0" rIns="0" tIns="0" bIns="0" anchor="t">
            <a:spAutoFit/>
          </a:bodyPr>
          <a:lstStyle/>
          <a:p>
            <a:pPr algn="ctr">
              <a:lnSpc>
                <a:spcPct val="100000"/>
              </a:lnSpc>
              <a:spcAft>
                <a:spcPts val="0"/>
              </a:spcAft>
            </a:pPr>
            <a:r>
              <a:rPr sz="1050" b="0" i="0">
                <a:solidFill>
                  <a:srgbClr val="767576"/>
                </a:solidFill>
                <a:latin typeface="Arial"/>
              </a:rPr>
              <a:t>Macro</a:t>
            </a:r>
          </a:p>
        </p:txBody>
      </p:sp>
      <p:cxnSp>
        <p:nvCxnSpPr>
          <p:cNvPr id="11" name="Connector 10"/>
          <p:cNvCxnSpPr/>
          <p:nvPr/>
        </p:nvCxnSpPr>
        <p:spPr>
          <a:xfrm>
            <a:off x="374904" y="640080"/>
            <a:ext cx="11441887" cy="0"/>
          </a:xfrm>
          <a:prstGeom prst="line">
            <a:avLst/>
          </a:prstGeom>
          <a:ln w="9525">
            <a:solidFill>
              <a:srgbClr val="00000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374904" y="786384"/>
            <a:ext cx="11441887" cy="457200"/>
          </a:xfrm>
          <a:prstGeom prst="rect">
            <a:avLst/>
          </a:prstGeom>
          <a:noFill/>
        </p:spPr>
        <p:txBody>
          <a:bodyPr wrap="none" lIns="0" rIns="0" tIns="0" bIns="0" anchor="t">
            <a:spAutoFit/>
          </a:bodyPr>
          <a:lstStyle/>
          <a:p>
            <a:pPr algn="l">
              <a:lnSpc>
                <a:spcPct val="100000"/>
              </a:lnSpc>
              <a:spcAft>
                <a:spcPts val="0"/>
              </a:spcAft>
            </a:pPr>
            <a:r>
              <a:rPr sz="2600" b="0" i="0">
                <a:solidFill>
                  <a:srgbClr val="000000"/>
                </a:solidFill>
                <a:latin typeface="Arial"/>
              </a:rPr>
              <a:t>The same book under seven states</a:t>
            </a:r>
          </a:p>
        </p:txBody>
      </p:sp>
      <p:sp>
        <p:nvSpPr>
          <p:cNvPr id="13" name="TextBox 12"/>
          <p:cNvSpPr txBox="1"/>
          <p:nvPr/>
        </p:nvSpPr>
        <p:spPr>
          <a:xfrm>
            <a:off x="374904" y="1261872"/>
            <a:ext cx="11441887" cy="310896"/>
          </a:xfrm>
          <a:prstGeom prst="rect">
            <a:avLst/>
          </a:prstGeom>
          <a:noFill/>
        </p:spPr>
        <p:txBody>
          <a:bodyPr wrap="square" lIns="0" rIns="0" tIns="0" bIns="0" anchor="t">
            <a:spAutoFit/>
          </a:bodyPr>
          <a:lstStyle/>
          <a:p>
            <a:pPr algn="l">
              <a:lnSpc>
                <a:spcPct val="115000"/>
              </a:lnSpc>
              <a:spcAft>
                <a:spcPts val="0"/>
              </a:spcAft>
            </a:pPr>
            <a:r>
              <a:rPr sz="1300" b="0" i="0">
                <a:solidFill>
                  <a:srgbClr val="767576"/>
                </a:solidFill>
                <a:latin typeface="Arial"/>
              </a:rPr>
              <a:t>Each rates row is a whole curve shifted and rebootstrapped, then the cashflows revalued. They are not a slope multiplied by a DV01.</a:t>
            </a:r>
          </a:p>
        </p:txBody>
      </p:sp>
      <p:sp>
        <p:nvSpPr>
          <p:cNvPr id="14" name="TextBox 13"/>
          <p:cNvSpPr txBox="1"/>
          <p:nvPr/>
        </p:nvSpPr>
        <p:spPr>
          <a:xfrm>
            <a:off x="11268151" y="6537960"/>
            <a:ext cx="548640" cy="201168"/>
          </a:xfrm>
          <a:prstGeom prst="rect">
            <a:avLst/>
          </a:prstGeom>
          <a:noFill/>
        </p:spPr>
        <p:txBody>
          <a:bodyPr wrap="none" lIns="0" rIns="0" tIns="0" bIns="0" anchor="t">
            <a:spAutoFit/>
          </a:bodyPr>
          <a:lstStyle/>
          <a:p>
            <a:pPr algn="r">
              <a:lnSpc>
                <a:spcPct val="100000"/>
              </a:lnSpc>
              <a:spcAft>
                <a:spcPts val="0"/>
              </a:spcAft>
            </a:pPr>
            <a:r>
              <a:rPr sz="800" b="0" i="0">
                <a:solidFill>
                  <a:srgbClr val="767576"/>
                </a:solidFill>
                <a:latin typeface="Arial"/>
              </a:rPr>
              <a:t>8</a:t>
            </a:r>
          </a:p>
        </p:txBody>
      </p:sp>
      <p:sp>
        <p:nvSpPr>
          <p:cNvPr id="15" name="TextBox 14"/>
          <p:cNvSpPr txBox="1"/>
          <p:nvPr/>
        </p:nvSpPr>
        <p:spPr>
          <a:xfrm>
            <a:off x="1563624" y="192024"/>
            <a:ext cx="5852160" cy="201168"/>
          </a:xfrm>
          <a:prstGeom prst="rect">
            <a:avLst/>
          </a:prstGeom>
          <a:noFill/>
        </p:spPr>
        <p:txBody>
          <a:bodyPr wrap="none" lIns="0" rIns="0" tIns="0" bIns="0" anchor="t">
            <a:spAutoFit/>
          </a:bodyPr>
          <a:lstStyle/>
          <a:p>
            <a:pPr algn="l">
              <a:lnSpc>
                <a:spcPct val="100000"/>
              </a:lnSpc>
              <a:spcAft>
                <a:spcPts val="0"/>
              </a:spcAft>
            </a:pPr>
            <a:r>
              <a:rPr sz="800" b="0" i="0">
                <a:solidFill>
                  <a:srgbClr val="767576"/>
                </a:solidFill>
                <a:latin typeface="Arial"/>
              </a:rPr>
              <a:t>Prototype — MoF curve to 31-Jul-26 · trade figures from the slide 8 model · not for the room</a:t>
            </a:r>
          </a:p>
        </p:txBody>
      </p:sp>
      <p:sp>
        <p:nvSpPr>
          <p:cNvPr id="16" name="Rectangle 15"/>
          <p:cNvSpPr/>
          <p:nvPr/>
        </p:nvSpPr>
        <p:spPr>
          <a:xfrm>
            <a:off x="374904" y="1700784"/>
            <a:ext cx="11441887" cy="274320"/>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66344" y="1746504"/>
            <a:ext cx="4663440" cy="219456"/>
          </a:xfrm>
          <a:prstGeom prst="rect">
            <a:avLst/>
          </a:prstGeom>
          <a:noFill/>
        </p:spPr>
        <p:txBody>
          <a:bodyPr wrap="none" lIns="0" rIns="0" tIns="0" bIns="0" anchor="t">
            <a:spAutoFit/>
          </a:bodyPr>
          <a:lstStyle/>
          <a:p>
            <a:pPr algn="l">
              <a:lnSpc>
                <a:spcPct val="100000"/>
              </a:lnSpc>
              <a:spcAft>
                <a:spcPts val="0"/>
              </a:spcAft>
            </a:pPr>
            <a:r>
              <a:rPr sz="1000" b="1" i="0">
                <a:solidFill>
                  <a:srgbClr val="FFFFFF"/>
                </a:solidFill>
                <a:latin typeface="Arial"/>
              </a:rPr>
              <a:t>State</a:t>
            </a:r>
          </a:p>
        </p:txBody>
      </p:sp>
      <p:sp>
        <p:nvSpPr>
          <p:cNvPr id="18" name="TextBox 17"/>
          <p:cNvSpPr txBox="1"/>
          <p:nvPr/>
        </p:nvSpPr>
        <p:spPr>
          <a:xfrm>
            <a:off x="5221224" y="1746504"/>
            <a:ext cx="1737360" cy="219456"/>
          </a:xfrm>
          <a:prstGeom prst="rect">
            <a:avLst/>
          </a:prstGeom>
          <a:noFill/>
        </p:spPr>
        <p:txBody>
          <a:bodyPr wrap="none" lIns="0" rIns="0" tIns="0" bIns="0" anchor="t">
            <a:spAutoFit/>
          </a:bodyPr>
          <a:lstStyle/>
          <a:p>
            <a:pPr algn="r">
              <a:lnSpc>
                <a:spcPct val="100000"/>
              </a:lnSpc>
              <a:spcAft>
                <a:spcPts val="0"/>
              </a:spcAft>
            </a:pPr>
            <a:r>
              <a:rPr sz="1000" b="1" i="0">
                <a:solidFill>
                  <a:srgbClr val="FFFFFF"/>
                </a:solidFill>
                <a:latin typeface="Arial"/>
              </a:rPr>
              <a:t>Steepener, per ¥1bn</a:t>
            </a:r>
          </a:p>
        </p:txBody>
      </p:sp>
      <p:sp>
        <p:nvSpPr>
          <p:cNvPr id="19" name="TextBox 18"/>
          <p:cNvSpPr txBox="1"/>
          <p:nvPr/>
        </p:nvSpPr>
        <p:spPr>
          <a:xfrm>
            <a:off x="7232903" y="1746504"/>
            <a:ext cx="2103120" cy="219456"/>
          </a:xfrm>
          <a:prstGeom prst="rect">
            <a:avLst/>
          </a:prstGeom>
          <a:noFill/>
        </p:spPr>
        <p:txBody>
          <a:bodyPr wrap="none" lIns="0" rIns="0" tIns="0" bIns="0" anchor="t">
            <a:spAutoFit/>
          </a:bodyPr>
          <a:lstStyle/>
          <a:p>
            <a:pPr algn="l">
              <a:lnSpc>
                <a:spcPct val="100000"/>
              </a:lnSpc>
              <a:spcAft>
                <a:spcPts val="0"/>
              </a:spcAft>
            </a:pPr>
            <a:r>
              <a:rPr sz="1000" b="1" i="0">
                <a:solidFill>
                  <a:srgbClr val="FFFFFF"/>
                </a:solidFill>
                <a:latin typeface="Arial"/>
              </a:rPr>
              <a:t>CATL</a:t>
            </a:r>
          </a:p>
        </p:txBody>
      </p:sp>
      <p:sp>
        <p:nvSpPr>
          <p:cNvPr id="20" name="TextBox 19"/>
          <p:cNvSpPr txBox="1"/>
          <p:nvPr/>
        </p:nvSpPr>
        <p:spPr>
          <a:xfrm>
            <a:off x="9427464" y="1746504"/>
            <a:ext cx="2297887" cy="219456"/>
          </a:xfrm>
          <a:prstGeom prst="rect">
            <a:avLst/>
          </a:prstGeom>
          <a:noFill/>
        </p:spPr>
        <p:txBody>
          <a:bodyPr wrap="none" lIns="0" rIns="0" tIns="0" bIns="0" anchor="t">
            <a:spAutoFit/>
          </a:bodyPr>
          <a:lstStyle/>
          <a:p>
            <a:pPr algn="l">
              <a:lnSpc>
                <a:spcPct val="100000"/>
              </a:lnSpc>
              <a:spcAft>
                <a:spcPts val="0"/>
              </a:spcAft>
            </a:pPr>
            <a:r>
              <a:rPr sz="1000" b="1" i="0">
                <a:solidFill>
                  <a:srgbClr val="FFFFFF"/>
                </a:solidFill>
                <a:latin typeface="Arial"/>
              </a:rPr>
              <a:t>Note</a:t>
            </a:r>
          </a:p>
        </p:txBody>
      </p:sp>
      <p:sp>
        <p:nvSpPr>
          <p:cNvPr id="21" name="TextBox 20"/>
          <p:cNvSpPr txBox="1"/>
          <p:nvPr/>
        </p:nvSpPr>
        <p:spPr>
          <a:xfrm>
            <a:off x="466344" y="2066544"/>
            <a:ext cx="4663440" cy="237744"/>
          </a:xfrm>
          <a:prstGeom prst="rect">
            <a:avLst/>
          </a:prstGeom>
          <a:noFill/>
        </p:spPr>
        <p:txBody>
          <a:bodyPr wrap="none" lIns="0" rIns="0" tIns="0" bIns="0" anchor="t">
            <a:spAutoFit/>
          </a:bodyPr>
          <a:lstStyle/>
          <a:p>
            <a:pPr algn="l">
              <a:lnSpc>
                <a:spcPct val="100000"/>
              </a:lnSpc>
              <a:spcAft>
                <a:spcPts val="0"/>
              </a:spcAft>
            </a:pPr>
            <a:r>
              <a:rPr sz="1000" b="0" i="0">
                <a:solidFill>
                  <a:srgbClr val="000000"/>
                </a:solidFill>
                <a:latin typeface="Arial"/>
              </a:rPr>
              <a:t>Bear steepener · 2y +10, 10y +40</a:t>
            </a:r>
          </a:p>
        </p:txBody>
      </p:sp>
      <p:sp>
        <p:nvSpPr>
          <p:cNvPr id="22" name="TextBox 21"/>
          <p:cNvSpPr txBox="1"/>
          <p:nvPr/>
        </p:nvSpPr>
        <p:spPr>
          <a:xfrm>
            <a:off x="5221224" y="2066544"/>
            <a:ext cx="1737360" cy="237744"/>
          </a:xfrm>
          <a:prstGeom prst="rect">
            <a:avLst/>
          </a:prstGeom>
          <a:noFill/>
        </p:spPr>
        <p:txBody>
          <a:bodyPr wrap="none" lIns="0" rIns="0" tIns="0" bIns="0" anchor="t">
            <a:spAutoFit/>
          </a:bodyPr>
          <a:lstStyle/>
          <a:p>
            <a:pPr algn="r">
              <a:lnSpc>
                <a:spcPct val="100000"/>
              </a:lnSpc>
              <a:spcAft>
                <a:spcPts val="0"/>
              </a:spcAft>
            </a:pPr>
            <a:r>
              <a:rPr sz="1000" b="1" i="0">
                <a:solidFill>
                  <a:srgbClr val="44546A"/>
                </a:solidFill>
                <a:latin typeface="Arial"/>
              </a:rPr>
              <a:t>+¥25.8m</a:t>
            </a:r>
          </a:p>
        </p:txBody>
      </p:sp>
      <p:sp>
        <p:nvSpPr>
          <p:cNvPr id="23" name="TextBox 22"/>
          <p:cNvSpPr txBox="1"/>
          <p:nvPr/>
        </p:nvSpPr>
        <p:spPr>
          <a:xfrm>
            <a:off x="7232903" y="2066544"/>
            <a:ext cx="2103120" cy="237744"/>
          </a:xfrm>
          <a:prstGeom prst="rect">
            <a:avLst/>
          </a:prstGeom>
          <a:noFill/>
        </p:spPr>
        <p:txBody>
          <a:bodyPr wrap="none" lIns="0" rIns="0" tIns="0" bIns="0" anchor="t">
            <a:spAutoFit/>
          </a:bodyPr>
          <a:lstStyle/>
          <a:p>
            <a:pPr algn="l">
              <a:lnSpc>
                <a:spcPct val="100000"/>
              </a:lnSpc>
              <a:spcAft>
                <a:spcPts val="0"/>
              </a:spcAft>
            </a:pPr>
            <a:r>
              <a:rPr sz="1000" b="0" i="0">
                <a:solidFill>
                  <a:srgbClr val="000000"/>
                </a:solidFill>
                <a:latin typeface="Arial"/>
              </a:rPr>
              <a:t>Neutral</a:t>
            </a:r>
          </a:p>
        </p:txBody>
      </p:sp>
      <p:sp>
        <p:nvSpPr>
          <p:cNvPr id="24" name="TextBox 23"/>
          <p:cNvSpPr txBox="1"/>
          <p:nvPr/>
        </p:nvSpPr>
        <p:spPr>
          <a:xfrm>
            <a:off x="9427464" y="2066544"/>
            <a:ext cx="2297887" cy="237744"/>
          </a:xfrm>
          <a:prstGeom prst="rect">
            <a:avLst/>
          </a:prstGeom>
          <a:noFill/>
        </p:spPr>
        <p:txBody>
          <a:bodyPr wrap="none" lIns="0" rIns="0" tIns="0" bIns="0" anchor="t">
            <a:spAutoFit/>
          </a:bodyPr>
          <a:lstStyle/>
          <a:p>
            <a:pPr algn="l">
              <a:lnSpc>
                <a:spcPct val="100000"/>
              </a:lnSpc>
              <a:spcAft>
                <a:spcPts val="0"/>
              </a:spcAft>
            </a:pPr>
            <a:r>
              <a:rPr sz="850" b="0" i="0">
                <a:solidFill>
                  <a:srgbClr val="767576"/>
                </a:solidFill>
                <a:latin typeface="Arial"/>
              </a:rPr>
              <a:t/>
            </a:r>
          </a:p>
        </p:txBody>
      </p:sp>
      <p:cxnSp>
        <p:nvCxnSpPr>
          <p:cNvPr id="25" name="Connector 24"/>
          <p:cNvCxnSpPr/>
          <p:nvPr/>
        </p:nvCxnSpPr>
        <p:spPr>
          <a:xfrm>
            <a:off x="374904" y="2340864"/>
            <a:ext cx="11441887" cy="0"/>
          </a:xfrm>
          <a:prstGeom prst="line">
            <a:avLst/>
          </a:prstGeom>
          <a:ln w="6350">
            <a:solidFill>
              <a:srgbClr val="D0CECE"/>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466344" y="2432304"/>
            <a:ext cx="4663440" cy="237744"/>
          </a:xfrm>
          <a:prstGeom prst="rect">
            <a:avLst/>
          </a:prstGeom>
          <a:noFill/>
        </p:spPr>
        <p:txBody>
          <a:bodyPr wrap="none" lIns="0" rIns="0" tIns="0" bIns="0" anchor="t">
            <a:spAutoFit/>
          </a:bodyPr>
          <a:lstStyle/>
          <a:p>
            <a:pPr algn="l">
              <a:lnSpc>
                <a:spcPct val="100000"/>
              </a:lnSpc>
              <a:spcAft>
                <a:spcPts val="0"/>
              </a:spcAft>
            </a:pPr>
            <a:r>
              <a:rPr sz="1000" b="0" i="0">
                <a:solidFill>
                  <a:srgbClr val="000000"/>
                </a:solidFill>
                <a:latin typeface="Arial"/>
              </a:rPr>
              <a:t>Bull steepener · 2y −40, 10y flat</a:t>
            </a:r>
          </a:p>
        </p:txBody>
      </p:sp>
      <p:sp>
        <p:nvSpPr>
          <p:cNvPr id="27" name="TextBox 26"/>
          <p:cNvSpPr txBox="1"/>
          <p:nvPr/>
        </p:nvSpPr>
        <p:spPr>
          <a:xfrm>
            <a:off x="5221224" y="2432304"/>
            <a:ext cx="1737360" cy="237744"/>
          </a:xfrm>
          <a:prstGeom prst="rect">
            <a:avLst/>
          </a:prstGeom>
          <a:noFill/>
        </p:spPr>
        <p:txBody>
          <a:bodyPr wrap="none" lIns="0" rIns="0" tIns="0" bIns="0" anchor="t">
            <a:spAutoFit/>
          </a:bodyPr>
          <a:lstStyle/>
          <a:p>
            <a:pPr algn="r">
              <a:lnSpc>
                <a:spcPct val="100000"/>
              </a:lnSpc>
              <a:spcAft>
                <a:spcPts val="0"/>
              </a:spcAft>
            </a:pPr>
            <a:r>
              <a:rPr sz="1000" b="1" i="0">
                <a:solidFill>
                  <a:srgbClr val="44546A"/>
                </a:solidFill>
                <a:latin typeface="Arial"/>
              </a:rPr>
              <a:t>+¥35.4m</a:t>
            </a:r>
          </a:p>
        </p:txBody>
      </p:sp>
      <p:sp>
        <p:nvSpPr>
          <p:cNvPr id="28" name="TextBox 27"/>
          <p:cNvSpPr txBox="1"/>
          <p:nvPr/>
        </p:nvSpPr>
        <p:spPr>
          <a:xfrm>
            <a:off x="7232903" y="2432304"/>
            <a:ext cx="2103120" cy="237744"/>
          </a:xfrm>
          <a:prstGeom prst="rect">
            <a:avLst/>
          </a:prstGeom>
          <a:noFill/>
        </p:spPr>
        <p:txBody>
          <a:bodyPr wrap="none" lIns="0" rIns="0" tIns="0" bIns="0" anchor="t">
            <a:spAutoFit/>
          </a:bodyPr>
          <a:lstStyle/>
          <a:p>
            <a:pPr algn="l">
              <a:lnSpc>
                <a:spcPct val="100000"/>
              </a:lnSpc>
              <a:spcAft>
                <a:spcPts val="0"/>
              </a:spcAft>
            </a:pPr>
            <a:r>
              <a:rPr sz="1000" b="0" i="0">
                <a:solidFill>
                  <a:srgbClr val="000000"/>
                </a:solidFill>
                <a:latin typeface="Arial"/>
              </a:rPr>
              <a:t>Neutral</a:t>
            </a:r>
          </a:p>
        </p:txBody>
      </p:sp>
      <p:sp>
        <p:nvSpPr>
          <p:cNvPr id="29" name="TextBox 28"/>
          <p:cNvSpPr txBox="1"/>
          <p:nvPr/>
        </p:nvSpPr>
        <p:spPr>
          <a:xfrm>
            <a:off x="9427464" y="2432304"/>
            <a:ext cx="2297887" cy="237744"/>
          </a:xfrm>
          <a:prstGeom prst="rect">
            <a:avLst/>
          </a:prstGeom>
          <a:noFill/>
        </p:spPr>
        <p:txBody>
          <a:bodyPr wrap="none" lIns="0" rIns="0" tIns="0" bIns="0" anchor="t">
            <a:spAutoFit/>
          </a:bodyPr>
          <a:lstStyle/>
          <a:p>
            <a:pPr algn="l">
              <a:lnSpc>
                <a:spcPct val="100000"/>
              </a:lnSpc>
              <a:spcAft>
                <a:spcPts val="0"/>
              </a:spcAft>
            </a:pPr>
            <a:r>
              <a:rPr sz="850" b="0" i="0">
                <a:solidFill>
                  <a:srgbClr val="767576"/>
                </a:solidFill>
                <a:latin typeface="Arial"/>
              </a:rPr>
              <a:t>a 7% state conditional on a rally</a:t>
            </a:r>
          </a:p>
        </p:txBody>
      </p:sp>
      <p:cxnSp>
        <p:nvCxnSpPr>
          <p:cNvPr id="30" name="Connector 29"/>
          <p:cNvCxnSpPr/>
          <p:nvPr/>
        </p:nvCxnSpPr>
        <p:spPr>
          <a:xfrm>
            <a:off x="374904" y="2706624"/>
            <a:ext cx="11441887" cy="0"/>
          </a:xfrm>
          <a:prstGeom prst="line">
            <a:avLst/>
          </a:prstGeom>
          <a:ln w="6350">
            <a:solidFill>
              <a:srgbClr val="D0CECE"/>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466344" y="2798064"/>
            <a:ext cx="4663440" cy="237744"/>
          </a:xfrm>
          <a:prstGeom prst="rect">
            <a:avLst/>
          </a:prstGeom>
          <a:noFill/>
        </p:spPr>
        <p:txBody>
          <a:bodyPr wrap="none" lIns="0" rIns="0" tIns="0" bIns="0" anchor="t">
            <a:spAutoFit/>
          </a:bodyPr>
          <a:lstStyle/>
          <a:p>
            <a:pPr algn="l">
              <a:lnSpc>
                <a:spcPct val="100000"/>
              </a:lnSpc>
              <a:spcAft>
                <a:spcPts val="0"/>
              </a:spcAft>
            </a:pPr>
            <a:r>
              <a:rPr sz="1000" b="0" i="0">
                <a:solidFill>
                  <a:srgbClr val="000000"/>
                </a:solidFill>
                <a:latin typeface="Arial"/>
              </a:rPr>
              <a:t>Parallel +50bp</a:t>
            </a:r>
          </a:p>
        </p:txBody>
      </p:sp>
      <p:sp>
        <p:nvSpPr>
          <p:cNvPr id="32" name="TextBox 31"/>
          <p:cNvSpPr txBox="1"/>
          <p:nvPr/>
        </p:nvSpPr>
        <p:spPr>
          <a:xfrm>
            <a:off x="5221224" y="2798064"/>
            <a:ext cx="1737360" cy="237744"/>
          </a:xfrm>
          <a:prstGeom prst="rect">
            <a:avLst/>
          </a:prstGeom>
          <a:noFill/>
        </p:spPr>
        <p:txBody>
          <a:bodyPr wrap="none" lIns="0" rIns="0" tIns="0" bIns="0" anchor="t">
            <a:spAutoFit/>
          </a:bodyPr>
          <a:lstStyle/>
          <a:p>
            <a:pPr algn="r">
              <a:lnSpc>
                <a:spcPct val="100000"/>
              </a:lnSpc>
              <a:spcAft>
                <a:spcPts val="0"/>
              </a:spcAft>
            </a:pPr>
            <a:r>
              <a:rPr sz="1000" b="1" i="0">
                <a:solidFill>
                  <a:srgbClr val="767576"/>
                </a:solidFill>
                <a:latin typeface="Arial"/>
              </a:rPr>
              <a:t>−¥0.80m</a:t>
            </a:r>
          </a:p>
        </p:txBody>
      </p:sp>
      <p:sp>
        <p:nvSpPr>
          <p:cNvPr id="33" name="TextBox 32"/>
          <p:cNvSpPr txBox="1"/>
          <p:nvPr/>
        </p:nvSpPr>
        <p:spPr>
          <a:xfrm>
            <a:off x="7232903" y="2798064"/>
            <a:ext cx="2103120" cy="237744"/>
          </a:xfrm>
          <a:prstGeom prst="rect">
            <a:avLst/>
          </a:prstGeom>
          <a:noFill/>
        </p:spPr>
        <p:txBody>
          <a:bodyPr wrap="none" lIns="0" rIns="0" tIns="0" bIns="0" anchor="t">
            <a:spAutoFit/>
          </a:bodyPr>
          <a:lstStyle/>
          <a:p>
            <a:pPr algn="l">
              <a:lnSpc>
                <a:spcPct val="100000"/>
              </a:lnSpc>
              <a:spcAft>
                <a:spcPts val="0"/>
              </a:spcAft>
            </a:pPr>
            <a:r>
              <a:rPr sz="1000" b="0" i="0">
                <a:solidFill>
                  <a:srgbClr val="000000"/>
                </a:solidFill>
                <a:latin typeface="Arial"/>
              </a:rPr>
              <a:t>Negative</a:t>
            </a:r>
          </a:p>
        </p:txBody>
      </p:sp>
      <p:sp>
        <p:nvSpPr>
          <p:cNvPr id="34" name="TextBox 33"/>
          <p:cNvSpPr txBox="1"/>
          <p:nvPr/>
        </p:nvSpPr>
        <p:spPr>
          <a:xfrm>
            <a:off x="9427464" y="2798064"/>
            <a:ext cx="2297887" cy="237744"/>
          </a:xfrm>
          <a:prstGeom prst="rect">
            <a:avLst/>
          </a:prstGeom>
          <a:noFill/>
        </p:spPr>
        <p:txBody>
          <a:bodyPr wrap="none" lIns="0" rIns="0" tIns="0" bIns="0" anchor="t">
            <a:spAutoFit/>
          </a:bodyPr>
          <a:lstStyle/>
          <a:p>
            <a:pPr algn="l">
              <a:lnSpc>
                <a:spcPct val="100000"/>
              </a:lnSpc>
              <a:spcAft>
                <a:spcPts val="0"/>
              </a:spcAft>
            </a:pPr>
            <a:r>
              <a:rPr sz="850" b="0" i="0">
                <a:solidFill>
                  <a:srgbClr val="767576"/>
                </a:solidFill>
                <a:latin typeface="Arial"/>
              </a:rPr>
              <a:t>discount rate</a:t>
            </a:r>
          </a:p>
        </p:txBody>
      </p:sp>
      <p:cxnSp>
        <p:nvCxnSpPr>
          <p:cNvPr id="35" name="Connector 34"/>
          <p:cNvCxnSpPr/>
          <p:nvPr/>
        </p:nvCxnSpPr>
        <p:spPr>
          <a:xfrm>
            <a:off x="374904" y="3072384"/>
            <a:ext cx="11441887" cy="0"/>
          </a:xfrm>
          <a:prstGeom prst="line">
            <a:avLst/>
          </a:prstGeom>
          <a:ln w="6350">
            <a:solidFill>
              <a:srgbClr val="D0CECE"/>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466344" y="3163824"/>
            <a:ext cx="4663440" cy="237744"/>
          </a:xfrm>
          <a:prstGeom prst="rect">
            <a:avLst/>
          </a:prstGeom>
          <a:noFill/>
        </p:spPr>
        <p:txBody>
          <a:bodyPr wrap="none" lIns="0" rIns="0" tIns="0" bIns="0" anchor="t">
            <a:spAutoFit/>
          </a:bodyPr>
          <a:lstStyle/>
          <a:p>
            <a:pPr algn="l">
              <a:lnSpc>
                <a:spcPct val="100000"/>
              </a:lnSpc>
              <a:spcAft>
                <a:spcPts val="0"/>
              </a:spcAft>
            </a:pPr>
            <a:r>
              <a:rPr sz="1000" b="0" i="0">
                <a:solidFill>
                  <a:srgbClr val="000000"/>
                </a:solidFill>
                <a:latin typeface="Arial"/>
              </a:rPr>
              <a:t>Parallel −50bp</a:t>
            </a:r>
          </a:p>
        </p:txBody>
      </p:sp>
      <p:sp>
        <p:nvSpPr>
          <p:cNvPr id="37" name="TextBox 36"/>
          <p:cNvSpPr txBox="1"/>
          <p:nvPr/>
        </p:nvSpPr>
        <p:spPr>
          <a:xfrm>
            <a:off x="5221224" y="3163824"/>
            <a:ext cx="1737360" cy="237744"/>
          </a:xfrm>
          <a:prstGeom prst="rect">
            <a:avLst/>
          </a:prstGeom>
          <a:noFill/>
        </p:spPr>
        <p:txBody>
          <a:bodyPr wrap="none" lIns="0" rIns="0" tIns="0" bIns="0" anchor="t">
            <a:spAutoFit/>
          </a:bodyPr>
          <a:lstStyle/>
          <a:p>
            <a:pPr algn="r">
              <a:lnSpc>
                <a:spcPct val="100000"/>
              </a:lnSpc>
              <a:spcAft>
                <a:spcPts val="0"/>
              </a:spcAft>
            </a:pPr>
            <a:r>
              <a:rPr sz="1000" b="1" i="0">
                <a:solidFill>
                  <a:srgbClr val="767576"/>
                </a:solidFill>
                <a:latin typeface="Arial"/>
              </a:rPr>
              <a:t>−¥0.84m</a:t>
            </a:r>
          </a:p>
        </p:txBody>
      </p:sp>
      <p:sp>
        <p:nvSpPr>
          <p:cNvPr id="38" name="TextBox 37"/>
          <p:cNvSpPr txBox="1"/>
          <p:nvPr/>
        </p:nvSpPr>
        <p:spPr>
          <a:xfrm>
            <a:off x="7232903" y="3163824"/>
            <a:ext cx="2103120" cy="237744"/>
          </a:xfrm>
          <a:prstGeom prst="rect">
            <a:avLst/>
          </a:prstGeom>
          <a:noFill/>
        </p:spPr>
        <p:txBody>
          <a:bodyPr wrap="none" lIns="0" rIns="0" tIns="0" bIns="0" anchor="t">
            <a:spAutoFit/>
          </a:bodyPr>
          <a:lstStyle/>
          <a:p>
            <a:pPr algn="l">
              <a:lnSpc>
                <a:spcPct val="100000"/>
              </a:lnSpc>
              <a:spcAft>
                <a:spcPts val="0"/>
              </a:spcAft>
            </a:pPr>
            <a:r>
              <a:rPr sz="1000" b="0" i="0">
                <a:solidFill>
                  <a:srgbClr val="000000"/>
                </a:solidFill>
                <a:latin typeface="Arial"/>
              </a:rPr>
              <a:t>Positive</a:t>
            </a:r>
          </a:p>
        </p:txBody>
      </p:sp>
      <p:sp>
        <p:nvSpPr>
          <p:cNvPr id="39" name="TextBox 38"/>
          <p:cNvSpPr txBox="1"/>
          <p:nvPr/>
        </p:nvSpPr>
        <p:spPr>
          <a:xfrm>
            <a:off x="9427464" y="3163824"/>
            <a:ext cx="2297887" cy="237744"/>
          </a:xfrm>
          <a:prstGeom prst="rect">
            <a:avLst/>
          </a:prstGeom>
          <a:noFill/>
        </p:spPr>
        <p:txBody>
          <a:bodyPr wrap="none" lIns="0" rIns="0" tIns="0" bIns="0" anchor="t">
            <a:spAutoFit/>
          </a:bodyPr>
          <a:lstStyle/>
          <a:p>
            <a:pPr algn="l">
              <a:lnSpc>
                <a:spcPct val="100000"/>
              </a:lnSpc>
              <a:spcAft>
                <a:spcPts val="0"/>
              </a:spcAft>
            </a:pPr>
            <a:r>
              <a:rPr sz="850" b="0" i="0">
                <a:solidFill>
                  <a:srgbClr val="767576"/>
                </a:solidFill>
                <a:latin typeface="Arial"/>
              </a:rPr>
              <a:t/>
            </a:r>
          </a:p>
        </p:txBody>
      </p:sp>
      <p:cxnSp>
        <p:nvCxnSpPr>
          <p:cNvPr id="40" name="Connector 39"/>
          <p:cNvCxnSpPr/>
          <p:nvPr/>
        </p:nvCxnSpPr>
        <p:spPr>
          <a:xfrm>
            <a:off x="374904" y="3438144"/>
            <a:ext cx="11441887" cy="0"/>
          </a:xfrm>
          <a:prstGeom prst="line">
            <a:avLst/>
          </a:prstGeom>
          <a:ln w="6350">
            <a:solidFill>
              <a:srgbClr val="D0CECE"/>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466344" y="3529584"/>
            <a:ext cx="4663440" cy="237744"/>
          </a:xfrm>
          <a:prstGeom prst="rect">
            <a:avLst/>
          </a:prstGeom>
          <a:noFill/>
        </p:spPr>
        <p:txBody>
          <a:bodyPr wrap="none" lIns="0" rIns="0" tIns="0" bIns="0" anchor="t">
            <a:spAutoFit/>
          </a:bodyPr>
          <a:lstStyle/>
          <a:p>
            <a:pPr algn="l">
              <a:lnSpc>
                <a:spcPct val="100000"/>
              </a:lnSpc>
              <a:spcAft>
                <a:spcPts val="0"/>
              </a:spcAft>
            </a:pPr>
            <a:r>
              <a:rPr sz="1000" b="0" i="0">
                <a:solidFill>
                  <a:srgbClr val="000000"/>
                </a:solidFill>
                <a:latin typeface="Arial"/>
              </a:rPr>
              <a:t>Bear flattener · 2y +40, 10y +10</a:t>
            </a:r>
          </a:p>
        </p:txBody>
      </p:sp>
      <p:sp>
        <p:nvSpPr>
          <p:cNvPr id="42" name="TextBox 41"/>
          <p:cNvSpPr txBox="1"/>
          <p:nvPr/>
        </p:nvSpPr>
        <p:spPr>
          <a:xfrm>
            <a:off x="5221224" y="3529584"/>
            <a:ext cx="1737360" cy="237744"/>
          </a:xfrm>
          <a:prstGeom prst="rect">
            <a:avLst/>
          </a:prstGeom>
          <a:noFill/>
        </p:spPr>
        <p:txBody>
          <a:bodyPr wrap="none" lIns="0" rIns="0" tIns="0" bIns="0" anchor="t">
            <a:spAutoFit/>
          </a:bodyPr>
          <a:lstStyle/>
          <a:p>
            <a:pPr algn="r">
              <a:lnSpc>
                <a:spcPct val="100000"/>
              </a:lnSpc>
              <a:spcAft>
                <a:spcPts val="0"/>
              </a:spcAft>
            </a:pPr>
            <a:r>
              <a:rPr sz="1000" b="1" i="0">
                <a:solidFill>
                  <a:srgbClr val="DB0011"/>
                </a:solidFill>
                <a:latin typeface="Arial"/>
              </a:rPr>
              <a:t>−¥26.3m</a:t>
            </a:r>
          </a:p>
        </p:txBody>
      </p:sp>
      <p:sp>
        <p:nvSpPr>
          <p:cNvPr id="43" name="TextBox 42"/>
          <p:cNvSpPr txBox="1"/>
          <p:nvPr/>
        </p:nvSpPr>
        <p:spPr>
          <a:xfrm>
            <a:off x="7232903" y="3529584"/>
            <a:ext cx="2103120" cy="237744"/>
          </a:xfrm>
          <a:prstGeom prst="rect">
            <a:avLst/>
          </a:prstGeom>
          <a:noFill/>
        </p:spPr>
        <p:txBody>
          <a:bodyPr wrap="none" lIns="0" rIns="0" tIns="0" bIns="0" anchor="t">
            <a:spAutoFit/>
          </a:bodyPr>
          <a:lstStyle/>
          <a:p>
            <a:pPr algn="l">
              <a:lnSpc>
                <a:spcPct val="100000"/>
              </a:lnSpc>
              <a:spcAft>
                <a:spcPts val="0"/>
              </a:spcAft>
            </a:pPr>
            <a:r>
              <a:rPr sz="1000" b="0" i="0">
                <a:solidFill>
                  <a:srgbClr val="000000"/>
                </a:solidFill>
                <a:latin typeface="Arial"/>
              </a:rPr>
              <a:t>Neutral</a:t>
            </a:r>
          </a:p>
        </p:txBody>
      </p:sp>
      <p:sp>
        <p:nvSpPr>
          <p:cNvPr id="44" name="TextBox 43"/>
          <p:cNvSpPr txBox="1"/>
          <p:nvPr/>
        </p:nvSpPr>
        <p:spPr>
          <a:xfrm>
            <a:off x="9427464" y="3529584"/>
            <a:ext cx="2297887" cy="237744"/>
          </a:xfrm>
          <a:prstGeom prst="rect">
            <a:avLst/>
          </a:prstGeom>
          <a:noFill/>
        </p:spPr>
        <p:txBody>
          <a:bodyPr wrap="none" lIns="0" rIns="0" tIns="0" bIns="0" anchor="t">
            <a:spAutoFit/>
          </a:bodyPr>
          <a:lstStyle/>
          <a:p>
            <a:pPr algn="l">
              <a:lnSpc>
                <a:spcPct val="100000"/>
              </a:lnSpc>
              <a:spcAft>
                <a:spcPts val="0"/>
              </a:spcAft>
            </a:pPr>
            <a:r>
              <a:rPr sz="850" b="0" i="0">
                <a:solidFill>
                  <a:srgbClr val="767576"/>
                </a:solidFill>
                <a:latin typeface="Arial"/>
              </a:rPr>
              <a:t>the modelled worst case</a:t>
            </a:r>
          </a:p>
        </p:txBody>
      </p:sp>
      <p:cxnSp>
        <p:nvCxnSpPr>
          <p:cNvPr id="45" name="Connector 44"/>
          <p:cNvCxnSpPr/>
          <p:nvPr/>
        </p:nvCxnSpPr>
        <p:spPr>
          <a:xfrm>
            <a:off x="374904" y="3803904"/>
            <a:ext cx="11441887" cy="0"/>
          </a:xfrm>
          <a:prstGeom prst="line">
            <a:avLst/>
          </a:prstGeom>
          <a:ln w="6350">
            <a:solidFill>
              <a:srgbClr val="D0CECE"/>
            </a:solidFill>
          </a:ln>
        </p:spPr>
        <p:style>
          <a:lnRef idx="2">
            <a:schemeClr val="accent1"/>
          </a:lnRef>
          <a:fillRef idx="0">
            <a:schemeClr val="accent1"/>
          </a:fillRef>
          <a:effectRef idx="1">
            <a:schemeClr val="accent1"/>
          </a:effectRef>
          <a:fontRef idx="minor">
            <a:schemeClr val="tx1"/>
          </a:fontRef>
        </p:style>
      </p:cxnSp>
      <p:sp>
        <p:nvSpPr>
          <p:cNvPr id="46" name="Rectangle 45"/>
          <p:cNvSpPr/>
          <p:nvPr/>
        </p:nvSpPr>
        <p:spPr>
          <a:xfrm>
            <a:off x="374904" y="3803904"/>
            <a:ext cx="11441887" cy="365760"/>
          </a:xfrm>
          <a:prstGeom prst="rect">
            <a:avLst/>
          </a:prstGeom>
          <a:solidFill>
            <a:srgbClr val="FADF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466344" y="3895344"/>
            <a:ext cx="4663440" cy="237744"/>
          </a:xfrm>
          <a:prstGeom prst="rect">
            <a:avLst/>
          </a:prstGeom>
          <a:noFill/>
        </p:spPr>
        <p:txBody>
          <a:bodyPr wrap="none" lIns="0" rIns="0" tIns="0" bIns="0" anchor="t">
            <a:spAutoFit/>
          </a:bodyPr>
          <a:lstStyle/>
          <a:p>
            <a:pPr algn="l">
              <a:lnSpc>
                <a:spcPct val="100000"/>
              </a:lnSpc>
              <a:spcAft>
                <a:spcPts val="0"/>
              </a:spcAft>
            </a:pPr>
            <a:r>
              <a:rPr sz="1000" b="1" i="0">
                <a:solidFill>
                  <a:srgbClr val="000000"/>
                </a:solidFill>
                <a:latin typeface="Arial"/>
              </a:rPr>
              <a:t>Mean rally week, measured</a:t>
            </a:r>
          </a:p>
        </p:txBody>
      </p:sp>
      <p:sp>
        <p:nvSpPr>
          <p:cNvPr id="48" name="TextBox 47"/>
          <p:cNvSpPr txBox="1"/>
          <p:nvPr/>
        </p:nvSpPr>
        <p:spPr>
          <a:xfrm>
            <a:off x="5221224" y="3895344"/>
            <a:ext cx="1737360" cy="237744"/>
          </a:xfrm>
          <a:prstGeom prst="rect">
            <a:avLst/>
          </a:prstGeom>
          <a:noFill/>
        </p:spPr>
        <p:txBody>
          <a:bodyPr wrap="none" lIns="0" rIns="0" tIns="0" bIns="0" anchor="t">
            <a:spAutoFit/>
          </a:bodyPr>
          <a:lstStyle/>
          <a:p>
            <a:pPr algn="r">
              <a:lnSpc>
                <a:spcPct val="100000"/>
              </a:lnSpc>
              <a:spcAft>
                <a:spcPts val="0"/>
              </a:spcAft>
            </a:pPr>
            <a:r>
              <a:rPr sz="1000" b="1" i="0">
                <a:solidFill>
                  <a:srgbClr val="DB0011"/>
                </a:solidFill>
                <a:latin typeface="Arial"/>
              </a:rPr>
              <a:t>−¥4.6m</a:t>
            </a:r>
          </a:p>
        </p:txBody>
      </p:sp>
      <p:sp>
        <p:nvSpPr>
          <p:cNvPr id="49" name="TextBox 48"/>
          <p:cNvSpPr txBox="1"/>
          <p:nvPr/>
        </p:nvSpPr>
        <p:spPr>
          <a:xfrm>
            <a:off x="7232903" y="3895344"/>
            <a:ext cx="2103120" cy="237744"/>
          </a:xfrm>
          <a:prstGeom prst="rect">
            <a:avLst/>
          </a:prstGeom>
          <a:noFill/>
        </p:spPr>
        <p:txBody>
          <a:bodyPr wrap="none" lIns="0" rIns="0" tIns="0" bIns="0" anchor="t">
            <a:spAutoFit/>
          </a:bodyPr>
          <a:lstStyle/>
          <a:p>
            <a:pPr algn="l">
              <a:lnSpc>
                <a:spcPct val="100000"/>
              </a:lnSpc>
              <a:spcAft>
                <a:spcPts val="0"/>
              </a:spcAft>
            </a:pPr>
            <a:r>
              <a:rPr sz="1000" b="0" i="0">
                <a:solidFill>
                  <a:srgbClr val="000000"/>
                </a:solidFill>
                <a:latin typeface="Arial"/>
              </a:rPr>
              <a:t>Negative</a:t>
            </a:r>
          </a:p>
        </p:txBody>
      </p:sp>
      <p:sp>
        <p:nvSpPr>
          <p:cNvPr id="50" name="TextBox 49"/>
          <p:cNvSpPr txBox="1"/>
          <p:nvPr/>
        </p:nvSpPr>
        <p:spPr>
          <a:xfrm>
            <a:off x="9427464" y="3895344"/>
            <a:ext cx="2297887" cy="237744"/>
          </a:xfrm>
          <a:prstGeom prst="rect">
            <a:avLst/>
          </a:prstGeom>
          <a:noFill/>
        </p:spPr>
        <p:txBody>
          <a:bodyPr wrap="none" lIns="0" rIns="0" tIns="0" bIns="0" anchor="t">
            <a:spAutoFit/>
          </a:bodyPr>
          <a:lstStyle/>
          <a:p>
            <a:pPr algn="l">
              <a:lnSpc>
                <a:spcPct val="100000"/>
              </a:lnSpc>
              <a:spcAft>
                <a:spcPts val="0"/>
              </a:spcAft>
            </a:pPr>
            <a:r>
              <a:rPr sz="850" b="0" i="0">
                <a:solidFill>
                  <a:srgbClr val="767576"/>
                </a:solidFill>
                <a:latin typeface="Arial"/>
              </a:rPr>
              <a:t>the shared state, from the data</a:t>
            </a:r>
          </a:p>
        </p:txBody>
      </p:sp>
      <p:cxnSp>
        <p:nvCxnSpPr>
          <p:cNvPr id="51" name="Connector 50"/>
          <p:cNvCxnSpPr/>
          <p:nvPr/>
        </p:nvCxnSpPr>
        <p:spPr>
          <a:xfrm>
            <a:off x="374904" y="4169664"/>
            <a:ext cx="11441887" cy="0"/>
          </a:xfrm>
          <a:prstGeom prst="line">
            <a:avLst/>
          </a:prstGeom>
          <a:ln w="6350">
            <a:solidFill>
              <a:srgbClr val="D0CECE"/>
            </a:solidFill>
          </a:ln>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466344" y="4261104"/>
            <a:ext cx="4663440" cy="237744"/>
          </a:xfrm>
          <a:prstGeom prst="rect">
            <a:avLst/>
          </a:prstGeom>
          <a:noFill/>
        </p:spPr>
        <p:txBody>
          <a:bodyPr wrap="none" lIns="0" rIns="0" tIns="0" bIns="0" anchor="t">
            <a:spAutoFit/>
          </a:bodyPr>
          <a:lstStyle/>
          <a:p>
            <a:pPr algn="l">
              <a:lnSpc>
                <a:spcPct val="100000"/>
              </a:lnSpc>
              <a:spcAft>
                <a:spcPts val="0"/>
              </a:spcAft>
            </a:pPr>
            <a:r>
              <a:rPr sz="1000" b="0" i="0">
                <a:solidFill>
                  <a:srgbClr val="000000"/>
                </a:solidFill>
                <a:latin typeface="Arial"/>
              </a:rPr>
              <a:t>Entity List designation</a:t>
            </a:r>
          </a:p>
        </p:txBody>
      </p:sp>
      <p:sp>
        <p:nvSpPr>
          <p:cNvPr id="53" name="TextBox 52"/>
          <p:cNvSpPr txBox="1"/>
          <p:nvPr/>
        </p:nvSpPr>
        <p:spPr>
          <a:xfrm>
            <a:off x="5221224" y="4261104"/>
            <a:ext cx="1737360" cy="237744"/>
          </a:xfrm>
          <a:prstGeom prst="rect">
            <a:avLst/>
          </a:prstGeom>
          <a:noFill/>
        </p:spPr>
        <p:txBody>
          <a:bodyPr wrap="none" lIns="0" rIns="0" tIns="0" bIns="0" anchor="t">
            <a:spAutoFit/>
          </a:bodyPr>
          <a:lstStyle/>
          <a:p>
            <a:pPr algn="r">
              <a:lnSpc>
                <a:spcPct val="100000"/>
              </a:lnSpc>
              <a:spcAft>
                <a:spcPts val="0"/>
              </a:spcAft>
            </a:pPr>
            <a:r>
              <a:rPr sz="1000" b="1" i="0">
                <a:solidFill>
                  <a:srgbClr val="767576"/>
                </a:solidFill>
                <a:latin typeface="Arial"/>
              </a:rPr>
              <a:t>Neutral</a:t>
            </a:r>
          </a:p>
        </p:txBody>
      </p:sp>
      <p:sp>
        <p:nvSpPr>
          <p:cNvPr id="54" name="TextBox 53"/>
          <p:cNvSpPr txBox="1"/>
          <p:nvPr/>
        </p:nvSpPr>
        <p:spPr>
          <a:xfrm>
            <a:off x="7232903" y="4261104"/>
            <a:ext cx="2103120" cy="237744"/>
          </a:xfrm>
          <a:prstGeom prst="rect">
            <a:avLst/>
          </a:prstGeom>
          <a:noFill/>
        </p:spPr>
        <p:txBody>
          <a:bodyPr wrap="none" lIns="0" rIns="0" tIns="0" bIns="0" anchor="t">
            <a:spAutoFit/>
          </a:bodyPr>
          <a:lstStyle/>
          <a:p>
            <a:pPr algn="l">
              <a:lnSpc>
                <a:spcPct val="100000"/>
              </a:lnSpc>
              <a:spcAft>
                <a:spcPts val="0"/>
              </a:spcAft>
            </a:pPr>
            <a:r>
              <a:rPr sz="1000" b="0" i="0">
                <a:solidFill>
                  <a:srgbClr val="000000"/>
                </a:solidFill>
                <a:latin typeface="Arial"/>
              </a:rPr>
              <a:t>The stop</a:t>
            </a:r>
          </a:p>
        </p:txBody>
      </p:sp>
      <p:sp>
        <p:nvSpPr>
          <p:cNvPr id="55" name="TextBox 54"/>
          <p:cNvSpPr txBox="1"/>
          <p:nvPr/>
        </p:nvSpPr>
        <p:spPr>
          <a:xfrm>
            <a:off x="9427464" y="4261104"/>
            <a:ext cx="2297887" cy="237744"/>
          </a:xfrm>
          <a:prstGeom prst="rect">
            <a:avLst/>
          </a:prstGeom>
          <a:noFill/>
        </p:spPr>
        <p:txBody>
          <a:bodyPr wrap="none" lIns="0" rIns="0" tIns="0" bIns="0" anchor="t">
            <a:spAutoFit/>
          </a:bodyPr>
          <a:lstStyle/>
          <a:p>
            <a:pPr algn="l">
              <a:lnSpc>
                <a:spcPct val="100000"/>
              </a:lnSpc>
              <a:spcAft>
                <a:spcPts val="0"/>
              </a:spcAft>
            </a:pPr>
            <a:r>
              <a:rPr sz="850" b="0" i="0">
                <a:solidFill>
                  <a:srgbClr val="767576"/>
                </a:solidFill>
                <a:latin typeface="Arial"/>
              </a:rPr>
              <a:t>undated</a:t>
            </a:r>
          </a:p>
        </p:txBody>
      </p:sp>
      <p:cxnSp>
        <p:nvCxnSpPr>
          <p:cNvPr id="56" name="Connector 55"/>
          <p:cNvCxnSpPr/>
          <p:nvPr/>
        </p:nvCxnSpPr>
        <p:spPr>
          <a:xfrm>
            <a:off x="374904" y="4535424"/>
            <a:ext cx="11441887" cy="0"/>
          </a:xfrm>
          <a:prstGeom prst="line">
            <a:avLst/>
          </a:prstGeom>
          <a:ln w="6350">
            <a:solidFill>
              <a:srgbClr val="D0CECE"/>
            </a:solidFill>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374904" y="4736592"/>
            <a:ext cx="6949440" cy="786384"/>
          </a:xfrm>
          <a:prstGeom prst="rect">
            <a:avLst/>
          </a:prstGeom>
          <a:noFill/>
        </p:spPr>
        <p:txBody>
          <a:bodyPr wrap="square" lIns="0" rIns="0" tIns="0" bIns="0" anchor="t">
            <a:spAutoFit/>
          </a:bodyPr>
          <a:lstStyle/>
          <a:p>
            <a:pPr algn="l">
              <a:lnSpc>
                <a:spcPct val="120000"/>
              </a:lnSpc>
              <a:spcAft>
                <a:spcPts val="0"/>
              </a:spcAft>
            </a:pPr>
            <a:r>
              <a:rPr sz="950" b="1" i="0">
                <a:solidFill>
                  <a:srgbClr val="DB0011"/>
                </a:solidFill>
                <a:latin typeface="Arial"/>
              </a:rPr>
              <a:t>The two parallel rows are the point of the table. </a:t>
            </a:r>
            <a:r>
              <a:rPr sz="950" b="0" i="0">
                <a:solidFill>
                  <a:srgbClr val="000000"/>
                </a:solidFill>
                <a:latin typeface="Arial"/>
              </a:rPr>
              <a:t>They are not zero, and they are not mirrors of one another: −¥0.80m on +50bp and −¥0.84m on −50bp. The package loses on a parallel move in either direction because it is short the longer and more convex leg. A slope-times-DV01 table would print zero twice and hide it.</a:t>
            </a:r>
          </a:p>
        </p:txBody>
      </p:sp>
      <p:sp>
        <p:nvSpPr>
          <p:cNvPr id="58" name="Rectangle 57"/>
          <p:cNvSpPr/>
          <p:nvPr/>
        </p:nvSpPr>
        <p:spPr>
          <a:xfrm>
            <a:off x="7680960" y="4700016"/>
            <a:ext cx="4142232" cy="1097280"/>
          </a:xfrm>
          <a:prstGeom prst="rect">
            <a:avLst/>
          </a:pr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Rectangle 58"/>
          <p:cNvSpPr/>
          <p:nvPr/>
        </p:nvSpPr>
        <p:spPr>
          <a:xfrm>
            <a:off x="7680960" y="4700016"/>
            <a:ext cx="41148" cy="1097280"/>
          </a:xfrm>
          <a:prstGeom prst="rect">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Box 59"/>
          <p:cNvSpPr txBox="1"/>
          <p:nvPr/>
        </p:nvSpPr>
        <p:spPr>
          <a:xfrm>
            <a:off x="7900416" y="4791456"/>
            <a:ext cx="3794760" cy="950976"/>
          </a:xfrm>
          <a:prstGeom prst="rect">
            <a:avLst/>
          </a:prstGeom>
          <a:noFill/>
        </p:spPr>
        <p:txBody>
          <a:bodyPr wrap="square" lIns="0" rIns="0" tIns="0" bIns="0" anchor="t">
            <a:spAutoFit/>
          </a:bodyPr>
          <a:lstStyle/>
          <a:p>
            <a:pPr algn="l">
              <a:lnSpc>
                <a:spcPct val="116000"/>
              </a:lnSpc>
              <a:spcAft>
                <a:spcPts val="0"/>
              </a:spcAft>
            </a:pPr>
            <a:r>
              <a:rPr sz="900" b="1" i="0">
                <a:solidFill>
                  <a:srgbClr val="000000"/>
                </a:solidFill>
                <a:latin typeface="Arial"/>
              </a:rPr>
              <a:t>Only one row is measured rather than modelled. </a:t>
            </a:r>
            <a:r>
              <a:rPr sz="900" b="0" i="0">
                <a:solidFill>
                  <a:srgbClr val="000000"/>
                </a:solidFill>
                <a:latin typeface="Arial"/>
              </a:rPr>
              <a:t>The rally week is the mean of the 143 weeks since 2000 in which the 10-year rallied 5bp or more. Every other row is a stated shift. Labelling which is which is the difference between a stress test and a set of assumptions.</a:t>
            </a:r>
          </a:p>
        </p:txBody>
      </p:sp>
      <p:sp>
        <p:nvSpPr>
          <p:cNvPr id="61" name="TextBox 60"/>
          <p:cNvSpPr txBox="1"/>
          <p:nvPr/>
        </p:nvSpPr>
        <p:spPr>
          <a:xfrm>
            <a:off x="374904" y="6455664"/>
            <a:ext cx="11441887" cy="274320"/>
          </a:xfrm>
          <a:prstGeom prst="rect">
            <a:avLst/>
          </a:prstGeom>
          <a:noFill/>
        </p:spPr>
        <p:txBody>
          <a:bodyPr wrap="square" lIns="0" rIns="0" tIns="0" bIns="0" anchor="t">
            <a:spAutoFit/>
          </a:bodyPr>
          <a:lstStyle/>
          <a:p>
            <a:pPr algn="l">
              <a:lnSpc>
                <a:spcPct val="110000"/>
              </a:lnSpc>
              <a:spcAft>
                <a:spcPts val="0"/>
              </a:spcAft>
            </a:pPr>
            <a:r>
              <a:rPr sz="800" b="0" i="0">
                <a:solidFill>
                  <a:srgbClr val="767576"/>
                </a:solidFill>
                <a:latin typeface="Arial"/>
              </a:rPr>
              <a:t>Rates rows from jgb_cashflow_risk.py on the MoF curve at 31-Jul-26, per ¥1bn of back leg. The rally-week row is from jgb_rally_asymmetry.py. CATL responses are directional, not priced, because the position's levels are not yet set.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DE18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Freeform 2"/>
          <p:cNvSpPr/>
          <p:nvPr/>
        </p:nvSpPr>
        <p:spPr>
          <a:xfrm>
            <a:off x="0" y="0"/>
            <a:ext cx="6095847" cy="6858000"/>
          </a:xfrm>
          <a:custGeom>
            <a:avLst/>
            <a:gdLst/>
            <a:ahLst/>
            <a:cxnLst/>
            <a:rect l="l" t="t" r="r" b="b"/>
            <a:pathLst>
              <a:path w="6095847" h="6858000">
                <a:moveTo>
                  <a:pt x="0" y="0"/>
                </a:moveTo>
                <a:lnTo>
                  <a:pt x="0" y="6858000"/>
                </a:lnTo>
                <a:lnTo>
                  <a:pt x="6095847" y="3429000"/>
                </a:lnTo>
                <a:close/>
              </a:path>
            </a:pathLst>
          </a:custGeom>
          <a:solidFill>
            <a:srgbClr val="DC06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6095847" y="0"/>
            <a:ext cx="6095848" cy="6858000"/>
          </a:xfrm>
          <a:custGeom>
            <a:avLst/>
            <a:gdLst/>
            <a:ahLst/>
            <a:cxnLst/>
            <a:rect l="l" t="t" r="r" b="b"/>
            <a:pathLst>
              <a:path w="6095848" h="6858000">
                <a:moveTo>
                  <a:pt x="6095848" y="0"/>
                </a:moveTo>
                <a:lnTo>
                  <a:pt x="6095848" y="6858000"/>
                </a:lnTo>
                <a:lnTo>
                  <a:pt x="0" y="3429000"/>
                </a:lnTo>
                <a:close/>
              </a:path>
            </a:pathLst>
          </a:custGeom>
          <a:solidFill>
            <a:srgbClr val="DC06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68151" y="6537960"/>
            <a:ext cx="548640" cy="201168"/>
          </a:xfrm>
          <a:prstGeom prst="rect">
            <a:avLst/>
          </a:prstGeom>
          <a:noFill/>
        </p:spPr>
        <p:txBody>
          <a:bodyPr wrap="none" lIns="0" rIns="0" tIns="0" bIns="0" anchor="t">
            <a:spAutoFit/>
          </a:bodyPr>
          <a:lstStyle/>
          <a:p>
            <a:pPr algn="r">
              <a:lnSpc>
                <a:spcPct val="100000"/>
              </a:lnSpc>
              <a:spcAft>
                <a:spcPts val="0"/>
              </a:spcAft>
            </a:pPr>
            <a:r>
              <a:rPr sz="800" b="0" i="0">
                <a:solidFill>
                  <a:srgbClr val="FFFFFF"/>
                </a:solidFill>
                <a:latin typeface="Arial"/>
              </a:rPr>
              <a:t>9</a:t>
            </a:r>
          </a:p>
        </p:txBody>
      </p:sp>
      <p:sp>
        <p:nvSpPr>
          <p:cNvPr id="6" name="TextBox 5"/>
          <p:cNvSpPr txBox="1"/>
          <p:nvPr/>
        </p:nvSpPr>
        <p:spPr>
          <a:xfrm>
            <a:off x="374904" y="1371600"/>
            <a:ext cx="10607040" cy="365760"/>
          </a:xfrm>
          <a:prstGeom prst="rect">
            <a:avLst/>
          </a:prstGeom>
          <a:noFill/>
        </p:spPr>
        <p:txBody>
          <a:bodyPr wrap="none" lIns="0" rIns="0" tIns="0" bIns="0" anchor="t">
            <a:spAutoFit/>
          </a:bodyPr>
          <a:lstStyle/>
          <a:p>
            <a:pPr algn="l">
              <a:lnSpc>
                <a:spcPct val="100000"/>
              </a:lnSpc>
              <a:spcAft>
                <a:spcPts val="0"/>
              </a:spcAft>
            </a:pPr>
            <a:r>
              <a:rPr sz="1050" b="1" i="0">
                <a:solidFill>
                  <a:srgbClr val="FFFFFF"/>
                </a:solidFill>
                <a:latin typeface="Arial"/>
              </a:rPr>
              <a:t>What we are not hedged for</a:t>
            </a:r>
          </a:p>
        </p:txBody>
      </p:sp>
      <p:cxnSp>
        <p:nvCxnSpPr>
          <p:cNvPr id="7" name="Connector 6"/>
          <p:cNvCxnSpPr/>
          <p:nvPr/>
        </p:nvCxnSpPr>
        <p:spPr>
          <a:xfrm>
            <a:off x="374904" y="1755648"/>
            <a:ext cx="548640" cy="0"/>
          </a:xfrm>
          <a:prstGeom prst="line">
            <a:avLst/>
          </a:prstGeom>
          <a:ln w="25400">
            <a:solidFill>
              <a:srgbClr val="FFFFFF"/>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374904" y="2103120"/>
            <a:ext cx="10424160" cy="1737360"/>
          </a:xfrm>
          <a:prstGeom prst="rect">
            <a:avLst/>
          </a:prstGeom>
          <a:noFill/>
        </p:spPr>
        <p:txBody>
          <a:bodyPr wrap="square" lIns="0" rIns="0" tIns="0" bIns="0" anchor="t">
            <a:spAutoFit/>
          </a:bodyPr>
          <a:lstStyle/>
          <a:p>
            <a:pPr algn="l">
              <a:lnSpc>
                <a:spcPct val="116000"/>
              </a:lnSpc>
              <a:spcAft>
                <a:spcPts val="0"/>
              </a:spcAft>
            </a:pPr>
            <a:r>
              <a:rPr sz="3000" b="0" i="0">
                <a:solidFill>
                  <a:srgbClr val="FFFFFF"/>
                </a:solidFill>
                <a:latin typeface="Arial"/>
              </a:rPr>
              <a:t>A global flight to quality. The JGB long end leads the rally, 2s10s flattens, and Asian growth equity de-rates in the same weeks.</a:t>
            </a:r>
          </a:p>
        </p:txBody>
      </p:sp>
      <p:sp>
        <p:nvSpPr>
          <p:cNvPr id="9" name="TextBox 8"/>
          <p:cNvSpPr txBox="1"/>
          <p:nvPr/>
        </p:nvSpPr>
        <p:spPr>
          <a:xfrm>
            <a:off x="374904" y="4023360"/>
            <a:ext cx="10424160" cy="1005840"/>
          </a:xfrm>
          <a:prstGeom prst="rect">
            <a:avLst/>
          </a:prstGeom>
          <a:noFill/>
        </p:spPr>
        <p:txBody>
          <a:bodyPr wrap="square" lIns="0" rIns="0" tIns="0" bIns="0" anchor="t">
            <a:spAutoFit/>
          </a:bodyPr>
          <a:lstStyle/>
          <a:p>
            <a:pPr algn="l">
              <a:lnSpc>
                <a:spcPct val="130000"/>
              </a:lnSpc>
              <a:spcAft>
                <a:spcPts val="0"/>
              </a:spcAft>
            </a:pPr>
            <a:r>
              <a:rPr sz="1350" b="0" i="0">
                <a:solidFill>
                  <a:srgbClr val="FFFFFF"/>
                </a:solidFill>
                <a:latin typeface="Arial"/>
              </a:rPr>
              <a:t>It is the one state in which both sleeves lose together, and it is measured rather than feared: </a:t>
            </a:r>
            <a:r>
              <a:rPr sz="1350" b="1" i="0">
                <a:solidFill>
                  <a:srgbClr val="FFFFFF"/>
                </a:solidFill>
                <a:latin typeface="Arial"/>
              </a:rPr>
              <a:t>the steepener runs +0.13 against the S&amp;P across all weeks and +0.42 in the worst quintile.</a:t>
            </a:r>
            <a:r>
              <a:rPr sz="1350" b="0" i="0">
                <a:solidFill>
                  <a:srgbClr val="FFFFFF"/>
                </a:solidFill>
                <a:latin typeface="Arial"/>
              </a:rPr>
              <a:t>  Sizing is the only answer we have to it. There is no cheap hedge that does not cost more than the risk.</a:t>
            </a:r>
          </a:p>
        </p:txBody>
      </p:sp>
      <p:sp>
        <p:nvSpPr>
          <p:cNvPr id="10" name="TextBox 9"/>
          <p:cNvSpPr txBox="1"/>
          <p:nvPr/>
        </p:nvSpPr>
        <p:spPr>
          <a:xfrm>
            <a:off x="374904" y="5577840"/>
            <a:ext cx="10424160" cy="457200"/>
          </a:xfrm>
          <a:prstGeom prst="rect">
            <a:avLst/>
          </a:prstGeom>
          <a:noFill/>
        </p:spPr>
        <p:txBody>
          <a:bodyPr wrap="square" lIns="0" rIns="0" tIns="0" bIns="0" anchor="t">
            <a:spAutoFit/>
          </a:bodyPr>
          <a:lstStyle/>
          <a:p>
            <a:pPr algn="l">
              <a:lnSpc>
                <a:spcPct val="120000"/>
              </a:lnSpc>
              <a:spcAft>
                <a:spcPts val="0"/>
              </a:spcAft>
            </a:pPr>
            <a:r>
              <a:rPr sz="1100" b="0" i="1">
                <a:solidFill>
                  <a:srgbClr val="FFFFFF"/>
                </a:solidFill>
                <a:latin typeface="Arial"/>
              </a:rPr>
              <a:t>The falsifier is unchanged: a durable Hormuz settlement frees the BoJ and lifts Asian growth equity at once.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