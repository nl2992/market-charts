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lsx" ContentType="application/vnd.openxmlformats-officedocument.spreadsheetml.sheet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charts/chart1.xml" ContentType="application/vnd.openxmlformats-officedocument.drawingml.chart+xml"/>
  <Override PartName="/ppt/charts/chart2.xml" ContentType="application/vnd.openxmlformats-officedocument.drawingml.chart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/Relationships>
</file>

<file path=ppt/charts/_rels/chart1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1.xlsx"/></Relationships>
</file>

<file path=ppt/charts/_rels/chart2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2.xlsx"/></Relationships>
</file>

<file path=ppt/charts/chart1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chart>
    <c:autoTitleDeleted val="1"/>
    <c:plotArea>
      <c:lineChart>
        <c:grouping val="standar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31-Jul-25</c:v>
                </c:pt>
              </c:strCache>
            </c:strRef>
          </c:tx>
          <c:spPr>
            <a:ln w="15875">
              <a:solidFill>
                <a:srgbClr val="767576"/>
              </a:solidFill>
            </a:ln>
          </c:spPr>
          <c:marker>
            <c:symbol val="none"/>
          </c:marker>
          <c:cat>
            <c:strRef>
              <c:f>Sheet1!$A$2:$A$82</c:f>
              <c:strCache>
                <c:ptCount val="81"/>
                <c:pt idx="0">
                  <c:v>1Y</c:v>
                </c:pt>
                <c:pt idx="1">
                  <c:v/>
                </c:pt>
                <c:pt idx="2">
                  <c:v/>
                </c:pt>
                <c:pt idx="3">
                  <c:v/>
                </c:pt>
                <c:pt idx="4">
                  <c:v/>
                </c:pt>
                <c:pt idx="5">
                  <c:v/>
                </c:pt>
                <c:pt idx="6">
                  <c:v/>
                </c:pt>
                <c:pt idx="7">
                  <c:v/>
                </c:pt>
                <c:pt idx="8">
                  <c:v/>
                </c:pt>
                <c:pt idx="9">
                  <c:v/>
                </c:pt>
                <c:pt idx="10">
                  <c:v/>
                </c:pt>
                <c:pt idx="11">
                  <c:v/>
                </c:pt>
                <c:pt idx="12">
                  <c:v/>
                </c:pt>
                <c:pt idx="13">
                  <c:v/>
                </c:pt>
                <c:pt idx="14">
                  <c:v/>
                </c:pt>
                <c:pt idx="15">
                  <c:v/>
                </c:pt>
                <c:pt idx="16">
                  <c:v>2Y</c:v>
                </c:pt>
                <c:pt idx="17">
                  <c:v/>
                </c:pt>
                <c:pt idx="18">
                  <c:v/>
                </c:pt>
                <c:pt idx="19">
                  <c:v/>
                </c:pt>
                <c:pt idx="20">
                  <c:v/>
                </c:pt>
                <c:pt idx="21">
                  <c:v/>
                </c:pt>
                <c:pt idx="22">
                  <c:v/>
                </c:pt>
                <c:pt idx="23">
                  <c:v/>
                </c:pt>
                <c:pt idx="24">
                  <c:v/>
                </c:pt>
                <c:pt idx="25">
                  <c:v/>
                </c:pt>
                <c:pt idx="26">
                  <c:v/>
                </c:pt>
                <c:pt idx="27">
                  <c:v/>
                </c:pt>
                <c:pt idx="28">
                  <c:v/>
                </c:pt>
                <c:pt idx="29">
                  <c:v/>
                </c:pt>
                <c:pt idx="30">
                  <c:v/>
                </c:pt>
                <c:pt idx="31">
                  <c:v/>
                </c:pt>
                <c:pt idx="32">
                  <c:v/>
                </c:pt>
                <c:pt idx="33">
                  <c:v/>
                </c:pt>
                <c:pt idx="34">
                  <c:v/>
                </c:pt>
                <c:pt idx="35">
                  <c:v/>
                </c:pt>
                <c:pt idx="36">
                  <c:v/>
                </c:pt>
                <c:pt idx="37">
                  <c:v/>
                </c:pt>
                <c:pt idx="38">
                  <c:v>5Y</c:v>
                </c:pt>
                <c:pt idx="39">
                  <c:v/>
                </c:pt>
                <c:pt idx="40">
                  <c:v/>
                </c:pt>
                <c:pt idx="41">
                  <c:v/>
                </c:pt>
                <c:pt idx="42">
                  <c:v/>
                </c:pt>
                <c:pt idx="43">
                  <c:v/>
                </c:pt>
                <c:pt idx="44">
                  <c:v/>
                </c:pt>
                <c:pt idx="45">
                  <c:v/>
                </c:pt>
                <c:pt idx="46">
                  <c:v/>
                </c:pt>
                <c:pt idx="47">
                  <c:v/>
                </c:pt>
                <c:pt idx="48">
                  <c:v/>
                </c:pt>
                <c:pt idx="49">
                  <c:v/>
                </c:pt>
                <c:pt idx="50">
                  <c:v/>
                </c:pt>
                <c:pt idx="51">
                  <c:v/>
                </c:pt>
                <c:pt idx="52">
                  <c:v/>
                </c:pt>
                <c:pt idx="53">
                  <c:v/>
                </c:pt>
                <c:pt idx="54">
                  <c:v>10Y</c:v>
                </c:pt>
                <c:pt idx="55">
                  <c:v/>
                </c:pt>
                <c:pt idx="56">
                  <c:v/>
                </c:pt>
                <c:pt idx="57">
                  <c:v/>
                </c:pt>
                <c:pt idx="58">
                  <c:v/>
                </c:pt>
                <c:pt idx="59">
                  <c:v/>
                </c:pt>
                <c:pt idx="60">
                  <c:v/>
                </c:pt>
                <c:pt idx="61">
                  <c:v/>
                </c:pt>
                <c:pt idx="62">
                  <c:v/>
                </c:pt>
                <c:pt idx="63">
                  <c:v/>
                </c:pt>
                <c:pt idx="64">
                  <c:v/>
                </c:pt>
                <c:pt idx="65">
                  <c:v/>
                </c:pt>
                <c:pt idx="66">
                  <c:v/>
                </c:pt>
                <c:pt idx="67">
                  <c:v/>
                </c:pt>
                <c:pt idx="68">
                  <c:v/>
                </c:pt>
                <c:pt idx="69">
                  <c:v/>
                </c:pt>
                <c:pt idx="70">
                  <c:v>20Y</c:v>
                </c:pt>
                <c:pt idx="71">
                  <c:v/>
                </c:pt>
                <c:pt idx="72">
                  <c:v/>
                </c:pt>
                <c:pt idx="73">
                  <c:v/>
                </c:pt>
                <c:pt idx="74">
                  <c:v/>
                </c:pt>
                <c:pt idx="75">
                  <c:v/>
                </c:pt>
                <c:pt idx="76">
                  <c:v/>
                </c:pt>
                <c:pt idx="77">
                  <c:v/>
                </c:pt>
                <c:pt idx="78">
                  <c:v/>
                </c:pt>
                <c:pt idx="79">
                  <c:v/>
                </c:pt>
                <c:pt idx="80">
                  <c:v>30Y</c:v>
                </c:pt>
              </c:strCache>
            </c:strRef>
          </c:cat>
          <c:val>
            <c:numRef>
              <c:f>Sheet1!$B$2:$B$82</c:f>
              <c:numCache>
                <c:formatCode>General</c:formatCode>
                <c:ptCount val="81"/>
                <c:pt idx="0">
                  <c:v>0.661</c:v>
                </c:pt>
                <c:pt idx="1">
                  <c:v>0.6684</c:v>
                </c:pt>
                <c:pt idx="2">
                  <c:v>0.6761</c:v>
                </c:pt>
                <c:pt idx="3">
                  <c:v>0.6841</c:v>
                </c:pt>
                <c:pt idx="4">
                  <c:v>0.6923</c:v>
                </c:pt>
                <c:pt idx="5">
                  <c:v>0.7008</c:v>
                </c:pt>
                <c:pt idx="6">
                  <c:v>0.7096</c:v>
                </c:pt>
                <c:pt idx="7">
                  <c:v>0.7187</c:v>
                </c:pt>
                <c:pt idx="8">
                  <c:v>0.7281</c:v>
                </c:pt>
                <c:pt idx="9">
                  <c:v>0.7378</c:v>
                </c:pt>
                <c:pt idx="10">
                  <c:v>0.7478</c:v>
                </c:pt>
                <c:pt idx="11">
                  <c:v>0.7581</c:v>
                </c:pt>
                <c:pt idx="12">
                  <c:v>0.7686</c:v>
                </c:pt>
                <c:pt idx="13">
                  <c:v>0.7795</c:v>
                </c:pt>
                <c:pt idx="14">
                  <c:v>0.7907</c:v>
                </c:pt>
                <c:pt idx="15">
                  <c:v>0.8022</c:v>
                </c:pt>
                <c:pt idx="16">
                  <c:v>0.814</c:v>
                </c:pt>
                <c:pt idx="17">
                  <c:v>0.8256</c:v>
                </c:pt>
                <c:pt idx="18">
                  <c:v>0.8375</c:v>
                </c:pt>
                <c:pt idx="19">
                  <c:v>0.8496</c:v>
                </c:pt>
                <c:pt idx="20">
                  <c:v>0.8619</c:v>
                </c:pt>
                <c:pt idx="21">
                  <c:v>0.8745</c:v>
                </c:pt>
                <c:pt idx="22">
                  <c:v>0.8872</c:v>
                </c:pt>
                <c:pt idx="23">
                  <c:v>0.9002</c:v>
                </c:pt>
                <c:pt idx="24">
                  <c:v>0.9133</c:v>
                </c:pt>
                <c:pt idx="25">
                  <c:v>0.9265</c:v>
                </c:pt>
                <c:pt idx="26">
                  <c:v>0.9399</c:v>
                </c:pt>
                <c:pt idx="27">
                  <c:v>0.9533</c:v>
                </c:pt>
                <c:pt idx="28">
                  <c:v>0.9667</c:v>
                </c:pt>
                <c:pt idx="29">
                  <c:v>0.9802</c:v>
                </c:pt>
                <c:pt idx="30">
                  <c:v>0.9935</c:v>
                </c:pt>
                <c:pt idx="31">
                  <c:v>1.0067</c:v>
                </c:pt>
                <c:pt idx="32">
                  <c:v>1.0198</c:v>
                </c:pt>
                <c:pt idx="33">
                  <c:v>1.0325</c:v>
                </c:pt>
                <c:pt idx="34">
                  <c:v>1.0449</c:v>
                </c:pt>
                <c:pt idx="35">
                  <c:v>1.0569</c:v>
                </c:pt>
                <c:pt idx="36">
                  <c:v>1.0683</c:v>
                </c:pt>
                <c:pt idx="37">
                  <c:v>1.079</c:v>
                </c:pt>
                <c:pt idx="38">
                  <c:v>1.089</c:v>
                </c:pt>
                <c:pt idx="39">
                  <c:v>1.0996</c:v>
                </c:pt>
                <c:pt idx="40">
                  <c:v>1.1117</c:v>
                </c:pt>
                <c:pt idx="41">
                  <c:v>1.1254</c:v>
                </c:pt>
                <c:pt idx="42">
                  <c:v>1.1409</c:v>
                </c:pt>
                <c:pt idx="43">
                  <c:v>1.1584</c:v>
                </c:pt>
                <c:pt idx="44">
                  <c:v>1.1782</c:v>
                </c:pt>
                <c:pt idx="45">
                  <c:v>1.2003</c:v>
                </c:pt>
                <c:pt idx="46">
                  <c:v>1.2252</c:v>
                </c:pt>
                <c:pt idx="47">
                  <c:v>1.253</c:v>
                </c:pt>
                <c:pt idx="48">
                  <c:v>1.2841</c:v>
                </c:pt>
                <c:pt idx="49">
                  <c:v>1.3188</c:v>
                </c:pt>
                <c:pt idx="50">
                  <c:v>1.3575</c:v>
                </c:pt>
                <c:pt idx="51">
                  <c:v>1.4005</c:v>
                </c:pt>
                <c:pt idx="52">
                  <c:v>1.4482</c:v>
                </c:pt>
                <c:pt idx="53">
                  <c:v>1.5012</c:v>
                </c:pt>
                <c:pt idx="54">
                  <c:v>1.56</c:v>
                </c:pt>
                <c:pt idx="55">
                  <c:v>1.6223</c:v>
                </c:pt>
                <c:pt idx="56">
                  <c:v>1.6856</c:v>
                </c:pt>
                <c:pt idx="57">
                  <c:v>1.7497</c:v>
                </c:pt>
                <c:pt idx="58">
                  <c:v>1.8144</c:v>
                </c:pt>
                <c:pt idx="59">
                  <c:v>1.8796</c:v>
                </c:pt>
                <c:pt idx="60">
                  <c:v>1.9452</c:v>
                </c:pt>
                <c:pt idx="61">
                  <c:v>2.0108</c:v>
                </c:pt>
                <c:pt idx="62">
                  <c:v>2.0762</c:v>
                </c:pt>
                <c:pt idx="63">
                  <c:v>2.1412</c:v>
                </c:pt>
                <c:pt idx="64">
                  <c:v>2.2053</c:v>
                </c:pt>
                <c:pt idx="65">
                  <c:v>2.2684</c:v>
                </c:pt>
                <c:pt idx="66">
                  <c:v>2.3299</c:v>
                </c:pt>
                <c:pt idx="67">
                  <c:v>2.3893</c:v>
                </c:pt>
                <c:pt idx="68">
                  <c:v>2.4462</c:v>
                </c:pt>
                <c:pt idx="69">
                  <c:v>2.5</c:v>
                </c:pt>
                <c:pt idx="70">
                  <c:v>2.55</c:v>
                </c:pt>
                <c:pt idx="71">
                  <c:v>2.5953</c:v>
                </c:pt>
                <c:pt idx="72">
                  <c:v>2.6415</c:v>
                </c:pt>
                <c:pt idx="73">
                  <c:v>2.6886</c:v>
                </c:pt>
                <c:pt idx="74">
                  <c:v>2.7365</c:v>
                </c:pt>
                <c:pt idx="75">
                  <c:v>2.7852</c:v>
                </c:pt>
                <c:pt idx="76">
                  <c:v>2.8345</c:v>
                </c:pt>
                <c:pt idx="77">
                  <c:v>2.8845</c:v>
                </c:pt>
                <c:pt idx="78">
                  <c:v>2.935</c:v>
                </c:pt>
                <c:pt idx="79">
                  <c:v>2.9858</c:v>
                </c:pt>
                <c:pt idx="80">
                  <c:v>3.037</c:v>
                </c:pt>
              </c:numCache>
            </c:numRef>
          </c:val>
          <c:smooth val="0"/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31-Jul-26</c:v>
                </c:pt>
              </c:strCache>
            </c:strRef>
          </c:tx>
          <c:spPr>
            <a:ln w="28575">
              <a:solidFill>
                <a:srgbClr val="44546A"/>
              </a:solidFill>
            </a:ln>
          </c:spPr>
          <c:marker>
            <c:symbol val="none"/>
          </c:marker>
          <c:cat>
            <c:strRef>
              <c:f>Sheet1!$A$2:$A$82</c:f>
              <c:strCache>
                <c:ptCount val="81"/>
                <c:pt idx="0">
                  <c:v>1Y</c:v>
                </c:pt>
                <c:pt idx="1">
                  <c:v/>
                </c:pt>
                <c:pt idx="2">
                  <c:v/>
                </c:pt>
                <c:pt idx="3">
                  <c:v/>
                </c:pt>
                <c:pt idx="4">
                  <c:v/>
                </c:pt>
                <c:pt idx="5">
                  <c:v/>
                </c:pt>
                <c:pt idx="6">
                  <c:v/>
                </c:pt>
                <c:pt idx="7">
                  <c:v/>
                </c:pt>
                <c:pt idx="8">
                  <c:v/>
                </c:pt>
                <c:pt idx="9">
                  <c:v/>
                </c:pt>
                <c:pt idx="10">
                  <c:v/>
                </c:pt>
                <c:pt idx="11">
                  <c:v/>
                </c:pt>
                <c:pt idx="12">
                  <c:v/>
                </c:pt>
                <c:pt idx="13">
                  <c:v/>
                </c:pt>
                <c:pt idx="14">
                  <c:v/>
                </c:pt>
                <c:pt idx="15">
                  <c:v/>
                </c:pt>
                <c:pt idx="16">
                  <c:v>2Y</c:v>
                </c:pt>
                <c:pt idx="17">
                  <c:v/>
                </c:pt>
                <c:pt idx="18">
                  <c:v/>
                </c:pt>
                <c:pt idx="19">
                  <c:v/>
                </c:pt>
                <c:pt idx="20">
                  <c:v/>
                </c:pt>
                <c:pt idx="21">
                  <c:v/>
                </c:pt>
                <c:pt idx="22">
                  <c:v/>
                </c:pt>
                <c:pt idx="23">
                  <c:v/>
                </c:pt>
                <c:pt idx="24">
                  <c:v/>
                </c:pt>
                <c:pt idx="25">
                  <c:v/>
                </c:pt>
                <c:pt idx="26">
                  <c:v/>
                </c:pt>
                <c:pt idx="27">
                  <c:v/>
                </c:pt>
                <c:pt idx="28">
                  <c:v/>
                </c:pt>
                <c:pt idx="29">
                  <c:v/>
                </c:pt>
                <c:pt idx="30">
                  <c:v/>
                </c:pt>
                <c:pt idx="31">
                  <c:v/>
                </c:pt>
                <c:pt idx="32">
                  <c:v/>
                </c:pt>
                <c:pt idx="33">
                  <c:v/>
                </c:pt>
                <c:pt idx="34">
                  <c:v/>
                </c:pt>
                <c:pt idx="35">
                  <c:v/>
                </c:pt>
                <c:pt idx="36">
                  <c:v/>
                </c:pt>
                <c:pt idx="37">
                  <c:v/>
                </c:pt>
                <c:pt idx="38">
                  <c:v>5Y</c:v>
                </c:pt>
                <c:pt idx="39">
                  <c:v/>
                </c:pt>
                <c:pt idx="40">
                  <c:v/>
                </c:pt>
                <c:pt idx="41">
                  <c:v/>
                </c:pt>
                <c:pt idx="42">
                  <c:v/>
                </c:pt>
                <c:pt idx="43">
                  <c:v/>
                </c:pt>
                <c:pt idx="44">
                  <c:v/>
                </c:pt>
                <c:pt idx="45">
                  <c:v/>
                </c:pt>
                <c:pt idx="46">
                  <c:v/>
                </c:pt>
                <c:pt idx="47">
                  <c:v/>
                </c:pt>
                <c:pt idx="48">
                  <c:v/>
                </c:pt>
                <c:pt idx="49">
                  <c:v/>
                </c:pt>
                <c:pt idx="50">
                  <c:v/>
                </c:pt>
                <c:pt idx="51">
                  <c:v/>
                </c:pt>
                <c:pt idx="52">
                  <c:v/>
                </c:pt>
                <c:pt idx="53">
                  <c:v/>
                </c:pt>
                <c:pt idx="54">
                  <c:v>10Y</c:v>
                </c:pt>
                <c:pt idx="55">
                  <c:v/>
                </c:pt>
                <c:pt idx="56">
                  <c:v/>
                </c:pt>
                <c:pt idx="57">
                  <c:v/>
                </c:pt>
                <c:pt idx="58">
                  <c:v/>
                </c:pt>
                <c:pt idx="59">
                  <c:v/>
                </c:pt>
                <c:pt idx="60">
                  <c:v/>
                </c:pt>
                <c:pt idx="61">
                  <c:v/>
                </c:pt>
                <c:pt idx="62">
                  <c:v/>
                </c:pt>
                <c:pt idx="63">
                  <c:v/>
                </c:pt>
                <c:pt idx="64">
                  <c:v/>
                </c:pt>
                <c:pt idx="65">
                  <c:v/>
                </c:pt>
                <c:pt idx="66">
                  <c:v/>
                </c:pt>
                <c:pt idx="67">
                  <c:v/>
                </c:pt>
                <c:pt idx="68">
                  <c:v/>
                </c:pt>
                <c:pt idx="69">
                  <c:v/>
                </c:pt>
                <c:pt idx="70">
                  <c:v>20Y</c:v>
                </c:pt>
                <c:pt idx="71">
                  <c:v/>
                </c:pt>
                <c:pt idx="72">
                  <c:v/>
                </c:pt>
                <c:pt idx="73">
                  <c:v/>
                </c:pt>
                <c:pt idx="74">
                  <c:v/>
                </c:pt>
                <c:pt idx="75">
                  <c:v/>
                </c:pt>
                <c:pt idx="76">
                  <c:v/>
                </c:pt>
                <c:pt idx="77">
                  <c:v/>
                </c:pt>
                <c:pt idx="78">
                  <c:v/>
                </c:pt>
                <c:pt idx="79">
                  <c:v/>
                </c:pt>
                <c:pt idx="80">
                  <c:v>30Y</c:v>
                </c:pt>
              </c:strCache>
            </c:strRef>
          </c:cat>
          <c:val>
            <c:numRef>
              <c:f>Sheet1!$C$2:$C$82</c:f>
              <c:numCache>
                <c:formatCode>General</c:formatCode>
                <c:ptCount val="81"/>
                <c:pt idx="0">
                  <c:v>1.255</c:v>
                </c:pt>
                <c:pt idx="1">
                  <c:v>1.2669</c:v>
                </c:pt>
                <c:pt idx="2">
                  <c:v>1.2793</c:v>
                </c:pt>
                <c:pt idx="3">
                  <c:v>1.2922</c:v>
                </c:pt>
                <c:pt idx="4">
                  <c:v>1.3055</c:v>
                </c:pt>
                <c:pt idx="5">
                  <c:v>1.3193</c:v>
                </c:pt>
                <c:pt idx="6">
                  <c:v>1.3336</c:v>
                </c:pt>
                <c:pt idx="7">
                  <c:v>1.3484</c:v>
                </c:pt>
                <c:pt idx="8">
                  <c:v>1.3638</c:v>
                </c:pt>
                <c:pt idx="9">
                  <c:v>1.3797</c:v>
                </c:pt>
                <c:pt idx="10">
                  <c:v>1.3962</c:v>
                </c:pt>
                <c:pt idx="11">
                  <c:v>1.4132</c:v>
                </c:pt>
                <c:pt idx="12">
                  <c:v>1.4308</c:v>
                </c:pt>
                <c:pt idx="13">
                  <c:v>1.4489</c:v>
                </c:pt>
                <c:pt idx="14">
                  <c:v>1.4677</c:v>
                </c:pt>
                <c:pt idx="15">
                  <c:v>1.487</c:v>
                </c:pt>
                <c:pt idx="16">
                  <c:v>1.507</c:v>
                </c:pt>
                <c:pt idx="17">
                  <c:v>1.5268</c:v>
                </c:pt>
                <c:pt idx="18">
                  <c:v>1.5471</c:v>
                </c:pt>
                <c:pt idx="19">
                  <c:v>1.5679</c:v>
                </c:pt>
                <c:pt idx="20">
                  <c:v>1.5893</c:v>
                </c:pt>
                <c:pt idx="21">
                  <c:v>1.6113</c:v>
                </c:pt>
                <c:pt idx="22">
                  <c:v>1.6338</c:v>
                </c:pt>
                <c:pt idx="23">
                  <c:v>1.6569</c:v>
                </c:pt>
                <c:pt idx="24">
                  <c:v>1.6804</c:v>
                </c:pt>
                <c:pt idx="25">
                  <c:v>1.7045</c:v>
                </c:pt>
                <c:pt idx="26">
                  <c:v>1.729</c:v>
                </c:pt>
                <c:pt idx="27">
                  <c:v>1.754</c:v>
                </c:pt>
                <c:pt idx="28">
                  <c:v>1.7794</c:v>
                </c:pt>
                <c:pt idx="29">
                  <c:v>1.8052</c:v>
                </c:pt>
                <c:pt idx="30">
                  <c:v>1.8313</c:v>
                </c:pt>
                <c:pt idx="31">
                  <c:v>1.8577</c:v>
                </c:pt>
                <c:pt idx="32">
                  <c:v>1.8843</c:v>
                </c:pt>
                <c:pt idx="33">
                  <c:v>1.9111</c:v>
                </c:pt>
                <c:pt idx="34">
                  <c:v>1.9379</c:v>
                </c:pt>
                <c:pt idx="35">
                  <c:v>1.9647</c:v>
                </c:pt>
                <c:pt idx="36">
                  <c:v>1.9914</c:v>
                </c:pt>
                <c:pt idx="37">
                  <c:v>2.0179</c:v>
                </c:pt>
                <c:pt idx="38">
                  <c:v>2.044</c:v>
                </c:pt>
                <c:pt idx="39">
                  <c:v>2.0718</c:v>
                </c:pt>
                <c:pt idx="40">
                  <c:v>2.1013</c:v>
                </c:pt>
                <c:pt idx="41">
                  <c:v>2.1328</c:v>
                </c:pt>
                <c:pt idx="42">
                  <c:v>2.1664</c:v>
                </c:pt>
                <c:pt idx="43">
                  <c:v>2.2022</c:v>
                </c:pt>
                <c:pt idx="44">
                  <c:v>2.2404</c:v>
                </c:pt>
                <c:pt idx="45">
                  <c:v>2.2811</c:v>
                </c:pt>
                <c:pt idx="46">
                  <c:v>2.3246</c:v>
                </c:pt>
                <c:pt idx="47">
                  <c:v>2.3711</c:v>
                </c:pt>
                <c:pt idx="48">
                  <c:v>2.4208</c:v>
                </c:pt>
                <c:pt idx="49">
                  <c:v>2.4739</c:v>
                </c:pt>
                <c:pt idx="50">
                  <c:v>2.5307</c:v>
                </c:pt>
                <c:pt idx="51">
                  <c:v>2.5915</c:v>
                </c:pt>
                <c:pt idx="52">
                  <c:v>2.6566</c:v>
                </c:pt>
                <c:pt idx="53">
                  <c:v>2.7263</c:v>
                </c:pt>
                <c:pt idx="54">
                  <c:v>2.801</c:v>
                </c:pt>
                <c:pt idx="55">
                  <c:v>2.8783</c:v>
                </c:pt>
                <c:pt idx="56">
                  <c:v>2.9553</c:v>
                </c:pt>
                <c:pt idx="57">
                  <c:v>3.0315</c:v>
                </c:pt>
                <c:pt idx="58">
                  <c:v>3.1067</c:v>
                </c:pt>
                <c:pt idx="59">
                  <c:v>3.1804</c:v>
                </c:pt>
                <c:pt idx="60">
                  <c:v>3.252</c:v>
                </c:pt>
                <c:pt idx="61">
                  <c:v>3.321</c:v>
                </c:pt>
                <c:pt idx="62">
                  <c:v>3.3868</c:v>
                </c:pt>
                <c:pt idx="63">
                  <c:v>3.4485</c:v>
                </c:pt>
                <c:pt idx="64">
                  <c:v>3.5056</c:v>
                </c:pt>
                <c:pt idx="65">
                  <c:v>3.5569</c:v>
                </c:pt>
                <c:pt idx="66">
                  <c:v>3.6016</c:v>
                </c:pt>
                <c:pt idx="67">
                  <c:v>3.6386</c:v>
                </c:pt>
                <c:pt idx="68">
                  <c:v>3.6665</c:v>
                </c:pt>
                <c:pt idx="69">
                  <c:v>3.6842</c:v>
                </c:pt>
                <c:pt idx="70">
                  <c:v>3.69</c:v>
                </c:pt>
                <c:pt idx="71">
                  <c:v>3.6914</c:v>
                </c:pt>
                <c:pt idx="72">
                  <c:v>3.6973</c:v>
                </c:pt>
                <c:pt idx="73">
                  <c:v>3.7081</c:v>
                </c:pt>
                <c:pt idx="74">
                  <c:v>3.7245</c:v>
                </c:pt>
                <c:pt idx="75">
                  <c:v>3.7471</c:v>
                </c:pt>
                <c:pt idx="76">
                  <c:v>3.7767</c:v>
                </c:pt>
                <c:pt idx="77">
                  <c:v>3.8141</c:v>
                </c:pt>
                <c:pt idx="78">
                  <c:v>3.8601</c:v>
                </c:pt>
                <c:pt idx="79">
                  <c:v>3.9157</c:v>
                </c:pt>
                <c:pt idx="80">
                  <c:v>3.982</c:v>
                </c:pt>
              </c:numCache>
            </c:numRef>
          </c:val>
          <c:smooth val="0"/>
        </c:ser>
        <c:ser>
          <c:idx val="2"/>
          <c:order val="2"/>
          <c:tx>
            <c:strRef>
              <c:f>Sheet1!$D$1</c:f>
              <c:strCache>
                <c:ptCount val="1"/>
                <c:pt idx="0">
                  <c:v>Projected</c:v>
                </c:pt>
              </c:strCache>
            </c:strRef>
          </c:tx>
          <c:spPr>
            <a:ln w="25400">
              <a:solidFill>
                <a:srgbClr val="DB0011"/>
              </a:solidFill>
              <a:prstDash val="dash"/>
            </a:ln>
          </c:spPr>
          <c:marker>
            <c:symbol val="none"/>
          </c:marker>
          <c:cat>
            <c:strRef>
              <c:f>Sheet1!$A$2:$A$82</c:f>
              <c:strCache>
                <c:ptCount val="81"/>
                <c:pt idx="0">
                  <c:v>1Y</c:v>
                </c:pt>
                <c:pt idx="1">
                  <c:v/>
                </c:pt>
                <c:pt idx="2">
                  <c:v/>
                </c:pt>
                <c:pt idx="3">
                  <c:v/>
                </c:pt>
                <c:pt idx="4">
                  <c:v/>
                </c:pt>
                <c:pt idx="5">
                  <c:v/>
                </c:pt>
                <c:pt idx="6">
                  <c:v/>
                </c:pt>
                <c:pt idx="7">
                  <c:v/>
                </c:pt>
                <c:pt idx="8">
                  <c:v/>
                </c:pt>
                <c:pt idx="9">
                  <c:v/>
                </c:pt>
                <c:pt idx="10">
                  <c:v/>
                </c:pt>
                <c:pt idx="11">
                  <c:v/>
                </c:pt>
                <c:pt idx="12">
                  <c:v/>
                </c:pt>
                <c:pt idx="13">
                  <c:v/>
                </c:pt>
                <c:pt idx="14">
                  <c:v/>
                </c:pt>
                <c:pt idx="15">
                  <c:v/>
                </c:pt>
                <c:pt idx="16">
                  <c:v>2Y</c:v>
                </c:pt>
                <c:pt idx="17">
                  <c:v/>
                </c:pt>
                <c:pt idx="18">
                  <c:v/>
                </c:pt>
                <c:pt idx="19">
                  <c:v/>
                </c:pt>
                <c:pt idx="20">
                  <c:v/>
                </c:pt>
                <c:pt idx="21">
                  <c:v/>
                </c:pt>
                <c:pt idx="22">
                  <c:v/>
                </c:pt>
                <c:pt idx="23">
                  <c:v/>
                </c:pt>
                <c:pt idx="24">
                  <c:v/>
                </c:pt>
                <c:pt idx="25">
                  <c:v/>
                </c:pt>
                <c:pt idx="26">
                  <c:v/>
                </c:pt>
                <c:pt idx="27">
                  <c:v/>
                </c:pt>
                <c:pt idx="28">
                  <c:v/>
                </c:pt>
                <c:pt idx="29">
                  <c:v/>
                </c:pt>
                <c:pt idx="30">
                  <c:v/>
                </c:pt>
                <c:pt idx="31">
                  <c:v/>
                </c:pt>
                <c:pt idx="32">
                  <c:v/>
                </c:pt>
                <c:pt idx="33">
                  <c:v/>
                </c:pt>
                <c:pt idx="34">
                  <c:v/>
                </c:pt>
                <c:pt idx="35">
                  <c:v/>
                </c:pt>
                <c:pt idx="36">
                  <c:v/>
                </c:pt>
                <c:pt idx="37">
                  <c:v/>
                </c:pt>
                <c:pt idx="38">
                  <c:v>5Y</c:v>
                </c:pt>
                <c:pt idx="39">
                  <c:v/>
                </c:pt>
                <c:pt idx="40">
                  <c:v/>
                </c:pt>
                <c:pt idx="41">
                  <c:v/>
                </c:pt>
                <c:pt idx="42">
                  <c:v/>
                </c:pt>
                <c:pt idx="43">
                  <c:v/>
                </c:pt>
                <c:pt idx="44">
                  <c:v/>
                </c:pt>
                <c:pt idx="45">
                  <c:v/>
                </c:pt>
                <c:pt idx="46">
                  <c:v/>
                </c:pt>
                <c:pt idx="47">
                  <c:v/>
                </c:pt>
                <c:pt idx="48">
                  <c:v/>
                </c:pt>
                <c:pt idx="49">
                  <c:v/>
                </c:pt>
                <c:pt idx="50">
                  <c:v/>
                </c:pt>
                <c:pt idx="51">
                  <c:v/>
                </c:pt>
                <c:pt idx="52">
                  <c:v/>
                </c:pt>
                <c:pt idx="53">
                  <c:v/>
                </c:pt>
                <c:pt idx="54">
                  <c:v>10Y</c:v>
                </c:pt>
                <c:pt idx="55">
                  <c:v/>
                </c:pt>
                <c:pt idx="56">
                  <c:v/>
                </c:pt>
                <c:pt idx="57">
                  <c:v/>
                </c:pt>
                <c:pt idx="58">
                  <c:v/>
                </c:pt>
                <c:pt idx="59">
                  <c:v/>
                </c:pt>
                <c:pt idx="60">
                  <c:v/>
                </c:pt>
                <c:pt idx="61">
                  <c:v/>
                </c:pt>
                <c:pt idx="62">
                  <c:v/>
                </c:pt>
                <c:pt idx="63">
                  <c:v/>
                </c:pt>
                <c:pt idx="64">
                  <c:v/>
                </c:pt>
                <c:pt idx="65">
                  <c:v/>
                </c:pt>
                <c:pt idx="66">
                  <c:v/>
                </c:pt>
                <c:pt idx="67">
                  <c:v/>
                </c:pt>
                <c:pt idx="68">
                  <c:v/>
                </c:pt>
                <c:pt idx="69">
                  <c:v/>
                </c:pt>
                <c:pt idx="70">
                  <c:v>20Y</c:v>
                </c:pt>
                <c:pt idx="71">
                  <c:v/>
                </c:pt>
                <c:pt idx="72">
                  <c:v/>
                </c:pt>
                <c:pt idx="73">
                  <c:v/>
                </c:pt>
                <c:pt idx="74">
                  <c:v/>
                </c:pt>
                <c:pt idx="75">
                  <c:v/>
                </c:pt>
                <c:pt idx="76">
                  <c:v/>
                </c:pt>
                <c:pt idx="77">
                  <c:v/>
                </c:pt>
                <c:pt idx="78">
                  <c:v/>
                </c:pt>
                <c:pt idx="79">
                  <c:v/>
                </c:pt>
                <c:pt idx="80">
                  <c:v>30Y</c:v>
                </c:pt>
              </c:strCache>
            </c:strRef>
          </c:cat>
          <c:val>
            <c:numRef>
              <c:f>Sheet1!$D$2:$D$82</c:f>
              <c:numCache>
                <c:formatCode>General</c:formatCode>
                <c:ptCount val="81"/>
                <c:pt idx="0">
                  <c:v>1.305</c:v>
                </c:pt>
                <c:pt idx="1">
                  <c:v>1.319</c:v>
                </c:pt>
                <c:pt idx="2">
                  <c:v>1.3336</c:v>
                </c:pt>
                <c:pt idx="3">
                  <c:v>1.3488</c:v>
                </c:pt>
                <c:pt idx="4">
                  <c:v>1.3646</c:v>
                </c:pt>
                <c:pt idx="5">
                  <c:v>1.3809</c:v>
                </c:pt>
                <c:pt idx="6">
                  <c:v>1.3979</c:v>
                </c:pt>
                <c:pt idx="7">
                  <c:v>1.4156</c:v>
                </c:pt>
                <c:pt idx="8">
                  <c:v>1.4339</c:v>
                </c:pt>
                <c:pt idx="9">
                  <c:v>1.4529</c:v>
                </c:pt>
                <c:pt idx="10">
                  <c:v>1.4727</c:v>
                </c:pt>
                <c:pt idx="11">
                  <c:v>1.4931</c:v>
                </c:pt>
                <c:pt idx="12">
                  <c:v>1.5143</c:v>
                </c:pt>
                <c:pt idx="13">
                  <c:v>1.5363</c:v>
                </c:pt>
                <c:pt idx="14">
                  <c:v>1.5591</c:v>
                </c:pt>
                <c:pt idx="15">
                  <c:v>1.5826</c:v>
                </c:pt>
                <c:pt idx="16">
                  <c:v>1.607</c:v>
                </c:pt>
                <c:pt idx="17">
                  <c:v>1.6312</c:v>
                </c:pt>
                <c:pt idx="18">
                  <c:v>1.6563</c:v>
                </c:pt>
                <c:pt idx="19">
                  <c:v>1.6821</c:v>
                </c:pt>
                <c:pt idx="20">
                  <c:v>1.7087</c:v>
                </c:pt>
                <c:pt idx="21">
                  <c:v>1.7362</c:v>
                </c:pt>
                <c:pt idx="22">
                  <c:v>1.7645</c:v>
                </c:pt>
                <c:pt idx="23">
                  <c:v>1.7936</c:v>
                </c:pt>
                <c:pt idx="24">
                  <c:v>1.8235</c:v>
                </c:pt>
                <c:pt idx="25">
                  <c:v>1.8543</c:v>
                </c:pt>
                <c:pt idx="26">
                  <c:v>1.886</c:v>
                </c:pt>
                <c:pt idx="27">
                  <c:v>1.9184</c:v>
                </c:pt>
                <c:pt idx="28">
                  <c:v>1.9517</c:v>
                </c:pt>
                <c:pt idx="29">
                  <c:v>1.9858</c:v>
                </c:pt>
                <c:pt idx="30">
                  <c:v>2.0207</c:v>
                </c:pt>
                <c:pt idx="31">
                  <c:v>2.0564</c:v>
                </c:pt>
                <c:pt idx="32">
                  <c:v>2.0927</c:v>
                </c:pt>
                <c:pt idx="33">
                  <c:v>2.1298</c:v>
                </c:pt>
                <c:pt idx="34">
                  <c:v>2.1676</c:v>
                </c:pt>
                <c:pt idx="35">
                  <c:v>2.206</c:v>
                </c:pt>
                <c:pt idx="36">
                  <c:v>2.2449</c:v>
                </c:pt>
                <c:pt idx="37">
                  <c:v>2.2842</c:v>
                </c:pt>
                <c:pt idx="38">
                  <c:v>2.324</c:v>
                </c:pt>
                <c:pt idx="39">
                  <c:v>2.3663</c:v>
                </c:pt>
                <c:pt idx="40">
                  <c:v>2.4101</c:v>
                </c:pt>
                <c:pt idx="41">
                  <c:v>2.4555</c:v>
                </c:pt>
                <c:pt idx="42">
                  <c:v>2.5025</c:v>
                </c:pt>
                <c:pt idx="43">
                  <c:v>2.5511</c:v>
                </c:pt>
                <c:pt idx="44">
                  <c:v>2.6014</c:v>
                </c:pt>
                <c:pt idx="45">
                  <c:v>2.6534</c:v>
                </c:pt>
                <c:pt idx="46">
                  <c:v>2.7071</c:v>
                </c:pt>
                <c:pt idx="47">
                  <c:v>2.7626</c:v>
                </c:pt>
                <c:pt idx="48">
                  <c:v>2.8198</c:v>
                </c:pt>
                <c:pt idx="49">
                  <c:v>2.8788</c:v>
                </c:pt>
                <c:pt idx="50">
                  <c:v>2.9397</c:v>
                </c:pt>
                <c:pt idx="51">
                  <c:v>3.0023</c:v>
                </c:pt>
                <c:pt idx="52">
                  <c:v>3.0667</c:v>
                </c:pt>
                <c:pt idx="53">
                  <c:v>3.133</c:v>
                </c:pt>
                <c:pt idx="54">
                  <c:v>3.201</c:v>
                </c:pt>
                <c:pt idx="55">
                  <c:v>3.27</c:v>
                </c:pt>
                <c:pt idx="56">
                  <c:v>3.339</c:v>
                </c:pt>
                <c:pt idx="57">
                  <c:v>3.4077</c:v>
                </c:pt>
                <c:pt idx="58">
                  <c:v>3.4757</c:v>
                </c:pt>
                <c:pt idx="59">
                  <c:v>3.5429</c:v>
                </c:pt>
                <c:pt idx="60">
                  <c:v>3.6087</c:v>
                </c:pt>
                <c:pt idx="61">
                  <c:v>3.6726</c:v>
                </c:pt>
                <c:pt idx="62">
                  <c:v>3.7343</c:v>
                </c:pt>
                <c:pt idx="63">
                  <c:v>3.7931</c:v>
                </c:pt>
                <c:pt idx="64">
                  <c:v>3.8483</c:v>
                </c:pt>
                <c:pt idx="65">
                  <c:v>3.8994</c:v>
                </c:pt>
                <c:pt idx="66">
                  <c:v>3.9454</c:v>
                </c:pt>
                <c:pt idx="67">
                  <c:v>3.9855</c:v>
                </c:pt>
                <c:pt idx="68">
                  <c:v>4.0187</c:v>
                </c:pt>
                <c:pt idx="69">
                  <c:v>4.0439</c:v>
                </c:pt>
                <c:pt idx="70">
                  <c:v>4.06</c:v>
                </c:pt>
                <c:pt idx="71">
                  <c:v>4.0713</c:v>
                </c:pt>
                <c:pt idx="72">
                  <c:v>4.0845</c:v>
                </c:pt>
                <c:pt idx="73">
                  <c:v>4.1</c:v>
                </c:pt>
                <c:pt idx="74">
                  <c:v>4.1179</c:v>
                </c:pt>
                <c:pt idx="75">
                  <c:v>4.1384</c:v>
                </c:pt>
                <c:pt idx="76">
                  <c:v>4.1619</c:v>
                </c:pt>
                <c:pt idx="77">
                  <c:v>4.1887</c:v>
                </c:pt>
                <c:pt idx="78">
                  <c:v>4.2191</c:v>
                </c:pt>
                <c:pt idx="79">
                  <c:v>4.2534</c:v>
                </c:pt>
                <c:pt idx="80">
                  <c:v>4.292</c:v>
                </c:pt>
              </c:numCache>
            </c:numRef>
          </c:val>
          <c:smooth val="0"/>
        </c:ser>
        <c:marker val="1"/>
        <c:smooth val="0"/>
        <c:axId val="2118791784"/>
        <c:axId val="2140495176"/>
      </c:lineChart>
      <c:catAx>
        <c:axId val="2118791784"/>
        <c:scaling>
          <c:orientation val="minMax"/>
        </c:scaling>
        <c:delete val="0"/>
        <c:axPos val="b"/>
        <c:majorTickMark val="none"/>
        <c:minorTickMark val="none"/>
        <c:tickLblPos val="none"/>
        <c:spPr>
          <a:ln w="9525">
            <a:solidFill>
              <a:srgbClr val="000000"/>
            </a:solidFill>
          </a:ln>
        </c:spPr>
        <c:crossAx val="2140495176"/>
        <c:crosses val="autoZero"/>
        <c:auto val="1"/>
        <c:lblAlgn val="ctr"/>
        <c:lblOffset val="100"/>
        <c:noMultiLvlLbl val="0"/>
      </c:catAx>
      <c:valAx>
        <c:axId val="2140495176"/>
        <c:scaling>
          <c:max val="4.5"/>
          <c:min val="0.0"/>
        </c:scaling>
        <c:delete val="0"/>
        <c:axPos val="l"/>
        <c:majorGridlines>
          <c:spPr>
            <a:ln w="6350">
              <a:solidFill>
                <a:srgbClr val="ECECEC"/>
              </a:solidFill>
            </a:ln>
          </c:spPr>
        </c:majorGridlines>
        <c:numFmt formatCode="0.0&quot;%&quot;" sourceLinked="0"/>
        <c:majorTickMark val="none"/>
        <c:minorTickMark val="none"/>
        <c:tickLblPos val="nextTo"/>
        <c:spPr>
          <a:ln>
            <a:noFill/>
          </a:ln>
        </c:spPr>
        <c:txPr>
          <a:bodyPr/>
          <a:lstStyle/>
          <a:p>
            <a:pPr>
              <a:defRPr sz="850">
                <a:solidFill>
                  <a:srgbClr val="767576"/>
                </a:solidFill>
                <a:latin typeface="Arial"/>
              </a:defRPr>
            </a:pPr>
          </a:p>
        </c:txPr>
        <c:crossAx val="2118791784"/>
        <c:crosses val="autoZero"/>
        <c:majorUnit val="1.0"/>
      </c:valAx>
    </c:plotArea>
    <c:legend>
      <c:legendPos val="t"/>
      <c:layout/>
      <c:overlay val="0"/>
      <c:txPr>
        <a:bodyPr/>
        <a:lstStyle/>
        <a:p>
          <a:pPr>
            <a:defRPr sz="850">
              <a:latin typeface="Arial"/>
            </a:defRPr>
          </a:pPr>
        </a:p>
      </c:txPr>
    </c:legend>
    <c:plotVisOnly val="1"/>
    <c:dispBlanksAs val="gap"/>
    <c:showDLblsOverMax val="0"/>
    <c:dispBlanksAs val="span"/>
  </c:chart>
  <c:txPr>
    <a:bodyPr/>
    <a:lstStyle/>
    <a:p>
      <a:pPr>
        <a:defRPr sz="1800"/>
      </a:pPr>
      <a:endParaRPr lang="en-US"/>
    </a:p>
  </c:txPr>
  <c:externalData r:id="rId1">
    <c:autoUpdate val="0"/>
  </c:externalData>
</c:chartSpace>
</file>

<file path=ppt/charts/chart2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chart>
    <c:autoTitleDeleted val="1"/>
    <c:plotArea>
      <c:barChart>
        <c:barDir val="col"/>
        <c:grouping val="clustered"/>
        <c:ser>
          <c:idx val="0"/>
          <c:order val="0"/>
          <c:tx>
            <c:strRef>
              <c:f>Sheet1!$B$1</c:f>
              <c:strCache>
                <c:ptCount val="1"/>
                <c:pt idx="0">
                  <c:v>s</c:v>
                </c:pt>
              </c:strCache>
            </c:strRef>
          </c:tx>
          <c:spPr>
            <a:ln>
              <a:noFill/>
            </a:ln>
          </c:spPr>
          <c:invertIfNegative val="0"/>
          <c:dPt>
            <c:idx val="0"/>
            <c:invertIfNegative val="0"/>
            <c:spPr>
              <a:solidFill>
                <a:srgbClr val="D7D8D6"/>
              </a:solidFill>
            </c:spPr>
          </c:dPt>
          <c:dPt>
            <c:idx val="1"/>
            <c:invertIfNegative val="0"/>
            <c:spPr>
              <a:solidFill>
                <a:srgbClr val="44546A"/>
              </a:solidFill>
            </c:spPr>
          </c:dPt>
          <c:dPt>
            <c:idx val="2"/>
            <c:invertIfNegative val="0"/>
            <c:spPr>
              <a:solidFill>
                <a:srgbClr val="D7D8D6"/>
              </a:solidFill>
            </c:spPr>
          </c:dPt>
          <c:dPt>
            <c:idx val="3"/>
            <c:invertIfNegative val="0"/>
            <c:spPr>
              <a:solidFill>
                <a:srgbClr val="DB0011"/>
              </a:solidFill>
            </c:spPr>
          </c:dPt>
          <c:dPt>
            <c:idx val="4"/>
            <c:invertIfNegative val="0"/>
            <c:spPr>
              <a:solidFill>
                <a:srgbClr val="D7D8D6"/>
              </a:solidFill>
            </c:spPr>
          </c:dPt>
          <c:dPt>
            <c:idx val="5"/>
            <c:invertIfNegative val="0"/>
            <c:spPr>
              <a:solidFill>
                <a:srgbClr val="D7D8D6"/>
              </a:solidFill>
            </c:spPr>
          </c:dPt>
          <c:cat>
            <c:strRef>
              <c:f>Sheet1!$A$2:$A$7</c:f>
              <c:strCache>
                <c:ptCount val="6"/>
                <c:pt idx="0">
                  <c:v>1Y</c:v>
                </c:pt>
                <c:pt idx="1">
                  <c:v>2Y</c:v>
                </c:pt>
                <c:pt idx="2">
                  <c:v>5Y</c:v>
                </c:pt>
                <c:pt idx="3">
                  <c:v>10Y</c:v>
                </c:pt>
                <c:pt idx="4">
                  <c:v>20Y</c:v>
                </c:pt>
                <c:pt idx="5">
                  <c:v>30Y</c:v>
                </c:pt>
              </c:strCache>
            </c:strRef>
          </c:cat>
          <c:val>
            <c:numRef>
              <c:f>Sheet1!$B$2:$B$7</c:f>
              <c:numCache>
                <c:formatCode>General</c:formatCode>
                <c:ptCount val="6"/>
                <c:pt idx="0">
                  <c:v>-0.4</c:v>
                </c:pt>
                <c:pt idx="1">
                  <c:v>-99.4</c:v>
                </c:pt>
                <c:pt idx="2">
                  <c:v>5.6</c:v>
                </c:pt>
                <c:pt idx="3">
                  <c:v>93.3</c:v>
                </c:pt>
                <c:pt idx="4">
                  <c:v>0.0</c:v>
                </c:pt>
                <c:pt idx="5">
                  <c:v>0.0</c:v>
                </c:pt>
              </c:numCache>
            </c:numRef>
          </c:val>
        </c:ser>
        <c:dLbls>
          <c:numFmt formatCode="0.0&quot;%&quot;;−0.0&quot;%&quot;" sourceLinked="0"/>
          <c:txPr>
            <a:bodyPr/>
            <a:lstStyle/>
            <a:p>
              <a:pPr>
                <a:defRPr sz="1000">
                  <a:solidFill>
                    <a:srgbClr val="000000"/>
                  </a:solidFill>
                  <a:latin typeface="Arial"/>
                </a:defRPr>
              </a:pPr>
            </a:p>
          </c:txPr>
          <c:dLblPos val="outEnd"/>
          <c:showLegendKey val="0"/>
          <c:showVal val="1"/>
          <c:showCatName val="0"/>
          <c:showSerName val="0"/>
          <c:showPercent val="0"/>
          <c:showBubbleSize val="0"/>
          <c:showLeaderLines val="1"/>
        </c:dLbls>
        <c:gapWidth val="60"/>
        <c:axId val="-2068027336"/>
        <c:axId val="-2113994440"/>
      </c:barChart>
      <c:catAx>
        <c:axId val="-2068027336"/>
        <c:scaling>
          <c:orientation val="minMax"/>
        </c:scaling>
        <c:delete val="0"/>
        <c:axPos val="b"/>
        <c:majorTickMark val="none"/>
        <c:minorTickMark val="none"/>
        <c:tickLblPos val="low"/>
        <c:spPr>
          <a:ln w="9525">
            <a:solidFill>
              <a:srgbClr val="000000"/>
            </a:solidFill>
          </a:ln>
        </c:spPr>
        <c:txPr>
          <a:bodyPr/>
          <a:lstStyle/>
          <a:p>
            <a:pPr>
              <a:defRPr sz="800">
                <a:solidFill>
                  <a:srgbClr val="000000"/>
                </a:solidFill>
                <a:latin typeface="Arial"/>
              </a:defRPr>
            </a:pPr>
          </a:p>
        </c:txPr>
        <c:crossAx val="-2113994440"/>
        <c:crosses val="autoZero"/>
        <c:auto val="1"/>
        <c:lblAlgn val="ctr"/>
        <c:lblOffset val="100"/>
        <c:noMultiLvlLbl val="0"/>
      </c:catAx>
      <c:valAx>
        <c:axId val="-2113994440"/>
        <c:scaling>
          <c:max val="115.0"/>
          <c:min val="-115.0"/>
        </c:scaling>
        <c:delete val="0"/>
        <c:axPos val="l"/>
        <c:majorTickMark val="none"/>
        <c:minorTickMark val="none"/>
        <c:tickLblPos val="nextTo"/>
        <c:spPr>
          <a:ln>
            <a:noFill/>
          </a:ln>
        </c:spPr>
        <c:txPr>
          <a:bodyPr/>
          <a:lstStyle/>
          <a:p>
            <a:pPr>
              <a:defRPr sz="100">
                <a:solidFill>
                  <a:srgbClr val="FFFFFF"/>
                </a:solidFill>
              </a:defRPr>
            </a:pPr>
          </a:p>
        </c:txPr>
        <c:crossAx val="-2068027336"/>
        <c:crosses val="autoZero"/>
      </c:valAx>
    </c:plotArea>
    <c:dispBlanksAs val="gap"/>
  </c:chart>
  <c:txPr>
    <a:bodyPr/>
    <a:lstStyle/>
    <a:p>
      <a:pPr>
        <a:defRPr sz="1800"/>
      </a:pPr>
      <a:endParaRPr lang="en-US"/>
    </a:p>
  </c:txPr>
  <c:externalData r:id="rId1">
    <c:autoUpdate val="0"/>
  </c:externalData>
</c:chartSpace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chart" Target="../charts/chart1.xml"/><Relationship Id="rId3" Type="http://schemas.openxmlformats.org/officeDocument/2006/relationships/chart" Target="../charts/chart2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75488" y="256032"/>
            <a:ext cx="7863840" cy="402336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2000" b="1" i="0">
                <a:solidFill>
                  <a:srgbClr val="000000"/>
                </a:solidFill>
                <a:latin typeface="Arial"/>
              </a:rPr>
              <a:t>H2 2026 Trade: Receive 2y JGB, Pay 10y, DV01-Neutral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75488" y="822960"/>
            <a:ext cx="3401568" cy="51206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4000"/>
              </a:lnSpc>
              <a:spcAft>
                <a:spcPts val="0"/>
              </a:spcAft>
            </a:pPr>
            <a:r>
              <a:rPr sz="1100" b="1" i="0">
                <a:solidFill>
                  <a:srgbClr val="DB0011"/>
                </a:solidFill>
                <a:latin typeface="Arial"/>
              </a:rPr>
              <a:t>Exhibit 4. Last year's repricing was all 5-year and out. The 2-year has not moved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75488" y="1463040"/>
            <a:ext cx="3401568" cy="201168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ctr">
              <a:lnSpc>
                <a:spcPct val="100000"/>
              </a:lnSpc>
              <a:spcAft>
                <a:spcPts val="0"/>
              </a:spcAft>
            </a:pPr>
            <a:r>
              <a:rPr sz="900" b="0" i="0">
                <a:solidFill>
                  <a:srgbClr val="000000"/>
                </a:solidFill>
                <a:latin typeface="Arial"/>
              </a:rPr>
              <a:t>JGB par yield by tenor, %, quadratically interpolated</a:t>
            </a:r>
          </a:p>
        </p:txBody>
      </p:sp>
      <p:graphicFrame>
        <p:nvGraphicFramePr>
          <p:cNvPr id="6" name="Chart 5"/>
          <p:cNvGraphicFramePr>
            <a:graphicFrameLocks noGrp="1"/>
          </p:cNvGraphicFramePr>
          <p:nvPr/>
        </p:nvGraphicFramePr>
        <p:xfrm>
          <a:off x="420624" y="1700784"/>
          <a:ext cx="3511296" cy="2304288"/>
        </p:xfrm>
        <a:graphic>
          <a:graphicData uri="http://schemas.openxmlformats.org/drawingml/2006/chart">
            <c:chart xmlns:c="http://schemas.openxmlformats.org/drawingml/2006/chart" r:id="rId2"/>
          </a:graphicData>
        </a:graphic>
      </p:graphicFrame>
      <p:sp>
        <p:nvSpPr>
          <p:cNvPr id="7" name="Rectangle 6"/>
          <p:cNvSpPr/>
          <p:nvPr/>
        </p:nvSpPr>
        <p:spPr>
          <a:xfrm>
            <a:off x="768096" y="3941063"/>
            <a:ext cx="629878" cy="164592"/>
          </a:xfrm>
          <a:prstGeom prst="rect">
            <a:avLst/>
          </a:prstGeom>
          <a:solidFill>
            <a:srgbClr val="D7D8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8" name="Rectangle 7"/>
          <p:cNvSpPr/>
          <p:nvPr/>
        </p:nvSpPr>
        <p:spPr>
          <a:xfrm>
            <a:off x="1397974" y="3941063"/>
            <a:ext cx="1462505" cy="164592"/>
          </a:xfrm>
          <a:prstGeom prst="rect">
            <a:avLst/>
          </a:prstGeom>
          <a:solidFill>
            <a:srgbClr val="DB001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9" name="Rectangle 8"/>
          <p:cNvSpPr/>
          <p:nvPr/>
        </p:nvSpPr>
        <p:spPr>
          <a:xfrm>
            <a:off x="2860480" y="3941063"/>
            <a:ext cx="998287" cy="164592"/>
          </a:xfrm>
          <a:prstGeom prst="rect">
            <a:avLst/>
          </a:prstGeom>
          <a:solidFill>
            <a:srgbClr val="D7D8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0" name="TextBox 9"/>
          <p:cNvSpPr txBox="1"/>
          <p:nvPr/>
        </p:nvSpPr>
        <p:spPr>
          <a:xfrm>
            <a:off x="1397974" y="3936491"/>
            <a:ext cx="1462505" cy="173736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>
              <a:lnSpc>
                <a:spcPct val="100000"/>
              </a:lnSpc>
              <a:spcAft>
                <a:spcPts val="0"/>
              </a:spcAft>
            </a:pPr>
            <a:r>
              <a:rPr sz="650" b="1" i="0">
                <a:solidFill>
                  <a:srgbClr val="FFFFFF"/>
                </a:solidFill>
                <a:latin typeface="Arial"/>
              </a:rPr>
              <a:t>2s10s · the traded segment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66928" y="4133087"/>
            <a:ext cx="402336" cy="146304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ctr">
              <a:lnSpc>
                <a:spcPct val="100000"/>
              </a:lnSpc>
              <a:spcAft>
                <a:spcPts val="0"/>
              </a:spcAft>
            </a:pPr>
            <a:r>
              <a:rPr sz="700" b="0" i="0">
                <a:solidFill>
                  <a:srgbClr val="767576"/>
                </a:solidFill>
                <a:latin typeface="Arial"/>
              </a:rPr>
              <a:t>1Y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196806" y="4133087"/>
            <a:ext cx="402336" cy="146304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ctr">
              <a:lnSpc>
                <a:spcPct val="100000"/>
              </a:lnSpc>
              <a:spcAft>
                <a:spcPts val="0"/>
              </a:spcAft>
            </a:pPr>
            <a:r>
              <a:rPr sz="700" b="0" i="0">
                <a:solidFill>
                  <a:srgbClr val="767576"/>
                </a:solidFill>
                <a:latin typeface="Arial"/>
              </a:rPr>
              <a:t>2Y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2029433" y="4133087"/>
            <a:ext cx="402336" cy="146304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ctr">
              <a:lnSpc>
                <a:spcPct val="100000"/>
              </a:lnSpc>
              <a:spcAft>
                <a:spcPts val="0"/>
              </a:spcAft>
            </a:pPr>
            <a:r>
              <a:rPr sz="700" b="0" i="0">
                <a:solidFill>
                  <a:srgbClr val="767576"/>
                </a:solidFill>
                <a:latin typeface="Arial"/>
              </a:rPr>
              <a:t>5Y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2659312" y="4133087"/>
            <a:ext cx="402336" cy="146304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ctr">
              <a:lnSpc>
                <a:spcPct val="100000"/>
              </a:lnSpc>
              <a:spcAft>
                <a:spcPts val="0"/>
              </a:spcAft>
            </a:pPr>
            <a:r>
              <a:rPr sz="700" b="0" i="0">
                <a:solidFill>
                  <a:srgbClr val="767576"/>
                </a:solidFill>
                <a:latin typeface="Arial"/>
              </a:rPr>
              <a:t>10Y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3289191" y="4133087"/>
            <a:ext cx="402336" cy="146304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ctr">
              <a:lnSpc>
                <a:spcPct val="100000"/>
              </a:lnSpc>
              <a:spcAft>
                <a:spcPts val="0"/>
              </a:spcAft>
            </a:pPr>
            <a:r>
              <a:rPr sz="700" b="0" i="0">
                <a:solidFill>
                  <a:srgbClr val="767576"/>
                </a:solidFill>
                <a:latin typeface="Arial"/>
              </a:rPr>
              <a:t>20Y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3657600" y="4133087"/>
            <a:ext cx="402336" cy="146304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ctr">
              <a:lnSpc>
                <a:spcPct val="100000"/>
              </a:lnSpc>
              <a:spcAft>
                <a:spcPts val="0"/>
              </a:spcAft>
            </a:pPr>
            <a:r>
              <a:rPr sz="700" b="0" i="0">
                <a:solidFill>
                  <a:srgbClr val="767576"/>
                </a:solidFill>
                <a:latin typeface="Arial"/>
              </a:rPr>
              <a:t>30Y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475488" y="4480560"/>
            <a:ext cx="1655064" cy="219456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ctr">
              <a:lnSpc>
                <a:spcPct val="100000"/>
              </a:lnSpc>
              <a:spcAft>
                <a:spcPts val="0"/>
              </a:spcAft>
            </a:pPr>
            <a:r>
              <a:rPr sz="1150" b="1" i="0">
                <a:solidFill>
                  <a:srgbClr val="DB0011"/>
                </a:solidFill>
                <a:latin typeface="Arial"/>
              </a:rPr>
              <a:t>74.6 → 129.4bp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475488" y="4681728"/>
            <a:ext cx="1655064" cy="18288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ctr">
              <a:lnSpc>
                <a:spcPct val="100000"/>
              </a:lnSpc>
              <a:spcAft>
                <a:spcPts val="0"/>
              </a:spcAft>
            </a:pPr>
            <a:r>
              <a:rPr sz="800" b="0" i="0">
                <a:solidFill>
                  <a:srgbClr val="767576"/>
                </a:solidFill>
                <a:latin typeface="Arial"/>
              </a:rPr>
              <a:t>2s10s over the last year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2221991" y="4480560"/>
            <a:ext cx="1655064" cy="219456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ctr">
              <a:lnSpc>
                <a:spcPct val="100000"/>
              </a:lnSpc>
              <a:spcAft>
                <a:spcPts val="0"/>
              </a:spcAft>
            </a:pPr>
            <a:r>
              <a:rPr sz="1150" b="1" i="0">
                <a:solidFill>
                  <a:srgbClr val="DB0011"/>
                </a:solidFill>
                <a:latin typeface="Arial"/>
              </a:rPr>
              <a:t>→ 159bp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2221991" y="4681728"/>
            <a:ext cx="1655064" cy="18288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ctr">
              <a:lnSpc>
                <a:spcPct val="100000"/>
              </a:lnSpc>
              <a:spcAft>
                <a:spcPts val="0"/>
              </a:spcAft>
            </a:pPr>
            <a:r>
              <a:rPr sz="800" b="0" i="0">
                <a:solidFill>
                  <a:srgbClr val="767576"/>
                </a:solidFill>
                <a:latin typeface="Arial"/>
              </a:rPr>
              <a:t>on our projected path. Target 160bp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4133087" y="822960"/>
            <a:ext cx="4059936" cy="51206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4000"/>
              </a:lnSpc>
              <a:spcAft>
                <a:spcPts val="0"/>
              </a:spcAft>
            </a:pPr>
            <a:r>
              <a:rPr sz="1100" b="1" i="0">
                <a:solidFill>
                  <a:srgbClr val="DB0011"/>
                </a:solidFill>
                <a:latin typeface="Arial"/>
              </a:rPr>
              <a:t>Exhibit 5. 2s10s has 35bp of room to its high. The same 4bp round trip eats a third of what 2s30s has left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4133087" y="1463040"/>
            <a:ext cx="4059936" cy="201168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ctr">
              <a:lnSpc>
                <a:spcPct val="100000"/>
              </a:lnSpc>
              <a:spcAft>
                <a:spcPts val="0"/>
              </a:spcAft>
            </a:pPr>
            <a:r>
              <a:rPr sz="900" b="0" i="0">
                <a:solidFill>
                  <a:srgbClr val="000000"/>
                </a:solidFill>
                <a:latin typeface="Arial"/>
              </a:rPr>
              <a:t>Room from today to the high since 2000, bp of further steepening</a:t>
            </a:r>
          </a:p>
        </p:txBody>
      </p:sp>
      <p:cxnSp>
        <p:nvCxnSpPr>
          <p:cNvPr id="23" name="Connector 22"/>
          <p:cNvCxnSpPr/>
          <p:nvPr/>
        </p:nvCxnSpPr>
        <p:spPr>
          <a:xfrm>
            <a:off x="5065775" y="1773936"/>
            <a:ext cx="0" cy="1353312"/>
          </a:xfrm>
          <a:prstGeom prst="line">
            <a:avLst/>
          </a:prstGeom>
          <a:ln w="6350">
            <a:solidFill>
              <a:srgbClr val="D0CECE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4" name="Connector 23"/>
          <p:cNvCxnSpPr/>
          <p:nvPr/>
        </p:nvCxnSpPr>
        <p:spPr>
          <a:xfrm>
            <a:off x="5591555" y="1773936"/>
            <a:ext cx="0" cy="1353312"/>
          </a:xfrm>
          <a:prstGeom prst="line">
            <a:avLst/>
          </a:prstGeom>
          <a:ln w="6350">
            <a:solidFill>
              <a:srgbClr val="D0CECE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5" name="Connector 24"/>
          <p:cNvCxnSpPr/>
          <p:nvPr/>
        </p:nvCxnSpPr>
        <p:spPr>
          <a:xfrm>
            <a:off x="6117336" y="1773936"/>
            <a:ext cx="0" cy="1353312"/>
          </a:xfrm>
          <a:prstGeom prst="line">
            <a:avLst/>
          </a:prstGeom>
          <a:ln w="6350">
            <a:solidFill>
              <a:srgbClr val="D0CECE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6" name="Connector 25"/>
          <p:cNvCxnSpPr/>
          <p:nvPr/>
        </p:nvCxnSpPr>
        <p:spPr>
          <a:xfrm>
            <a:off x="6643115" y="1773936"/>
            <a:ext cx="0" cy="1353312"/>
          </a:xfrm>
          <a:prstGeom prst="line">
            <a:avLst/>
          </a:prstGeom>
          <a:ln w="6350">
            <a:solidFill>
              <a:srgbClr val="D0CECE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7" name="Connector 26"/>
          <p:cNvCxnSpPr/>
          <p:nvPr/>
        </p:nvCxnSpPr>
        <p:spPr>
          <a:xfrm>
            <a:off x="7168896" y="1773936"/>
            <a:ext cx="0" cy="1353312"/>
          </a:xfrm>
          <a:prstGeom prst="line">
            <a:avLst/>
          </a:prstGeom>
          <a:ln w="6350">
            <a:solidFill>
              <a:srgbClr val="D0CECE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8" name="Rectangle 27"/>
          <p:cNvSpPr/>
          <p:nvPr/>
        </p:nvSpPr>
        <p:spPr>
          <a:xfrm>
            <a:off x="5065775" y="2011680"/>
            <a:ext cx="1866518" cy="201168"/>
          </a:xfrm>
          <a:prstGeom prst="rect">
            <a:avLst/>
          </a:prstGeom>
          <a:solidFill>
            <a:srgbClr val="F4B4B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9" name="Rectangle 28"/>
          <p:cNvSpPr/>
          <p:nvPr/>
        </p:nvSpPr>
        <p:spPr>
          <a:xfrm>
            <a:off x="5065775" y="2011680"/>
            <a:ext cx="210312" cy="201168"/>
          </a:xfrm>
          <a:prstGeom prst="rect">
            <a:avLst/>
          </a:prstGeom>
          <a:solidFill>
            <a:srgbClr val="6E747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0" name="Rectangle 29"/>
          <p:cNvSpPr/>
          <p:nvPr/>
        </p:nvSpPr>
        <p:spPr>
          <a:xfrm>
            <a:off x="6663690" y="1956816"/>
            <a:ext cx="21945" cy="310896"/>
          </a:xfrm>
          <a:prstGeom prst="rect">
            <a:avLst/>
          </a:prstGeom>
          <a:solidFill>
            <a:srgbClr val="000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1" name="TextBox 30"/>
          <p:cNvSpPr txBox="1"/>
          <p:nvPr/>
        </p:nvSpPr>
        <p:spPr>
          <a:xfrm>
            <a:off x="6217462" y="1732788"/>
            <a:ext cx="914400" cy="173736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ctr">
              <a:lnSpc>
                <a:spcPct val="100000"/>
              </a:lnSpc>
              <a:spcAft>
                <a:spcPts val="0"/>
              </a:spcAft>
            </a:pPr>
            <a:r>
              <a:rPr sz="700" b="1" i="0">
                <a:solidFill>
                  <a:srgbClr val="000000"/>
                </a:solidFill>
                <a:latin typeface="Arial"/>
              </a:rPr>
              <a:t>target 160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6978014" y="2016252"/>
            <a:ext cx="868680" cy="18288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750" b="0" i="0">
                <a:solidFill>
                  <a:srgbClr val="767576"/>
                </a:solidFill>
                <a:latin typeface="Arial"/>
              </a:rPr>
              <a:t>165 high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4133087" y="2007107"/>
            <a:ext cx="877824" cy="210312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000" b="1" i="0">
                <a:solidFill>
                  <a:srgbClr val="DB0011"/>
                </a:solidFill>
                <a:latin typeface="Arial"/>
              </a:rPr>
              <a:t>JGB 2s10s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7168896" y="2007107"/>
            <a:ext cx="987552" cy="210312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r">
              <a:lnSpc>
                <a:spcPct val="100000"/>
              </a:lnSpc>
              <a:spcAft>
                <a:spcPts val="0"/>
              </a:spcAft>
            </a:pPr>
            <a:r>
              <a:rPr sz="1000" b="1" i="0">
                <a:solidFill>
                  <a:srgbClr val="DB0011"/>
                </a:solidFill>
                <a:latin typeface="Arial"/>
              </a:rPr>
              <a:t>129bp · 93rd</a:t>
            </a:r>
          </a:p>
        </p:txBody>
      </p:sp>
      <p:sp>
        <p:nvSpPr>
          <p:cNvPr id="35" name="Rectangle 34"/>
          <p:cNvSpPr/>
          <p:nvPr/>
        </p:nvSpPr>
        <p:spPr>
          <a:xfrm>
            <a:off x="5065775" y="2688336"/>
            <a:ext cx="646709" cy="201168"/>
          </a:xfrm>
          <a:prstGeom prst="rect">
            <a:avLst/>
          </a:prstGeom>
          <a:solidFill>
            <a:srgbClr val="F4B4B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6" name="Rectangle 35"/>
          <p:cNvSpPr/>
          <p:nvPr/>
        </p:nvSpPr>
        <p:spPr>
          <a:xfrm>
            <a:off x="5065775" y="2688336"/>
            <a:ext cx="210312" cy="201168"/>
          </a:xfrm>
          <a:prstGeom prst="rect">
            <a:avLst/>
          </a:prstGeom>
          <a:solidFill>
            <a:srgbClr val="6E747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7" name="Rectangle 36"/>
          <p:cNvSpPr/>
          <p:nvPr/>
        </p:nvSpPr>
        <p:spPr>
          <a:xfrm>
            <a:off x="5606872" y="2633472"/>
            <a:ext cx="21945" cy="310896"/>
          </a:xfrm>
          <a:prstGeom prst="rect">
            <a:avLst/>
          </a:prstGeom>
          <a:solidFill>
            <a:srgbClr val="000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8" name="TextBox 37"/>
          <p:cNvSpPr txBox="1"/>
          <p:nvPr/>
        </p:nvSpPr>
        <p:spPr>
          <a:xfrm>
            <a:off x="5160644" y="2409444"/>
            <a:ext cx="914400" cy="173736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ctr">
              <a:lnSpc>
                <a:spcPct val="100000"/>
              </a:lnSpc>
              <a:spcAft>
                <a:spcPts val="0"/>
              </a:spcAft>
            </a:pPr>
            <a:r>
              <a:rPr sz="700" b="1" i="0">
                <a:solidFill>
                  <a:srgbClr val="000000"/>
                </a:solidFill>
                <a:latin typeface="Arial"/>
              </a:rPr>
              <a:t>target 258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5758205" y="2692908"/>
            <a:ext cx="868680" cy="18288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750" b="0" i="0">
                <a:solidFill>
                  <a:srgbClr val="767576"/>
                </a:solidFill>
                <a:latin typeface="Arial"/>
              </a:rPr>
              <a:t>260 high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4133087" y="2683763"/>
            <a:ext cx="877824" cy="210312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000" b="1" i="0">
                <a:solidFill>
                  <a:srgbClr val="767576"/>
                </a:solidFill>
                <a:latin typeface="Arial"/>
              </a:rPr>
              <a:t>JGB 2s30s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7168896" y="2683763"/>
            <a:ext cx="987552" cy="210312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r">
              <a:lnSpc>
                <a:spcPct val="100000"/>
              </a:lnSpc>
              <a:spcAft>
                <a:spcPts val="0"/>
              </a:spcAft>
            </a:pPr>
            <a:r>
              <a:rPr sz="1000" b="0" i="0">
                <a:solidFill>
                  <a:srgbClr val="767576"/>
                </a:solidFill>
                <a:latin typeface="Arial"/>
              </a:rPr>
              <a:t>248bp · 99th</a:t>
            </a:r>
          </a:p>
        </p:txBody>
      </p:sp>
      <p:cxnSp>
        <p:nvCxnSpPr>
          <p:cNvPr id="42" name="Connector 41"/>
          <p:cNvCxnSpPr/>
          <p:nvPr/>
        </p:nvCxnSpPr>
        <p:spPr>
          <a:xfrm>
            <a:off x="5065775" y="3127248"/>
            <a:ext cx="2103121" cy="0"/>
          </a:xfrm>
          <a:prstGeom prst="line">
            <a:avLst/>
          </a:prstGeom>
          <a:ln w="9525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3" name="TextBox 42"/>
          <p:cNvSpPr txBox="1"/>
          <p:nvPr/>
        </p:nvSpPr>
        <p:spPr>
          <a:xfrm>
            <a:off x="4791455" y="3163824"/>
            <a:ext cx="548640" cy="164592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ctr">
              <a:lnSpc>
                <a:spcPct val="100000"/>
              </a:lnSpc>
              <a:spcAft>
                <a:spcPts val="0"/>
              </a:spcAft>
            </a:pPr>
            <a:r>
              <a:rPr sz="800" b="0" i="0">
                <a:solidFill>
                  <a:srgbClr val="767576"/>
                </a:solidFill>
                <a:latin typeface="Arial"/>
              </a:rPr>
              <a:t>0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5317236" y="3163824"/>
            <a:ext cx="548640" cy="164592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ctr">
              <a:lnSpc>
                <a:spcPct val="100000"/>
              </a:lnSpc>
              <a:spcAft>
                <a:spcPts val="0"/>
              </a:spcAft>
            </a:pPr>
            <a:r>
              <a:rPr sz="800" b="0" i="0">
                <a:solidFill>
                  <a:srgbClr val="767576"/>
                </a:solidFill>
                <a:latin typeface="Arial"/>
              </a:rPr>
              <a:t>+10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5843016" y="3163824"/>
            <a:ext cx="548640" cy="164592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ctr">
              <a:lnSpc>
                <a:spcPct val="100000"/>
              </a:lnSpc>
              <a:spcAft>
                <a:spcPts val="0"/>
              </a:spcAft>
            </a:pPr>
            <a:r>
              <a:rPr sz="800" b="0" i="0">
                <a:solidFill>
                  <a:srgbClr val="767576"/>
                </a:solidFill>
                <a:latin typeface="Arial"/>
              </a:rPr>
              <a:t>+20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6368795" y="3163824"/>
            <a:ext cx="548640" cy="164592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ctr">
              <a:lnSpc>
                <a:spcPct val="100000"/>
              </a:lnSpc>
              <a:spcAft>
                <a:spcPts val="0"/>
              </a:spcAft>
            </a:pPr>
            <a:r>
              <a:rPr sz="800" b="0" i="0">
                <a:solidFill>
                  <a:srgbClr val="767576"/>
                </a:solidFill>
                <a:latin typeface="Arial"/>
              </a:rPr>
              <a:t>+30</a:t>
            </a:r>
          </a:p>
        </p:txBody>
      </p:sp>
      <p:sp>
        <p:nvSpPr>
          <p:cNvPr id="47" name="TextBox 46"/>
          <p:cNvSpPr txBox="1"/>
          <p:nvPr/>
        </p:nvSpPr>
        <p:spPr>
          <a:xfrm>
            <a:off x="6894576" y="3163824"/>
            <a:ext cx="548640" cy="164592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ctr">
              <a:lnSpc>
                <a:spcPct val="100000"/>
              </a:lnSpc>
              <a:spcAft>
                <a:spcPts val="0"/>
              </a:spcAft>
            </a:pPr>
            <a:r>
              <a:rPr sz="800" b="0" i="0">
                <a:solidFill>
                  <a:srgbClr val="767576"/>
                </a:solidFill>
                <a:latin typeface="Arial"/>
              </a:rPr>
              <a:t>+40</a:t>
            </a:r>
          </a:p>
        </p:txBody>
      </p:sp>
      <p:sp>
        <p:nvSpPr>
          <p:cNvPr id="48" name="Rectangle 47"/>
          <p:cNvSpPr/>
          <p:nvPr/>
        </p:nvSpPr>
        <p:spPr>
          <a:xfrm>
            <a:off x="4133087" y="3406140"/>
            <a:ext cx="182880" cy="100584"/>
          </a:xfrm>
          <a:prstGeom prst="rect">
            <a:avLst/>
          </a:prstGeom>
          <a:solidFill>
            <a:srgbClr val="6E747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49" name="TextBox 48"/>
          <p:cNvSpPr txBox="1"/>
          <p:nvPr/>
        </p:nvSpPr>
        <p:spPr>
          <a:xfrm>
            <a:off x="4370831" y="3364992"/>
            <a:ext cx="1737360" cy="18288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800" b="0" i="0">
                <a:solidFill>
                  <a:srgbClr val="767576"/>
                </a:solidFill>
                <a:latin typeface="Arial"/>
              </a:rPr>
              <a:t>4bp round trip</a:t>
            </a:r>
          </a:p>
        </p:txBody>
      </p:sp>
      <p:sp>
        <p:nvSpPr>
          <p:cNvPr id="50" name="Rectangle 49"/>
          <p:cNvSpPr/>
          <p:nvPr/>
        </p:nvSpPr>
        <p:spPr>
          <a:xfrm>
            <a:off x="6163056" y="3406140"/>
            <a:ext cx="182880" cy="100584"/>
          </a:xfrm>
          <a:prstGeom prst="rect">
            <a:avLst/>
          </a:prstGeom>
          <a:solidFill>
            <a:srgbClr val="F4B4B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51" name="TextBox 50"/>
          <p:cNvSpPr txBox="1"/>
          <p:nvPr/>
        </p:nvSpPr>
        <p:spPr>
          <a:xfrm>
            <a:off x="6400800" y="3364992"/>
            <a:ext cx="1737360" cy="18288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800" b="0" i="0">
                <a:solidFill>
                  <a:srgbClr val="767576"/>
                </a:solidFill>
                <a:latin typeface="Arial"/>
              </a:rPr>
              <a:t>Room to the high since 2000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6236207" y="3584448"/>
            <a:ext cx="914400" cy="164592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r">
              <a:lnSpc>
                <a:spcPct val="100000"/>
              </a:lnSpc>
              <a:spcAft>
                <a:spcPts val="0"/>
              </a:spcAft>
            </a:pPr>
            <a:r>
              <a:rPr sz="850" b="1" i="0">
                <a:solidFill>
                  <a:srgbClr val="DB0011"/>
                </a:solidFill>
                <a:latin typeface="Arial"/>
              </a:rPr>
              <a:t>2s10s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7150607" y="3584448"/>
            <a:ext cx="914400" cy="164592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r">
              <a:lnSpc>
                <a:spcPct val="100000"/>
              </a:lnSpc>
              <a:spcAft>
                <a:spcPts val="0"/>
              </a:spcAft>
            </a:pPr>
            <a:r>
              <a:rPr sz="850" b="1" i="0">
                <a:solidFill>
                  <a:srgbClr val="767576"/>
                </a:solidFill>
                <a:latin typeface="Arial"/>
              </a:rPr>
              <a:t>2s30s</a:t>
            </a:r>
          </a:p>
        </p:txBody>
      </p:sp>
      <p:cxnSp>
        <p:nvCxnSpPr>
          <p:cNvPr id="54" name="Connector 53"/>
          <p:cNvCxnSpPr/>
          <p:nvPr/>
        </p:nvCxnSpPr>
        <p:spPr>
          <a:xfrm>
            <a:off x="4133087" y="3767328"/>
            <a:ext cx="3931921" cy="0"/>
          </a:xfrm>
          <a:prstGeom prst="line">
            <a:avLst/>
          </a:prstGeom>
          <a:ln w="9525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5" name="TextBox 54"/>
          <p:cNvSpPr txBox="1"/>
          <p:nvPr/>
        </p:nvSpPr>
        <p:spPr>
          <a:xfrm>
            <a:off x="4133087" y="3822191"/>
            <a:ext cx="2029967" cy="164592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800" b="0" i="0">
                <a:solidFill>
                  <a:srgbClr val="000000"/>
                </a:solidFill>
                <a:latin typeface="Arial"/>
              </a:rPr>
              <a:t>Percentile since 2000</a:t>
            </a:r>
          </a:p>
        </p:txBody>
      </p:sp>
      <p:sp>
        <p:nvSpPr>
          <p:cNvPr id="56" name="TextBox 55"/>
          <p:cNvSpPr txBox="1"/>
          <p:nvPr/>
        </p:nvSpPr>
        <p:spPr>
          <a:xfrm>
            <a:off x="6236207" y="3822191"/>
            <a:ext cx="914400" cy="164592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r">
              <a:lnSpc>
                <a:spcPct val="100000"/>
              </a:lnSpc>
              <a:spcAft>
                <a:spcPts val="0"/>
              </a:spcAft>
            </a:pPr>
            <a:r>
              <a:rPr sz="850" b="1" i="0">
                <a:solidFill>
                  <a:srgbClr val="DB0011"/>
                </a:solidFill>
                <a:latin typeface="Arial"/>
              </a:rPr>
              <a:t>93rd</a:t>
            </a:r>
          </a:p>
        </p:txBody>
      </p:sp>
      <p:sp>
        <p:nvSpPr>
          <p:cNvPr id="57" name="TextBox 56"/>
          <p:cNvSpPr txBox="1"/>
          <p:nvPr/>
        </p:nvSpPr>
        <p:spPr>
          <a:xfrm>
            <a:off x="7150607" y="3822191"/>
            <a:ext cx="914400" cy="164592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r">
              <a:lnSpc>
                <a:spcPct val="100000"/>
              </a:lnSpc>
              <a:spcAft>
                <a:spcPts val="0"/>
              </a:spcAft>
            </a:pPr>
            <a:r>
              <a:rPr sz="850" b="0" i="0">
                <a:solidFill>
                  <a:srgbClr val="767576"/>
                </a:solidFill>
                <a:latin typeface="Arial"/>
              </a:rPr>
              <a:t>99th</a:t>
            </a:r>
          </a:p>
        </p:txBody>
      </p:sp>
      <p:cxnSp>
        <p:nvCxnSpPr>
          <p:cNvPr id="58" name="Connector 57"/>
          <p:cNvCxnSpPr/>
          <p:nvPr/>
        </p:nvCxnSpPr>
        <p:spPr>
          <a:xfrm>
            <a:off x="4133087" y="3968496"/>
            <a:ext cx="3931921" cy="0"/>
          </a:xfrm>
          <a:prstGeom prst="line">
            <a:avLst/>
          </a:prstGeom>
          <a:ln w="6350">
            <a:solidFill>
              <a:srgbClr val="D0CECE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9" name="TextBox 58"/>
          <p:cNvSpPr txBox="1"/>
          <p:nvPr/>
        </p:nvSpPr>
        <p:spPr>
          <a:xfrm>
            <a:off x="4133087" y="4005072"/>
            <a:ext cx="2029967" cy="164592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800" b="0" i="0">
                <a:solidFill>
                  <a:srgbClr val="000000"/>
                </a:solidFill>
                <a:latin typeface="Arial"/>
              </a:rPr>
              <a:t>Notional per ¥1bn back leg</a:t>
            </a:r>
          </a:p>
        </p:txBody>
      </p:sp>
      <p:sp>
        <p:nvSpPr>
          <p:cNvPr id="60" name="TextBox 59"/>
          <p:cNvSpPr txBox="1"/>
          <p:nvPr/>
        </p:nvSpPr>
        <p:spPr>
          <a:xfrm>
            <a:off x="6236207" y="4005072"/>
            <a:ext cx="914400" cy="164592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r">
              <a:lnSpc>
                <a:spcPct val="100000"/>
              </a:lnSpc>
              <a:spcAft>
                <a:spcPts val="0"/>
              </a:spcAft>
            </a:pPr>
            <a:r>
              <a:rPr sz="850" b="1" i="0">
                <a:solidFill>
                  <a:srgbClr val="DB0011"/>
                </a:solidFill>
                <a:latin typeface="Arial"/>
              </a:rPr>
              <a:t>¥5.5bn</a:t>
            </a:r>
          </a:p>
        </p:txBody>
      </p:sp>
      <p:sp>
        <p:nvSpPr>
          <p:cNvPr id="61" name="TextBox 60"/>
          <p:cNvSpPr txBox="1"/>
          <p:nvPr/>
        </p:nvSpPr>
        <p:spPr>
          <a:xfrm>
            <a:off x="7150607" y="4005072"/>
            <a:ext cx="914400" cy="164592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r">
              <a:lnSpc>
                <a:spcPct val="100000"/>
              </a:lnSpc>
              <a:spcAft>
                <a:spcPts val="0"/>
              </a:spcAft>
            </a:pPr>
            <a:r>
              <a:rPr sz="850" b="0" i="0">
                <a:solidFill>
                  <a:srgbClr val="767576"/>
                </a:solidFill>
                <a:latin typeface="Arial"/>
              </a:rPr>
              <a:t>¥10.3bn</a:t>
            </a:r>
          </a:p>
        </p:txBody>
      </p:sp>
      <p:cxnSp>
        <p:nvCxnSpPr>
          <p:cNvPr id="62" name="Connector 61"/>
          <p:cNvCxnSpPr/>
          <p:nvPr/>
        </p:nvCxnSpPr>
        <p:spPr>
          <a:xfrm>
            <a:off x="4133087" y="4151376"/>
            <a:ext cx="3931921" cy="0"/>
          </a:xfrm>
          <a:prstGeom prst="line">
            <a:avLst/>
          </a:prstGeom>
          <a:ln w="6350">
            <a:solidFill>
              <a:srgbClr val="D0CECE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3" name="TextBox 62"/>
          <p:cNvSpPr txBox="1"/>
          <p:nvPr/>
        </p:nvSpPr>
        <p:spPr>
          <a:xfrm>
            <a:off x="4133087" y="4187952"/>
            <a:ext cx="2029967" cy="164592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800" b="0" i="0">
                <a:solidFill>
                  <a:srgbClr val="000000"/>
                </a:solidFill>
                <a:latin typeface="Arial"/>
              </a:rPr>
              <a:t>Risk : reward, net of costs</a:t>
            </a:r>
          </a:p>
        </p:txBody>
      </p:sp>
      <p:sp>
        <p:nvSpPr>
          <p:cNvPr id="64" name="TextBox 63"/>
          <p:cNvSpPr txBox="1"/>
          <p:nvPr/>
        </p:nvSpPr>
        <p:spPr>
          <a:xfrm>
            <a:off x="6236207" y="4187952"/>
            <a:ext cx="914400" cy="164592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r">
              <a:lnSpc>
                <a:spcPct val="100000"/>
              </a:lnSpc>
              <a:spcAft>
                <a:spcPts val="0"/>
              </a:spcAft>
            </a:pPr>
            <a:r>
              <a:rPr sz="850" b="1" i="0">
                <a:solidFill>
                  <a:srgbClr val="DB0011"/>
                </a:solidFill>
                <a:latin typeface="Arial"/>
              </a:rPr>
              <a:t>2.1 : 1</a:t>
            </a:r>
          </a:p>
        </p:txBody>
      </p:sp>
      <p:sp>
        <p:nvSpPr>
          <p:cNvPr id="65" name="TextBox 64"/>
          <p:cNvSpPr txBox="1"/>
          <p:nvPr/>
        </p:nvSpPr>
        <p:spPr>
          <a:xfrm>
            <a:off x="7150607" y="4187952"/>
            <a:ext cx="914400" cy="164592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r">
              <a:lnSpc>
                <a:spcPct val="100000"/>
              </a:lnSpc>
              <a:spcAft>
                <a:spcPts val="0"/>
              </a:spcAft>
            </a:pPr>
            <a:r>
              <a:rPr sz="850" b="0" i="0">
                <a:solidFill>
                  <a:srgbClr val="767576"/>
                </a:solidFill>
                <a:latin typeface="Arial"/>
              </a:rPr>
              <a:t>1.1 : 1</a:t>
            </a:r>
          </a:p>
        </p:txBody>
      </p:sp>
      <p:cxnSp>
        <p:nvCxnSpPr>
          <p:cNvPr id="66" name="Connector 65"/>
          <p:cNvCxnSpPr/>
          <p:nvPr/>
        </p:nvCxnSpPr>
        <p:spPr>
          <a:xfrm>
            <a:off x="4133087" y="4334256"/>
            <a:ext cx="3931921" cy="0"/>
          </a:xfrm>
          <a:prstGeom prst="line">
            <a:avLst/>
          </a:prstGeom>
          <a:ln w="6350">
            <a:solidFill>
              <a:srgbClr val="D0CECE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7" name="TextBox 66"/>
          <p:cNvSpPr txBox="1"/>
          <p:nvPr/>
        </p:nvSpPr>
        <p:spPr>
          <a:xfrm>
            <a:off x="4133087" y="4480560"/>
            <a:ext cx="1984248" cy="219456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ctr">
              <a:lnSpc>
                <a:spcPct val="100000"/>
              </a:lnSpc>
              <a:spcAft>
                <a:spcPts val="0"/>
              </a:spcAft>
            </a:pPr>
            <a:r>
              <a:rPr sz="1150" b="1" i="0">
                <a:solidFill>
                  <a:srgbClr val="DB0011"/>
                </a:solidFill>
                <a:latin typeface="Arial"/>
              </a:rPr>
              <a:t>6.8%</a:t>
            </a:r>
          </a:p>
        </p:txBody>
      </p:sp>
      <p:sp>
        <p:nvSpPr>
          <p:cNvPr id="68" name="TextBox 67"/>
          <p:cNvSpPr txBox="1"/>
          <p:nvPr/>
        </p:nvSpPr>
        <p:spPr>
          <a:xfrm>
            <a:off x="4133087" y="4681728"/>
            <a:ext cx="1984248" cy="18288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ctr">
              <a:lnSpc>
                <a:spcPct val="100000"/>
              </a:lnSpc>
              <a:spcAft>
                <a:spcPts val="0"/>
              </a:spcAft>
            </a:pPr>
            <a:r>
              <a:rPr sz="800" b="0" i="0">
                <a:solidFill>
                  <a:srgbClr val="767576"/>
                </a:solidFill>
                <a:latin typeface="Arial"/>
              </a:rPr>
              <a:t>of weeks since 2000 closed steeper</a:t>
            </a:r>
          </a:p>
        </p:txBody>
      </p:sp>
      <p:sp>
        <p:nvSpPr>
          <p:cNvPr id="69" name="TextBox 68"/>
          <p:cNvSpPr txBox="1"/>
          <p:nvPr/>
        </p:nvSpPr>
        <p:spPr>
          <a:xfrm>
            <a:off x="6208776" y="4480560"/>
            <a:ext cx="1984248" cy="219456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ctr">
              <a:lnSpc>
                <a:spcPct val="100000"/>
              </a:lnSpc>
              <a:spcAft>
                <a:spcPts val="0"/>
              </a:spcAft>
            </a:pPr>
            <a:r>
              <a:rPr sz="1150" b="1" i="0">
                <a:solidFill>
                  <a:srgbClr val="DB0011"/>
                </a:solidFill>
                <a:latin typeface="Arial"/>
              </a:rPr>
              <a:t>−5.8bp</a:t>
            </a:r>
          </a:p>
        </p:txBody>
      </p:sp>
      <p:sp>
        <p:nvSpPr>
          <p:cNvPr id="70" name="TextBox 69"/>
          <p:cNvSpPr txBox="1"/>
          <p:nvPr/>
        </p:nvSpPr>
        <p:spPr>
          <a:xfrm>
            <a:off x="6208776" y="4681728"/>
            <a:ext cx="1984248" cy="18288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ctr">
              <a:lnSpc>
                <a:spcPct val="100000"/>
              </a:lnSpc>
              <a:spcAft>
                <a:spcPts val="0"/>
              </a:spcAft>
            </a:pPr>
            <a:r>
              <a:rPr sz="800" b="0" i="0">
                <a:solidFill>
                  <a:srgbClr val="767576"/>
                </a:solidFill>
                <a:latin typeface="Arial"/>
              </a:rPr>
              <a:t>12-month carry, against +2.5bp at 3 months</a:t>
            </a:r>
          </a:p>
        </p:txBody>
      </p:sp>
      <p:sp>
        <p:nvSpPr>
          <p:cNvPr id="71" name="TextBox 70"/>
          <p:cNvSpPr txBox="1"/>
          <p:nvPr/>
        </p:nvSpPr>
        <p:spPr>
          <a:xfrm>
            <a:off x="8449056" y="822960"/>
            <a:ext cx="3273552" cy="51206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4000"/>
              </a:lnSpc>
              <a:spcAft>
                <a:spcPts val="0"/>
              </a:spcAft>
            </a:pPr>
            <a:r>
              <a:rPr sz="1100" b="1" i="0">
                <a:solidFill>
                  <a:srgbClr val="DB0011"/>
                </a:solidFill>
                <a:latin typeface="Arial"/>
              </a:rPr>
              <a:t>Exhibit 6. Risk is 97% at the 2-year and 10-year, DV01-neutral between them</a:t>
            </a:r>
          </a:p>
        </p:txBody>
      </p:sp>
      <p:sp>
        <p:nvSpPr>
          <p:cNvPr id="72" name="TextBox 71"/>
          <p:cNvSpPr txBox="1"/>
          <p:nvPr/>
        </p:nvSpPr>
        <p:spPr>
          <a:xfrm>
            <a:off x="8449056" y="1463040"/>
            <a:ext cx="3273552" cy="201168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ctr">
              <a:lnSpc>
                <a:spcPct val="100000"/>
              </a:lnSpc>
              <a:spcAft>
                <a:spcPts val="0"/>
              </a:spcAft>
            </a:pPr>
            <a:r>
              <a:rPr sz="900" b="0" i="0">
                <a:solidFill>
                  <a:srgbClr val="000000"/>
                </a:solidFill>
                <a:latin typeface="Arial"/>
              </a:rPr>
              <a:t>Bucketed tenor risk, % of the position's DV01</a:t>
            </a:r>
          </a:p>
        </p:txBody>
      </p:sp>
      <p:graphicFrame>
        <p:nvGraphicFramePr>
          <p:cNvPr id="73" name="Chart 72"/>
          <p:cNvGraphicFramePr>
            <a:graphicFrameLocks noGrp="1"/>
          </p:cNvGraphicFramePr>
          <p:nvPr/>
        </p:nvGraphicFramePr>
        <p:xfrm>
          <a:off x="8394192" y="1682496"/>
          <a:ext cx="3383280" cy="2249424"/>
        </p:xfrm>
        <a:graphic>
          <a:graphicData uri="http://schemas.openxmlformats.org/drawingml/2006/chart">
            <c:chart xmlns:c="http://schemas.openxmlformats.org/drawingml/2006/chart" r:id="rId3"/>
          </a:graphicData>
        </a:graphic>
      </p:graphicFrame>
      <p:sp>
        <p:nvSpPr>
          <p:cNvPr id="74" name="TextBox 73"/>
          <p:cNvSpPr txBox="1"/>
          <p:nvPr/>
        </p:nvSpPr>
        <p:spPr>
          <a:xfrm>
            <a:off x="8449056" y="3986784"/>
            <a:ext cx="3273552" cy="49377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4000"/>
              </a:lnSpc>
              <a:spcAft>
                <a:spcPts val="0"/>
              </a:spcAft>
            </a:pPr>
            <a:r>
              <a:rPr sz="700" b="0" i="0">
                <a:solidFill>
                  <a:srgbClr val="767576"/>
                </a:solidFill>
                <a:latin typeface="Arial"/>
              </a:rPr>
              <a:t>Each node's zero rate bumped 1bp on its own, every cashflow revalued. The 5-year carries 5.6% because the 10-year leg pays coupons in years 3 to 9.</a:t>
            </a:r>
          </a:p>
        </p:txBody>
      </p:sp>
      <p:sp>
        <p:nvSpPr>
          <p:cNvPr id="75" name="TextBox 74"/>
          <p:cNvSpPr txBox="1"/>
          <p:nvPr/>
        </p:nvSpPr>
        <p:spPr>
          <a:xfrm>
            <a:off x="8449056" y="4480560"/>
            <a:ext cx="1591056" cy="219456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ctr">
              <a:lnSpc>
                <a:spcPct val="100000"/>
              </a:lnSpc>
              <a:spcAft>
                <a:spcPts val="0"/>
              </a:spcAft>
            </a:pPr>
            <a:r>
              <a:rPr sz="1150" b="1" i="0">
                <a:solidFill>
                  <a:srgbClr val="DB0011"/>
                </a:solidFill>
                <a:latin typeface="Arial"/>
              </a:rPr>
              <a:t>0.97%</a:t>
            </a:r>
          </a:p>
        </p:txBody>
      </p:sp>
      <p:sp>
        <p:nvSpPr>
          <p:cNvPr id="76" name="TextBox 75"/>
          <p:cNvSpPr txBox="1"/>
          <p:nvPr/>
        </p:nvSpPr>
        <p:spPr>
          <a:xfrm>
            <a:off x="8449056" y="4681728"/>
            <a:ext cx="1591056" cy="18288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ctr">
              <a:lnSpc>
                <a:spcPct val="100000"/>
              </a:lnSpc>
              <a:spcAft>
                <a:spcPts val="0"/>
              </a:spcAft>
            </a:pPr>
            <a:r>
              <a:rPr sz="800" b="0" i="0">
                <a:solidFill>
                  <a:srgbClr val="767576"/>
                </a:solidFill>
                <a:latin typeface="Arial"/>
              </a:rPr>
              <a:t>of DV01 left in a parallel move</a:t>
            </a:r>
          </a:p>
        </p:txBody>
      </p:sp>
      <p:sp>
        <p:nvSpPr>
          <p:cNvPr id="77" name="TextBox 76"/>
          <p:cNvSpPr txBox="1"/>
          <p:nvPr/>
        </p:nvSpPr>
        <p:spPr>
          <a:xfrm>
            <a:off x="10131552" y="4480560"/>
            <a:ext cx="1591056" cy="219456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ctr">
              <a:lnSpc>
                <a:spcPct val="100000"/>
              </a:lnSpc>
              <a:spcAft>
                <a:spcPts val="0"/>
              </a:spcAft>
            </a:pPr>
            <a:r>
              <a:rPr sz="1150" b="1" i="0">
                <a:solidFill>
                  <a:srgbClr val="DB0011"/>
                </a:solidFill>
                <a:latin typeface="Arial"/>
              </a:rPr>
              <a:t>4.5 : 1</a:t>
            </a:r>
          </a:p>
        </p:txBody>
      </p:sp>
      <p:sp>
        <p:nvSpPr>
          <p:cNvPr id="78" name="TextBox 77"/>
          <p:cNvSpPr txBox="1"/>
          <p:nvPr/>
        </p:nvSpPr>
        <p:spPr>
          <a:xfrm>
            <a:off x="10131552" y="4681728"/>
            <a:ext cx="1591056" cy="18288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ctr">
              <a:lnSpc>
                <a:spcPct val="100000"/>
              </a:lnSpc>
              <a:spcAft>
                <a:spcPts val="0"/>
              </a:spcAft>
            </a:pPr>
            <a:r>
              <a:rPr sz="800" b="0" i="0">
                <a:solidFill>
                  <a:srgbClr val="767576"/>
                </a:solidFill>
                <a:latin typeface="Arial"/>
              </a:rPr>
              <a:t>notional ratio, DV01 for DV01</a:t>
            </a:r>
          </a:p>
        </p:txBody>
      </p:sp>
      <p:graphicFrame>
        <p:nvGraphicFramePr>
          <p:cNvPr id="79" name="Table 78"/>
          <p:cNvGraphicFramePr>
            <a:graphicFrameLocks noGrp="1"/>
          </p:cNvGraphicFramePr>
          <p:nvPr/>
        </p:nvGraphicFramePr>
        <p:xfrm>
          <a:off x="475488" y="5212080"/>
          <a:ext cx="11247120" cy="640080"/>
        </p:xfrm>
        <a:graphic>
          <a:graphicData uri="http://schemas.openxmlformats.org/drawingml/2006/table">
            <a:tbl>
              <a:tblPr>
                <a:tableStyleId>{5C22544A-7EE6-4342-B048-85BDC9FD1C3A}</a:tableStyleId>
              </a:tblPr>
              <a:tblGrid>
                <a:gridCol w="1920240"/>
                <a:gridCol w="2057400"/>
                <a:gridCol w="1737360"/>
                <a:gridCol w="2103120"/>
                <a:gridCol w="1920240"/>
                <a:gridCol w="1508760"/>
              </a:tblGrid>
              <a:tr h="219456">
                <a:tc>
                  <a:txBody>
                    <a:bodyPr wrap="square"/>
                    <a:lstStyle/>
                    <a:p>
                      <a:pPr>
                        <a:lnSpc>
                          <a:spcPct val="110000"/>
                        </a:lnSpc>
                      </a:pPr>
                      <a:r>
                        <a:rPr sz="850" b="1">
                          <a:solidFill>
                            <a:srgbClr val="FFFFFF"/>
                          </a:solidFill>
                          <a:latin typeface="Arial"/>
                        </a:rPr>
                        <a:t>Instrument</a:t>
                      </a:r>
                    </a:p>
                  </a:txBody>
                  <a:tcPr marL="64008" marR="64008" marT="32004" marB="18288" anchor="t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DB0011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lnSpc>
                          <a:spcPct val="110000"/>
                        </a:lnSpc>
                      </a:pPr>
                      <a:r>
                        <a:rPr sz="850" b="1">
                          <a:solidFill>
                            <a:srgbClr val="FFFFFF"/>
                          </a:solidFill>
                          <a:latin typeface="Arial"/>
                        </a:rPr>
                        <a:t>Entry trigger</a:t>
                      </a:r>
                    </a:p>
                  </a:txBody>
                  <a:tcPr marL="64008" marR="64008" marT="32004" marB="18288" anchor="t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DB0011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lnSpc>
                          <a:spcPct val="110000"/>
                        </a:lnSpc>
                      </a:pPr>
                      <a:r>
                        <a:rPr sz="850" b="1">
                          <a:solidFill>
                            <a:srgbClr val="FFFFFF"/>
                          </a:solidFill>
                          <a:latin typeface="Arial"/>
                        </a:rPr>
                        <a:t>Target</a:t>
                      </a:r>
                    </a:p>
                  </a:txBody>
                  <a:tcPr marL="64008" marR="64008" marT="32004" marB="18288" anchor="t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DB0011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lnSpc>
                          <a:spcPct val="110000"/>
                        </a:lnSpc>
                      </a:pPr>
                      <a:r>
                        <a:rPr sz="850" b="1">
                          <a:solidFill>
                            <a:srgbClr val="FFFFFF"/>
                          </a:solidFill>
                          <a:latin typeface="Arial"/>
                        </a:rPr>
                        <a:t>Stop</a:t>
                      </a:r>
                    </a:p>
                  </a:txBody>
                  <a:tcPr marL="64008" marR="64008" marT="32004" marB="18288" anchor="t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DB0011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lnSpc>
                          <a:spcPct val="110000"/>
                        </a:lnSpc>
                      </a:pPr>
                      <a:r>
                        <a:rPr sz="850" b="1">
                          <a:solidFill>
                            <a:srgbClr val="FFFFFF"/>
                          </a:solidFill>
                          <a:latin typeface="Arial"/>
                        </a:rPr>
                        <a:t>Key risk</a:t>
                      </a:r>
                    </a:p>
                  </a:txBody>
                  <a:tcPr marL="64008" marR="64008" marT="32004" marB="18288" anchor="t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DB0011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lnSpc>
                          <a:spcPct val="110000"/>
                        </a:lnSpc>
                      </a:pPr>
                      <a:r>
                        <a:rPr sz="850" b="1">
                          <a:solidFill>
                            <a:srgbClr val="FFFFFF"/>
                          </a:solidFill>
                          <a:latin typeface="Arial"/>
                        </a:rPr>
                        <a:t>Hedge</a:t>
                      </a:r>
                    </a:p>
                  </a:txBody>
                  <a:tcPr marL="64008" marR="64008" marT="32004" marB="18288" anchor="t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DB0011"/>
                    </a:solidFill>
                  </a:tcPr>
                </a:tc>
              </a:tr>
              <a:tr h="420624">
                <a:tc>
                  <a:txBody>
                    <a:bodyPr wrap="square"/>
                    <a:lstStyle/>
                    <a:p>
                      <a:pPr>
                        <a:lnSpc>
                          <a:spcPct val="110000"/>
                        </a:lnSpc>
                      </a:pPr>
                      <a:r>
                        <a:rPr sz="800" b="0">
                          <a:solidFill>
                            <a:srgbClr val="000000"/>
                          </a:solidFill>
                          <a:latin typeface="Arial"/>
                        </a:rPr>
                        <a:t>Receive 2y, pay 10y JPY OIS. DV01-neutral at 4.5 : 1 in notional</a:t>
                      </a:r>
                    </a:p>
                  </a:txBody>
                  <a:tcPr marL="64008" marR="64008" marT="32004" marB="18288" anchor="t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lnSpc>
                          <a:spcPct val="110000"/>
                        </a:lnSpc>
                      </a:pPr>
                      <a:r>
                        <a:rPr sz="800" b="0">
                          <a:solidFill>
                            <a:srgbClr val="000000"/>
                          </a:solidFill>
                          <a:latin typeface="Arial"/>
                        </a:rPr>
                        <a:t>Not here at 129bp. Half after a BoJ hike, 18-Sep or 29-Oct, half at 112bp</a:t>
                      </a:r>
                    </a:p>
                  </a:txBody>
                  <a:tcPr marL="64008" marR="64008" marT="32004" marB="18288" anchor="t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lnSpc>
                          <a:spcPct val="110000"/>
                        </a:lnSpc>
                      </a:pPr>
                      <a:r>
                        <a:rPr sz="800" b="0">
                          <a:solidFill>
                            <a:srgbClr val="000000"/>
                          </a:solidFill>
                          <a:latin typeface="Arial"/>
                        </a:rPr>
                        <a:t>160bp, below the 165bp high since 2000. +42bp net of costs</a:t>
                      </a:r>
                    </a:p>
                  </a:txBody>
                  <a:tcPr marL="64008" marR="64008" marT="32004" marB="18288" anchor="t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lnSpc>
                          <a:spcPct val="110000"/>
                        </a:lnSpc>
                      </a:pPr>
                      <a:r>
                        <a:rPr sz="800" b="0">
                          <a:solidFill>
                            <a:srgbClr val="000000"/>
                          </a:solidFill>
                          <a:latin typeface="Arial"/>
                        </a:rPr>
                        <a:t>98bp hard, 20bp all-in. Out on core-core 2.2%, or USD/JPY 165</a:t>
                      </a:r>
                    </a:p>
                  </a:txBody>
                  <a:tcPr marL="64008" marR="64008" marT="32004" marB="18288" anchor="t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lnSpc>
                          <a:spcPct val="110000"/>
                        </a:lnSpc>
                      </a:pPr>
                      <a:r>
                        <a:rPr sz="800" b="0">
                          <a:solidFill>
                            <a:srgbClr val="000000"/>
                          </a:solidFill>
                          <a:latin typeface="Arial"/>
                        </a:rPr>
                        <a:t>USD/JPY through 165. BoJ hikes to defend it, the curve bear-flattens</a:t>
                      </a:r>
                    </a:p>
                  </a:txBody>
                  <a:tcPr marL="64008" marR="64008" marT="32004" marB="18288" anchor="t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lnSpc>
                          <a:spcPct val="110000"/>
                        </a:lnSpc>
                      </a:pPr>
                      <a:r>
                        <a:rPr sz="800" b="0">
                          <a:solidFill>
                            <a:srgbClr val="000000"/>
                          </a:solidFill>
                          <a:latin typeface="Arial"/>
                        </a:rPr>
                        <a:t>Timing, sizing and the stop. No options, no premium</a:t>
                      </a:r>
                    </a:p>
                  </a:txBody>
                  <a:tcPr marL="64008" marR="64008" marT="32004" marB="18288" anchor="t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80" name="TextBox 79"/>
          <p:cNvSpPr txBox="1"/>
          <p:nvPr/>
        </p:nvSpPr>
        <p:spPr>
          <a:xfrm>
            <a:off x="475488" y="5961888"/>
            <a:ext cx="11247120" cy="18288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700" b="0" i="1">
                <a:solidFill>
                  <a:srgbClr val="767576"/>
                </a:solidFill>
                <a:latin typeface="Arial"/>
              </a:rPr>
              <a:t>Risk : reward, net of costs = (target − entry − 4bp) ÷ (entry − stop + 4bp). The 4bp is the round trip: 2bp quoted a leg, half crossed.</a:t>
            </a:r>
          </a:p>
        </p:txBody>
      </p:sp>
      <p:sp>
        <p:nvSpPr>
          <p:cNvPr id="81" name="TextBox 80"/>
          <p:cNvSpPr txBox="1"/>
          <p:nvPr/>
        </p:nvSpPr>
        <p:spPr>
          <a:xfrm>
            <a:off x="475488" y="6108192"/>
            <a:ext cx="8595360" cy="18288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700" b="0" i="1">
                <a:solidFill>
                  <a:srgbClr val="767576"/>
                </a:solidFill>
                <a:latin typeface="Arial"/>
              </a:rPr>
              <a:t>MoF JGB curve at 31-Jul-26, weekly since 2000, n = 1,387. Cashflow-level pricing on the annual JPY OIS schedule. Our path is a scenario: 2y +10bp, 10y +40bp.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