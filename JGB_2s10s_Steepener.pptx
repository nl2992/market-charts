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D7D8D6"/>
              </a:solidFill>
            </c:spPr>
          </c:dPt>
          <c:dPt>
            <c:idx val="1"/>
            <c:spPr>
              <a:solidFill>
                <a:srgbClr val="D7D8D6"/>
              </a:solidFill>
            </c:spPr>
          </c:dPt>
          <c:dPt>
            <c:idx val="2"/>
            <c:spPr>
              <a:solidFill>
                <a:srgbClr val="D7D8D6"/>
              </a:solidFill>
            </c:spPr>
          </c:dPt>
          <c:dPt>
            <c:idx val="3"/>
            <c:spPr>
              <a:solidFill>
                <a:srgbClr val="D7D8D6"/>
              </a:solidFill>
            </c:spPr>
          </c:dPt>
          <c:dPt>
            <c:idx val="4"/>
            <c:spPr>
              <a:solidFill>
                <a:srgbClr val="D7D8D6"/>
              </a:solidFill>
            </c:spPr>
          </c:dPt>
          <c:dPt>
            <c:idx val="5"/>
            <c:spPr>
              <a:solidFill>
                <a:srgbClr val="D7D8D6"/>
              </a:solidFill>
            </c:spPr>
          </c:dPt>
          <c:dPt>
            <c:idx val="6"/>
            <c:spPr>
              <a:solidFill>
                <a:srgbClr val="D7D8D6"/>
              </a:solidFill>
            </c:spPr>
          </c:dPt>
          <c:dPt>
            <c:idx val="7"/>
            <c:spPr>
              <a:solidFill>
                <a:srgbClr val="D7D8D6"/>
              </a:solidFill>
            </c:spPr>
          </c:dPt>
          <c:dPt>
            <c:idx val="8"/>
            <c:spPr>
              <a:solidFill>
                <a:srgbClr val="D7D8D6"/>
              </a:solidFill>
            </c:spPr>
          </c:dPt>
          <c:dPt>
            <c:idx val="9"/>
            <c:spPr>
              <a:solidFill>
                <a:srgbClr val="D7D8D6"/>
              </a:solidFill>
            </c:spPr>
          </c:dPt>
          <c:dPt>
            <c:idx val="10"/>
            <c:spPr>
              <a:solidFill>
                <a:srgbClr val="D7D8D6"/>
              </a:solidFill>
            </c:spPr>
          </c:dPt>
          <c:dPt>
            <c:idx val="11"/>
            <c:spPr>
              <a:solidFill>
                <a:srgbClr val="D7D8D6"/>
              </a:solidFill>
            </c:spPr>
          </c:dPt>
          <c:dPt>
            <c:idx val="12"/>
            <c:spPr>
              <a:solidFill>
                <a:srgbClr val="44546A"/>
              </a:solidFill>
            </c:spPr>
          </c:dPt>
          <c:dPt>
            <c:idx val="13"/>
            <c:spPr>
              <a:solidFill>
                <a:srgbClr val="DB0011"/>
              </a:solidFill>
            </c:spPr>
          </c:dPt>
          <c:dPt>
            <c:idx val="14"/>
            <c:spPr>
              <a:solidFill>
                <a:srgbClr val="DB0011"/>
              </a:solidFill>
            </c:spPr>
          </c:dPt>
          <c:dPt>
            <c:idx val="15"/>
            <c:spPr>
              <a:solidFill>
                <a:srgbClr val="DB0011"/>
              </a:solidFill>
            </c:spPr>
          </c:dPt>
          <c:dPt>
            <c:idx val="16"/>
            <c:spPr>
              <a:solidFill>
                <a:srgbClr val="DB0011"/>
              </a:solidFill>
            </c:spPr>
          </c:dPt>
          <c:cat>
            <c:strRef>
              <c:f>Sheet1!$A$2:$A$18</c:f>
              <c:strCache>
                <c:ptCount val="17"/>
                <c:pt idx="0">
                  <c:v>0</c:v>
                </c:pt>
                <c:pt idx="1">
                  <c:v/>
                </c:pt>
                <c:pt idx="2">
                  <c:v>20</c:v>
                </c:pt>
                <c:pt idx="3">
                  <c:v/>
                </c:pt>
                <c:pt idx="4">
                  <c:v>40</c:v>
                </c:pt>
                <c:pt idx="5">
                  <c:v/>
                </c:pt>
                <c:pt idx="6">
                  <c:v>60</c:v>
                </c:pt>
                <c:pt idx="7">
                  <c:v/>
                </c:pt>
                <c:pt idx="8">
                  <c:v>80</c:v>
                </c:pt>
                <c:pt idx="9">
                  <c:v/>
                </c:pt>
                <c:pt idx="10">
                  <c:v>100</c:v>
                </c:pt>
                <c:pt idx="11">
                  <c:v/>
                </c:pt>
                <c:pt idx="12">
                  <c:v>120</c:v>
                </c:pt>
                <c:pt idx="13">
                  <c:v/>
                </c:pt>
                <c:pt idx="14">
                  <c:v>140</c:v>
                </c:pt>
                <c:pt idx="15">
                  <c:v/>
                </c:pt>
                <c:pt idx="16">
                  <c:v>160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2.1</c:v>
                </c:pt>
                <c:pt idx="1">
                  <c:v>12.9</c:v>
                </c:pt>
                <c:pt idx="2">
                  <c:v>9.2</c:v>
                </c:pt>
                <c:pt idx="3">
                  <c:v>5.2</c:v>
                </c:pt>
                <c:pt idx="4">
                  <c:v>4.9</c:v>
                </c:pt>
                <c:pt idx="5">
                  <c:v>7.4</c:v>
                </c:pt>
                <c:pt idx="6">
                  <c:v>5.9</c:v>
                </c:pt>
                <c:pt idx="7">
                  <c:v>8.0</c:v>
                </c:pt>
                <c:pt idx="8">
                  <c:v>9.0</c:v>
                </c:pt>
                <c:pt idx="9">
                  <c:v>5.7</c:v>
                </c:pt>
                <c:pt idx="10">
                  <c:v>6.1</c:v>
                </c:pt>
                <c:pt idx="11">
                  <c:v>6.8</c:v>
                </c:pt>
                <c:pt idx="12">
                  <c:v>10.2</c:v>
                </c:pt>
                <c:pt idx="13">
                  <c:v>5.0</c:v>
                </c:pt>
                <c:pt idx="14">
                  <c:v>0.9</c:v>
                </c:pt>
                <c:pt idx="15">
                  <c:v>0.1</c:v>
                </c:pt>
                <c:pt idx="16">
                  <c:v>0.5</c:v>
                </c:pt>
              </c:numCache>
            </c:numRef>
          </c:val>
        </c:ser>
        <c:gapWidth val="1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7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curve has been steeper than this in 7% of the last 26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2s10s, weekly closes since 2000, % of weeks per 10bp bin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078224" y="1700784"/>
          <a:ext cx="4169664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133087" y="3310128"/>
            <a:ext cx="40599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Navy is the bin we are in, red every bin above it. 6.8% of the 1,387 weeks closed steeper than today. The 160bp target and the 164.9bp high are both in the last bin.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Headroom to the high since 2000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+35.5bp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+12.3bp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Round trip, share of headroom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33%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93rd vs 99th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percentile since 2000, vs 2s30s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