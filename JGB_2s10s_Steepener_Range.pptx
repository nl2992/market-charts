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ns1="http://schemas.openxmlformats.org/drawingml/2006/main" xmlns:ns2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31-Jul-25</c:v>
                </c:pt>
              </c:strCache>
            </c:strRef>
          </c:tx>
          <c:spPr>
            <ns1:ln w="15875">
              <ns1:solidFill>
                <ns1:srgbClr val="767576"/>
              </ns1:solidFill>
            </ns1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0.661</c:v>
                </c:pt>
                <c:pt idx="1">
                  <c:v>0.6684</c:v>
                </c:pt>
                <c:pt idx="2">
                  <c:v>0.6761</c:v>
                </c:pt>
                <c:pt idx="3">
                  <c:v>0.6841</c:v>
                </c:pt>
                <c:pt idx="4">
                  <c:v>0.6923</c:v>
                </c:pt>
                <c:pt idx="5">
                  <c:v>0.7008</c:v>
                </c:pt>
                <c:pt idx="6">
                  <c:v>0.7096</c:v>
                </c:pt>
                <c:pt idx="7">
                  <c:v>0.7187</c:v>
                </c:pt>
                <c:pt idx="8">
                  <c:v>0.7281</c:v>
                </c:pt>
                <c:pt idx="9">
                  <c:v>0.7378</c:v>
                </c:pt>
                <c:pt idx="10">
                  <c:v>0.7478</c:v>
                </c:pt>
                <c:pt idx="11">
                  <c:v>0.7581</c:v>
                </c:pt>
                <c:pt idx="12">
                  <c:v>0.7686</c:v>
                </c:pt>
                <c:pt idx="13">
                  <c:v>0.7795</c:v>
                </c:pt>
                <c:pt idx="14">
                  <c:v>0.7907</c:v>
                </c:pt>
                <c:pt idx="15">
                  <c:v>0.8022</c:v>
                </c:pt>
                <c:pt idx="16">
                  <c:v>0.814</c:v>
                </c:pt>
                <c:pt idx="17">
                  <c:v>0.8256</c:v>
                </c:pt>
                <c:pt idx="18">
                  <c:v>0.8375</c:v>
                </c:pt>
                <c:pt idx="19">
                  <c:v>0.8496</c:v>
                </c:pt>
                <c:pt idx="20">
                  <c:v>0.8619</c:v>
                </c:pt>
                <c:pt idx="21">
                  <c:v>0.8745</c:v>
                </c:pt>
                <c:pt idx="22">
                  <c:v>0.8872</c:v>
                </c:pt>
                <c:pt idx="23">
                  <c:v>0.9002</c:v>
                </c:pt>
                <c:pt idx="24">
                  <c:v>0.9133</c:v>
                </c:pt>
                <c:pt idx="25">
                  <c:v>0.9265</c:v>
                </c:pt>
                <c:pt idx="26">
                  <c:v>0.9399</c:v>
                </c:pt>
                <c:pt idx="27">
                  <c:v>0.9533</c:v>
                </c:pt>
                <c:pt idx="28">
                  <c:v>0.9667</c:v>
                </c:pt>
                <c:pt idx="29">
                  <c:v>0.9802</c:v>
                </c:pt>
                <c:pt idx="30">
                  <c:v>0.9935</c:v>
                </c:pt>
                <c:pt idx="31">
                  <c:v>1.0067</c:v>
                </c:pt>
                <c:pt idx="32">
                  <c:v>1.0198</c:v>
                </c:pt>
                <c:pt idx="33">
                  <c:v>1.0325</c:v>
                </c:pt>
                <c:pt idx="34">
                  <c:v>1.0449</c:v>
                </c:pt>
                <c:pt idx="35">
                  <c:v>1.0569</c:v>
                </c:pt>
                <c:pt idx="36">
                  <c:v>1.0683</c:v>
                </c:pt>
                <c:pt idx="37">
                  <c:v>1.079</c:v>
                </c:pt>
                <c:pt idx="38">
                  <c:v>1.089</c:v>
                </c:pt>
                <c:pt idx="39">
                  <c:v>1.0996</c:v>
                </c:pt>
                <c:pt idx="40">
                  <c:v>1.1117</c:v>
                </c:pt>
                <c:pt idx="41">
                  <c:v>1.1254</c:v>
                </c:pt>
                <c:pt idx="42">
                  <c:v>1.1409</c:v>
                </c:pt>
                <c:pt idx="43">
                  <c:v>1.1584</c:v>
                </c:pt>
                <c:pt idx="44">
                  <c:v>1.1782</c:v>
                </c:pt>
                <c:pt idx="45">
                  <c:v>1.2003</c:v>
                </c:pt>
                <c:pt idx="46">
                  <c:v>1.2252</c:v>
                </c:pt>
                <c:pt idx="47">
                  <c:v>1.253</c:v>
                </c:pt>
                <c:pt idx="48">
                  <c:v>1.2841</c:v>
                </c:pt>
                <c:pt idx="49">
                  <c:v>1.3188</c:v>
                </c:pt>
                <c:pt idx="50">
                  <c:v>1.3575</c:v>
                </c:pt>
                <c:pt idx="51">
                  <c:v>1.4005</c:v>
                </c:pt>
                <c:pt idx="52">
                  <c:v>1.4482</c:v>
                </c:pt>
                <c:pt idx="53">
                  <c:v>1.5012</c:v>
                </c:pt>
                <c:pt idx="54">
                  <c:v>1.56</c:v>
                </c:pt>
                <c:pt idx="55">
                  <c:v>1.6223</c:v>
                </c:pt>
                <c:pt idx="56">
                  <c:v>1.6856</c:v>
                </c:pt>
                <c:pt idx="57">
                  <c:v>1.7497</c:v>
                </c:pt>
                <c:pt idx="58">
                  <c:v>1.8144</c:v>
                </c:pt>
                <c:pt idx="59">
                  <c:v>1.8796</c:v>
                </c:pt>
                <c:pt idx="60">
                  <c:v>1.9452</c:v>
                </c:pt>
                <c:pt idx="61">
                  <c:v>2.0108</c:v>
                </c:pt>
                <c:pt idx="62">
                  <c:v>2.0762</c:v>
                </c:pt>
                <c:pt idx="63">
                  <c:v>2.1412</c:v>
                </c:pt>
                <c:pt idx="64">
                  <c:v>2.2053</c:v>
                </c:pt>
                <c:pt idx="65">
                  <c:v>2.2684</c:v>
                </c:pt>
                <c:pt idx="66">
                  <c:v>2.3299</c:v>
                </c:pt>
                <c:pt idx="67">
                  <c:v>2.3893</c:v>
                </c:pt>
                <c:pt idx="68">
                  <c:v>2.4462</c:v>
                </c:pt>
                <c:pt idx="69">
                  <c:v>2.5</c:v>
                </c:pt>
                <c:pt idx="70">
                  <c:v>2.55</c:v>
                </c:pt>
                <c:pt idx="71">
                  <c:v>2.5953</c:v>
                </c:pt>
                <c:pt idx="72">
                  <c:v>2.6415</c:v>
                </c:pt>
                <c:pt idx="73">
                  <c:v>2.6886</c:v>
                </c:pt>
                <c:pt idx="74">
                  <c:v>2.7365</c:v>
                </c:pt>
                <c:pt idx="75">
                  <c:v>2.7852</c:v>
                </c:pt>
                <c:pt idx="76">
                  <c:v>2.8345</c:v>
                </c:pt>
                <c:pt idx="77">
                  <c:v>2.8845</c:v>
                </c:pt>
                <c:pt idx="78">
                  <c:v>2.935</c:v>
                </c:pt>
                <c:pt idx="79">
                  <c:v>2.9858</c:v>
                </c:pt>
                <c:pt idx="80">
                  <c:v>3.037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31-Jul-26</c:v>
                </c:pt>
              </c:strCache>
            </c:strRef>
          </c:tx>
          <c:spPr>
            <ns1:ln w="28575">
              <ns1:solidFill>
                <ns1:srgbClr val="44546A"/>
              </ns1:solidFill>
            </ns1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Sheet1!$C$2:$C$82</c:f>
              <c:numCache>
                <c:formatCode>General</c:formatCode>
                <c:ptCount val="81"/>
                <c:pt idx="0">
                  <c:v>1.255</c:v>
                </c:pt>
                <c:pt idx="1">
                  <c:v>1.2669</c:v>
                </c:pt>
                <c:pt idx="2">
                  <c:v>1.2793</c:v>
                </c:pt>
                <c:pt idx="3">
                  <c:v>1.2922</c:v>
                </c:pt>
                <c:pt idx="4">
                  <c:v>1.3055</c:v>
                </c:pt>
                <c:pt idx="5">
                  <c:v>1.3193</c:v>
                </c:pt>
                <c:pt idx="6">
                  <c:v>1.3336</c:v>
                </c:pt>
                <c:pt idx="7">
                  <c:v>1.3484</c:v>
                </c:pt>
                <c:pt idx="8">
                  <c:v>1.3638</c:v>
                </c:pt>
                <c:pt idx="9">
                  <c:v>1.3797</c:v>
                </c:pt>
                <c:pt idx="10">
                  <c:v>1.3962</c:v>
                </c:pt>
                <c:pt idx="11">
                  <c:v>1.4132</c:v>
                </c:pt>
                <c:pt idx="12">
                  <c:v>1.4308</c:v>
                </c:pt>
                <c:pt idx="13">
                  <c:v>1.4489</c:v>
                </c:pt>
                <c:pt idx="14">
                  <c:v>1.4677</c:v>
                </c:pt>
                <c:pt idx="15">
                  <c:v>1.487</c:v>
                </c:pt>
                <c:pt idx="16">
                  <c:v>1.507</c:v>
                </c:pt>
                <c:pt idx="17">
                  <c:v>1.5268</c:v>
                </c:pt>
                <c:pt idx="18">
                  <c:v>1.5471</c:v>
                </c:pt>
                <c:pt idx="19">
                  <c:v>1.5679</c:v>
                </c:pt>
                <c:pt idx="20">
                  <c:v>1.5893</c:v>
                </c:pt>
                <c:pt idx="21">
                  <c:v>1.6113</c:v>
                </c:pt>
                <c:pt idx="22">
                  <c:v>1.6338</c:v>
                </c:pt>
                <c:pt idx="23">
                  <c:v>1.6569</c:v>
                </c:pt>
                <c:pt idx="24">
                  <c:v>1.6804</c:v>
                </c:pt>
                <c:pt idx="25">
                  <c:v>1.7045</c:v>
                </c:pt>
                <c:pt idx="26">
                  <c:v>1.729</c:v>
                </c:pt>
                <c:pt idx="27">
                  <c:v>1.754</c:v>
                </c:pt>
                <c:pt idx="28">
                  <c:v>1.7794</c:v>
                </c:pt>
                <c:pt idx="29">
                  <c:v>1.8052</c:v>
                </c:pt>
                <c:pt idx="30">
                  <c:v>1.8313</c:v>
                </c:pt>
                <c:pt idx="31">
                  <c:v>1.8577</c:v>
                </c:pt>
                <c:pt idx="32">
                  <c:v>1.8843</c:v>
                </c:pt>
                <c:pt idx="33">
                  <c:v>1.9111</c:v>
                </c:pt>
                <c:pt idx="34">
                  <c:v>1.9379</c:v>
                </c:pt>
                <c:pt idx="35">
                  <c:v>1.9647</c:v>
                </c:pt>
                <c:pt idx="36">
                  <c:v>1.9914</c:v>
                </c:pt>
                <c:pt idx="37">
                  <c:v>2.0179</c:v>
                </c:pt>
                <c:pt idx="38">
                  <c:v>2.044</c:v>
                </c:pt>
                <c:pt idx="39">
                  <c:v>2.0718</c:v>
                </c:pt>
                <c:pt idx="40">
                  <c:v>2.1013</c:v>
                </c:pt>
                <c:pt idx="41">
                  <c:v>2.1328</c:v>
                </c:pt>
                <c:pt idx="42">
                  <c:v>2.1664</c:v>
                </c:pt>
                <c:pt idx="43">
                  <c:v>2.2022</c:v>
                </c:pt>
                <c:pt idx="44">
                  <c:v>2.2404</c:v>
                </c:pt>
                <c:pt idx="45">
                  <c:v>2.2811</c:v>
                </c:pt>
                <c:pt idx="46">
                  <c:v>2.3246</c:v>
                </c:pt>
                <c:pt idx="47">
                  <c:v>2.3711</c:v>
                </c:pt>
                <c:pt idx="48">
                  <c:v>2.4208</c:v>
                </c:pt>
                <c:pt idx="49">
                  <c:v>2.4739</c:v>
                </c:pt>
                <c:pt idx="50">
                  <c:v>2.5307</c:v>
                </c:pt>
                <c:pt idx="51">
                  <c:v>2.5915</c:v>
                </c:pt>
                <c:pt idx="52">
                  <c:v>2.6566</c:v>
                </c:pt>
                <c:pt idx="53">
                  <c:v>2.7263</c:v>
                </c:pt>
                <c:pt idx="54">
                  <c:v>2.801</c:v>
                </c:pt>
                <c:pt idx="55">
                  <c:v>2.8783</c:v>
                </c:pt>
                <c:pt idx="56">
                  <c:v>2.9553</c:v>
                </c:pt>
                <c:pt idx="57">
                  <c:v>3.0315</c:v>
                </c:pt>
                <c:pt idx="58">
                  <c:v>3.1067</c:v>
                </c:pt>
                <c:pt idx="59">
                  <c:v>3.1804</c:v>
                </c:pt>
                <c:pt idx="60">
                  <c:v>3.252</c:v>
                </c:pt>
                <c:pt idx="61">
                  <c:v>3.321</c:v>
                </c:pt>
                <c:pt idx="62">
                  <c:v>3.3868</c:v>
                </c:pt>
                <c:pt idx="63">
                  <c:v>3.4485</c:v>
                </c:pt>
                <c:pt idx="64">
                  <c:v>3.5056</c:v>
                </c:pt>
                <c:pt idx="65">
                  <c:v>3.5569</c:v>
                </c:pt>
                <c:pt idx="66">
                  <c:v>3.6016</c:v>
                </c:pt>
                <c:pt idx="67">
                  <c:v>3.6386</c:v>
                </c:pt>
                <c:pt idx="68">
                  <c:v>3.6665</c:v>
                </c:pt>
                <c:pt idx="69">
                  <c:v>3.6842</c:v>
                </c:pt>
                <c:pt idx="70">
                  <c:v>3.69</c:v>
                </c:pt>
                <c:pt idx="71">
                  <c:v>3.6914</c:v>
                </c:pt>
                <c:pt idx="72">
                  <c:v>3.6973</c:v>
                </c:pt>
                <c:pt idx="73">
                  <c:v>3.7081</c:v>
                </c:pt>
                <c:pt idx="74">
                  <c:v>3.7245</c:v>
                </c:pt>
                <c:pt idx="75">
                  <c:v>3.7471</c:v>
                </c:pt>
                <c:pt idx="76">
                  <c:v>3.7767</c:v>
                </c:pt>
                <c:pt idx="77">
                  <c:v>3.8141</c:v>
                </c:pt>
                <c:pt idx="78">
                  <c:v>3.8601</c:v>
                </c:pt>
                <c:pt idx="79">
                  <c:v>3.9157</c:v>
                </c:pt>
                <c:pt idx="80">
                  <c:v>3.982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</c:v>
                </c:pt>
              </c:strCache>
            </c:strRef>
          </c:tx>
          <c:spPr>
            <ns1:ln w="25400">
              <ns1:solidFill>
                <ns1:srgbClr val="DB0011"/>
              </ns1:solidFill>
              <ns1:prstDash val="dash"/>
            </ns1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Sheet1!$D$2:$D$82</c:f>
              <c:numCache>
                <c:formatCode>General</c:formatCode>
                <c:ptCount val="81"/>
                <c:pt idx="0">
                  <c:v>1.305</c:v>
                </c:pt>
                <c:pt idx="1">
                  <c:v>1.319</c:v>
                </c:pt>
                <c:pt idx="2">
                  <c:v>1.3336</c:v>
                </c:pt>
                <c:pt idx="3">
                  <c:v>1.3488</c:v>
                </c:pt>
                <c:pt idx="4">
                  <c:v>1.3646</c:v>
                </c:pt>
                <c:pt idx="5">
                  <c:v>1.3809</c:v>
                </c:pt>
                <c:pt idx="6">
                  <c:v>1.3979</c:v>
                </c:pt>
                <c:pt idx="7">
                  <c:v>1.4156</c:v>
                </c:pt>
                <c:pt idx="8">
                  <c:v>1.4339</c:v>
                </c:pt>
                <c:pt idx="9">
                  <c:v>1.4529</c:v>
                </c:pt>
                <c:pt idx="10">
                  <c:v>1.4727</c:v>
                </c:pt>
                <c:pt idx="11">
                  <c:v>1.4931</c:v>
                </c:pt>
                <c:pt idx="12">
                  <c:v>1.5143</c:v>
                </c:pt>
                <c:pt idx="13">
                  <c:v>1.5363</c:v>
                </c:pt>
                <c:pt idx="14">
                  <c:v>1.5591</c:v>
                </c:pt>
                <c:pt idx="15">
                  <c:v>1.5826</c:v>
                </c:pt>
                <c:pt idx="16">
                  <c:v>1.607</c:v>
                </c:pt>
                <c:pt idx="17">
                  <c:v>1.6312</c:v>
                </c:pt>
                <c:pt idx="18">
                  <c:v>1.6563</c:v>
                </c:pt>
                <c:pt idx="19">
                  <c:v>1.6821</c:v>
                </c:pt>
                <c:pt idx="20">
                  <c:v>1.7087</c:v>
                </c:pt>
                <c:pt idx="21">
                  <c:v>1.7362</c:v>
                </c:pt>
                <c:pt idx="22">
                  <c:v>1.7645</c:v>
                </c:pt>
                <c:pt idx="23">
                  <c:v>1.7936</c:v>
                </c:pt>
                <c:pt idx="24">
                  <c:v>1.8235</c:v>
                </c:pt>
                <c:pt idx="25">
                  <c:v>1.8543</c:v>
                </c:pt>
                <c:pt idx="26">
                  <c:v>1.886</c:v>
                </c:pt>
                <c:pt idx="27">
                  <c:v>1.9184</c:v>
                </c:pt>
                <c:pt idx="28">
                  <c:v>1.9517</c:v>
                </c:pt>
                <c:pt idx="29">
                  <c:v>1.9858</c:v>
                </c:pt>
                <c:pt idx="30">
                  <c:v>2.0207</c:v>
                </c:pt>
                <c:pt idx="31">
                  <c:v>2.0564</c:v>
                </c:pt>
                <c:pt idx="32">
                  <c:v>2.0927</c:v>
                </c:pt>
                <c:pt idx="33">
                  <c:v>2.1298</c:v>
                </c:pt>
                <c:pt idx="34">
                  <c:v>2.1676</c:v>
                </c:pt>
                <c:pt idx="35">
                  <c:v>2.206</c:v>
                </c:pt>
                <c:pt idx="36">
                  <c:v>2.2449</c:v>
                </c:pt>
                <c:pt idx="37">
                  <c:v>2.2842</c:v>
                </c:pt>
                <c:pt idx="38">
                  <c:v>2.324</c:v>
                </c:pt>
                <c:pt idx="39">
                  <c:v>2.3663</c:v>
                </c:pt>
                <c:pt idx="40">
                  <c:v>2.4101</c:v>
                </c:pt>
                <c:pt idx="41">
                  <c:v>2.4555</c:v>
                </c:pt>
                <c:pt idx="42">
                  <c:v>2.5025</c:v>
                </c:pt>
                <c:pt idx="43">
                  <c:v>2.5511</c:v>
                </c:pt>
                <c:pt idx="44">
                  <c:v>2.6014</c:v>
                </c:pt>
                <c:pt idx="45">
                  <c:v>2.6534</c:v>
                </c:pt>
                <c:pt idx="46">
                  <c:v>2.7071</c:v>
                </c:pt>
                <c:pt idx="47">
                  <c:v>2.7626</c:v>
                </c:pt>
                <c:pt idx="48">
                  <c:v>2.8198</c:v>
                </c:pt>
                <c:pt idx="49">
                  <c:v>2.8788</c:v>
                </c:pt>
                <c:pt idx="50">
                  <c:v>2.9397</c:v>
                </c:pt>
                <c:pt idx="51">
                  <c:v>3.0023</c:v>
                </c:pt>
                <c:pt idx="52">
                  <c:v>3.0667</c:v>
                </c:pt>
                <c:pt idx="53">
                  <c:v>3.133</c:v>
                </c:pt>
                <c:pt idx="54">
                  <c:v>3.201</c:v>
                </c:pt>
                <c:pt idx="55">
                  <c:v>3.27</c:v>
                </c:pt>
                <c:pt idx="56">
                  <c:v>3.339</c:v>
                </c:pt>
                <c:pt idx="57">
                  <c:v>3.4077</c:v>
                </c:pt>
                <c:pt idx="58">
                  <c:v>3.4757</c:v>
                </c:pt>
                <c:pt idx="59">
                  <c:v>3.5429</c:v>
                </c:pt>
                <c:pt idx="60">
                  <c:v>3.6087</c:v>
                </c:pt>
                <c:pt idx="61">
                  <c:v>3.6726</c:v>
                </c:pt>
                <c:pt idx="62">
                  <c:v>3.7343</c:v>
                </c:pt>
                <c:pt idx="63">
                  <c:v>3.7931</c:v>
                </c:pt>
                <c:pt idx="64">
                  <c:v>3.8483</c:v>
                </c:pt>
                <c:pt idx="65">
                  <c:v>3.8994</c:v>
                </c:pt>
                <c:pt idx="66">
                  <c:v>3.9454</c:v>
                </c:pt>
                <c:pt idx="67">
                  <c:v>3.9855</c:v>
                </c:pt>
                <c:pt idx="68">
                  <c:v>4.0187</c:v>
                </c:pt>
                <c:pt idx="69">
                  <c:v>4.0439</c:v>
                </c:pt>
                <c:pt idx="70">
                  <c:v>4.06</c:v>
                </c:pt>
                <c:pt idx="71">
                  <c:v>4.0713</c:v>
                </c:pt>
                <c:pt idx="72">
                  <c:v>4.0845</c:v>
                </c:pt>
                <c:pt idx="73">
                  <c:v>4.1</c:v>
                </c:pt>
                <c:pt idx="74">
                  <c:v>4.1179</c:v>
                </c:pt>
                <c:pt idx="75">
                  <c:v>4.1384</c:v>
                </c:pt>
                <c:pt idx="76">
                  <c:v>4.1619</c:v>
                </c:pt>
                <c:pt idx="77">
                  <c:v>4.1887</c:v>
                </c:pt>
                <c:pt idx="78">
                  <c:v>4.2191</c:v>
                </c:pt>
                <c:pt idx="79">
                  <c:v>4.2534</c:v>
                </c:pt>
                <c:pt idx="80">
                  <c:v>4.292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one"/>
        <c:spPr>
          <ns1:ln w="9525">
            <ns1:solidFill>
              <ns1:srgbClr val="000000"/>
            </ns1:solidFill>
          </ns1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5"/>
          <c:min val="0.0"/>
        </c:scaling>
        <c:delete val="0"/>
        <c:axPos val="l"/>
        <c:majorGridlines>
          <c:spPr>
            <ns1:ln w="6350">
              <ns1:solidFill>
                <ns1:srgbClr val="ECECEC"/>
              </ns1:solidFill>
            </ns1:ln>
          </c:spPr>
        </c:majorGridlines>
        <c:numFmt formatCode="0.0&quot;%&quot;" sourceLinked="0"/>
        <c:majorTickMark val="none"/>
        <c:minorTickMark val="none"/>
        <c:tickLblPos val="nextTo"/>
        <c:spPr>
          <ns1:ln>
            <ns1:noFill/>
          </ns1:ln>
        </c:spPr>
        <c:txPr>
          <ns1:bodyPr/>
          <ns1:lstStyle/>
          <ns1:p>
            <ns1:pPr>
              <ns1:defRPr sz="850">
                <ns1:solidFill>
                  <ns1:srgbClr val="767576"/>
                </ns1:solidFill>
                <ns1:latin typeface="Arial"/>
              </ns1:defRPr>
            </ns1:pPr>
          </ns1:p>
        </c:txPr>
        <c:crossAx val="2118791784"/>
        <c:crosses val="autoZero"/>
        <c:majorUnit val="1.0"/>
      </c:valAx>
    </c:plotArea>
    <c:legend>
      <c:legendPos val="t"/>
      <c:layout/>
      <c:overlay val="0"/>
      <c:txPr>
        <ns1:bodyPr/>
        <ns1:lstStyle/>
        <ns1:p>
          <ns1:pPr>
            <ns1:defRPr sz="850">
              <ns1:latin typeface="Arial"/>
            </ns1:defRPr>
          </ns1:pPr>
        </ns1:p>
      </c:txPr>
    </c:legend>
    <c:plotVisOnly val="1"/>
    <c:dispBlanksAs val="gap"/>
    <c:showDLblsOverMax val="0"/>
  </c:chart>
  <c:txPr>
    <ns1:bodyPr/>
    <ns1:lstStyle/>
    <ns1:p>
      <ns1:pPr>
        <ns1:defRPr sz="1800"/>
      </ns1:pPr>
      <ns1:endParaRPr lang="en-US"/>
    </ns1:p>
  </c:txPr>
  <c:externalData ns2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D7D8D6"/>
              </a:solidFill>
            </c:spPr>
          </c:dPt>
          <c:dPt>
            <c:idx val="1"/>
            <c:invertIfNegative val="0"/>
            <c:spPr>
              <a:solidFill>
                <a:srgbClr val="44546A"/>
              </a:solidFill>
            </c:spPr>
          </c:dPt>
          <c:dPt>
            <c:idx val="2"/>
            <c:invertIfNegative val="0"/>
            <c:spPr>
              <a:solidFill>
                <a:srgbClr val="D7D8D6"/>
              </a:solidFill>
            </c:spPr>
          </c:dPt>
          <c:dPt>
            <c:idx val="3"/>
            <c:invertIfNegative val="0"/>
            <c:spPr>
              <a:solidFill>
                <a:srgbClr val="DB0011"/>
              </a:solidFill>
            </c:spPr>
          </c:dPt>
          <c:dPt>
            <c:idx val="4"/>
            <c:invertIfNegative val="0"/>
            <c:spPr>
              <a:solidFill>
                <a:srgbClr val="D7D8D6"/>
              </a:solidFill>
            </c:spPr>
          </c:dPt>
          <c:dPt>
            <c:idx val="5"/>
            <c:invertIfNegative val="0"/>
            <c:spPr>
              <a:solidFill>
                <a:srgbClr val="D7D8D6"/>
              </a:solidFill>
            </c:spPr>
          </c:dPt>
          <c:cat>
            <c:strRef>
              <c:f>Sheet1!$A$2:$A$7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5Y</c:v>
                </c:pt>
                <c:pt idx="3">
                  <c:v>10Y</c:v>
                </c:pt>
                <c:pt idx="4">
                  <c:v>20Y</c:v>
                </c:pt>
                <c:pt idx="5">
                  <c:v>30Y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-0.4</c:v>
                </c:pt>
                <c:pt idx="1">
                  <c:v>-99.4</c:v>
                </c:pt>
                <c:pt idx="2">
                  <c:v>5.6</c:v>
                </c:pt>
                <c:pt idx="3">
                  <c:v>93.3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numFmt formatCode="0.0&quot;%&quot;;−0.0&quot;%&quot;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-115.0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786384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H2 2026 Trade: Receive 2y JGB, Pay 10y, DV01-Neutral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47472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767576"/>
                </a:solidFill>
                <a:latin typeface="Arial"/>
              </a:rPr>
              <a:t>Trade 2 of 3 · rates · 30% of the risk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4. Last year's repricing was all 5-year and out. The 2-year has not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63040"/>
            <a:ext cx="3401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JGB par yield by tenor, %, quadratically interpolated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" y="1700784"/>
          <a:ext cx="3511296" cy="2304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" y="3941063"/>
            <a:ext cx="629878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97974" y="3941063"/>
            <a:ext cx="1462505" cy="16459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60480" y="3941063"/>
            <a:ext cx="998287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97974" y="3936491"/>
            <a:ext cx="1462505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rial"/>
              </a:rPr>
              <a:t>2s10s · the traded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6806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433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5Y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9312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10Y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191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20Y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30Y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74.6 → 129.4bp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2s10s over the last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1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→ 159bp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1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on our projected path. Target 160bp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822960"/>
            <a:ext cx="40599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5. 2s10s has 35bp of room. 2s30s has 12bp, and the round trip eats a third of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1463040"/>
            <a:ext cx="405993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Slope vs its own range since 2000, bp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93207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06440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19672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32904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118567" y="1897380"/>
            <a:ext cx="1281440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49772" y="1860804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093073" y="1833372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33087" y="1869948"/>
            <a:ext cx="8686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2s10s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1869948"/>
            <a:ext cx="9235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129bp · 93rd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5216" y="2336292"/>
            <a:ext cx="966825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67059" y="2299716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003523" y="2272284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133087" y="2308860"/>
            <a:ext cx="8686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10s30s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2904" y="2308860"/>
            <a:ext cx="9235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118bp · 94th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27634" y="2775204"/>
            <a:ext cx="1724436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333683" y="2738628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028992" y="2711196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133087" y="2747772"/>
            <a:ext cx="8686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2s30s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2747772"/>
            <a:ext cx="9235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248bp · 99th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93207" y="3072384"/>
            <a:ext cx="21396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73168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+180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2864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+270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3087" y="3310128"/>
            <a:ext cx="51206" cy="128016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248302" y="3291840"/>
            <a:ext cx="117408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Today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310128"/>
            <a:ext cx="20116" cy="12801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70524" y="3291840"/>
            <a:ext cx="120517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Mean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39712" y="3328416"/>
            <a:ext cx="201168" cy="91440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04888" y="329184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Since 2000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2s10s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67576"/>
                </a:solidFill>
                <a:latin typeface="Arial"/>
              </a:rPr>
              <a:t>2s30s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133087" y="3767328"/>
            <a:ext cx="393192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33087" y="3822191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Headroom to the 25-year 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362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+35.5bp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6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+12.3bp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133087" y="396849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133087" y="400507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Round trip, share of headroom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11%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06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33%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33087" y="415137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133087" y="418795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Risk : reward, net of costs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362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2.1 : 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506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1.1 : 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133087" y="433425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133087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93rd vs 99th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33087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percentile since 2000, vs 2s30s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08776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−5.8bp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08776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12m carry goes negative, so we time-stop 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49056" y="822960"/>
            <a:ext cx="327355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6. Risk is 97% at the 2-year and 10-year, DV01-neutral between them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49056" y="1463040"/>
            <a:ext cx="3273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Bucketed tenor risk, % of the position's DV01</a:t>
            </a:r>
          </a:p>
        </p:txBody>
      </p:sp>
      <p:graphicFrame>
        <p:nvGraphicFramePr>
          <p:cNvPr id="74" name="Chart 73"/>
          <p:cNvGraphicFramePr>
            <a:graphicFrameLocks noGrp="1"/>
          </p:cNvGraphicFramePr>
          <p:nvPr/>
        </p:nvGraphicFramePr>
        <p:xfrm>
          <a:off x="8394192" y="1682496"/>
          <a:ext cx="338328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8449056" y="3986784"/>
            <a:ext cx="32735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We bump each node's zero rate 1bp on its own and revalue every cashflow. The 5-year picks up 5.6% because the 10-year leg pays coupons in years 3 to 9, which fall between nodes. Net of everything it is 0.97%, small enough that the sizing covers it.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49056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0.97%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49056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what a parallel move can still cost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31552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4.5 : 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31552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notional ratio, DV01 for DV01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475488" y="5212080"/>
          <a:ext cx="1124712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057400"/>
                <a:gridCol w="1737360"/>
                <a:gridCol w="2103120"/>
                <a:gridCol w="1920240"/>
                <a:gridCol w="1508760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Instrument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Entry trigger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Key risk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Hedge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Receive 2y, pay 10y JPY OIS. DV01-neutral at 4.5 : 1 in notional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Not here at 129bp. Half after a BoJ hike, 18-Sep or 29-Oct, half at 112bp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160bp, below the 25y high of 165bp. +42bp net of costs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98bp hard, 20bp all-in. Out on core-core 2.2%, or USD/JPY 165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USD/JPY through 165. BoJ hikes to defend it, the curve bear-flattens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Timing, sizing and the stop. No options, no premium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475488" y="5961888"/>
            <a:ext cx="11247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Risk : reward, net of costs = (target − entry − 4bp) ÷ (entry − stop + 4bp). The 4bp is the round trip: 2bp quoted a leg, half crossed. DV01-matched legs make that the same in slope terms at any tenor.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5488" y="6108192"/>
            <a:ext cx="8595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MoF JGB curve, weekly since 2000, n = 1,387. Cashflow-level pricing on the annual JPY OIS schedule. Projection is our scenario: 2y +10bp, 10y +40bp.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6108192"/>
            <a:ext cx="32186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FBFBF"/>
                </a:solidFill>
                <a:latin typeface="Arial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