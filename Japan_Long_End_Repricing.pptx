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53"/>
  </p:normalViewPr>
  <p:slideViewPr>
    <p:cSldViewPr snapToGrid="0" snapToObjects="1">
      <p:cViewPr>
        <p:scale>
          <a:sx n="82" d="100"/>
          <a:sy n="82" d="100"/>
        </p:scale>
        <p:origin x="680" y="9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30Y</c:v>
                </c:pt>
              </c:strCache>
            </c:strRef>
          </c:tx>
          <c:spPr>
            <a:ln w="25400">
              <a:solidFill>
                <a:srgbClr val="767576"/>
              </a:solidFill>
            </a:ln>
          </c:spPr>
          <c:marker>
            <c:symbol val="none"/>
          </c:marker>
          <c:cat>
            <c:strRef>
              <c:f>Sheet1!$A$2:$A$341</c:f>
              <c:strCache>
                <c:ptCount val="340"/>
                <c:pt idx="21">
                  <c:v>2000</c:v>
                </c:pt>
                <c:pt idx="69">
                  <c:v>2004</c:v>
                </c:pt>
                <c:pt idx="117">
                  <c:v>2008</c:v>
                </c:pt>
                <c:pt idx="165">
                  <c:v>2012</c:v>
                </c:pt>
                <c:pt idx="213">
                  <c:v>2016</c:v>
                </c:pt>
                <c:pt idx="261">
                  <c:v>2020</c:v>
                </c:pt>
                <c:pt idx="309">
                  <c:v>2024</c:v>
                </c:pt>
              </c:strCache>
            </c:strRef>
          </c:cat>
          <c:val>
            <c:numRef>
              <c:f>Sheet1!$B$2:$B$341</c:f>
              <c:numCache>
                <c:formatCode>General</c:formatCode>
                <c:ptCount val="340"/>
                <c:pt idx="17">
                  <c:v>2.6429999999999998</c:v>
                </c:pt>
                <c:pt idx="18">
                  <c:v>2.6659999999999999</c:v>
                </c:pt>
                <c:pt idx="19">
                  <c:v>2.66</c:v>
                </c:pt>
                <c:pt idx="20">
                  <c:v>2.4809999999999999</c:v>
                </c:pt>
                <c:pt idx="21">
                  <c:v>2.3889999999999998</c:v>
                </c:pt>
                <c:pt idx="22">
                  <c:v>2.4209999999999998</c:v>
                </c:pt>
                <c:pt idx="23">
                  <c:v>2.25</c:v>
                </c:pt>
                <c:pt idx="24">
                  <c:v>2.194</c:v>
                </c:pt>
                <c:pt idx="25">
                  <c:v>2.1989999999999998</c:v>
                </c:pt>
                <c:pt idx="26">
                  <c:v>2.2410000000000001</c:v>
                </c:pt>
                <c:pt idx="27">
                  <c:v>2.3140000000000001</c:v>
                </c:pt>
                <c:pt idx="28">
                  <c:v>2.5059999999999998</c:v>
                </c:pt>
                <c:pt idx="29">
                  <c:v>2.641</c:v>
                </c:pt>
                <c:pt idx="30">
                  <c:v>2.851</c:v>
                </c:pt>
                <c:pt idx="31">
                  <c:v>2.536</c:v>
                </c:pt>
                <c:pt idx="32">
                  <c:v>2.6219999999999999</c:v>
                </c:pt>
                <c:pt idx="33">
                  <c:v>2.3140000000000001</c:v>
                </c:pt>
                <c:pt idx="34">
                  <c:v>2.1320000000000001</c:v>
                </c:pt>
                <c:pt idx="35">
                  <c:v>2.0920000000000001</c:v>
                </c:pt>
                <c:pt idx="36">
                  <c:v>2.3620000000000001</c:v>
                </c:pt>
                <c:pt idx="37">
                  <c:v>2.222</c:v>
                </c:pt>
                <c:pt idx="38">
                  <c:v>2.1890000000000001</c:v>
                </c:pt>
                <c:pt idx="39">
                  <c:v>2.4009999999999998</c:v>
                </c:pt>
                <c:pt idx="40">
                  <c:v>2.3660000000000001</c:v>
                </c:pt>
                <c:pt idx="41">
                  <c:v>2.395</c:v>
                </c:pt>
                <c:pt idx="42">
                  <c:v>2.4729999999999999</c:v>
                </c:pt>
                <c:pt idx="43">
                  <c:v>2.41</c:v>
                </c:pt>
                <c:pt idx="44">
                  <c:v>2.484</c:v>
                </c:pt>
                <c:pt idx="45">
                  <c:v>2.6139999999999999</c:v>
                </c:pt>
                <c:pt idx="46">
                  <c:v>2.5659999999999998</c:v>
                </c:pt>
                <c:pt idx="47">
                  <c:v>2.4449999999999998</c:v>
                </c:pt>
                <c:pt idx="48">
                  <c:v>2.3809999999999998</c:v>
                </c:pt>
                <c:pt idx="49">
                  <c:v>2.3170000000000002</c:v>
                </c:pt>
                <c:pt idx="50">
                  <c:v>2.2050000000000001</c:v>
                </c:pt>
                <c:pt idx="51">
                  <c:v>2.169</c:v>
                </c:pt>
                <c:pt idx="52">
                  <c:v>2.0449999999999999</c:v>
                </c:pt>
                <c:pt idx="53">
                  <c:v>2.0110000000000001</c:v>
                </c:pt>
                <c:pt idx="54">
                  <c:v>1.9019999999999999</c:v>
                </c:pt>
                <c:pt idx="55">
                  <c:v>1.8149999999999999</c:v>
                </c:pt>
                <c:pt idx="56">
                  <c:v>1.738</c:v>
                </c:pt>
                <c:pt idx="57">
                  <c:v>1.4710000000000001</c:v>
                </c:pt>
                <c:pt idx="58">
                  <c:v>1.4330000000000001</c:v>
                </c:pt>
                <c:pt idx="59">
                  <c:v>1.268</c:v>
                </c:pt>
                <c:pt idx="60">
                  <c:v>1.06</c:v>
                </c:pt>
                <c:pt idx="61">
                  <c:v>1.097</c:v>
                </c:pt>
                <c:pt idx="62">
                  <c:v>1.365</c:v>
                </c:pt>
                <c:pt idx="63">
                  <c:v>1.7210000000000001</c:v>
                </c:pt>
                <c:pt idx="64">
                  <c:v>2.0150000000000001</c:v>
                </c:pt>
                <c:pt idx="65">
                  <c:v>2.0190000000000001</c:v>
                </c:pt>
                <c:pt idx="66">
                  <c:v>2.218</c:v>
                </c:pt>
                <c:pt idx="67">
                  <c:v>2.0339999999999998</c:v>
                </c:pt>
                <c:pt idx="68">
                  <c:v>2.0880000000000001</c:v>
                </c:pt>
                <c:pt idx="69">
                  <c:v>2.097</c:v>
                </c:pt>
                <c:pt idx="70">
                  <c:v>2.1240000000000001</c:v>
                </c:pt>
                <c:pt idx="71">
                  <c:v>2.2450000000000001</c:v>
                </c:pt>
                <c:pt idx="72">
                  <c:v>2.411</c:v>
                </c:pt>
                <c:pt idx="73">
                  <c:v>2.3849999999999998</c:v>
                </c:pt>
                <c:pt idx="74">
                  <c:v>2.6259999999999999</c:v>
                </c:pt>
                <c:pt idx="75">
                  <c:v>2.8029999999999999</c:v>
                </c:pt>
                <c:pt idx="76">
                  <c:v>2.5070000000000001</c:v>
                </c:pt>
                <c:pt idx="77">
                  <c:v>2.4089999999999998</c:v>
                </c:pt>
                <c:pt idx="78">
                  <c:v>2.4950000000000001</c:v>
                </c:pt>
                <c:pt idx="79">
                  <c:v>2.46</c:v>
                </c:pt>
                <c:pt idx="80">
                  <c:v>2.4209999999999998</c:v>
                </c:pt>
                <c:pt idx="81">
                  <c:v>2.363</c:v>
                </c:pt>
                <c:pt idx="82">
                  <c:v>2.4489999999999998</c:v>
                </c:pt>
                <c:pt idx="83">
                  <c:v>2.2869999999999999</c:v>
                </c:pt>
                <c:pt idx="84">
                  <c:v>2.254</c:v>
                </c:pt>
                <c:pt idx="85">
                  <c:v>2.2949999999999999</c:v>
                </c:pt>
                <c:pt idx="86">
                  <c:v>2.218</c:v>
                </c:pt>
                <c:pt idx="87">
                  <c:v>2.3929999999999998</c:v>
                </c:pt>
                <c:pt idx="88">
                  <c:v>2.387</c:v>
                </c:pt>
                <c:pt idx="89">
                  <c:v>2.4079999999999999</c:v>
                </c:pt>
                <c:pt idx="90">
                  <c:v>2.42</c:v>
                </c:pt>
                <c:pt idx="91">
                  <c:v>2.3879999999999999</c:v>
                </c:pt>
                <c:pt idx="92">
                  <c:v>2.306</c:v>
                </c:pt>
                <c:pt idx="93">
                  <c:v>2.3809999999999998</c:v>
                </c:pt>
                <c:pt idx="94">
                  <c:v>2.2370000000000001</c:v>
                </c:pt>
                <c:pt idx="95">
                  <c:v>2.2469999999999999</c:v>
                </c:pt>
                <c:pt idx="96">
                  <c:v>2.452</c:v>
                </c:pt>
                <c:pt idx="97">
                  <c:v>2.3809999999999998</c:v>
                </c:pt>
                <c:pt idx="98">
                  <c:v>2.52</c:v>
                </c:pt>
                <c:pt idx="99">
                  <c:v>2.5649999999999999</c:v>
                </c:pt>
                <c:pt idx="100">
                  <c:v>2.4020000000000001</c:v>
                </c:pt>
                <c:pt idx="101">
                  <c:v>2.4449999999999998</c:v>
                </c:pt>
                <c:pt idx="102">
                  <c:v>2.444</c:v>
                </c:pt>
                <c:pt idx="103">
                  <c:v>2.3490000000000002</c:v>
                </c:pt>
                <c:pt idx="104">
                  <c:v>2.2989999999999999</c:v>
                </c:pt>
                <c:pt idx="105">
                  <c:v>2.391</c:v>
                </c:pt>
                <c:pt idx="106">
                  <c:v>2.2839999999999998</c:v>
                </c:pt>
                <c:pt idx="107">
                  <c:v>2.3380000000000001</c:v>
                </c:pt>
                <c:pt idx="108">
                  <c:v>2.298</c:v>
                </c:pt>
                <c:pt idx="109">
                  <c:v>2.3479999999999999</c:v>
                </c:pt>
                <c:pt idx="110">
                  <c:v>2.4630000000000001</c:v>
                </c:pt>
                <c:pt idx="111">
                  <c:v>2.4449999999999998</c:v>
                </c:pt>
                <c:pt idx="112">
                  <c:v>2.3610000000000002</c:v>
                </c:pt>
                <c:pt idx="113">
                  <c:v>2.4329999999999998</c:v>
                </c:pt>
                <c:pt idx="114">
                  <c:v>2.4489999999999998</c:v>
                </c:pt>
                <c:pt idx="115">
                  <c:v>2.3319999999999999</c:v>
                </c:pt>
                <c:pt idx="116">
                  <c:v>2.36</c:v>
                </c:pt>
                <c:pt idx="117">
                  <c:v>2.375</c:v>
                </c:pt>
                <c:pt idx="118">
                  <c:v>2.2909999999999999</c:v>
                </c:pt>
                <c:pt idx="119">
                  <c:v>2.399</c:v>
                </c:pt>
                <c:pt idx="120">
                  <c:v>2.4620000000000002</c:v>
                </c:pt>
                <c:pt idx="121">
                  <c:v>2.488</c:v>
                </c:pt>
                <c:pt idx="122">
                  <c:v>2.4060000000000001</c:v>
                </c:pt>
                <c:pt idx="123">
                  <c:v>2.4279999999999999</c:v>
                </c:pt>
                <c:pt idx="124">
                  <c:v>2.3210000000000002</c:v>
                </c:pt>
                <c:pt idx="125">
                  <c:v>2.3180000000000001</c:v>
                </c:pt>
                <c:pt idx="126">
                  <c:v>2.2509999999999999</c:v>
                </c:pt>
                <c:pt idx="127">
                  <c:v>2.2120000000000002</c:v>
                </c:pt>
                <c:pt idx="128">
                  <c:v>1.825</c:v>
                </c:pt>
                <c:pt idx="129">
                  <c:v>2.0049999999999999</c:v>
                </c:pt>
                <c:pt idx="130">
                  <c:v>2.0259999999999998</c:v>
                </c:pt>
                <c:pt idx="131">
                  <c:v>2.085</c:v>
                </c:pt>
                <c:pt idx="132">
                  <c:v>2.17</c:v>
                </c:pt>
                <c:pt idx="133">
                  <c:v>2.2530000000000001</c:v>
                </c:pt>
                <c:pt idx="134">
                  <c:v>2.1970000000000001</c:v>
                </c:pt>
                <c:pt idx="135">
                  <c:v>2.3199999999999998</c:v>
                </c:pt>
                <c:pt idx="136">
                  <c:v>2.238</c:v>
                </c:pt>
                <c:pt idx="137">
                  <c:v>2.214</c:v>
                </c:pt>
                <c:pt idx="138">
                  <c:v>2.2570000000000001</c:v>
                </c:pt>
                <c:pt idx="139">
                  <c:v>2.1629999999999998</c:v>
                </c:pt>
                <c:pt idx="140">
                  <c:v>2.2549999999999999</c:v>
                </c:pt>
                <c:pt idx="141">
                  <c:v>2.274</c:v>
                </c:pt>
                <c:pt idx="142">
                  <c:v>2.2799999999999998</c:v>
                </c:pt>
                <c:pt idx="143">
                  <c:v>2.2919999999999998</c:v>
                </c:pt>
                <c:pt idx="144">
                  <c:v>2.15</c:v>
                </c:pt>
                <c:pt idx="145">
                  <c:v>2.1160000000000001</c:v>
                </c:pt>
                <c:pt idx="146">
                  <c:v>1.931</c:v>
                </c:pt>
                <c:pt idx="147">
                  <c:v>1.8520000000000001</c:v>
                </c:pt>
                <c:pt idx="148">
                  <c:v>1.7669999999999999</c:v>
                </c:pt>
                <c:pt idx="149">
                  <c:v>1.8380000000000001</c:v>
                </c:pt>
                <c:pt idx="150">
                  <c:v>1.9790000000000001</c:v>
                </c:pt>
                <c:pt idx="151">
                  <c:v>2.0819999999999999</c:v>
                </c:pt>
                <c:pt idx="152">
                  <c:v>1.994</c:v>
                </c:pt>
                <c:pt idx="153">
                  <c:v>2.1230000000000002</c:v>
                </c:pt>
                <c:pt idx="154">
                  <c:v>2.1240000000000001</c:v>
                </c:pt>
                <c:pt idx="155">
                  <c:v>2.1789999999999998</c:v>
                </c:pt>
                <c:pt idx="156">
                  <c:v>2.141</c:v>
                </c:pt>
                <c:pt idx="157">
                  <c:v>2.0710000000000002</c:v>
                </c:pt>
                <c:pt idx="158">
                  <c:v>2.0350000000000001</c:v>
                </c:pt>
                <c:pt idx="159">
                  <c:v>2.0310000000000001</c:v>
                </c:pt>
                <c:pt idx="160">
                  <c:v>2.02</c:v>
                </c:pt>
                <c:pt idx="161">
                  <c:v>1.925</c:v>
                </c:pt>
                <c:pt idx="162">
                  <c:v>1.9850000000000001</c:v>
                </c:pt>
                <c:pt idx="163">
                  <c:v>1.986</c:v>
                </c:pt>
                <c:pt idx="164">
                  <c:v>1.921</c:v>
                </c:pt>
                <c:pt idx="165">
                  <c:v>1.9219999999999999</c:v>
                </c:pt>
                <c:pt idx="166">
                  <c:v>1.948</c:v>
                </c:pt>
                <c:pt idx="167">
                  <c:v>1.9379999999999999</c:v>
                </c:pt>
                <c:pt idx="168">
                  <c:v>1.901</c:v>
                </c:pt>
                <c:pt idx="169">
                  <c:v>1.81</c:v>
                </c:pt>
                <c:pt idx="170">
                  <c:v>1.9019999999999999</c:v>
                </c:pt>
                <c:pt idx="171">
                  <c:v>1.841</c:v>
                </c:pt>
                <c:pt idx="172">
                  <c:v>1.909</c:v>
                </c:pt>
                <c:pt idx="173">
                  <c:v>1.8919999999999999</c:v>
                </c:pt>
                <c:pt idx="174">
                  <c:v>1.9430000000000001</c:v>
                </c:pt>
                <c:pt idx="175">
                  <c:v>1.9370000000000001</c:v>
                </c:pt>
                <c:pt idx="176">
                  <c:v>1.9670000000000001</c:v>
                </c:pt>
                <c:pt idx="177">
                  <c:v>1.9750000000000001</c:v>
                </c:pt>
                <c:pt idx="178">
                  <c:v>1.833</c:v>
                </c:pt>
                <c:pt idx="179">
                  <c:v>1.5549999999999999</c:v>
                </c:pt>
                <c:pt idx="180">
                  <c:v>1.623</c:v>
                </c:pt>
                <c:pt idx="181">
                  <c:v>1.76</c:v>
                </c:pt>
                <c:pt idx="182">
                  <c:v>1.837</c:v>
                </c:pt>
                <c:pt idx="183">
                  <c:v>1.825</c:v>
                </c:pt>
                <c:pt idx="184">
                  <c:v>1.7789999999999999</c:v>
                </c:pt>
                <c:pt idx="185">
                  <c:v>1.716</c:v>
                </c:pt>
                <c:pt idx="186">
                  <c:v>1.651</c:v>
                </c:pt>
                <c:pt idx="187">
                  <c:v>1.661</c:v>
                </c:pt>
                <c:pt idx="188">
                  <c:v>1.726</c:v>
                </c:pt>
                <c:pt idx="189">
                  <c:v>1.6459999999999999</c:v>
                </c:pt>
                <c:pt idx="190">
                  <c:v>1.6519999999999999</c:v>
                </c:pt>
                <c:pt idx="191">
                  <c:v>1.7070000000000001</c:v>
                </c:pt>
                <c:pt idx="192">
                  <c:v>1.7050000000000001</c:v>
                </c:pt>
                <c:pt idx="193">
                  <c:v>1.6850000000000001</c:v>
                </c:pt>
                <c:pt idx="194">
                  <c:v>1.6879999999999999</c:v>
                </c:pt>
                <c:pt idx="195">
                  <c:v>1.681</c:v>
                </c:pt>
                <c:pt idx="196">
                  <c:v>1.637</c:v>
                </c:pt>
                <c:pt idx="197">
                  <c:v>1.62</c:v>
                </c:pt>
                <c:pt idx="198">
                  <c:v>1.591</c:v>
                </c:pt>
                <c:pt idx="199">
                  <c:v>1.4279999999999999</c:v>
                </c:pt>
                <c:pt idx="200">
                  <c:v>1.2689999999999999</c:v>
                </c:pt>
                <c:pt idx="201">
                  <c:v>1.2989999999999999</c:v>
                </c:pt>
                <c:pt idx="202">
                  <c:v>1.4339999999999999</c:v>
                </c:pt>
                <c:pt idx="203">
                  <c:v>1.357</c:v>
                </c:pt>
                <c:pt idx="204">
                  <c:v>1.3620000000000001</c:v>
                </c:pt>
                <c:pt idx="205">
                  <c:v>1.4730000000000001</c:v>
                </c:pt>
                <c:pt idx="206">
                  <c:v>1.4490000000000001</c:v>
                </c:pt>
                <c:pt idx="207">
                  <c:v>1.4330000000000001</c:v>
                </c:pt>
                <c:pt idx="208">
                  <c:v>1.4259999999999999</c:v>
                </c:pt>
                <c:pt idx="209">
                  <c:v>1.397</c:v>
                </c:pt>
                <c:pt idx="210">
                  <c:v>1.35</c:v>
                </c:pt>
                <c:pt idx="211">
                  <c:v>1.3819999999999999</c:v>
                </c:pt>
                <c:pt idx="212">
                  <c:v>1.282</c:v>
                </c:pt>
                <c:pt idx="213">
                  <c:v>1.103</c:v>
                </c:pt>
                <c:pt idx="214">
                  <c:v>0.90200000000000002</c:v>
                </c:pt>
                <c:pt idx="215">
                  <c:v>0.54700000000000004</c:v>
                </c:pt>
                <c:pt idx="216">
                  <c:v>0.34899999999999998</c:v>
                </c:pt>
                <c:pt idx="217">
                  <c:v>0.31</c:v>
                </c:pt>
                <c:pt idx="218">
                  <c:v>0.128</c:v>
                </c:pt>
                <c:pt idx="219">
                  <c:v>0.26300000000000001</c:v>
                </c:pt>
                <c:pt idx="220">
                  <c:v>0.41</c:v>
                </c:pt>
                <c:pt idx="221">
                  <c:v>0.45700000000000002</c:v>
                </c:pt>
                <c:pt idx="222">
                  <c:v>0.505</c:v>
                </c:pt>
                <c:pt idx="223">
                  <c:v>0.56699999999999995</c:v>
                </c:pt>
                <c:pt idx="224">
                  <c:v>0.70099999999999996</c:v>
                </c:pt>
                <c:pt idx="225">
                  <c:v>0.80500000000000005</c:v>
                </c:pt>
                <c:pt idx="226">
                  <c:v>0.78300000000000003</c:v>
                </c:pt>
                <c:pt idx="227">
                  <c:v>0.84099999999999997</c:v>
                </c:pt>
                <c:pt idx="228">
                  <c:v>0.78</c:v>
                </c:pt>
                <c:pt idx="229">
                  <c:v>0.8</c:v>
                </c:pt>
                <c:pt idx="230">
                  <c:v>0.84199999999999997</c:v>
                </c:pt>
                <c:pt idx="231">
                  <c:v>0.86699999999999999</c:v>
                </c:pt>
                <c:pt idx="232">
                  <c:v>0.82199999999999995</c:v>
                </c:pt>
                <c:pt idx="233">
                  <c:v>0.85499999999999998</c:v>
                </c:pt>
                <c:pt idx="234">
                  <c:v>0.86099999999999999</c:v>
                </c:pt>
                <c:pt idx="235">
                  <c:v>0.82299999999999995</c:v>
                </c:pt>
                <c:pt idx="236">
                  <c:v>0.80500000000000005</c:v>
                </c:pt>
                <c:pt idx="237">
                  <c:v>0.81100000000000005</c:v>
                </c:pt>
                <c:pt idx="238">
                  <c:v>0.76200000000000001</c:v>
                </c:pt>
                <c:pt idx="239">
                  <c:v>0.74099999999999999</c:v>
                </c:pt>
                <c:pt idx="240">
                  <c:v>0.747</c:v>
                </c:pt>
                <c:pt idx="241">
                  <c:v>0.72</c:v>
                </c:pt>
                <c:pt idx="242">
                  <c:v>0.71799999999999997</c:v>
                </c:pt>
                <c:pt idx="243">
                  <c:v>0.74199999999999999</c:v>
                </c:pt>
                <c:pt idx="244">
                  <c:v>0.83399999999999996</c:v>
                </c:pt>
                <c:pt idx="245">
                  <c:v>0.89</c:v>
                </c:pt>
                <c:pt idx="246">
                  <c:v>0.875</c:v>
                </c:pt>
                <c:pt idx="247">
                  <c:v>0.82099999999999995</c:v>
                </c:pt>
                <c:pt idx="248">
                  <c:v>0.72399999999999998</c:v>
                </c:pt>
                <c:pt idx="249">
                  <c:v>0.65100000000000002</c:v>
                </c:pt>
                <c:pt idx="250">
                  <c:v>0.61</c:v>
                </c:pt>
                <c:pt idx="251">
                  <c:v>0.51300000000000001</c:v>
                </c:pt>
                <c:pt idx="252">
                  <c:v>0.55700000000000005</c:v>
                </c:pt>
                <c:pt idx="253">
                  <c:v>0.45600000000000002</c:v>
                </c:pt>
                <c:pt idx="254">
                  <c:v>0.36299999999999999</c:v>
                </c:pt>
                <c:pt idx="255">
                  <c:v>0.35299999999999998</c:v>
                </c:pt>
                <c:pt idx="256">
                  <c:v>0.14599999999999999</c:v>
                </c:pt>
                <c:pt idx="257">
                  <c:v>0.36099999999999999</c:v>
                </c:pt>
                <c:pt idx="258">
                  <c:v>0.38600000000000001</c:v>
                </c:pt>
                <c:pt idx="259">
                  <c:v>0.40600000000000003</c:v>
                </c:pt>
                <c:pt idx="260">
                  <c:v>0.41</c:v>
                </c:pt>
                <c:pt idx="261">
                  <c:v>0.36799999999999999</c:v>
                </c:pt>
                <c:pt idx="262">
                  <c:v>0.28599999999999998</c:v>
                </c:pt>
                <c:pt idx="263">
                  <c:v>0.41799999999999998</c:v>
                </c:pt>
                <c:pt idx="264">
                  <c:v>0.42299999999999999</c:v>
                </c:pt>
                <c:pt idx="265">
                  <c:v>0.495</c:v>
                </c:pt>
                <c:pt idx="266">
                  <c:v>0.58899999999999997</c:v>
                </c:pt>
                <c:pt idx="267">
                  <c:v>0.52900000000000003</c:v>
                </c:pt>
                <c:pt idx="268">
                  <c:v>0.60599999999999998</c:v>
                </c:pt>
                <c:pt idx="269">
                  <c:v>0.59499999999999997</c:v>
                </c:pt>
                <c:pt idx="270">
                  <c:v>0.64</c:v>
                </c:pt>
                <c:pt idx="271">
                  <c:v>0.64600000000000002</c:v>
                </c:pt>
                <c:pt idx="272">
                  <c:v>0.64700000000000002</c:v>
                </c:pt>
                <c:pt idx="273">
                  <c:v>0.66</c:v>
                </c:pt>
                <c:pt idx="274">
                  <c:v>0.751</c:v>
                </c:pt>
                <c:pt idx="275">
                  <c:v>0.66900000000000004</c:v>
                </c:pt>
                <c:pt idx="276">
                  <c:v>0.66</c:v>
                </c:pt>
                <c:pt idx="277">
                  <c:v>0.67500000000000004</c:v>
                </c:pt>
                <c:pt idx="278">
                  <c:v>0.69099999999999995</c:v>
                </c:pt>
                <c:pt idx="279">
                  <c:v>0.64200000000000002</c:v>
                </c:pt>
                <c:pt idx="280">
                  <c:v>0.65400000000000003</c:v>
                </c:pt>
                <c:pt idx="281">
                  <c:v>0.67700000000000005</c:v>
                </c:pt>
                <c:pt idx="282">
                  <c:v>0.67400000000000004</c:v>
                </c:pt>
                <c:pt idx="283">
                  <c:v>0.67100000000000004</c:v>
                </c:pt>
                <c:pt idx="284">
                  <c:v>0.69299999999999995</c:v>
                </c:pt>
                <c:pt idx="285">
                  <c:v>0.76800000000000002</c:v>
                </c:pt>
                <c:pt idx="286">
                  <c:v>0.86699999999999999</c:v>
                </c:pt>
                <c:pt idx="287">
                  <c:v>0.90600000000000003</c:v>
                </c:pt>
                <c:pt idx="288">
                  <c:v>0.97399999999999998</c:v>
                </c:pt>
                <c:pt idx="289">
                  <c:v>1.0209999999999999</c:v>
                </c:pt>
                <c:pt idx="290">
                  <c:v>1.2130000000000001</c:v>
                </c:pt>
                <c:pt idx="291">
                  <c:v>1.204</c:v>
                </c:pt>
                <c:pt idx="292">
                  <c:v>1.204</c:v>
                </c:pt>
                <c:pt idx="293">
                  <c:v>1.391</c:v>
                </c:pt>
                <c:pt idx="294">
                  <c:v>1.417</c:v>
                </c:pt>
                <c:pt idx="295">
                  <c:v>1.5</c:v>
                </c:pt>
                <c:pt idx="296">
                  <c:v>1.5780000000000001</c:v>
                </c:pt>
                <c:pt idx="297">
                  <c:v>1.6</c:v>
                </c:pt>
                <c:pt idx="298">
                  <c:v>1.393</c:v>
                </c:pt>
                <c:pt idx="299">
                  <c:v>1.274</c:v>
                </c:pt>
                <c:pt idx="300">
                  <c:v>1.2470000000000001</c:v>
                </c:pt>
                <c:pt idx="301">
                  <c:v>1.2729999999999999</c:v>
                </c:pt>
                <c:pt idx="302">
                  <c:v>1.262</c:v>
                </c:pt>
                <c:pt idx="303">
                  <c:v>1.458</c:v>
                </c:pt>
                <c:pt idx="304">
                  <c:v>1.5980000000000001</c:v>
                </c:pt>
                <c:pt idx="305">
                  <c:v>1.649</c:v>
                </c:pt>
                <c:pt idx="306">
                  <c:v>1.8640000000000001</c:v>
                </c:pt>
                <c:pt idx="307">
                  <c:v>1.6830000000000001</c:v>
                </c:pt>
                <c:pt idx="308">
                  <c:v>1.6619999999999999</c:v>
                </c:pt>
                <c:pt idx="309">
                  <c:v>1.79</c:v>
                </c:pt>
                <c:pt idx="310">
                  <c:v>1.734</c:v>
                </c:pt>
                <c:pt idx="311">
                  <c:v>1.7889999999999999</c:v>
                </c:pt>
                <c:pt idx="312">
                  <c:v>1.911</c:v>
                </c:pt>
                <c:pt idx="313">
                  <c:v>2.1549999999999998</c:v>
                </c:pt>
                <c:pt idx="314">
                  <c:v>2.153</c:v>
                </c:pt>
                <c:pt idx="315">
                  <c:v>2.1760000000000002</c:v>
                </c:pt>
                <c:pt idx="316">
                  <c:v>2.1110000000000002</c:v>
                </c:pt>
                <c:pt idx="317">
                  <c:v>2.0920000000000001</c:v>
                </c:pt>
                <c:pt idx="318">
                  <c:v>2.1890000000000001</c:v>
                </c:pt>
                <c:pt idx="319">
                  <c:v>2.2519999999999998</c:v>
                </c:pt>
                <c:pt idx="320">
                  <c:v>2.2519999999999998</c:v>
                </c:pt>
                <c:pt idx="321">
                  <c:v>2.29</c:v>
                </c:pt>
                <c:pt idx="322">
                  <c:v>2.35</c:v>
                </c:pt>
                <c:pt idx="323">
                  <c:v>2.48</c:v>
                </c:pt>
                <c:pt idx="324">
                  <c:v>2.645</c:v>
                </c:pt>
                <c:pt idx="325">
                  <c:v>2.8460000000000001</c:v>
                </c:pt>
                <c:pt idx="326">
                  <c:v>2.8029999999999999</c:v>
                </c:pt>
                <c:pt idx="327">
                  <c:v>3.0259999999999998</c:v>
                </c:pt>
                <c:pt idx="328">
                  <c:v>3.0960000000000001</c:v>
                </c:pt>
                <c:pt idx="329">
                  <c:v>3.0670000000000002</c:v>
                </c:pt>
                <c:pt idx="330">
                  <c:v>3.0680000000000001</c:v>
                </c:pt>
                <c:pt idx="331">
                  <c:v>3.3</c:v>
                </c:pt>
                <c:pt idx="332">
                  <c:v>3.3540000000000001</c:v>
                </c:pt>
                <c:pt idx="333">
                  <c:v>3.577</c:v>
                </c:pt>
                <c:pt idx="334">
                  <c:v>3.3420000000000001</c:v>
                </c:pt>
                <c:pt idx="335">
                  <c:v>3.64</c:v>
                </c:pt>
                <c:pt idx="336">
                  <c:v>3.7210000000000001</c:v>
                </c:pt>
                <c:pt idx="337">
                  <c:v>3.859</c:v>
                </c:pt>
                <c:pt idx="338">
                  <c:v>3.8730000000000002</c:v>
                </c:pt>
                <c:pt idx="339">
                  <c:v>3.9820000000000002</c:v>
                </c:pt>
              </c:numCache>
            </c:numRef>
          </c:val>
          <c:smooth val="0"/>
          <c:extLst>
            <c:ext xmlns:c16="http://schemas.microsoft.com/office/drawing/2014/chart" uri="{C3380CC4-5D6E-409C-BE32-E72D297353CC}">
              <c16:uniqueId val="{00000000-F378-454C-9F10-9F4400886F81}"/>
            </c:ext>
          </c:extLst>
        </c:ser>
        <c:ser>
          <c:idx val="1"/>
          <c:order val="1"/>
          <c:tx>
            <c:strRef>
              <c:f>Sheet1!$C$1</c:f>
              <c:strCache>
                <c:ptCount val="1"/>
                <c:pt idx="0">
                  <c:v>10Y</c:v>
                </c:pt>
              </c:strCache>
            </c:strRef>
          </c:tx>
          <c:spPr>
            <a:ln w="25400">
              <a:solidFill>
                <a:srgbClr val="DB0011"/>
              </a:solidFill>
            </a:ln>
          </c:spPr>
          <c:marker>
            <c:symbol val="none"/>
          </c:marker>
          <c:cat>
            <c:strRef>
              <c:f>Sheet1!$A$2:$A$341</c:f>
              <c:strCache>
                <c:ptCount val="340"/>
                <c:pt idx="21">
                  <c:v>2000</c:v>
                </c:pt>
                <c:pt idx="69">
                  <c:v>2004</c:v>
                </c:pt>
                <c:pt idx="117">
                  <c:v>2008</c:v>
                </c:pt>
                <c:pt idx="165">
                  <c:v>2012</c:v>
                </c:pt>
                <c:pt idx="213">
                  <c:v>2016</c:v>
                </c:pt>
                <c:pt idx="261">
                  <c:v>2020</c:v>
                </c:pt>
                <c:pt idx="309">
                  <c:v>2024</c:v>
                </c:pt>
              </c:strCache>
            </c:strRef>
          </c:cat>
          <c:val>
            <c:numRef>
              <c:f>Sheet1!$C$2:$C$341</c:f>
              <c:numCache>
                <c:formatCode>General</c:formatCode>
                <c:ptCount val="340"/>
                <c:pt idx="0">
                  <c:v>1.7589999999999999</c:v>
                </c:pt>
                <c:pt idx="1">
                  <c:v>1.5069999999999999</c:v>
                </c:pt>
                <c:pt idx="2">
                  <c:v>1.629</c:v>
                </c:pt>
                <c:pt idx="3">
                  <c:v>1.5720000000000001</c:v>
                </c:pt>
                <c:pt idx="4">
                  <c:v>1.3380000000000001</c:v>
                </c:pt>
                <c:pt idx="5">
                  <c:v>0.82699999999999996</c:v>
                </c:pt>
                <c:pt idx="6">
                  <c:v>0.879</c:v>
                </c:pt>
                <c:pt idx="7">
                  <c:v>1.1339999999999999</c:v>
                </c:pt>
                <c:pt idx="8">
                  <c:v>2.117</c:v>
                </c:pt>
                <c:pt idx="9">
                  <c:v>2.0699999999999998</c:v>
                </c:pt>
                <c:pt idx="10">
                  <c:v>1.9930000000000001</c:v>
                </c:pt>
                <c:pt idx="11">
                  <c:v>1.716</c:v>
                </c:pt>
                <c:pt idx="12">
                  <c:v>1.387</c:v>
                </c:pt>
                <c:pt idx="13">
                  <c:v>1.448</c:v>
                </c:pt>
                <c:pt idx="14">
                  <c:v>1.8680000000000001</c:v>
                </c:pt>
                <c:pt idx="15">
                  <c:v>1.74</c:v>
                </c:pt>
                <c:pt idx="16">
                  <c:v>1.911</c:v>
                </c:pt>
                <c:pt idx="17">
                  <c:v>1.619</c:v>
                </c:pt>
                <c:pt idx="18">
                  <c:v>1.7430000000000001</c:v>
                </c:pt>
                <c:pt idx="19">
                  <c:v>1.8080000000000001</c:v>
                </c:pt>
                <c:pt idx="20">
                  <c:v>1.68</c:v>
                </c:pt>
                <c:pt idx="21">
                  <c:v>1.671</c:v>
                </c:pt>
                <c:pt idx="22">
                  <c:v>1.827</c:v>
                </c:pt>
                <c:pt idx="23">
                  <c:v>1.776</c:v>
                </c:pt>
                <c:pt idx="24">
                  <c:v>1.7390000000000001</c:v>
                </c:pt>
                <c:pt idx="25">
                  <c:v>1.6479999999999999</c:v>
                </c:pt>
                <c:pt idx="26">
                  <c:v>1.712</c:v>
                </c:pt>
                <c:pt idx="27">
                  <c:v>1.649</c:v>
                </c:pt>
                <c:pt idx="28">
                  <c:v>1.863</c:v>
                </c:pt>
                <c:pt idx="29">
                  <c:v>1.8240000000000001</c:v>
                </c:pt>
                <c:pt idx="30">
                  <c:v>1.7989999999999999</c:v>
                </c:pt>
                <c:pt idx="31">
                  <c:v>1.61</c:v>
                </c:pt>
                <c:pt idx="32">
                  <c:v>1.65</c:v>
                </c:pt>
                <c:pt idx="33">
                  <c:v>1.4550000000000001</c:v>
                </c:pt>
                <c:pt idx="34">
                  <c:v>1.323</c:v>
                </c:pt>
                <c:pt idx="35">
                  <c:v>1.24</c:v>
                </c:pt>
                <c:pt idx="36">
                  <c:v>1.325</c:v>
                </c:pt>
                <c:pt idx="37">
                  <c:v>1.216</c:v>
                </c:pt>
                <c:pt idx="38">
                  <c:v>1.1830000000000001</c:v>
                </c:pt>
                <c:pt idx="39">
                  <c:v>1.333</c:v>
                </c:pt>
                <c:pt idx="40">
                  <c:v>1.3280000000000001</c:v>
                </c:pt>
                <c:pt idx="41">
                  <c:v>1.409</c:v>
                </c:pt>
                <c:pt idx="42">
                  <c:v>1.3260000000000001</c:v>
                </c:pt>
                <c:pt idx="43">
                  <c:v>1.355</c:v>
                </c:pt>
                <c:pt idx="44">
                  <c:v>1.369</c:v>
                </c:pt>
                <c:pt idx="45">
                  <c:v>1.486</c:v>
                </c:pt>
                <c:pt idx="46">
                  <c:v>1.5109999999999999</c:v>
                </c:pt>
                <c:pt idx="47">
                  <c:v>1.399</c:v>
                </c:pt>
                <c:pt idx="48">
                  <c:v>1.375</c:v>
                </c:pt>
                <c:pt idx="49">
                  <c:v>1.371</c:v>
                </c:pt>
                <c:pt idx="50">
                  <c:v>1.3049999999999999</c:v>
                </c:pt>
                <c:pt idx="51">
                  <c:v>1.3140000000000001</c:v>
                </c:pt>
                <c:pt idx="52">
                  <c:v>1.1439999999999999</c:v>
                </c:pt>
                <c:pt idx="53">
                  <c:v>1.165</c:v>
                </c:pt>
                <c:pt idx="54">
                  <c:v>0.98799999999999999</c:v>
                </c:pt>
                <c:pt idx="55">
                  <c:v>0.97299999999999998</c:v>
                </c:pt>
                <c:pt idx="56">
                  <c:v>0.90600000000000003</c:v>
                </c:pt>
                <c:pt idx="57">
                  <c:v>0.81</c:v>
                </c:pt>
                <c:pt idx="58">
                  <c:v>0.78600000000000003</c:v>
                </c:pt>
                <c:pt idx="59">
                  <c:v>0.70499999999999996</c:v>
                </c:pt>
                <c:pt idx="60">
                  <c:v>0.61199999999999999</c:v>
                </c:pt>
                <c:pt idx="61">
                  <c:v>0.53800000000000003</c:v>
                </c:pt>
                <c:pt idx="62">
                  <c:v>0.82099999999999995</c:v>
                </c:pt>
                <c:pt idx="63">
                  <c:v>0.93799999999999994</c:v>
                </c:pt>
                <c:pt idx="64">
                  <c:v>1.4319999999999999</c:v>
                </c:pt>
                <c:pt idx="65">
                  <c:v>1.3979999999999999</c:v>
                </c:pt>
                <c:pt idx="66">
                  <c:v>1.4630000000000001</c:v>
                </c:pt>
                <c:pt idx="67">
                  <c:v>1.3149999999999999</c:v>
                </c:pt>
                <c:pt idx="68">
                  <c:v>1.363</c:v>
                </c:pt>
                <c:pt idx="69">
                  <c:v>1.3220000000000001</c:v>
                </c:pt>
                <c:pt idx="70">
                  <c:v>1.2430000000000001</c:v>
                </c:pt>
                <c:pt idx="71">
                  <c:v>1.4339999999999999</c:v>
                </c:pt>
                <c:pt idx="72">
                  <c:v>1.5349999999999999</c:v>
                </c:pt>
                <c:pt idx="73">
                  <c:v>1.5349999999999999</c:v>
                </c:pt>
                <c:pt idx="74">
                  <c:v>1.766</c:v>
                </c:pt>
                <c:pt idx="75">
                  <c:v>1.8540000000000001</c:v>
                </c:pt>
                <c:pt idx="76">
                  <c:v>1.5680000000000001</c:v>
                </c:pt>
                <c:pt idx="77">
                  <c:v>1.4510000000000001</c:v>
                </c:pt>
                <c:pt idx="78">
                  <c:v>1.4990000000000001</c:v>
                </c:pt>
                <c:pt idx="79">
                  <c:v>1.4630000000000001</c:v>
                </c:pt>
                <c:pt idx="80">
                  <c:v>1.4370000000000001</c:v>
                </c:pt>
                <c:pt idx="81">
                  <c:v>1.333</c:v>
                </c:pt>
                <c:pt idx="82">
                  <c:v>1.4690000000000001</c:v>
                </c:pt>
                <c:pt idx="83">
                  <c:v>1.333</c:v>
                </c:pt>
                <c:pt idx="84">
                  <c:v>1.2470000000000001</c:v>
                </c:pt>
                <c:pt idx="85">
                  <c:v>1.262</c:v>
                </c:pt>
                <c:pt idx="86">
                  <c:v>1.1739999999999999</c:v>
                </c:pt>
                <c:pt idx="87">
                  <c:v>1.3069999999999999</c:v>
                </c:pt>
                <c:pt idx="88">
                  <c:v>1.347</c:v>
                </c:pt>
                <c:pt idx="89">
                  <c:v>1.472</c:v>
                </c:pt>
                <c:pt idx="90">
                  <c:v>1.5489999999999999</c:v>
                </c:pt>
                <c:pt idx="91">
                  <c:v>1.4450000000000001</c:v>
                </c:pt>
                <c:pt idx="92">
                  <c:v>1.4730000000000001</c:v>
                </c:pt>
                <c:pt idx="93">
                  <c:v>1.5549999999999999</c:v>
                </c:pt>
                <c:pt idx="94">
                  <c:v>1.5860000000000001</c:v>
                </c:pt>
                <c:pt idx="95">
                  <c:v>1.754</c:v>
                </c:pt>
                <c:pt idx="96">
                  <c:v>1.913</c:v>
                </c:pt>
                <c:pt idx="97">
                  <c:v>1.831</c:v>
                </c:pt>
                <c:pt idx="98">
                  <c:v>1.9139999999999999</c:v>
                </c:pt>
                <c:pt idx="99">
                  <c:v>1.9319999999999999</c:v>
                </c:pt>
                <c:pt idx="100">
                  <c:v>1.6439999999999999</c:v>
                </c:pt>
                <c:pt idx="101">
                  <c:v>1.671</c:v>
                </c:pt>
                <c:pt idx="102">
                  <c:v>1.722</c:v>
                </c:pt>
                <c:pt idx="103">
                  <c:v>1.67</c:v>
                </c:pt>
                <c:pt idx="104">
                  <c:v>1.6779999999999999</c:v>
                </c:pt>
                <c:pt idx="105">
                  <c:v>1.704</c:v>
                </c:pt>
                <c:pt idx="106">
                  <c:v>1.6439999999999999</c:v>
                </c:pt>
                <c:pt idx="107">
                  <c:v>1.655</c:v>
                </c:pt>
                <c:pt idx="108">
                  <c:v>1.631</c:v>
                </c:pt>
                <c:pt idx="109">
                  <c:v>1.7509999999999999</c:v>
                </c:pt>
                <c:pt idx="110">
                  <c:v>1.8660000000000001</c:v>
                </c:pt>
                <c:pt idx="111">
                  <c:v>1.8009999999999999</c:v>
                </c:pt>
                <c:pt idx="112">
                  <c:v>1.6160000000000001</c:v>
                </c:pt>
                <c:pt idx="113">
                  <c:v>1.679</c:v>
                </c:pt>
                <c:pt idx="114">
                  <c:v>1.615</c:v>
                </c:pt>
                <c:pt idx="115">
                  <c:v>1.4990000000000001</c:v>
                </c:pt>
                <c:pt idx="116">
                  <c:v>1.502</c:v>
                </c:pt>
                <c:pt idx="117">
                  <c:v>1.4430000000000001</c:v>
                </c:pt>
                <c:pt idx="118">
                  <c:v>1.373</c:v>
                </c:pt>
                <c:pt idx="119">
                  <c:v>1.2849999999999999</c:v>
                </c:pt>
                <c:pt idx="120">
                  <c:v>1.5640000000000001</c:v>
                </c:pt>
                <c:pt idx="121">
                  <c:v>1.758</c:v>
                </c:pt>
                <c:pt idx="122">
                  <c:v>1.6060000000000001</c:v>
                </c:pt>
                <c:pt idx="123">
                  <c:v>1.5449999999999999</c:v>
                </c:pt>
                <c:pt idx="124">
                  <c:v>1.421</c:v>
                </c:pt>
                <c:pt idx="125">
                  <c:v>1.4650000000000001</c:v>
                </c:pt>
                <c:pt idx="126">
                  <c:v>1.4730000000000001</c:v>
                </c:pt>
                <c:pt idx="127">
                  <c:v>1.419</c:v>
                </c:pt>
                <c:pt idx="128">
                  <c:v>1.177</c:v>
                </c:pt>
                <c:pt idx="129">
                  <c:v>1.3029999999999999</c:v>
                </c:pt>
                <c:pt idx="130">
                  <c:v>1.2949999999999999</c:v>
                </c:pt>
                <c:pt idx="131">
                  <c:v>1.3420000000000001</c:v>
                </c:pt>
                <c:pt idx="132">
                  <c:v>1.4219999999999999</c:v>
                </c:pt>
                <c:pt idx="133">
                  <c:v>1.496</c:v>
                </c:pt>
                <c:pt idx="134">
                  <c:v>1.3620000000000001</c:v>
                </c:pt>
                <c:pt idx="135">
                  <c:v>1.421</c:v>
                </c:pt>
                <c:pt idx="136">
                  <c:v>1.33</c:v>
                </c:pt>
                <c:pt idx="137">
                  <c:v>1.3</c:v>
                </c:pt>
                <c:pt idx="138">
                  <c:v>1.411</c:v>
                </c:pt>
                <c:pt idx="139">
                  <c:v>1.29</c:v>
                </c:pt>
                <c:pt idx="140">
                  <c:v>1.2889999999999999</c:v>
                </c:pt>
                <c:pt idx="141">
                  <c:v>1.33</c:v>
                </c:pt>
                <c:pt idx="142">
                  <c:v>1.3180000000000001</c:v>
                </c:pt>
                <c:pt idx="143">
                  <c:v>1.395</c:v>
                </c:pt>
                <c:pt idx="144">
                  <c:v>1.3009999999999999</c:v>
                </c:pt>
                <c:pt idx="145">
                  <c:v>1.284</c:v>
                </c:pt>
                <c:pt idx="146">
                  <c:v>1.095</c:v>
                </c:pt>
                <c:pt idx="147">
                  <c:v>1.081</c:v>
                </c:pt>
                <c:pt idx="148">
                  <c:v>0.99199999999999999</c:v>
                </c:pt>
                <c:pt idx="149">
                  <c:v>0.93700000000000006</c:v>
                </c:pt>
                <c:pt idx="150">
                  <c:v>0.93700000000000006</c:v>
                </c:pt>
                <c:pt idx="151">
                  <c:v>1.19</c:v>
                </c:pt>
                <c:pt idx="152">
                  <c:v>1.127</c:v>
                </c:pt>
                <c:pt idx="153">
                  <c:v>1.22</c:v>
                </c:pt>
                <c:pt idx="154">
                  <c:v>1.266</c:v>
                </c:pt>
                <c:pt idx="155">
                  <c:v>1.2549999999999999</c:v>
                </c:pt>
                <c:pt idx="156">
                  <c:v>1.2170000000000001</c:v>
                </c:pt>
                <c:pt idx="157">
                  <c:v>1.169</c:v>
                </c:pt>
                <c:pt idx="158">
                  <c:v>1.1379999999999999</c:v>
                </c:pt>
                <c:pt idx="159">
                  <c:v>1.095</c:v>
                </c:pt>
                <c:pt idx="160">
                  <c:v>1.056</c:v>
                </c:pt>
                <c:pt idx="161">
                  <c:v>1.032</c:v>
                </c:pt>
                <c:pt idx="162">
                  <c:v>1.056</c:v>
                </c:pt>
                <c:pt idx="163">
                  <c:v>1.0820000000000001</c:v>
                </c:pt>
                <c:pt idx="164">
                  <c:v>0.98699999999999999</c:v>
                </c:pt>
                <c:pt idx="165">
                  <c:v>0.97399999999999998</c:v>
                </c:pt>
                <c:pt idx="166">
                  <c:v>0.97699999999999998</c:v>
                </c:pt>
                <c:pt idx="167">
                  <c:v>0.98799999999999999</c:v>
                </c:pt>
                <c:pt idx="168">
                  <c:v>0.90200000000000002</c:v>
                </c:pt>
                <c:pt idx="169">
                  <c:v>0.84799999999999998</c:v>
                </c:pt>
                <c:pt idx="170">
                  <c:v>0.83899999999999997</c:v>
                </c:pt>
                <c:pt idx="171">
                  <c:v>0.80200000000000005</c:v>
                </c:pt>
                <c:pt idx="172">
                  <c:v>0.81699999999999995</c:v>
                </c:pt>
                <c:pt idx="173">
                  <c:v>0.77400000000000002</c:v>
                </c:pt>
                <c:pt idx="174">
                  <c:v>0.78400000000000003</c:v>
                </c:pt>
                <c:pt idx="175">
                  <c:v>0.73</c:v>
                </c:pt>
                <c:pt idx="176">
                  <c:v>0.79400000000000004</c:v>
                </c:pt>
                <c:pt idx="177">
                  <c:v>0.76300000000000001</c:v>
                </c:pt>
                <c:pt idx="178">
                  <c:v>0.68100000000000005</c:v>
                </c:pt>
                <c:pt idx="179">
                  <c:v>0.56399999999999995</c:v>
                </c:pt>
                <c:pt idx="180">
                  <c:v>0.61099999999999999</c:v>
                </c:pt>
                <c:pt idx="181">
                  <c:v>0.86499999999999999</c:v>
                </c:pt>
                <c:pt idx="182">
                  <c:v>0.84499999999999997</c:v>
                </c:pt>
                <c:pt idx="183">
                  <c:v>0.79700000000000004</c:v>
                </c:pt>
                <c:pt idx="184">
                  <c:v>0.73499999999999999</c:v>
                </c:pt>
                <c:pt idx="185">
                  <c:v>0.68500000000000005</c:v>
                </c:pt>
                <c:pt idx="186">
                  <c:v>0.60299999999999998</c:v>
                </c:pt>
                <c:pt idx="187">
                  <c:v>0.61099999999999999</c:v>
                </c:pt>
                <c:pt idx="188">
                  <c:v>0.73599999999999999</c:v>
                </c:pt>
                <c:pt idx="189">
                  <c:v>0.627</c:v>
                </c:pt>
                <c:pt idx="190">
                  <c:v>0.59399999999999997</c:v>
                </c:pt>
                <c:pt idx="191">
                  <c:v>0.64100000000000001</c:v>
                </c:pt>
                <c:pt idx="192">
                  <c:v>0.623</c:v>
                </c:pt>
                <c:pt idx="193">
                  <c:v>0.58899999999999997</c:v>
                </c:pt>
                <c:pt idx="194">
                  <c:v>0.56399999999999995</c:v>
                </c:pt>
                <c:pt idx="195">
                  <c:v>0.54200000000000004</c:v>
                </c:pt>
                <c:pt idx="196">
                  <c:v>0.50800000000000001</c:v>
                </c:pt>
                <c:pt idx="197">
                  <c:v>0.52200000000000002</c:v>
                </c:pt>
                <c:pt idx="198">
                  <c:v>0.46600000000000003</c:v>
                </c:pt>
                <c:pt idx="199">
                  <c:v>0.43099999999999999</c:v>
                </c:pt>
                <c:pt idx="200">
                  <c:v>0.32500000000000001</c:v>
                </c:pt>
                <c:pt idx="201">
                  <c:v>0.28799999999999998</c:v>
                </c:pt>
                <c:pt idx="202">
                  <c:v>0.34899999999999998</c:v>
                </c:pt>
                <c:pt idx="203">
                  <c:v>0.39800000000000002</c:v>
                </c:pt>
                <c:pt idx="204">
                  <c:v>0.33600000000000002</c:v>
                </c:pt>
                <c:pt idx="205">
                  <c:v>0.40600000000000003</c:v>
                </c:pt>
                <c:pt idx="206">
                  <c:v>0.45100000000000001</c:v>
                </c:pt>
                <c:pt idx="207">
                  <c:v>0.41399999999999998</c:v>
                </c:pt>
                <c:pt idx="208">
                  <c:v>0.39200000000000002</c:v>
                </c:pt>
                <c:pt idx="209">
                  <c:v>0.34799999999999998</c:v>
                </c:pt>
                <c:pt idx="210">
                  <c:v>0.30599999999999999</c:v>
                </c:pt>
                <c:pt idx="211">
                  <c:v>0.317</c:v>
                </c:pt>
                <c:pt idx="212">
                  <c:v>0.26700000000000002</c:v>
                </c:pt>
                <c:pt idx="213">
                  <c:v>0.104</c:v>
                </c:pt>
                <c:pt idx="214">
                  <c:v>-5.5E-2</c:v>
                </c:pt>
                <c:pt idx="215">
                  <c:v>-4.9000000000000002E-2</c:v>
                </c:pt>
                <c:pt idx="216">
                  <c:v>-8.2000000000000003E-2</c:v>
                </c:pt>
                <c:pt idx="217">
                  <c:v>-0.112</c:v>
                </c:pt>
                <c:pt idx="218">
                  <c:v>-0.23699999999999999</c:v>
                </c:pt>
                <c:pt idx="219">
                  <c:v>-0.17799999999999999</c:v>
                </c:pt>
                <c:pt idx="220">
                  <c:v>-5.8000000000000003E-2</c:v>
                </c:pt>
                <c:pt idx="221">
                  <c:v>-8.4000000000000005E-2</c:v>
                </c:pt>
                <c:pt idx="222">
                  <c:v>-4.9000000000000002E-2</c:v>
                </c:pt>
                <c:pt idx="223">
                  <c:v>2.1000000000000001E-2</c:v>
                </c:pt>
                <c:pt idx="224">
                  <c:v>4.2999999999999997E-2</c:v>
                </c:pt>
                <c:pt idx="225">
                  <c:v>8.6999999999999994E-2</c:v>
                </c:pt>
                <c:pt idx="226">
                  <c:v>5.8999999999999997E-2</c:v>
                </c:pt>
                <c:pt idx="227">
                  <c:v>6.7000000000000004E-2</c:v>
                </c:pt>
                <c:pt idx="228">
                  <c:v>1.6E-2</c:v>
                </c:pt>
                <c:pt idx="229">
                  <c:v>0.05</c:v>
                </c:pt>
                <c:pt idx="230">
                  <c:v>8.5999999999999993E-2</c:v>
                </c:pt>
                <c:pt idx="231">
                  <c:v>7.8E-2</c:v>
                </c:pt>
                <c:pt idx="232">
                  <c:v>8.0000000000000002E-3</c:v>
                </c:pt>
                <c:pt idx="233">
                  <c:v>6.2E-2</c:v>
                </c:pt>
                <c:pt idx="234">
                  <c:v>7.0999999999999994E-2</c:v>
                </c:pt>
                <c:pt idx="235">
                  <c:v>0.04</c:v>
                </c:pt>
                <c:pt idx="236">
                  <c:v>4.7E-2</c:v>
                </c:pt>
                <c:pt idx="237">
                  <c:v>8.5000000000000006E-2</c:v>
                </c:pt>
                <c:pt idx="238">
                  <c:v>5.3999999999999999E-2</c:v>
                </c:pt>
                <c:pt idx="239">
                  <c:v>4.2999999999999997E-2</c:v>
                </c:pt>
                <c:pt idx="240">
                  <c:v>5.5E-2</c:v>
                </c:pt>
                <c:pt idx="241">
                  <c:v>3.9E-2</c:v>
                </c:pt>
                <c:pt idx="242">
                  <c:v>0.04</c:v>
                </c:pt>
                <c:pt idx="243">
                  <c:v>0.05</c:v>
                </c:pt>
                <c:pt idx="244">
                  <c:v>0.11</c:v>
                </c:pt>
                <c:pt idx="245">
                  <c:v>0.13400000000000001</c:v>
                </c:pt>
                <c:pt idx="246">
                  <c:v>0.127</c:v>
                </c:pt>
                <c:pt idx="247">
                  <c:v>9.7000000000000003E-2</c:v>
                </c:pt>
                <c:pt idx="248">
                  <c:v>1.2999999999999999E-2</c:v>
                </c:pt>
                <c:pt idx="249">
                  <c:v>6.0000000000000001E-3</c:v>
                </c:pt>
                <c:pt idx="250">
                  <c:v>-1.9E-2</c:v>
                </c:pt>
                <c:pt idx="251">
                  <c:v>-8.2000000000000003E-2</c:v>
                </c:pt>
                <c:pt idx="252">
                  <c:v>-4.4999999999999998E-2</c:v>
                </c:pt>
                <c:pt idx="253">
                  <c:v>-9.1999999999999998E-2</c:v>
                </c:pt>
                <c:pt idx="254">
                  <c:v>-0.156</c:v>
                </c:pt>
                <c:pt idx="255">
                  <c:v>-0.157</c:v>
                </c:pt>
                <c:pt idx="256">
                  <c:v>-0.27500000000000002</c:v>
                </c:pt>
                <c:pt idx="257">
                  <c:v>-0.20599999999999999</c:v>
                </c:pt>
                <c:pt idx="258">
                  <c:v>-0.13900000000000001</c:v>
                </c:pt>
                <c:pt idx="259">
                  <c:v>-7.4999999999999997E-2</c:v>
                </c:pt>
                <c:pt idx="260">
                  <c:v>-1.4999999999999999E-2</c:v>
                </c:pt>
                <c:pt idx="261">
                  <c:v>-6.0999999999999999E-2</c:v>
                </c:pt>
                <c:pt idx="262">
                  <c:v>-0.153</c:v>
                </c:pt>
                <c:pt idx="263">
                  <c:v>3.1E-2</c:v>
                </c:pt>
                <c:pt idx="264">
                  <c:v>-3.5999999999999997E-2</c:v>
                </c:pt>
                <c:pt idx="265">
                  <c:v>8.9999999999999993E-3</c:v>
                </c:pt>
                <c:pt idx="266">
                  <c:v>4.2000000000000003E-2</c:v>
                </c:pt>
                <c:pt idx="267">
                  <c:v>1.7999999999999999E-2</c:v>
                </c:pt>
                <c:pt idx="268">
                  <c:v>5.6000000000000001E-2</c:v>
                </c:pt>
                <c:pt idx="269">
                  <c:v>2.7E-2</c:v>
                </c:pt>
                <c:pt idx="270">
                  <c:v>4.1000000000000002E-2</c:v>
                </c:pt>
                <c:pt idx="271">
                  <c:v>3.4000000000000002E-2</c:v>
                </c:pt>
                <c:pt idx="272">
                  <c:v>3.5000000000000003E-2</c:v>
                </c:pt>
                <c:pt idx="273">
                  <c:v>5.6000000000000001E-2</c:v>
                </c:pt>
                <c:pt idx="274">
                  <c:v>0.16800000000000001</c:v>
                </c:pt>
                <c:pt idx="275">
                  <c:v>0.104</c:v>
                </c:pt>
                <c:pt idx="276">
                  <c:v>9.5000000000000001E-2</c:v>
                </c:pt>
                <c:pt idx="277">
                  <c:v>8.4000000000000005E-2</c:v>
                </c:pt>
                <c:pt idx="278">
                  <c:v>7.0000000000000007E-2</c:v>
                </c:pt>
                <c:pt idx="279">
                  <c:v>2.1999999999999999E-2</c:v>
                </c:pt>
                <c:pt idx="280">
                  <c:v>0.03</c:v>
                </c:pt>
                <c:pt idx="281">
                  <c:v>8.1000000000000003E-2</c:v>
                </c:pt>
                <c:pt idx="282">
                  <c:v>0.10100000000000001</c:v>
                </c:pt>
                <c:pt idx="283">
                  <c:v>6.7000000000000004E-2</c:v>
                </c:pt>
                <c:pt idx="284">
                  <c:v>8.8999999999999996E-2</c:v>
                </c:pt>
                <c:pt idx="285">
                  <c:v>0.17699999999999999</c:v>
                </c:pt>
                <c:pt idx="286">
                  <c:v>0.191</c:v>
                </c:pt>
                <c:pt idx="287">
                  <c:v>0.218</c:v>
                </c:pt>
                <c:pt idx="288">
                  <c:v>0.22</c:v>
                </c:pt>
                <c:pt idx="289">
                  <c:v>0.246</c:v>
                </c:pt>
                <c:pt idx="290">
                  <c:v>0.24199999999999999</c:v>
                </c:pt>
                <c:pt idx="291">
                  <c:v>0.185</c:v>
                </c:pt>
                <c:pt idx="292">
                  <c:v>0.23499999999999999</c:v>
                </c:pt>
                <c:pt idx="293">
                  <c:v>0.27700000000000002</c:v>
                </c:pt>
                <c:pt idx="294">
                  <c:v>0.253</c:v>
                </c:pt>
                <c:pt idx="295">
                  <c:v>0.27600000000000002</c:v>
                </c:pt>
                <c:pt idx="296">
                  <c:v>0.45400000000000001</c:v>
                </c:pt>
                <c:pt idx="297">
                  <c:v>0.51100000000000001</c:v>
                </c:pt>
                <c:pt idx="298">
                  <c:v>0.52400000000000002</c:v>
                </c:pt>
                <c:pt idx="299">
                  <c:v>0.38900000000000001</c:v>
                </c:pt>
                <c:pt idx="300">
                  <c:v>0.40300000000000002</c:v>
                </c:pt>
                <c:pt idx="301">
                  <c:v>0.44800000000000001</c:v>
                </c:pt>
                <c:pt idx="302">
                  <c:v>0.42599999999999999</c:v>
                </c:pt>
                <c:pt idx="303">
                  <c:v>0.60499999999999998</c:v>
                </c:pt>
                <c:pt idx="304">
                  <c:v>0.65700000000000003</c:v>
                </c:pt>
                <c:pt idx="305">
                  <c:v>0.77400000000000002</c:v>
                </c:pt>
                <c:pt idx="306">
                  <c:v>0.95199999999999996</c:v>
                </c:pt>
                <c:pt idx="307">
                  <c:v>0.69099999999999995</c:v>
                </c:pt>
                <c:pt idx="308">
                  <c:v>0.64700000000000002</c:v>
                </c:pt>
                <c:pt idx="309">
                  <c:v>0.73699999999999999</c:v>
                </c:pt>
                <c:pt idx="310">
                  <c:v>0.72399999999999998</c:v>
                </c:pt>
                <c:pt idx="311">
                  <c:v>0.75</c:v>
                </c:pt>
                <c:pt idx="312">
                  <c:v>0.879</c:v>
                </c:pt>
                <c:pt idx="313">
                  <c:v>1.08</c:v>
                </c:pt>
                <c:pt idx="314">
                  <c:v>1.0620000000000001</c:v>
                </c:pt>
                <c:pt idx="315">
                  <c:v>1.07</c:v>
                </c:pt>
                <c:pt idx="316">
                  <c:v>0.92200000000000004</c:v>
                </c:pt>
                <c:pt idx="317">
                  <c:v>0.89400000000000002</c:v>
                </c:pt>
                <c:pt idx="318">
                  <c:v>0.94699999999999995</c:v>
                </c:pt>
                <c:pt idx="319">
                  <c:v>1.0640000000000001</c:v>
                </c:pt>
                <c:pt idx="320">
                  <c:v>1.111</c:v>
                </c:pt>
                <c:pt idx="321">
                  <c:v>1.25</c:v>
                </c:pt>
                <c:pt idx="322">
                  <c:v>1.3779999999999999</c:v>
                </c:pt>
                <c:pt idx="323">
                  <c:v>1.4970000000000001</c:v>
                </c:pt>
                <c:pt idx="324">
                  <c:v>1.33</c:v>
                </c:pt>
                <c:pt idx="325">
                  <c:v>1.518</c:v>
                </c:pt>
                <c:pt idx="326">
                  <c:v>1.462</c:v>
                </c:pt>
                <c:pt idx="327">
                  <c:v>1.5589999999999999</c:v>
                </c:pt>
                <c:pt idx="328">
                  <c:v>1.613</c:v>
                </c:pt>
                <c:pt idx="329">
                  <c:v>1.6619999999999999</c:v>
                </c:pt>
                <c:pt idx="330">
                  <c:v>1.67</c:v>
                </c:pt>
                <c:pt idx="331">
                  <c:v>1.8120000000000001</c:v>
                </c:pt>
                <c:pt idx="332">
                  <c:v>2.0659999999999998</c:v>
                </c:pt>
                <c:pt idx="333">
                  <c:v>2.2469999999999999</c:v>
                </c:pt>
                <c:pt idx="334">
                  <c:v>2.1320000000000001</c:v>
                </c:pt>
                <c:pt idx="335">
                  <c:v>2.3660000000000001</c:v>
                </c:pt>
                <c:pt idx="336">
                  <c:v>2.52</c:v>
                </c:pt>
                <c:pt idx="337">
                  <c:v>2.657</c:v>
                </c:pt>
                <c:pt idx="338">
                  <c:v>2.69</c:v>
                </c:pt>
                <c:pt idx="339">
                  <c:v>2.8010000000000002</c:v>
                </c:pt>
              </c:numCache>
            </c:numRef>
          </c:val>
          <c:smooth val="0"/>
          <c:extLst>
            <c:ext xmlns:c16="http://schemas.microsoft.com/office/drawing/2014/chart" uri="{C3380CC4-5D6E-409C-BE32-E72D297353CC}">
              <c16:uniqueId val="{00000001-F378-454C-9F10-9F4400886F81}"/>
            </c:ext>
          </c:extLst>
        </c:ser>
        <c:ser>
          <c:idx val="2"/>
          <c:order val="2"/>
          <c:tx>
            <c:strRef>
              <c:f>Sheet1!$D$1</c:f>
              <c:strCache>
                <c:ptCount val="1"/>
                <c:pt idx="0">
                  <c:v>2Y</c:v>
                </c:pt>
              </c:strCache>
            </c:strRef>
          </c:tx>
          <c:spPr>
            <a:ln w="25400">
              <a:solidFill>
                <a:srgbClr val="44546A"/>
              </a:solidFill>
            </a:ln>
          </c:spPr>
          <c:marker>
            <c:symbol val="none"/>
          </c:marker>
          <c:cat>
            <c:strRef>
              <c:f>Sheet1!$A$2:$A$341</c:f>
              <c:strCache>
                <c:ptCount val="340"/>
                <c:pt idx="21">
                  <c:v>2000</c:v>
                </c:pt>
                <c:pt idx="69">
                  <c:v>2004</c:v>
                </c:pt>
                <c:pt idx="117">
                  <c:v>2008</c:v>
                </c:pt>
                <c:pt idx="165">
                  <c:v>2012</c:v>
                </c:pt>
                <c:pt idx="213">
                  <c:v>2016</c:v>
                </c:pt>
                <c:pt idx="261">
                  <c:v>2020</c:v>
                </c:pt>
                <c:pt idx="309">
                  <c:v>2024</c:v>
                </c:pt>
              </c:strCache>
            </c:strRef>
          </c:cat>
          <c:val>
            <c:numRef>
              <c:f>Sheet1!$D$2:$D$341</c:f>
              <c:numCache>
                <c:formatCode>General</c:formatCode>
                <c:ptCount val="340"/>
                <c:pt idx="0">
                  <c:v>0.52700000000000002</c:v>
                </c:pt>
                <c:pt idx="1">
                  <c:v>0.438</c:v>
                </c:pt>
                <c:pt idx="2">
                  <c:v>0.58799999999999997</c:v>
                </c:pt>
                <c:pt idx="3">
                  <c:v>0.54100000000000004</c:v>
                </c:pt>
                <c:pt idx="4">
                  <c:v>0.432</c:v>
                </c:pt>
                <c:pt idx="5">
                  <c:v>0.379</c:v>
                </c:pt>
                <c:pt idx="6">
                  <c:v>0.32</c:v>
                </c:pt>
                <c:pt idx="7">
                  <c:v>0.33400000000000002</c:v>
                </c:pt>
                <c:pt idx="8">
                  <c:v>0.80200000000000005</c:v>
                </c:pt>
                <c:pt idx="9">
                  <c:v>0.68200000000000005</c:v>
                </c:pt>
                <c:pt idx="10">
                  <c:v>0.4</c:v>
                </c:pt>
                <c:pt idx="11">
                  <c:v>0.34799999999999998</c:v>
                </c:pt>
                <c:pt idx="12">
                  <c:v>0.20399999999999999</c:v>
                </c:pt>
                <c:pt idx="13">
                  <c:v>0.12</c:v>
                </c:pt>
                <c:pt idx="14">
                  <c:v>0.47599999999999998</c:v>
                </c:pt>
                <c:pt idx="15">
                  <c:v>0.40699999999999997</c:v>
                </c:pt>
                <c:pt idx="16">
                  <c:v>0.375</c:v>
                </c:pt>
                <c:pt idx="17">
                  <c:v>0.29299999999999998</c:v>
                </c:pt>
                <c:pt idx="18">
                  <c:v>0.28599999999999998</c:v>
                </c:pt>
                <c:pt idx="19">
                  <c:v>0.41099999999999998</c:v>
                </c:pt>
                <c:pt idx="20">
                  <c:v>0.36</c:v>
                </c:pt>
                <c:pt idx="21">
                  <c:v>0.40300000000000002</c:v>
                </c:pt>
                <c:pt idx="22">
                  <c:v>0.40899999999999997</c:v>
                </c:pt>
                <c:pt idx="23">
                  <c:v>0.49299999999999999</c:v>
                </c:pt>
                <c:pt idx="24">
                  <c:v>0.437</c:v>
                </c:pt>
                <c:pt idx="25">
                  <c:v>0.40300000000000002</c:v>
                </c:pt>
                <c:pt idx="26">
                  <c:v>0.52400000000000002</c:v>
                </c:pt>
                <c:pt idx="27">
                  <c:v>0.44800000000000001</c:v>
                </c:pt>
                <c:pt idx="28">
                  <c:v>0.64500000000000002</c:v>
                </c:pt>
                <c:pt idx="29">
                  <c:v>0.64600000000000002</c:v>
                </c:pt>
                <c:pt idx="30">
                  <c:v>0.57099999999999995</c:v>
                </c:pt>
                <c:pt idx="31">
                  <c:v>0.54500000000000004</c:v>
                </c:pt>
                <c:pt idx="32">
                  <c:v>0.51500000000000001</c:v>
                </c:pt>
                <c:pt idx="33">
                  <c:v>0.39</c:v>
                </c:pt>
                <c:pt idx="34">
                  <c:v>0.24199999999999999</c:v>
                </c:pt>
                <c:pt idx="35">
                  <c:v>0.13300000000000001</c:v>
                </c:pt>
                <c:pt idx="36">
                  <c:v>9.7000000000000003E-2</c:v>
                </c:pt>
                <c:pt idx="37">
                  <c:v>5.1999999999999998E-2</c:v>
                </c:pt>
                <c:pt idx="38">
                  <c:v>7.2999999999999995E-2</c:v>
                </c:pt>
                <c:pt idx="39">
                  <c:v>9.0999999999999998E-2</c:v>
                </c:pt>
                <c:pt idx="40">
                  <c:v>8.5999999999999993E-2</c:v>
                </c:pt>
                <c:pt idx="41">
                  <c:v>8.5000000000000006E-2</c:v>
                </c:pt>
                <c:pt idx="42">
                  <c:v>8.6999999999999994E-2</c:v>
                </c:pt>
                <c:pt idx="43">
                  <c:v>0.105</c:v>
                </c:pt>
                <c:pt idx="44">
                  <c:v>7.5999999999999998E-2</c:v>
                </c:pt>
                <c:pt idx="45">
                  <c:v>6.5000000000000002E-2</c:v>
                </c:pt>
                <c:pt idx="46">
                  <c:v>8.1000000000000003E-2</c:v>
                </c:pt>
                <c:pt idx="47">
                  <c:v>5.0999999999999997E-2</c:v>
                </c:pt>
                <c:pt idx="48">
                  <c:v>5.5E-2</c:v>
                </c:pt>
                <c:pt idx="49">
                  <c:v>6.7000000000000004E-2</c:v>
                </c:pt>
                <c:pt idx="50">
                  <c:v>0.06</c:v>
                </c:pt>
                <c:pt idx="51">
                  <c:v>0.04</c:v>
                </c:pt>
                <c:pt idx="52">
                  <c:v>0.02</c:v>
                </c:pt>
                <c:pt idx="53">
                  <c:v>5.6000000000000001E-2</c:v>
                </c:pt>
                <c:pt idx="54">
                  <c:v>3.7999999999999999E-2</c:v>
                </c:pt>
                <c:pt idx="55">
                  <c:v>5.5E-2</c:v>
                </c:pt>
                <c:pt idx="56">
                  <c:v>0.05</c:v>
                </c:pt>
                <c:pt idx="57">
                  <c:v>4.2999999999999997E-2</c:v>
                </c:pt>
                <c:pt idx="58">
                  <c:v>0.05</c:v>
                </c:pt>
                <c:pt idx="59">
                  <c:v>0.06</c:v>
                </c:pt>
                <c:pt idx="60">
                  <c:v>0.05</c:v>
                </c:pt>
                <c:pt idx="61">
                  <c:v>0.04</c:v>
                </c:pt>
                <c:pt idx="62">
                  <c:v>7.4999999999999997E-2</c:v>
                </c:pt>
                <c:pt idx="63">
                  <c:v>7.0000000000000007E-2</c:v>
                </c:pt>
                <c:pt idx="64">
                  <c:v>0.187</c:v>
                </c:pt>
                <c:pt idx="65">
                  <c:v>0.17599999999999999</c:v>
                </c:pt>
                <c:pt idx="66">
                  <c:v>0.13700000000000001</c:v>
                </c:pt>
                <c:pt idx="67">
                  <c:v>0.13200000000000001</c:v>
                </c:pt>
                <c:pt idx="68">
                  <c:v>0.11</c:v>
                </c:pt>
                <c:pt idx="69">
                  <c:v>6.8000000000000005E-2</c:v>
                </c:pt>
                <c:pt idx="70">
                  <c:v>5.6000000000000001E-2</c:v>
                </c:pt>
                <c:pt idx="71">
                  <c:v>0.11799999999999999</c:v>
                </c:pt>
                <c:pt idx="72">
                  <c:v>0.13500000000000001</c:v>
                </c:pt>
                <c:pt idx="73">
                  <c:v>0.13500000000000001</c:v>
                </c:pt>
                <c:pt idx="74">
                  <c:v>0.161</c:v>
                </c:pt>
                <c:pt idx="75">
                  <c:v>0.20499999999999999</c:v>
                </c:pt>
                <c:pt idx="76">
                  <c:v>0.15</c:v>
                </c:pt>
                <c:pt idx="77">
                  <c:v>0.127</c:v>
                </c:pt>
                <c:pt idx="78">
                  <c:v>0.11799999999999999</c:v>
                </c:pt>
                <c:pt idx="79">
                  <c:v>0.10299999999999999</c:v>
                </c:pt>
                <c:pt idx="80">
                  <c:v>0.10299999999999999</c:v>
                </c:pt>
                <c:pt idx="81">
                  <c:v>8.6999999999999994E-2</c:v>
                </c:pt>
                <c:pt idx="82">
                  <c:v>0.123</c:v>
                </c:pt>
                <c:pt idx="83">
                  <c:v>9.7000000000000003E-2</c:v>
                </c:pt>
                <c:pt idx="84">
                  <c:v>7.5999999999999998E-2</c:v>
                </c:pt>
                <c:pt idx="85">
                  <c:v>7.6999999999999999E-2</c:v>
                </c:pt>
                <c:pt idx="86">
                  <c:v>7.0000000000000007E-2</c:v>
                </c:pt>
                <c:pt idx="87">
                  <c:v>0.104</c:v>
                </c:pt>
                <c:pt idx="88">
                  <c:v>0.129</c:v>
                </c:pt>
                <c:pt idx="89">
                  <c:v>0.221</c:v>
                </c:pt>
                <c:pt idx="90">
                  <c:v>0.27300000000000002</c:v>
                </c:pt>
                <c:pt idx="91">
                  <c:v>0.22900000000000001</c:v>
                </c:pt>
                <c:pt idx="92">
                  <c:v>0.28100000000000003</c:v>
                </c:pt>
                <c:pt idx="93">
                  <c:v>0.30199999999999999</c:v>
                </c:pt>
                <c:pt idx="94">
                  <c:v>0.47899999999999998</c:v>
                </c:pt>
                <c:pt idx="95">
                  <c:v>0.66700000000000004</c:v>
                </c:pt>
                <c:pt idx="96">
                  <c:v>0.64900000000000002</c:v>
                </c:pt>
                <c:pt idx="97">
                  <c:v>0.81299999999999994</c:v>
                </c:pt>
                <c:pt idx="98">
                  <c:v>0.82499999999999996</c:v>
                </c:pt>
                <c:pt idx="99">
                  <c:v>0.81699999999999995</c:v>
                </c:pt>
                <c:pt idx="100">
                  <c:v>0.625</c:v>
                </c:pt>
                <c:pt idx="101">
                  <c:v>0.63500000000000001</c:v>
                </c:pt>
                <c:pt idx="102">
                  <c:v>0.71699999999999997</c:v>
                </c:pt>
                <c:pt idx="103">
                  <c:v>0.80200000000000005</c:v>
                </c:pt>
                <c:pt idx="104">
                  <c:v>0.78</c:v>
                </c:pt>
                <c:pt idx="105">
                  <c:v>0.70799999999999996</c:v>
                </c:pt>
                <c:pt idx="106">
                  <c:v>0.81799999999999995</c:v>
                </c:pt>
                <c:pt idx="107">
                  <c:v>0.80700000000000005</c:v>
                </c:pt>
                <c:pt idx="108">
                  <c:v>0.84699999999999998</c:v>
                </c:pt>
                <c:pt idx="109">
                  <c:v>0.97199999999999998</c:v>
                </c:pt>
                <c:pt idx="110">
                  <c:v>1.01</c:v>
                </c:pt>
                <c:pt idx="111">
                  <c:v>0.996</c:v>
                </c:pt>
                <c:pt idx="112">
                  <c:v>0.87</c:v>
                </c:pt>
                <c:pt idx="113">
                  <c:v>0.85599999999999998</c:v>
                </c:pt>
                <c:pt idx="114">
                  <c:v>0.77500000000000002</c:v>
                </c:pt>
                <c:pt idx="115">
                  <c:v>0.75700000000000001</c:v>
                </c:pt>
                <c:pt idx="116">
                  <c:v>0.70499999999999996</c:v>
                </c:pt>
                <c:pt idx="117">
                  <c:v>0.54900000000000004</c:v>
                </c:pt>
                <c:pt idx="118">
                  <c:v>0.55300000000000005</c:v>
                </c:pt>
                <c:pt idx="119">
                  <c:v>0.56399999999999995</c:v>
                </c:pt>
                <c:pt idx="120">
                  <c:v>0.77500000000000002</c:v>
                </c:pt>
                <c:pt idx="121">
                  <c:v>0.9</c:v>
                </c:pt>
                <c:pt idx="122">
                  <c:v>0.78100000000000003</c:v>
                </c:pt>
                <c:pt idx="123">
                  <c:v>0.77100000000000002</c:v>
                </c:pt>
                <c:pt idx="124">
                  <c:v>0.70899999999999996</c:v>
                </c:pt>
                <c:pt idx="125">
                  <c:v>0.748</c:v>
                </c:pt>
                <c:pt idx="126">
                  <c:v>0.53900000000000003</c:v>
                </c:pt>
                <c:pt idx="127">
                  <c:v>0.58599999999999997</c:v>
                </c:pt>
                <c:pt idx="128">
                  <c:v>0.37</c:v>
                </c:pt>
                <c:pt idx="129">
                  <c:v>0.40300000000000002</c:v>
                </c:pt>
                <c:pt idx="130">
                  <c:v>0.39200000000000002</c:v>
                </c:pt>
                <c:pt idx="131">
                  <c:v>0.40799999999999997</c:v>
                </c:pt>
                <c:pt idx="132">
                  <c:v>0.375</c:v>
                </c:pt>
                <c:pt idx="133">
                  <c:v>0.34399999999999997</c:v>
                </c:pt>
                <c:pt idx="134">
                  <c:v>0.307</c:v>
                </c:pt>
                <c:pt idx="135">
                  <c:v>0.27500000000000002</c:v>
                </c:pt>
                <c:pt idx="136">
                  <c:v>0.24</c:v>
                </c:pt>
                <c:pt idx="137">
                  <c:v>0.23899999999999999</c:v>
                </c:pt>
                <c:pt idx="138">
                  <c:v>0.25</c:v>
                </c:pt>
                <c:pt idx="139">
                  <c:v>0.22500000000000001</c:v>
                </c:pt>
                <c:pt idx="140">
                  <c:v>0.13600000000000001</c:v>
                </c:pt>
                <c:pt idx="141">
                  <c:v>0.155</c:v>
                </c:pt>
                <c:pt idx="142">
                  <c:v>0.155</c:v>
                </c:pt>
                <c:pt idx="143">
                  <c:v>0.16700000000000001</c:v>
                </c:pt>
                <c:pt idx="144">
                  <c:v>0.16</c:v>
                </c:pt>
                <c:pt idx="145">
                  <c:v>0.16</c:v>
                </c:pt>
                <c:pt idx="146">
                  <c:v>0.14499999999999999</c:v>
                </c:pt>
                <c:pt idx="147">
                  <c:v>0.14499999999999999</c:v>
                </c:pt>
                <c:pt idx="148">
                  <c:v>0.11899999999999999</c:v>
                </c:pt>
                <c:pt idx="149">
                  <c:v>0.13200000000000001</c:v>
                </c:pt>
                <c:pt idx="150">
                  <c:v>0.13700000000000001</c:v>
                </c:pt>
                <c:pt idx="151">
                  <c:v>0.188</c:v>
                </c:pt>
                <c:pt idx="152">
                  <c:v>0.16700000000000001</c:v>
                </c:pt>
                <c:pt idx="153">
                  <c:v>0.19500000000000001</c:v>
                </c:pt>
                <c:pt idx="154">
                  <c:v>0.23699999999999999</c:v>
                </c:pt>
                <c:pt idx="155">
                  <c:v>0.20799999999999999</c:v>
                </c:pt>
                <c:pt idx="156">
                  <c:v>0.189</c:v>
                </c:pt>
                <c:pt idx="157">
                  <c:v>0.17499999999999999</c:v>
                </c:pt>
                <c:pt idx="158">
                  <c:v>0.16700000000000001</c:v>
                </c:pt>
                <c:pt idx="159">
                  <c:v>0.155</c:v>
                </c:pt>
                <c:pt idx="160">
                  <c:v>0.13600000000000001</c:v>
                </c:pt>
                <c:pt idx="161">
                  <c:v>0.13700000000000001</c:v>
                </c:pt>
                <c:pt idx="162">
                  <c:v>0.14299999999999999</c:v>
                </c:pt>
                <c:pt idx="163">
                  <c:v>0.14000000000000001</c:v>
                </c:pt>
                <c:pt idx="164">
                  <c:v>0.13100000000000001</c:v>
                </c:pt>
                <c:pt idx="165">
                  <c:v>0.127</c:v>
                </c:pt>
                <c:pt idx="166">
                  <c:v>0.109</c:v>
                </c:pt>
                <c:pt idx="167">
                  <c:v>0.115</c:v>
                </c:pt>
                <c:pt idx="168">
                  <c:v>0.109</c:v>
                </c:pt>
                <c:pt idx="169">
                  <c:v>0.1</c:v>
                </c:pt>
                <c:pt idx="170">
                  <c:v>0.1</c:v>
                </c:pt>
                <c:pt idx="171">
                  <c:v>9.7000000000000003E-2</c:v>
                </c:pt>
                <c:pt idx="172">
                  <c:v>9.7000000000000003E-2</c:v>
                </c:pt>
                <c:pt idx="173">
                  <c:v>0.1</c:v>
                </c:pt>
                <c:pt idx="174">
                  <c:v>9.7000000000000003E-2</c:v>
                </c:pt>
                <c:pt idx="175">
                  <c:v>9.7000000000000003E-2</c:v>
                </c:pt>
                <c:pt idx="176">
                  <c:v>9.8000000000000004E-2</c:v>
                </c:pt>
                <c:pt idx="177">
                  <c:v>6.7000000000000004E-2</c:v>
                </c:pt>
                <c:pt idx="178">
                  <c:v>4.4999999999999998E-2</c:v>
                </c:pt>
                <c:pt idx="179">
                  <c:v>5.7000000000000002E-2</c:v>
                </c:pt>
                <c:pt idx="180">
                  <c:v>0.122</c:v>
                </c:pt>
                <c:pt idx="181">
                  <c:v>0.13900000000000001</c:v>
                </c:pt>
                <c:pt idx="182">
                  <c:v>0.13700000000000001</c:v>
                </c:pt>
                <c:pt idx="183">
                  <c:v>0.11899999999999999</c:v>
                </c:pt>
                <c:pt idx="184">
                  <c:v>0.115</c:v>
                </c:pt>
                <c:pt idx="185">
                  <c:v>0.107</c:v>
                </c:pt>
                <c:pt idx="186">
                  <c:v>9.7000000000000003E-2</c:v>
                </c:pt>
                <c:pt idx="187">
                  <c:v>8.3000000000000004E-2</c:v>
                </c:pt>
                <c:pt idx="188">
                  <c:v>9.8000000000000004E-2</c:v>
                </c:pt>
                <c:pt idx="189">
                  <c:v>8.5000000000000006E-2</c:v>
                </c:pt>
                <c:pt idx="190">
                  <c:v>7.2999999999999995E-2</c:v>
                </c:pt>
                <c:pt idx="191">
                  <c:v>8.6999999999999994E-2</c:v>
                </c:pt>
                <c:pt idx="192">
                  <c:v>8.7999999999999995E-2</c:v>
                </c:pt>
                <c:pt idx="193">
                  <c:v>8.7999999999999995E-2</c:v>
                </c:pt>
                <c:pt idx="194">
                  <c:v>7.2999999999999995E-2</c:v>
                </c:pt>
                <c:pt idx="195">
                  <c:v>6.7000000000000004E-2</c:v>
                </c:pt>
                <c:pt idx="196">
                  <c:v>7.2999999999999995E-2</c:v>
                </c:pt>
                <c:pt idx="197">
                  <c:v>7.8E-2</c:v>
                </c:pt>
                <c:pt idx="198">
                  <c:v>0.03</c:v>
                </c:pt>
                <c:pt idx="199">
                  <c:v>0.01</c:v>
                </c:pt>
                <c:pt idx="200">
                  <c:v>-2.8000000000000001E-2</c:v>
                </c:pt>
                <c:pt idx="201">
                  <c:v>0.01</c:v>
                </c:pt>
                <c:pt idx="202">
                  <c:v>1.4999999999999999E-2</c:v>
                </c:pt>
                <c:pt idx="203">
                  <c:v>3.6999999999999998E-2</c:v>
                </c:pt>
                <c:pt idx="204">
                  <c:v>0</c:v>
                </c:pt>
                <c:pt idx="205">
                  <c:v>-8.0000000000000002E-3</c:v>
                </c:pt>
                <c:pt idx="206">
                  <c:v>-3.0000000000000001E-3</c:v>
                </c:pt>
                <c:pt idx="207">
                  <c:v>5.0000000000000001E-3</c:v>
                </c:pt>
                <c:pt idx="208">
                  <c:v>7.0000000000000001E-3</c:v>
                </c:pt>
                <c:pt idx="209">
                  <c:v>1.4999999999999999E-2</c:v>
                </c:pt>
                <c:pt idx="210">
                  <c:v>2E-3</c:v>
                </c:pt>
                <c:pt idx="211">
                  <c:v>-8.0000000000000002E-3</c:v>
                </c:pt>
                <c:pt idx="212">
                  <c:v>-3.3000000000000002E-2</c:v>
                </c:pt>
                <c:pt idx="213">
                  <c:v>-8.3000000000000004E-2</c:v>
                </c:pt>
                <c:pt idx="214">
                  <c:v>-0.245</c:v>
                </c:pt>
                <c:pt idx="215">
                  <c:v>-0.20599999999999999</c:v>
                </c:pt>
                <c:pt idx="216">
                  <c:v>-0.24399999999999999</c:v>
                </c:pt>
                <c:pt idx="217">
                  <c:v>-0.23899999999999999</c:v>
                </c:pt>
                <c:pt idx="218">
                  <c:v>-0.29899999999999999</c:v>
                </c:pt>
                <c:pt idx="219">
                  <c:v>-0.251</c:v>
                </c:pt>
                <c:pt idx="220">
                  <c:v>-0.19700000000000001</c:v>
                </c:pt>
                <c:pt idx="221">
                  <c:v>-0.28899999999999998</c:v>
                </c:pt>
                <c:pt idx="222">
                  <c:v>-0.247</c:v>
                </c:pt>
                <c:pt idx="223">
                  <c:v>-0.16700000000000001</c:v>
                </c:pt>
                <c:pt idx="224">
                  <c:v>-0.187</c:v>
                </c:pt>
                <c:pt idx="225">
                  <c:v>-0.20899999999999999</c:v>
                </c:pt>
                <c:pt idx="226">
                  <c:v>-0.26200000000000001</c:v>
                </c:pt>
                <c:pt idx="227">
                  <c:v>-0.20399999999999999</c:v>
                </c:pt>
                <c:pt idx="228">
                  <c:v>-0.20699999999999999</c:v>
                </c:pt>
                <c:pt idx="229">
                  <c:v>-0.16200000000000001</c:v>
                </c:pt>
                <c:pt idx="230">
                  <c:v>-0.115</c:v>
                </c:pt>
                <c:pt idx="231">
                  <c:v>-0.11700000000000001</c:v>
                </c:pt>
                <c:pt idx="232">
                  <c:v>-0.16200000000000001</c:v>
                </c:pt>
                <c:pt idx="233">
                  <c:v>-0.12</c:v>
                </c:pt>
                <c:pt idx="234">
                  <c:v>-0.16</c:v>
                </c:pt>
                <c:pt idx="235">
                  <c:v>-0.16</c:v>
                </c:pt>
                <c:pt idx="236">
                  <c:v>-0.14000000000000001</c:v>
                </c:pt>
                <c:pt idx="237">
                  <c:v>-0.13700000000000001</c:v>
                </c:pt>
                <c:pt idx="238">
                  <c:v>-0.16</c:v>
                </c:pt>
                <c:pt idx="239">
                  <c:v>-0.13700000000000001</c:v>
                </c:pt>
                <c:pt idx="240">
                  <c:v>-0.13700000000000001</c:v>
                </c:pt>
                <c:pt idx="241">
                  <c:v>-0.14399999999999999</c:v>
                </c:pt>
                <c:pt idx="242">
                  <c:v>-0.129</c:v>
                </c:pt>
                <c:pt idx="243">
                  <c:v>-0.11899999999999999</c:v>
                </c:pt>
                <c:pt idx="244">
                  <c:v>-0.11899999999999999</c:v>
                </c:pt>
                <c:pt idx="245">
                  <c:v>-0.114</c:v>
                </c:pt>
                <c:pt idx="246">
                  <c:v>-0.125</c:v>
                </c:pt>
                <c:pt idx="247">
                  <c:v>-0.13500000000000001</c:v>
                </c:pt>
                <c:pt idx="248">
                  <c:v>-0.13900000000000001</c:v>
                </c:pt>
                <c:pt idx="249">
                  <c:v>-0.16900000000000001</c:v>
                </c:pt>
                <c:pt idx="250">
                  <c:v>-0.154</c:v>
                </c:pt>
                <c:pt idx="251">
                  <c:v>-0.183</c:v>
                </c:pt>
                <c:pt idx="252">
                  <c:v>-0.153</c:v>
                </c:pt>
                <c:pt idx="253">
                  <c:v>-0.17899999999999999</c:v>
                </c:pt>
                <c:pt idx="254">
                  <c:v>-0.222</c:v>
                </c:pt>
                <c:pt idx="255">
                  <c:v>-0.20899999999999999</c:v>
                </c:pt>
                <c:pt idx="256">
                  <c:v>-0.307</c:v>
                </c:pt>
                <c:pt idx="257">
                  <c:v>-0.32300000000000001</c:v>
                </c:pt>
                <c:pt idx="258">
                  <c:v>-0.23899999999999999</c:v>
                </c:pt>
                <c:pt idx="259">
                  <c:v>-0.17899999999999999</c:v>
                </c:pt>
                <c:pt idx="260">
                  <c:v>-0.13400000000000001</c:v>
                </c:pt>
                <c:pt idx="261">
                  <c:v>-0.159</c:v>
                </c:pt>
                <c:pt idx="262">
                  <c:v>-0.25800000000000001</c:v>
                </c:pt>
                <c:pt idx="263">
                  <c:v>-0.13</c:v>
                </c:pt>
                <c:pt idx="264">
                  <c:v>-0.184</c:v>
                </c:pt>
                <c:pt idx="265">
                  <c:v>-0.16400000000000001</c:v>
                </c:pt>
                <c:pt idx="266">
                  <c:v>-0.14000000000000001</c:v>
                </c:pt>
                <c:pt idx="267">
                  <c:v>-0.14399999999999999</c:v>
                </c:pt>
                <c:pt idx="268">
                  <c:v>-0.115</c:v>
                </c:pt>
                <c:pt idx="269">
                  <c:v>-0.14000000000000001</c:v>
                </c:pt>
                <c:pt idx="270">
                  <c:v>-0.125</c:v>
                </c:pt>
                <c:pt idx="271">
                  <c:v>-0.13</c:v>
                </c:pt>
                <c:pt idx="272">
                  <c:v>-0.125</c:v>
                </c:pt>
                <c:pt idx="273">
                  <c:v>-0.129</c:v>
                </c:pt>
                <c:pt idx="274">
                  <c:v>-0.114</c:v>
                </c:pt>
                <c:pt idx="275">
                  <c:v>-0.13</c:v>
                </c:pt>
                <c:pt idx="276">
                  <c:v>-0.13</c:v>
                </c:pt>
                <c:pt idx="277">
                  <c:v>-0.125</c:v>
                </c:pt>
                <c:pt idx="278">
                  <c:v>-0.115</c:v>
                </c:pt>
                <c:pt idx="279">
                  <c:v>-0.125</c:v>
                </c:pt>
                <c:pt idx="280">
                  <c:v>-0.13</c:v>
                </c:pt>
                <c:pt idx="281">
                  <c:v>-0.115</c:v>
                </c:pt>
                <c:pt idx="282">
                  <c:v>-0.105</c:v>
                </c:pt>
                <c:pt idx="283">
                  <c:v>-0.12</c:v>
                </c:pt>
                <c:pt idx="284">
                  <c:v>-9.5000000000000001E-2</c:v>
                </c:pt>
                <c:pt idx="285">
                  <c:v>-5.5E-2</c:v>
                </c:pt>
                <c:pt idx="286">
                  <c:v>-3.5000000000000003E-2</c:v>
                </c:pt>
                <c:pt idx="287">
                  <c:v>-0.03</c:v>
                </c:pt>
                <c:pt idx="288">
                  <c:v>-0.06</c:v>
                </c:pt>
                <c:pt idx="289">
                  <c:v>-7.0000000000000007E-2</c:v>
                </c:pt>
                <c:pt idx="290">
                  <c:v>-6.5000000000000002E-2</c:v>
                </c:pt>
                <c:pt idx="291">
                  <c:v>-0.09</c:v>
                </c:pt>
                <c:pt idx="292">
                  <c:v>-8.5000000000000006E-2</c:v>
                </c:pt>
                <c:pt idx="293">
                  <c:v>-0.05</c:v>
                </c:pt>
                <c:pt idx="294">
                  <c:v>-4.4999999999999998E-2</c:v>
                </c:pt>
                <c:pt idx="295">
                  <c:v>-0.03</c:v>
                </c:pt>
                <c:pt idx="296">
                  <c:v>0.03</c:v>
                </c:pt>
                <c:pt idx="297">
                  <c:v>-0.01</c:v>
                </c:pt>
                <c:pt idx="298">
                  <c:v>-2.5999999999999999E-2</c:v>
                </c:pt>
                <c:pt idx="299">
                  <c:v>-6.0999999999999999E-2</c:v>
                </c:pt>
                <c:pt idx="300">
                  <c:v>-4.4999999999999998E-2</c:v>
                </c:pt>
                <c:pt idx="301">
                  <c:v>-0.06</c:v>
                </c:pt>
                <c:pt idx="302">
                  <c:v>-7.4999999999999997E-2</c:v>
                </c:pt>
                <c:pt idx="303">
                  <c:v>0</c:v>
                </c:pt>
                <c:pt idx="304">
                  <c:v>2.5000000000000001E-2</c:v>
                </c:pt>
                <c:pt idx="305">
                  <c:v>4.3999999999999997E-2</c:v>
                </c:pt>
                <c:pt idx="306">
                  <c:v>0.14899999999999999</c:v>
                </c:pt>
                <c:pt idx="307">
                  <c:v>4.9000000000000002E-2</c:v>
                </c:pt>
                <c:pt idx="308">
                  <c:v>4.8000000000000001E-2</c:v>
                </c:pt>
                <c:pt idx="309">
                  <c:v>9.4E-2</c:v>
                </c:pt>
                <c:pt idx="310">
                  <c:v>0.19</c:v>
                </c:pt>
                <c:pt idx="311">
                  <c:v>0.189</c:v>
                </c:pt>
                <c:pt idx="312">
                  <c:v>0.27500000000000002</c:v>
                </c:pt>
                <c:pt idx="313">
                  <c:v>0.39900000000000002</c:v>
                </c:pt>
                <c:pt idx="314">
                  <c:v>0.35299999999999998</c:v>
                </c:pt>
                <c:pt idx="315">
                  <c:v>0.45</c:v>
                </c:pt>
                <c:pt idx="316">
                  <c:v>0.36299999999999999</c:v>
                </c:pt>
                <c:pt idx="317">
                  <c:v>0.39400000000000002</c:v>
                </c:pt>
                <c:pt idx="318">
                  <c:v>0.434</c:v>
                </c:pt>
                <c:pt idx="319">
                  <c:v>0.59899999999999998</c:v>
                </c:pt>
                <c:pt idx="320">
                  <c:v>0.59899999999999998</c:v>
                </c:pt>
                <c:pt idx="321">
                  <c:v>0.72899999999999998</c:v>
                </c:pt>
                <c:pt idx="322">
                  <c:v>0.80600000000000005</c:v>
                </c:pt>
                <c:pt idx="323">
                  <c:v>0.85399999999999998</c:v>
                </c:pt>
                <c:pt idx="324">
                  <c:v>0.67600000000000005</c:v>
                </c:pt>
                <c:pt idx="325">
                  <c:v>0.75</c:v>
                </c:pt>
                <c:pt idx="326">
                  <c:v>0.746</c:v>
                </c:pt>
                <c:pt idx="327">
                  <c:v>0.82599999999999996</c:v>
                </c:pt>
                <c:pt idx="328">
                  <c:v>0.871</c:v>
                </c:pt>
                <c:pt idx="329">
                  <c:v>0.95799999999999996</c:v>
                </c:pt>
                <c:pt idx="330">
                  <c:v>0.92800000000000005</c:v>
                </c:pt>
                <c:pt idx="331">
                  <c:v>0.99199999999999999</c:v>
                </c:pt>
                <c:pt idx="332">
                  <c:v>1.167</c:v>
                </c:pt>
                <c:pt idx="333">
                  <c:v>1.2509999999999999</c:v>
                </c:pt>
                <c:pt idx="334">
                  <c:v>1.25</c:v>
                </c:pt>
                <c:pt idx="335">
                  <c:v>1.375</c:v>
                </c:pt>
                <c:pt idx="336">
                  <c:v>1.4019999999999999</c:v>
                </c:pt>
                <c:pt idx="337">
                  <c:v>1.393</c:v>
                </c:pt>
                <c:pt idx="338">
                  <c:v>1.3819999999999999</c:v>
                </c:pt>
                <c:pt idx="339">
                  <c:v>1.5069999999999999</c:v>
                </c:pt>
              </c:numCache>
            </c:numRef>
          </c:val>
          <c:smooth val="0"/>
          <c:extLst>
            <c:ext xmlns:c16="http://schemas.microsoft.com/office/drawing/2014/chart" uri="{C3380CC4-5D6E-409C-BE32-E72D297353CC}">
              <c16:uniqueId val="{00000002-F378-454C-9F10-9F4400886F81}"/>
            </c:ext>
          </c:extLst>
        </c:ser>
        <c:dLbls>
          <c:showLegendKey val="0"/>
          <c:showVal val="0"/>
          <c:showCatName val="0"/>
          <c:showSerName val="0"/>
          <c:showPercent val="0"/>
          <c:showBubbleSize val="0"/>
        </c:dLbls>
        <c:smooth val="0"/>
        <c:axId val="2118791784"/>
        <c:axId val="2140495176"/>
      </c:lineChart>
      <c:dateAx>
        <c:axId val="2118791784"/>
        <c:scaling>
          <c:orientation val="minMax"/>
        </c:scaling>
        <c:delete val="0"/>
        <c:axPos val="b"/>
        <c:numFmt formatCode="yy" sourceLinked="0"/>
        <c:majorTickMark val="none"/>
        <c:minorTickMark val="none"/>
        <c:tickLblPos val="nextTo"/>
        <c:spPr>
          <a:ln>
            <a:solidFill>
              <a:srgbClr val="000000"/>
            </a:solidFill>
          </a:ln>
        </c:spPr>
        <c:txPr>
          <a:bodyPr/>
          <a:lstStyle/>
          <a:p>
            <a:pPr>
              <a:defRPr sz="850">
                <a:solidFill>
                  <a:srgbClr val="767576"/>
                </a:solidFill>
                <a:latin typeface="Arial"/>
              </a:defRPr>
            </a:pPr>
            <a:endParaRPr lang="en-US"/>
          </a:p>
        </c:txPr>
        <c:crossAx val="2140495176"/>
        <c:crosses val="autoZero"/>
        <c:auto val="0"/>
        <c:lblOffset val="100"/>
        <c:baseTimeUnit val="days"/>
        <c:majorUnit val="2"/>
        <c:minorUnit val="10"/>
      </c:dateAx>
      <c:valAx>
        <c:axId val="2140495176"/>
        <c:scaling>
          <c:orientation val="minMax"/>
          <c:max val="4.4000000000000004"/>
          <c:min val="-0.5"/>
        </c:scaling>
        <c:delete val="0"/>
        <c:axPos val="l"/>
        <c:numFmt formatCode="General" sourceLinked="1"/>
        <c:majorTickMark val="out"/>
        <c:minorTickMark val="none"/>
        <c:tickLblPos val="nextTo"/>
        <c:spPr>
          <a:ln>
            <a:solidFill>
              <a:srgbClr val="D9D9D9"/>
            </a:solidFill>
          </a:ln>
        </c:spPr>
        <c:txPr>
          <a:bodyPr/>
          <a:lstStyle/>
          <a:p>
            <a:pPr>
              <a:defRPr sz="900">
                <a:solidFill>
                  <a:srgbClr val="767576"/>
                </a:solidFill>
                <a:latin typeface="Arial"/>
              </a:defRPr>
            </a:pPr>
            <a:endParaRPr lang="en-US"/>
          </a:p>
        </c:txPr>
        <c:crossAx val="2118791784"/>
        <c:crosses val="autoZero"/>
        <c:crossBetween val="between"/>
        <c:majorUnit val="1"/>
      </c:valAx>
    </c:plotArea>
    <c:legend>
      <c:legendPos val="b"/>
      <c:overlay val="0"/>
      <c:txPr>
        <a:bodyPr/>
        <a:lstStyle/>
        <a:p>
          <a:pPr>
            <a:defRPr sz="9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s</c:v>
                </c:pt>
              </c:strCache>
            </c:strRef>
          </c:tx>
          <c:spPr>
            <a:ln>
              <a:noFill/>
            </a:ln>
          </c:spPr>
          <c:invertIfNegative val="1"/>
          <c:dPt>
            <c:idx val="0"/>
            <c:invertIfNegative val="1"/>
            <c:bubble3D val="0"/>
            <c:spPr>
              <a:solidFill>
                <a:srgbClr val="D7D8D6"/>
              </a:solidFill>
            </c:spPr>
            <c:extLst>
              <c:ext xmlns:c16="http://schemas.microsoft.com/office/drawing/2014/chart" uri="{C3380CC4-5D6E-409C-BE32-E72D297353CC}">
                <c16:uniqueId val="{00000001-FAAE-CF4B-BED2-A5A35363A5F8}"/>
              </c:ext>
            </c:extLst>
          </c:dPt>
          <c:dPt>
            <c:idx val="1"/>
            <c:invertIfNegative val="1"/>
            <c:bubble3D val="0"/>
            <c:spPr>
              <a:solidFill>
                <a:srgbClr val="D7D8D6"/>
              </a:solidFill>
            </c:spPr>
            <c:extLst>
              <c:ext xmlns:c16="http://schemas.microsoft.com/office/drawing/2014/chart" uri="{C3380CC4-5D6E-409C-BE32-E72D297353CC}">
                <c16:uniqueId val="{00000003-FAAE-CF4B-BED2-A5A35363A5F8}"/>
              </c:ext>
            </c:extLst>
          </c:dPt>
          <c:dPt>
            <c:idx val="2"/>
            <c:invertIfNegative val="1"/>
            <c:bubble3D val="0"/>
            <c:spPr>
              <a:solidFill>
                <a:srgbClr val="D7D8D6"/>
              </a:solidFill>
            </c:spPr>
            <c:extLst>
              <c:ext xmlns:c16="http://schemas.microsoft.com/office/drawing/2014/chart" uri="{C3380CC4-5D6E-409C-BE32-E72D297353CC}">
                <c16:uniqueId val="{00000005-FAAE-CF4B-BED2-A5A35363A5F8}"/>
              </c:ext>
            </c:extLst>
          </c:dPt>
          <c:dPt>
            <c:idx val="3"/>
            <c:invertIfNegative val="1"/>
            <c:bubble3D val="0"/>
            <c:spPr>
              <a:solidFill>
                <a:srgbClr val="D7D8D6"/>
              </a:solidFill>
            </c:spPr>
            <c:extLst>
              <c:ext xmlns:c16="http://schemas.microsoft.com/office/drawing/2014/chart" uri="{C3380CC4-5D6E-409C-BE32-E72D297353CC}">
                <c16:uniqueId val="{00000007-FAAE-CF4B-BED2-A5A35363A5F8}"/>
              </c:ext>
            </c:extLst>
          </c:dPt>
          <c:dPt>
            <c:idx val="4"/>
            <c:invertIfNegative val="1"/>
            <c:bubble3D val="0"/>
            <c:spPr>
              <a:solidFill>
                <a:srgbClr val="D7D8D6"/>
              </a:solidFill>
            </c:spPr>
            <c:extLst>
              <c:ext xmlns:c16="http://schemas.microsoft.com/office/drawing/2014/chart" uri="{C3380CC4-5D6E-409C-BE32-E72D297353CC}">
                <c16:uniqueId val="{00000009-FAAE-CF4B-BED2-A5A35363A5F8}"/>
              </c:ext>
            </c:extLst>
          </c:dPt>
          <c:dPt>
            <c:idx val="5"/>
            <c:invertIfNegative val="1"/>
            <c:bubble3D val="0"/>
            <c:spPr>
              <a:solidFill>
                <a:srgbClr val="DB0011"/>
              </a:solidFill>
            </c:spPr>
            <c:extLst>
              <c:ext xmlns:c16="http://schemas.microsoft.com/office/drawing/2014/chart" uri="{C3380CC4-5D6E-409C-BE32-E72D297353CC}">
                <c16:uniqueId val="{0000000B-FAAE-CF4B-BED2-A5A35363A5F8}"/>
              </c:ext>
            </c:extLst>
          </c:dPt>
          <c:dLbls>
            <c:numFmt formatCode="0.0&quot;%&quot;" sourceLinked="0"/>
            <c:spPr>
              <a:noFill/>
              <a:ln>
                <a:noFill/>
              </a:ln>
              <a:effectLst/>
            </c:spPr>
            <c:txPr>
              <a:bodyPr/>
              <a:lstStyle/>
              <a:p>
                <a:pPr>
                  <a:defRPr sz="800" b="1">
                    <a:solidFill>
                      <a:srgbClr val="000000"/>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Others</c:v>
                </c:pt>
                <c:pt idx="1">
                  <c:v>Pensions</c:v>
                </c:pt>
                <c:pt idx="2">
                  <c:v>Foreigners</c:v>
                </c:pt>
                <c:pt idx="3">
                  <c:v>Banks</c:v>
                </c:pt>
                <c:pt idx="4">
                  <c:v>Insurance</c:v>
                </c:pt>
                <c:pt idx="5">
                  <c:v>BoJ</c:v>
                </c:pt>
              </c:strCache>
            </c:strRef>
          </c:cat>
          <c:val>
            <c:numRef>
              <c:f>Sheet1!$B$2:$B$7</c:f>
              <c:numCache>
                <c:formatCode>General</c:formatCode>
                <c:ptCount val="6"/>
                <c:pt idx="0">
                  <c:v>6.7</c:v>
                </c:pt>
                <c:pt idx="1">
                  <c:v>7.2</c:v>
                </c:pt>
                <c:pt idx="2">
                  <c:v>8.1</c:v>
                </c:pt>
                <c:pt idx="3">
                  <c:v>14.8</c:v>
                </c:pt>
                <c:pt idx="4">
                  <c:v>15.3</c:v>
                </c:pt>
                <c:pt idx="5">
                  <c:v>47.9</c:v>
                </c:pt>
              </c:numCache>
            </c:numRef>
          </c:val>
          <c:extLst>
            <c:ext xmlns:c16="http://schemas.microsoft.com/office/drawing/2014/chart" uri="{C3380CC4-5D6E-409C-BE32-E72D297353CC}">
              <c16:uniqueId val="{0000000C-FAAE-CF4B-BED2-A5A35363A5F8}"/>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none"/>
        <c:minorTickMark val="none"/>
        <c:tickLblPos val="nextTo"/>
        <c:spPr>
          <a:ln w="9525">
            <a:solidFill>
              <a:srgbClr val="000000"/>
            </a:solidFill>
          </a:ln>
        </c:spPr>
        <c:txPr>
          <a:bodyPr/>
          <a:lstStyle/>
          <a:p>
            <a:pPr>
              <a:defRPr sz="800">
                <a:solidFill>
                  <a:srgbClr val="000000"/>
                </a:solidFill>
                <a:latin typeface="Arial"/>
              </a:defRPr>
            </a:pPr>
            <a:endParaRPr lang="en-US"/>
          </a:p>
        </c:txPr>
        <c:crossAx val="-2113994440"/>
        <c:crosses val="autoZero"/>
        <c:auto val="1"/>
        <c:lblAlgn val="ctr"/>
        <c:lblOffset val="100"/>
        <c:noMultiLvlLbl val="0"/>
      </c:catAx>
      <c:valAx>
        <c:axId val="-2113994440"/>
        <c:scaling>
          <c:orientation val="minMax"/>
          <c:max val="58"/>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s</c:v>
                </c:pt>
              </c:strCache>
            </c:strRef>
          </c:tx>
          <c:spPr>
            <a:ln>
              <a:noFill/>
            </a:ln>
          </c:spPr>
          <c:invertIfNegative val="1"/>
          <c:dPt>
            <c:idx val="0"/>
            <c:invertIfNegative val="1"/>
            <c:bubble3D val="0"/>
            <c:spPr>
              <a:solidFill>
                <a:srgbClr val="DB0011"/>
              </a:solidFill>
            </c:spPr>
            <c:extLst>
              <c:ext xmlns:c16="http://schemas.microsoft.com/office/drawing/2014/chart" uri="{C3380CC4-5D6E-409C-BE32-E72D297353CC}">
                <c16:uniqueId val="{00000001-3BA2-2344-B3EF-E746EA7590D6}"/>
              </c:ext>
            </c:extLst>
          </c:dPt>
          <c:dPt>
            <c:idx val="1"/>
            <c:invertIfNegative val="1"/>
            <c:bubble3D val="0"/>
            <c:spPr>
              <a:solidFill>
                <a:srgbClr val="D7D8D6"/>
              </a:solidFill>
            </c:spPr>
            <c:extLst>
              <c:ext xmlns:c16="http://schemas.microsoft.com/office/drawing/2014/chart" uri="{C3380CC4-5D6E-409C-BE32-E72D297353CC}">
                <c16:uniqueId val="{00000003-3BA2-2344-B3EF-E746EA7590D6}"/>
              </c:ext>
            </c:extLst>
          </c:dPt>
          <c:dPt>
            <c:idx val="2"/>
            <c:invertIfNegative val="1"/>
            <c:bubble3D val="0"/>
            <c:spPr>
              <a:solidFill>
                <a:srgbClr val="D7D8D6"/>
              </a:solidFill>
            </c:spPr>
            <c:extLst>
              <c:ext xmlns:c16="http://schemas.microsoft.com/office/drawing/2014/chart" uri="{C3380CC4-5D6E-409C-BE32-E72D297353CC}">
                <c16:uniqueId val="{00000005-3BA2-2344-B3EF-E746EA7590D6}"/>
              </c:ext>
            </c:extLst>
          </c:dPt>
          <c:dPt>
            <c:idx val="3"/>
            <c:invertIfNegative val="1"/>
            <c:bubble3D val="0"/>
            <c:spPr>
              <a:solidFill>
                <a:srgbClr val="D7D8D6"/>
              </a:solidFill>
            </c:spPr>
            <c:extLst>
              <c:ext xmlns:c16="http://schemas.microsoft.com/office/drawing/2014/chart" uri="{C3380CC4-5D6E-409C-BE32-E72D297353CC}">
                <c16:uniqueId val="{00000007-3BA2-2344-B3EF-E746EA7590D6}"/>
              </c:ext>
            </c:extLst>
          </c:dPt>
          <c:dLbls>
            <c:numFmt formatCode="0.0&quot;%&quot;" sourceLinked="0"/>
            <c:spPr>
              <a:noFill/>
              <a:ln>
                <a:noFill/>
              </a:ln>
              <a:effectLst/>
            </c:spPr>
            <c:txPr>
              <a:bodyPr/>
              <a:lstStyle/>
              <a:p>
                <a:pPr>
                  <a:defRPr sz="1000">
                    <a:solidFill>
                      <a:srgbClr val="000000"/>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Underlying
CPI</c:v>
                </c:pt>
                <c:pt idx="1">
                  <c:v>Shunto
base pay</c:v>
                </c:pt>
                <c:pt idx="2">
                  <c:v>Nominal
income</c:v>
                </c:pt>
                <c:pt idx="3">
                  <c:v>Firms' 5y
expectation</c:v>
                </c:pt>
              </c:strCache>
            </c:strRef>
          </c:cat>
          <c:val>
            <c:numRef>
              <c:f>Sheet1!$B$2:$B$5</c:f>
              <c:numCache>
                <c:formatCode>General</c:formatCode>
                <c:ptCount val="4"/>
                <c:pt idx="0">
                  <c:v>2</c:v>
                </c:pt>
                <c:pt idx="1">
                  <c:v>3.5</c:v>
                </c:pt>
                <c:pt idx="2">
                  <c:v>3.5</c:v>
                </c:pt>
                <c:pt idx="3">
                  <c:v>2.5</c:v>
                </c:pt>
              </c:numCache>
            </c:numRef>
          </c:val>
          <c:extLst>
            <c:ext xmlns:c16="http://schemas.microsoft.com/office/drawing/2014/chart" uri="{C3380CC4-5D6E-409C-BE32-E72D297353CC}">
              <c16:uniqueId val="{00000008-3BA2-2344-B3EF-E746EA7590D6}"/>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none"/>
        <c:minorTickMark val="none"/>
        <c:tickLblPos val="nextTo"/>
        <c:spPr>
          <a:ln w="9525">
            <a:solidFill>
              <a:srgbClr val="000000"/>
            </a:solidFill>
          </a:ln>
        </c:spPr>
        <c:txPr>
          <a:bodyPr/>
          <a:lstStyle/>
          <a:p>
            <a:pPr>
              <a:defRPr sz="700">
                <a:solidFill>
                  <a:srgbClr val="000000"/>
                </a:solidFill>
                <a:latin typeface="Arial"/>
              </a:defRPr>
            </a:pPr>
            <a:endParaRPr lang="en-US"/>
          </a:p>
        </c:txPr>
        <c:crossAx val="-2113994440"/>
        <c:crosses val="autoZero"/>
        <c:auto val="1"/>
        <c:lblAlgn val="ctr"/>
        <c:lblOffset val="100"/>
        <c:noMultiLvlLbl val="0"/>
      </c:catAx>
      <c:valAx>
        <c:axId val="-2113994440"/>
        <c:scaling>
          <c:orientation val="minMax"/>
          <c:max val="4.5999999999999996"/>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 Id="rId4"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5488" y="256032"/>
            <a:ext cx="10607040" cy="402336"/>
          </a:xfrm>
          <a:prstGeom prst="rect">
            <a:avLst/>
          </a:prstGeom>
          <a:noFill/>
        </p:spPr>
        <p:txBody>
          <a:bodyPr wrap="none" lIns="0" tIns="0" rIns="0" bIns="0" anchor="t">
            <a:spAutoFit/>
          </a:bodyPr>
          <a:lstStyle/>
          <a:p>
            <a:pPr algn="l">
              <a:lnSpc>
                <a:spcPct val="100000"/>
              </a:lnSpc>
              <a:spcAft>
                <a:spcPts val="0"/>
              </a:spcAft>
            </a:pPr>
            <a:r>
              <a:rPr sz="2000" b="1" i="0">
                <a:solidFill>
                  <a:srgbClr val="000000"/>
                </a:solidFill>
                <a:latin typeface="Arial"/>
              </a:rPr>
              <a:t>H2 2026 Outlook: Japan's Long End Is Being Repriced</a:t>
            </a:r>
          </a:p>
        </p:txBody>
      </p:sp>
      <p:sp>
        <p:nvSpPr>
          <p:cNvPr id="3" name="TextBox 2"/>
          <p:cNvSpPr txBox="1"/>
          <p:nvPr/>
        </p:nvSpPr>
        <p:spPr>
          <a:xfrm>
            <a:off x="475488" y="822960"/>
            <a:ext cx="3566160" cy="512064"/>
          </a:xfrm>
          <a:prstGeom prst="rect">
            <a:avLst/>
          </a:prstGeom>
          <a:noFill/>
        </p:spPr>
        <p:txBody>
          <a:bodyPr wrap="square" lIns="0" tIns="0" rIns="0" bIns="0" anchor="t">
            <a:spAutoFit/>
          </a:bodyPr>
          <a:lstStyle/>
          <a:p>
            <a:pPr algn="l">
              <a:lnSpc>
                <a:spcPct val="114000"/>
              </a:lnSpc>
              <a:spcAft>
                <a:spcPts val="0"/>
              </a:spcAft>
            </a:pPr>
            <a:r>
              <a:rPr sz="1100" b="1" i="0">
                <a:solidFill>
                  <a:srgbClr val="DB0011"/>
                </a:solidFill>
                <a:latin typeface="Arial"/>
              </a:rPr>
              <a:t>Exhibit 1. Quantitative tightening is lifting the long end; the front end remains anchored</a:t>
            </a:r>
          </a:p>
        </p:txBody>
      </p:sp>
      <p:sp>
        <p:nvSpPr>
          <p:cNvPr id="4" name="TextBox 3"/>
          <p:cNvSpPr txBox="1"/>
          <p:nvPr/>
        </p:nvSpPr>
        <p:spPr>
          <a:xfrm>
            <a:off x="475488" y="1463040"/>
            <a:ext cx="3566160" cy="201168"/>
          </a:xfrm>
          <a:prstGeom prst="rect">
            <a:avLst/>
          </a:prstGeom>
          <a:noFill/>
        </p:spPr>
        <p:txBody>
          <a:bodyPr wrap="none" lIns="0" tIns="0" rIns="0" bIns="0" anchor="t">
            <a:spAutoFit/>
          </a:bodyPr>
          <a:lstStyle/>
          <a:p>
            <a:pPr algn="ctr">
              <a:lnSpc>
                <a:spcPct val="100000"/>
              </a:lnSpc>
              <a:spcAft>
                <a:spcPts val="0"/>
              </a:spcAft>
            </a:pPr>
            <a:r>
              <a:rPr sz="950" b="0" i="0">
                <a:solidFill>
                  <a:srgbClr val="000000"/>
                </a:solidFill>
                <a:latin typeface="Arial"/>
              </a:rPr>
              <a:t>JGB yields, %, month-end</a:t>
            </a:r>
          </a:p>
        </p:txBody>
      </p:sp>
      <p:graphicFrame>
        <p:nvGraphicFramePr>
          <p:cNvPr id="5" name="Chart 4"/>
          <p:cNvGraphicFramePr>
            <a:graphicFrameLocks noGrp="1"/>
          </p:cNvGraphicFramePr>
          <p:nvPr>
            <p:extLst>
              <p:ext uri="{D42A27DB-BD31-4B8C-83A1-F6EECF244321}">
                <p14:modId xmlns:p14="http://schemas.microsoft.com/office/powerpoint/2010/main" val="4042231192"/>
              </p:ext>
            </p:extLst>
          </p:nvPr>
        </p:nvGraphicFramePr>
        <p:xfrm>
          <a:off x="368136" y="1700784"/>
          <a:ext cx="3728376" cy="2194560"/>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p:cNvSpPr/>
          <p:nvPr/>
        </p:nvSpPr>
        <p:spPr>
          <a:xfrm>
            <a:off x="828629" y="4114800"/>
            <a:ext cx="233062" cy="18288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071237" y="4114800"/>
            <a:ext cx="1398373" cy="18288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71237" y="4110228"/>
            <a:ext cx="1398373" cy="192024"/>
          </a:xfrm>
          <a:prstGeom prst="rect">
            <a:avLst/>
          </a:prstGeom>
          <a:noFill/>
        </p:spPr>
        <p:txBody>
          <a:bodyPr wrap="none" lIns="0" tIns="0" rIns="0" bIns="0" anchor="ctr">
            <a:spAutoFit/>
          </a:bodyPr>
          <a:lstStyle/>
          <a:p>
            <a:pPr algn="ctr">
              <a:lnSpc>
                <a:spcPct val="100000"/>
              </a:lnSpc>
              <a:spcAft>
                <a:spcPts val="0"/>
              </a:spcAft>
            </a:pPr>
            <a:r>
              <a:rPr sz="650" b="1" i="0">
                <a:solidFill>
                  <a:srgbClr val="FFFFFF"/>
                </a:solidFill>
                <a:latin typeface="Arial"/>
              </a:rPr>
              <a:t>QE</a:t>
            </a:r>
          </a:p>
        </p:txBody>
      </p:sp>
      <p:sp>
        <p:nvSpPr>
          <p:cNvPr id="9" name="TextBox 8"/>
          <p:cNvSpPr txBox="1"/>
          <p:nvPr/>
        </p:nvSpPr>
        <p:spPr>
          <a:xfrm>
            <a:off x="1071237" y="4306824"/>
            <a:ext cx="1398373" cy="146304"/>
          </a:xfrm>
          <a:prstGeom prst="rect">
            <a:avLst/>
          </a:prstGeom>
          <a:noFill/>
        </p:spPr>
        <p:txBody>
          <a:bodyPr wrap="none" lIns="0" tIns="0" rIns="0" bIns="0" anchor="t">
            <a:spAutoFit/>
          </a:bodyPr>
          <a:lstStyle/>
          <a:p>
            <a:pPr algn="ctr">
              <a:lnSpc>
                <a:spcPct val="100000"/>
              </a:lnSpc>
              <a:spcAft>
                <a:spcPts val="0"/>
              </a:spcAft>
            </a:pPr>
            <a:r>
              <a:rPr sz="600" b="0" i="0">
                <a:solidFill>
                  <a:srgbClr val="767576"/>
                </a:solidFill>
                <a:latin typeface="Arial"/>
              </a:rPr>
              <a:t>2001–2013</a:t>
            </a:r>
          </a:p>
        </p:txBody>
      </p:sp>
      <p:sp>
        <p:nvSpPr>
          <p:cNvPr id="10" name="Rectangle 9"/>
          <p:cNvSpPr/>
          <p:nvPr/>
        </p:nvSpPr>
        <p:spPr>
          <a:xfrm>
            <a:off x="2479487" y="4114800"/>
            <a:ext cx="320296" cy="18288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479487" y="4110228"/>
            <a:ext cx="320296" cy="192024"/>
          </a:xfrm>
          <a:prstGeom prst="rect">
            <a:avLst/>
          </a:prstGeom>
          <a:noFill/>
        </p:spPr>
        <p:txBody>
          <a:bodyPr wrap="none" lIns="0" tIns="0" rIns="0" bIns="0" anchor="ctr">
            <a:spAutoFit/>
          </a:bodyPr>
          <a:lstStyle/>
          <a:p>
            <a:pPr algn="ctr">
              <a:lnSpc>
                <a:spcPct val="100000"/>
              </a:lnSpc>
              <a:spcAft>
                <a:spcPts val="0"/>
              </a:spcAft>
            </a:pPr>
            <a:r>
              <a:rPr sz="650" b="1" i="0">
                <a:solidFill>
                  <a:srgbClr val="FFFFFF"/>
                </a:solidFill>
                <a:latin typeface="Arial"/>
              </a:rPr>
              <a:t>QQE</a:t>
            </a:r>
          </a:p>
        </p:txBody>
      </p:sp>
      <p:sp>
        <p:nvSpPr>
          <p:cNvPr id="12" name="Rectangle 11"/>
          <p:cNvSpPr/>
          <p:nvPr/>
        </p:nvSpPr>
        <p:spPr>
          <a:xfrm>
            <a:off x="2809658" y="4114800"/>
            <a:ext cx="941795" cy="182880"/>
          </a:xfrm>
          <a:prstGeom prst="rect">
            <a:avLst/>
          </a:prstGeom>
          <a:solidFill>
            <a:srgbClr val="D7D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809658" y="4110228"/>
            <a:ext cx="941795" cy="192024"/>
          </a:xfrm>
          <a:prstGeom prst="rect">
            <a:avLst/>
          </a:prstGeom>
          <a:noFill/>
        </p:spPr>
        <p:txBody>
          <a:bodyPr wrap="none" lIns="0" tIns="0" rIns="0" bIns="0" anchor="ctr">
            <a:spAutoFit/>
          </a:bodyPr>
          <a:lstStyle/>
          <a:p>
            <a:pPr algn="ctr">
              <a:lnSpc>
                <a:spcPct val="100000"/>
              </a:lnSpc>
              <a:spcAft>
                <a:spcPts val="0"/>
              </a:spcAft>
            </a:pPr>
            <a:r>
              <a:rPr sz="650" b="1" i="0">
                <a:solidFill>
                  <a:srgbClr val="FFFFFF"/>
                </a:solidFill>
                <a:latin typeface="Arial"/>
              </a:rPr>
              <a:t>NIRP / YCC</a:t>
            </a:r>
          </a:p>
        </p:txBody>
      </p:sp>
      <p:sp>
        <p:nvSpPr>
          <p:cNvPr id="14" name="TextBox 13"/>
          <p:cNvSpPr txBox="1"/>
          <p:nvPr/>
        </p:nvSpPr>
        <p:spPr>
          <a:xfrm>
            <a:off x="2809658" y="4306824"/>
            <a:ext cx="941795" cy="146304"/>
          </a:xfrm>
          <a:prstGeom prst="rect">
            <a:avLst/>
          </a:prstGeom>
          <a:noFill/>
        </p:spPr>
        <p:txBody>
          <a:bodyPr wrap="none" lIns="0" tIns="0" rIns="0" bIns="0" anchor="t">
            <a:spAutoFit/>
          </a:bodyPr>
          <a:lstStyle/>
          <a:p>
            <a:pPr algn="ctr">
              <a:lnSpc>
                <a:spcPct val="100000"/>
              </a:lnSpc>
              <a:spcAft>
                <a:spcPts val="0"/>
              </a:spcAft>
            </a:pPr>
            <a:r>
              <a:rPr sz="600" b="0" i="0" dirty="0">
                <a:solidFill>
                  <a:srgbClr val="767576"/>
                </a:solidFill>
                <a:latin typeface="Arial"/>
              </a:rPr>
              <a:t>2016–Mar 24</a:t>
            </a:r>
          </a:p>
        </p:txBody>
      </p:sp>
      <p:sp>
        <p:nvSpPr>
          <p:cNvPr id="15" name="Rectangle 14"/>
          <p:cNvSpPr/>
          <p:nvPr/>
        </p:nvSpPr>
        <p:spPr>
          <a:xfrm>
            <a:off x="3761329" y="4114800"/>
            <a:ext cx="262030" cy="182880"/>
          </a:xfrm>
          <a:prstGeom prst="rect">
            <a:avLst/>
          </a:prstGeom>
          <a:solidFill>
            <a:srgbClr val="DB00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75488" y="4443984"/>
            <a:ext cx="1737360" cy="219456"/>
          </a:xfrm>
          <a:prstGeom prst="rect">
            <a:avLst/>
          </a:prstGeom>
          <a:noFill/>
        </p:spPr>
        <p:txBody>
          <a:bodyPr wrap="none" lIns="0" tIns="0" rIns="0" bIns="0" anchor="t">
            <a:spAutoFit/>
          </a:bodyPr>
          <a:lstStyle/>
          <a:p>
            <a:pPr algn="ctr">
              <a:lnSpc>
                <a:spcPct val="100000"/>
              </a:lnSpc>
              <a:spcAft>
                <a:spcPts val="0"/>
              </a:spcAft>
            </a:pPr>
            <a:r>
              <a:rPr sz="1150" b="1" i="0">
                <a:solidFill>
                  <a:srgbClr val="DB0011"/>
                </a:solidFill>
                <a:latin typeface="Arial"/>
              </a:rPr>
              <a:t>¥765tn → ¥644tn</a:t>
            </a:r>
          </a:p>
        </p:txBody>
      </p:sp>
      <p:sp>
        <p:nvSpPr>
          <p:cNvPr id="17" name="TextBox 16"/>
          <p:cNvSpPr txBox="1"/>
          <p:nvPr/>
        </p:nvSpPr>
        <p:spPr>
          <a:xfrm>
            <a:off x="475488" y="4645152"/>
            <a:ext cx="1737360" cy="182880"/>
          </a:xfrm>
          <a:prstGeom prst="rect">
            <a:avLst/>
          </a:prstGeom>
          <a:noFill/>
        </p:spPr>
        <p:txBody>
          <a:bodyPr wrap="none" lIns="0" tIns="0" rIns="0" bIns="0" anchor="t">
            <a:spAutoFit/>
          </a:bodyPr>
          <a:lstStyle/>
          <a:p>
            <a:pPr algn="ctr">
              <a:lnSpc>
                <a:spcPct val="100000"/>
              </a:lnSpc>
              <a:spcAft>
                <a:spcPts val="0"/>
              </a:spcAft>
            </a:pPr>
            <a:r>
              <a:rPr sz="800" b="0" i="0" dirty="0">
                <a:solidFill>
                  <a:srgbClr val="767576"/>
                </a:solidFill>
                <a:latin typeface="Arial"/>
              </a:rPr>
              <a:t>BoJ assets, Aug-24 peak   −16%</a:t>
            </a:r>
          </a:p>
        </p:txBody>
      </p:sp>
      <p:sp>
        <p:nvSpPr>
          <p:cNvPr id="18" name="TextBox 17"/>
          <p:cNvSpPr txBox="1"/>
          <p:nvPr/>
        </p:nvSpPr>
        <p:spPr>
          <a:xfrm>
            <a:off x="2304287" y="4443984"/>
            <a:ext cx="1737360" cy="219456"/>
          </a:xfrm>
          <a:prstGeom prst="rect">
            <a:avLst/>
          </a:prstGeom>
          <a:noFill/>
        </p:spPr>
        <p:txBody>
          <a:bodyPr wrap="none" lIns="0" tIns="0" rIns="0" bIns="0" anchor="t">
            <a:spAutoFit/>
          </a:bodyPr>
          <a:lstStyle/>
          <a:p>
            <a:pPr algn="ctr">
              <a:lnSpc>
                <a:spcPct val="100000"/>
              </a:lnSpc>
              <a:spcAft>
                <a:spcPts val="0"/>
              </a:spcAft>
            </a:pPr>
            <a:r>
              <a:rPr sz="1150" b="1" i="0">
                <a:solidFill>
                  <a:srgbClr val="DB0011"/>
                </a:solidFill>
                <a:latin typeface="Arial"/>
              </a:rPr>
              <a:t>¥5.7tn → ¥2.0tn</a:t>
            </a:r>
          </a:p>
        </p:txBody>
      </p:sp>
      <p:sp>
        <p:nvSpPr>
          <p:cNvPr id="19" name="TextBox 18"/>
          <p:cNvSpPr txBox="1"/>
          <p:nvPr/>
        </p:nvSpPr>
        <p:spPr>
          <a:xfrm>
            <a:off x="2304287" y="4645152"/>
            <a:ext cx="1737360" cy="182880"/>
          </a:xfrm>
          <a:prstGeom prst="rect">
            <a:avLst/>
          </a:prstGeom>
          <a:noFill/>
        </p:spPr>
        <p:txBody>
          <a:bodyPr wrap="none" lIns="0" tIns="0" rIns="0" bIns="0" anchor="t">
            <a:spAutoFit/>
          </a:bodyPr>
          <a:lstStyle/>
          <a:p>
            <a:pPr algn="ctr">
              <a:lnSpc>
                <a:spcPct val="100000"/>
              </a:lnSpc>
              <a:spcAft>
                <a:spcPts val="0"/>
              </a:spcAft>
            </a:pPr>
            <a:r>
              <a:rPr sz="800" b="0" i="0">
                <a:solidFill>
                  <a:srgbClr val="767576"/>
                </a:solidFill>
                <a:latin typeface="Arial"/>
              </a:rPr>
              <a:t>monthly purchases to Apr-27   −65%</a:t>
            </a:r>
          </a:p>
        </p:txBody>
      </p:sp>
      <p:sp>
        <p:nvSpPr>
          <p:cNvPr id="20" name="TextBox 19"/>
          <p:cNvSpPr txBox="1"/>
          <p:nvPr/>
        </p:nvSpPr>
        <p:spPr>
          <a:xfrm>
            <a:off x="4315968" y="822960"/>
            <a:ext cx="3566160" cy="512064"/>
          </a:xfrm>
          <a:prstGeom prst="rect">
            <a:avLst/>
          </a:prstGeom>
          <a:noFill/>
        </p:spPr>
        <p:txBody>
          <a:bodyPr wrap="square" lIns="0" tIns="0" rIns="0" bIns="0" anchor="t">
            <a:spAutoFit/>
          </a:bodyPr>
          <a:lstStyle/>
          <a:p>
            <a:pPr algn="l">
              <a:lnSpc>
                <a:spcPct val="114000"/>
              </a:lnSpc>
              <a:spcAft>
                <a:spcPts val="0"/>
              </a:spcAft>
            </a:pPr>
            <a:r>
              <a:rPr sz="1100" b="1" i="0">
                <a:solidFill>
                  <a:srgbClr val="DB0011"/>
                </a:solidFill>
                <a:latin typeface="Arial"/>
              </a:rPr>
              <a:t>Exhibit 2. A ¥1,013.8tn market must now clear without its largest buyer</a:t>
            </a:r>
          </a:p>
        </p:txBody>
      </p:sp>
      <p:sp>
        <p:nvSpPr>
          <p:cNvPr id="21" name="TextBox 20"/>
          <p:cNvSpPr txBox="1"/>
          <p:nvPr/>
        </p:nvSpPr>
        <p:spPr>
          <a:xfrm>
            <a:off x="4315968" y="1463040"/>
            <a:ext cx="3566160" cy="201168"/>
          </a:xfrm>
          <a:prstGeom prst="rect">
            <a:avLst/>
          </a:prstGeom>
          <a:noFill/>
        </p:spPr>
        <p:txBody>
          <a:bodyPr wrap="none" lIns="0" tIns="0" rIns="0" bIns="0" anchor="t">
            <a:spAutoFit/>
          </a:bodyPr>
          <a:lstStyle/>
          <a:p>
            <a:pPr algn="ctr">
              <a:lnSpc>
                <a:spcPct val="100000"/>
              </a:lnSpc>
              <a:spcAft>
                <a:spcPts val="0"/>
              </a:spcAft>
            </a:pPr>
            <a:r>
              <a:rPr sz="950" b="0" i="0">
                <a:solidFill>
                  <a:srgbClr val="000000"/>
                </a:solidFill>
                <a:latin typeface="Arial"/>
              </a:rPr>
              <a:t>JGB holders, % of outstanding</a:t>
            </a:r>
          </a:p>
        </p:txBody>
      </p:sp>
      <p:graphicFrame>
        <p:nvGraphicFramePr>
          <p:cNvPr id="22" name="Chart 21"/>
          <p:cNvGraphicFramePr>
            <a:graphicFrameLocks noGrp="1"/>
          </p:cNvGraphicFramePr>
          <p:nvPr>
            <p:extLst>
              <p:ext uri="{D42A27DB-BD31-4B8C-83A1-F6EECF244321}">
                <p14:modId xmlns:p14="http://schemas.microsoft.com/office/powerpoint/2010/main" val="2418641426"/>
              </p:ext>
            </p:extLst>
          </p:nvPr>
        </p:nvGraphicFramePr>
        <p:xfrm>
          <a:off x="4261104" y="1700784"/>
          <a:ext cx="3675887" cy="2670048"/>
        </p:xfrm>
        <a:graphic>
          <a:graphicData uri="http://schemas.openxmlformats.org/drawingml/2006/chart">
            <c:chart xmlns:c="http://schemas.openxmlformats.org/drawingml/2006/chart" xmlns:r="http://schemas.openxmlformats.org/officeDocument/2006/relationships" r:id="rId3"/>
          </a:graphicData>
        </a:graphic>
      </p:graphicFrame>
      <p:sp>
        <p:nvSpPr>
          <p:cNvPr id="23" name="TextBox 22"/>
          <p:cNvSpPr txBox="1"/>
          <p:nvPr/>
        </p:nvSpPr>
        <p:spPr>
          <a:xfrm>
            <a:off x="4315968" y="4443984"/>
            <a:ext cx="1737360" cy="219456"/>
          </a:xfrm>
          <a:prstGeom prst="rect">
            <a:avLst/>
          </a:prstGeom>
          <a:noFill/>
        </p:spPr>
        <p:txBody>
          <a:bodyPr wrap="none" lIns="0" tIns="0" rIns="0" bIns="0" anchor="t">
            <a:spAutoFit/>
          </a:bodyPr>
          <a:lstStyle/>
          <a:p>
            <a:pPr algn="ctr">
              <a:lnSpc>
                <a:spcPct val="100000"/>
              </a:lnSpc>
              <a:spcAft>
                <a:spcPts val="0"/>
              </a:spcAft>
            </a:pPr>
            <a:r>
              <a:rPr sz="1150" b="1" i="0">
                <a:solidFill>
                  <a:srgbClr val="DB0011"/>
                </a:solidFill>
                <a:latin typeface="Arial"/>
              </a:rPr>
              <a:t>¥485.4tn</a:t>
            </a:r>
          </a:p>
        </p:txBody>
      </p:sp>
      <p:sp>
        <p:nvSpPr>
          <p:cNvPr id="24" name="TextBox 23"/>
          <p:cNvSpPr txBox="1"/>
          <p:nvPr/>
        </p:nvSpPr>
        <p:spPr>
          <a:xfrm>
            <a:off x="4315968" y="4645152"/>
            <a:ext cx="1737360" cy="182880"/>
          </a:xfrm>
          <a:prstGeom prst="rect">
            <a:avLst/>
          </a:prstGeom>
          <a:noFill/>
        </p:spPr>
        <p:txBody>
          <a:bodyPr wrap="none" lIns="0" tIns="0" rIns="0" bIns="0" anchor="t">
            <a:spAutoFit/>
          </a:bodyPr>
          <a:lstStyle/>
          <a:p>
            <a:pPr algn="ctr">
              <a:lnSpc>
                <a:spcPct val="100000"/>
              </a:lnSpc>
              <a:spcAft>
                <a:spcPts val="0"/>
              </a:spcAft>
            </a:pPr>
            <a:r>
              <a:rPr sz="800" b="0" i="0">
                <a:solidFill>
                  <a:srgbClr val="767576"/>
                </a:solidFill>
                <a:latin typeface="Arial"/>
              </a:rPr>
              <a:t>held by the BoJ, and now shrinking</a:t>
            </a:r>
          </a:p>
        </p:txBody>
      </p:sp>
      <p:sp>
        <p:nvSpPr>
          <p:cNvPr id="25" name="TextBox 24"/>
          <p:cNvSpPr txBox="1"/>
          <p:nvPr/>
        </p:nvSpPr>
        <p:spPr>
          <a:xfrm>
            <a:off x="6144768" y="4443984"/>
            <a:ext cx="1737360" cy="219456"/>
          </a:xfrm>
          <a:prstGeom prst="rect">
            <a:avLst/>
          </a:prstGeom>
          <a:noFill/>
        </p:spPr>
        <p:txBody>
          <a:bodyPr wrap="none" lIns="0" tIns="0" rIns="0" bIns="0" anchor="t">
            <a:spAutoFit/>
          </a:bodyPr>
          <a:lstStyle/>
          <a:p>
            <a:pPr algn="ctr">
              <a:lnSpc>
                <a:spcPct val="100000"/>
              </a:lnSpc>
              <a:spcAft>
                <a:spcPts val="0"/>
              </a:spcAft>
            </a:pPr>
            <a:r>
              <a:rPr sz="1150" b="1" i="0">
                <a:solidFill>
                  <a:srgbClr val="DB0011"/>
                </a:solidFill>
                <a:latin typeface="Arial"/>
              </a:rPr>
              <a:t>¥180.7tn</a:t>
            </a:r>
          </a:p>
        </p:txBody>
      </p:sp>
      <p:sp>
        <p:nvSpPr>
          <p:cNvPr id="26" name="TextBox 25"/>
          <p:cNvSpPr txBox="1"/>
          <p:nvPr/>
        </p:nvSpPr>
        <p:spPr>
          <a:xfrm>
            <a:off x="6144768" y="4645152"/>
            <a:ext cx="1737360" cy="182880"/>
          </a:xfrm>
          <a:prstGeom prst="rect">
            <a:avLst/>
          </a:prstGeom>
          <a:noFill/>
        </p:spPr>
        <p:txBody>
          <a:bodyPr wrap="none" lIns="0" tIns="0" rIns="0" bIns="0" anchor="t">
            <a:spAutoFit/>
          </a:bodyPr>
          <a:lstStyle/>
          <a:p>
            <a:pPr algn="ctr">
              <a:lnSpc>
                <a:spcPct val="100000"/>
              </a:lnSpc>
              <a:spcAft>
                <a:spcPts val="0"/>
              </a:spcAft>
            </a:pPr>
            <a:r>
              <a:rPr sz="800" b="0" i="0">
                <a:solidFill>
                  <a:srgbClr val="767576"/>
                </a:solidFill>
                <a:latin typeface="Arial"/>
              </a:rPr>
              <a:t>FY26 issuance for private investors</a:t>
            </a:r>
          </a:p>
        </p:txBody>
      </p:sp>
      <p:sp>
        <p:nvSpPr>
          <p:cNvPr id="27" name="TextBox 26"/>
          <p:cNvSpPr txBox="1"/>
          <p:nvPr/>
        </p:nvSpPr>
        <p:spPr>
          <a:xfrm>
            <a:off x="8156448" y="822960"/>
            <a:ext cx="3566160" cy="512064"/>
          </a:xfrm>
          <a:prstGeom prst="rect">
            <a:avLst/>
          </a:prstGeom>
          <a:noFill/>
        </p:spPr>
        <p:txBody>
          <a:bodyPr wrap="square" lIns="0" tIns="0" rIns="0" bIns="0" anchor="t">
            <a:spAutoFit/>
          </a:bodyPr>
          <a:lstStyle/>
          <a:p>
            <a:pPr algn="l">
              <a:lnSpc>
                <a:spcPct val="114000"/>
              </a:lnSpc>
              <a:spcAft>
                <a:spcPts val="0"/>
              </a:spcAft>
            </a:pPr>
            <a:r>
              <a:rPr sz="1100" b="1" i="0">
                <a:solidFill>
                  <a:srgbClr val="DB0011"/>
                </a:solidFill>
                <a:latin typeface="Arial"/>
              </a:rPr>
              <a:t>Exhibit 3. Japan is no longer a zero-inflation economy</a:t>
            </a:r>
          </a:p>
        </p:txBody>
      </p:sp>
      <p:sp>
        <p:nvSpPr>
          <p:cNvPr id="28" name="TextBox 27"/>
          <p:cNvSpPr txBox="1"/>
          <p:nvPr/>
        </p:nvSpPr>
        <p:spPr>
          <a:xfrm>
            <a:off x="8156448" y="1463040"/>
            <a:ext cx="3566160" cy="201168"/>
          </a:xfrm>
          <a:prstGeom prst="rect">
            <a:avLst/>
          </a:prstGeom>
          <a:noFill/>
        </p:spPr>
        <p:txBody>
          <a:bodyPr wrap="none" lIns="0" tIns="0" rIns="0" bIns="0" anchor="t">
            <a:spAutoFit/>
          </a:bodyPr>
          <a:lstStyle/>
          <a:p>
            <a:pPr algn="ctr">
              <a:lnSpc>
                <a:spcPct val="100000"/>
              </a:lnSpc>
              <a:spcAft>
                <a:spcPts val="0"/>
              </a:spcAft>
            </a:pPr>
            <a:r>
              <a:rPr sz="950" b="0" i="0">
                <a:solidFill>
                  <a:srgbClr val="000000"/>
                </a:solidFill>
                <a:latin typeface="Arial"/>
              </a:rPr>
              <a:t>Latest readings, % y/y</a:t>
            </a:r>
          </a:p>
        </p:txBody>
      </p:sp>
      <p:graphicFrame>
        <p:nvGraphicFramePr>
          <p:cNvPr id="29" name="Chart 28"/>
          <p:cNvGraphicFramePr>
            <a:graphicFrameLocks noGrp="1"/>
          </p:cNvGraphicFramePr>
          <p:nvPr>
            <p:extLst>
              <p:ext uri="{D42A27DB-BD31-4B8C-83A1-F6EECF244321}">
                <p14:modId xmlns:p14="http://schemas.microsoft.com/office/powerpoint/2010/main" val="1941404050"/>
              </p:ext>
            </p:extLst>
          </p:nvPr>
        </p:nvGraphicFramePr>
        <p:xfrm>
          <a:off x="8101583" y="1700784"/>
          <a:ext cx="3675887" cy="2670048"/>
        </p:xfrm>
        <a:graphic>
          <a:graphicData uri="http://schemas.openxmlformats.org/drawingml/2006/chart">
            <c:chart xmlns:c="http://schemas.openxmlformats.org/drawingml/2006/chart" xmlns:r="http://schemas.openxmlformats.org/officeDocument/2006/relationships" r:id="rId4"/>
          </a:graphicData>
        </a:graphic>
      </p:graphicFrame>
      <p:sp>
        <p:nvSpPr>
          <p:cNvPr id="30" name="TextBox 29"/>
          <p:cNvSpPr txBox="1"/>
          <p:nvPr/>
        </p:nvSpPr>
        <p:spPr>
          <a:xfrm>
            <a:off x="8156448" y="4443984"/>
            <a:ext cx="1737360" cy="219456"/>
          </a:xfrm>
          <a:prstGeom prst="rect">
            <a:avLst/>
          </a:prstGeom>
          <a:noFill/>
        </p:spPr>
        <p:txBody>
          <a:bodyPr wrap="none" lIns="0" tIns="0" rIns="0" bIns="0" anchor="t">
            <a:spAutoFit/>
          </a:bodyPr>
          <a:lstStyle/>
          <a:p>
            <a:pPr algn="ctr">
              <a:lnSpc>
                <a:spcPct val="100000"/>
              </a:lnSpc>
              <a:spcAft>
                <a:spcPts val="0"/>
              </a:spcAft>
            </a:pPr>
            <a:r>
              <a:rPr sz="1150" b="1" i="0">
                <a:solidFill>
                  <a:srgbClr val="DB0011"/>
                </a:solidFill>
                <a:latin typeface="Arial"/>
              </a:rPr>
              <a:t>~2% from H2 FY26</a:t>
            </a:r>
          </a:p>
        </p:txBody>
      </p:sp>
      <p:sp>
        <p:nvSpPr>
          <p:cNvPr id="31" name="TextBox 30"/>
          <p:cNvSpPr txBox="1"/>
          <p:nvPr/>
        </p:nvSpPr>
        <p:spPr>
          <a:xfrm>
            <a:off x="8156448" y="4645152"/>
            <a:ext cx="1737360" cy="182880"/>
          </a:xfrm>
          <a:prstGeom prst="rect">
            <a:avLst/>
          </a:prstGeom>
          <a:noFill/>
        </p:spPr>
        <p:txBody>
          <a:bodyPr wrap="none" lIns="0" tIns="0" rIns="0" bIns="0" anchor="t">
            <a:spAutoFit/>
          </a:bodyPr>
          <a:lstStyle/>
          <a:p>
            <a:pPr algn="ctr">
              <a:lnSpc>
                <a:spcPct val="100000"/>
              </a:lnSpc>
              <a:spcAft>
                <a:spcPts val="0"/>
              </a:spcAft>
            </a:pPr>
            <a:r>
              <a:rPr sz="800" b="0" i="0">
                <a:solidFill>
                  <a:srgbClr val="767576"/>
                </a:solidFill>
                <a:latin typeface="Arial"/>
              </a:rPr>
              <a:t>BoJ's own underlying inflation forecast</a:t>
            </a:r>
          </a:p>
        </p:txBody>
      </p:sp>
      <p:sp>
        <p:nvSpPr>
          <p:cNvPr id="32" name="TextBox 31"/>
          <p:cNvSpPr txBox="1"/>
          <p:nvPr/>
        </p:nvSpPr>
        <p:spPr>
          <a:xfrm>
            <a:off x="9985248" y="4443984"/>
            <a:ext cx="1737360" cy="219456"/>
          </a:xfrm>
          <a:prstGeom prst="rect">
            <a:avLst/>
          </a:prstGeom>
          <a:noFill/>
        </p:spPr>
        <p:txBody>
          <a:bodyPr wrap="none" lIns="0" tIns="0" rIns="0" bIns="0" anchor="t">
            <a:spAutoFit/>
          </a:bodyPr>
          <a:lstStyle/>
          <a:p>
            <a:pPr algn="ctr">
              <a:lnSpc>
                <a:spcPct val="100000"/>
              </a:lnSpc>
              <a:spcAft>
                <a:spcPts val="0"/>
              </a:spcAft>
            </a:pPr>
            <a:r>
              <a:rPr sz="1150" b="1" i="0">
                <a:solidFill>
                  <a:srgbClr val="DB0011"/>
                </a:solidFill>
                <a:latin typeface="Arial"/>
              </a:rPr>
              <a:t>2.5%</a:t>
            </a:r>
          </a:p>
        </p:txBody>
      </p:sp>
      <p:sp>
        <p:nvSpPr>
          <p:cNvPr id="33" name="TextBox 32"/>
          <p:cNvSpPr txBox="1"/>
          <p:nvPr/>
        </p:nvSpPr>
        <p:spPr>
          <a:xfrm>
            <a:off x="9985248" y="4645152"/>
            <a:ext cx="1737360" cy="182880"/>
          </a:xfrm>
          <a:prstGeom prst="rect">
            <a:avLst/>
          </a:prstGeom>
          <a:noFill/>
        </p:spPr>
        <p:txBody>
          <a:bodyPr wrap="none" lIns="0" tIns="0" rIns="0" bIns="0" anchor="t">
            <a:spAutoFit/>
          </a:bodyPr>
          <a:lstStyle/>
          <a:p>
            <a:pPr algn="ctr">
              <a:lnSpc>
                <a:spcPct val="100000"/>
              </a:lnSpc>
              <a:spcAft>
                <a:spcPts val="0"/>
              </a:spcAft>
            </a:pPr>
            <a:r>
              <a:rPr sz="800" b="0" i="0">
                <a:solidFill>
                  <a:srgbClr val="767576"/>
                </a:solidFill>
                <a:latin typeface="Arial"/>
              </a:rPr>
              <a:t>firms' five-year inflation expectations</a:t>
            </a:r>
          </a:p>
        </p:txBody>
      </p:sp>
      <p:sp>
        <p:nvSpPr>
          <p:cNvPr id="34" name="Rectangle 33"/>
          <p:cNvSpPr/>
          <p:nvPr/>
        </p:nvSpPr>
        <p:spPr>
          <a:xfrm>
            <a:off x="475488" y="5193792"/>
            <a:ext cx="11247120" cy="7680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786384" y="5288697"/>
            <a:ext cx="10625328" cy="510204"/>
          </a:xfrm>
          <a:prstGeom prst="rect">
            <a:avLst/>
          </a:prstGeom>
          <a:noFill/>
        </p:spPr>
        <p:txBody>
          <a:bodyPr wrap="square" lIns="0" tIns="0" rIns="0" bIns="0" anchor="t">
            <a:spAutoFit/>
          </a:bodyPr>
          <a:lstStyle/>
          <a:p>
            <a:pPr algn="ctr">
              <a:lnSpc>
                <a:spcPct val="120000"/>
              </a:lnSpc>
              <a:spcAft>
                <a:spcPts val="0"/>
              </a:spcAft>
            </a:pPr>
            <a:r>
              <a:rPr lang="en-AU" sz="950" dirty="0">
                <a:solidFill>
                  <a:srgbClr val="000000"/>
                </a:solidFill>
                <a:latin typeface="Arial"/>
              </a:rPr>
              <a:t>Three structural shifts are driving a bear </a:t>
            </a:r>
            <a:r>
              <a:rPr lang="en-AU" sz="950" dirty="0" err="1">
                <a:solidFill>
                  <a:srgbClr val="000000"/>
                </a:solidFill>
                <a:latin typeface="Arial"/>
              </a:rPr>
              <a:t>steepener</a:t>
            </a:r>
            <a:r>
              <a:rPr lang="en-AU" sz="950" dirty="0">
                <a:solidFill>
                  <a:srgbClr val="000000"/>
                </a:solidFill>
                <a:latin typeface="Arial"/>
              </a:rPr>
              <a:t> here. the BoJ is unwinding 25 years of yield suppression, record JGB supply must increasingly clear through price-sensitive investors, and the deflationary regime that justified zero yields has ended. This is not primarily a fiscal deterioration story, the debt stock was built over decades and the fiscal stance has not materially changed. What has changed is the marginal buyer. Each shift raises the term premium at the long end, while the BoJ still anchors the front end and is normalising only gradually.</a:t>
            </a:r>
            <a:endParaRPr sz="950" b="0" i="0" dirty="0">
              <a:solidFill>
                <a:srgbClr val="000000"/>
              </a:solidFill>
              <a:latin typeface="Arial"/>
            </a:endParaRPr>
          </a:p>
        </p:txBody>
      </p:sp>
      <p:sp>
        <p:nvSpPr>
          <p:cNvPr id="36" name="TextBox 35"/>
          <p:cNvSpPr txBox="1"/>
          <p:nvPr/>
        </p:nvSpPr>
        <p:spPr>
          <a:xfrm>
            <a:off x="475488" y="6089904"/>
            <a:ext cx="6949440" cy="201168"/>
          </a:xfrm>
          <a:prstGeom prst="rect">
            <a:avLst/>
          </a:prstGeom>
          <a:noFill/>
        </p:spPr>
        <p:txBody>
          <a:bodyPr wrap="none" lIns="0" tIns="0" rIns="0" bIns="0" anchor="t">
            <a:spAutoFit/>
          </a:bodyPr>
          <a:lstStyle/>
          <a:p>
            <a:pPr algn="l">
              <a:lnSpc>
                <a:spcPct val="100000"/>
              </a:lnSpc>
              <a:spcAft>
                <a:spcPts val="0"/>
              </a:spcAft>
            </a:pPr>
            <a:r>
              <a:rPr sz="800" b="0" i="1">
                <a:solidFill>
                  <a:srgbClr val="767576"/>
                </a:solidFill>
                <a:latin typeface="Arial"/>
              </a:rPr>
              <a:t>Sources: Japan Ministry of Finance, Bank of Japan, FRED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249</Words>
  <Application>Microsoft Macintosh PowerPoint</Application>
  <PresentationFormat>Widescreen</PresentationFormat>
  <Paragraphs>26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永沛 李</cp:lastModifiedBy>
  <cp:revision>3</cp:revision>
  <dcterms:created xsi:type="dcterms:W3CDTF">2013-01-27T09:14:16Z</dcterms:created>
  <dcterms:modified xsi:type="dcterms:W3CDTF">2026-08-09T14:11:33Z</dcterms:modified>
  <cp:category/>
</cp:coreProperties>
</file>